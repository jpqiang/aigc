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94" r:id="rId8"/>
    <p:sldId id="262" r:id="rId9"/>
    <p:sldId id="263" r:id="rId10"/>
    <p:sldId id="264" r:id="rId11"/>
    <p:sldId id="265" r:id="rId12"/>
    <p:sldId id="266" r:id="rId13"/>
    <p:sldId id="267" r:id="rId14"/>
    <p:sldId id="295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96" r:id="rId23"/>
    <p:sldId id="277" r:id="rId24"/>
    <p:sldId id="278" r:id="rId25"/>
    <p:sldId id="279" r:id="rId26"/>
    <p:sldId id="297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7315200" y="0"/>
            <a:ext cx="4876495" cy="3657600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arallelogram 3"/>
          <p:cNvSpPr/>
          <p:nvPr/>
        </p:nvSpPr>
        <p:spPr>
          <a:xfrm>
            <a:off x="7315199" y="3056965"/>
            <a:ext cx="4876495" cy="3801035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0" y="2327701"/>
            <a:ext cx="12191695" cy="8309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《</a:t>
            </a:r>
            <a:r>
              <a:rPr sz="5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生成式人工智能</a:t>
            </a:r>
            <a:r>
              <a:rPr lang="zh-CN" altLang="en-US" sz="5400" b="1" dirty="0">
                <a:solidFill>
                  <a:srgbClr val="FFFFFF"/>
                </a:solidFill>
                <a:latin typeface="Microsoft YaHei"/>
                <a:ea typeface="Microsoft YaHei"/>
              </a:rPr>
              <a:t>与科研素养</a:t>
            </a:r>
            <a:r>
              <a:rPr sz="5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310128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Microsoft YaHei"/>
                <a:ea typeface="Microsoft YaHei"/>
              </a:rPr>
              <a:t>第 5 章   零代码编程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553212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扬州大学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ight Arrow 2"/>
          <p:cNvSpPr/>
          <p:nvPr/>
        </p:nvSpPr>
        <p:spPr>
          <a:xfrm>
            <a:off x="7909560" y="1508760"/>
            <a:ext cx="3962400" cy="4693024"/>
          </a:xfrm>
          <a:prstGeom prst="rightArrow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3657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i="0">
                <a:solidFill>
                  <a:srgbClr val="333333"/>
                </a:solidFill>
                <a:latin typeface="Microsoft YaHei"/>
                <a:ea typeface="Microsoft YaHei"/>
              </a:rPr>
              <a:t>目录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200400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2148840"/>
            <a:ext cx="960120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5.1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00200" y="2148840"/>
            <a:ext cx="6126480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783080" y="2148840"/>
            <a:ext cx="59436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 i="0">
                <a:solidFill>
                  <a:srgbClr val="0066CC"/>
                </a:solidFill>
                <a:latin typeface="Microsoft YaHei"/>
                <a:ea typeface="Microsoft YaHei"/>
              </a:rPr>
              <a:t>从“写代码”到“自然语言编程”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916936"/>
            <a:ext cx="960120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916936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5.2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00200" y="2916936"/>
            <a:ext cx="6126480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783080" y="2916936"/>
            <a:ext cx="59436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 i="0">
                <a:solidFill>
                  <a:srgbClr val="0066CC"/>
                </a:solidFill>
                <a:latin typeface="Microsoft YaHei"/>
                <a:ea typeface="Microsoft YaHei"/>
              </a:rPr>
              <a:t>软件与工具开发的新范式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685032"/>
            <a:ext cx="960120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3685032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5.3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3685032"/>
            <a:ext cx="6126480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783080" y="3685032"/>
            <a:ext cx="59436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 i="0">
                <a:solidFill>
                  <a:srgbClr val="0066CC"/>
                </a:solidFill>
                <a:latin typeface="Microsoft YaHei"/>
                <a:ea typeface="Microsoft YaHei"/>
              </a:rPr>
              <a:t>自动化数据分析与可视化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453128"/>
            <a:ext cx="960120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4453128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5.4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00200" y="4453128"/>
            <a:ext cx="6126480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783080" y="4453128"/>
            <a:ext cx="59436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 i="0">
                <a:solidFill>
                  <a:srgbClr val="0066CC"/>
                </a:solidFill>
                <a:latin typeface="Microsoft YaHei"/>
                <a:ea typeface="Microsoft YaHei"/>
              </a:rPr>
              <a:t>智能体驱动的软件开发流程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221224"/>
            <a:ext cx="960120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5221224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5.5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00200" y="5221224"/>
            <a:ext cx="6126480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783080" y="5221224"/>
            <a:ext cx="59436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 i="0">
                <a:solidFill>
                  <a:srgbClr val="0066CC"/>
                </a:solidFill>
                <a:latin typeface="Microsoft YaHei"/>
                <a:ea typeface="Microsoft YaHei"/>
              </a:rPr>
              <a:t>本章实训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导言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零代码编程，让科研工具触手可及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7200" y="987552"/>
            <a:ext cx="11247120" cy="749808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17779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用自然语言提出任务，让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生成代码、运行分析、开发原型并保存结果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1847088"/>
            <a:ext cx="112471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处理表格数据</a:t>
            </a:r>
            <a:r>
              <a:rPr sz="20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整理非结构化文本</a:t>
            </a:r>
            <a:r>
              <a:rPr sz="20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统计分析与绘图</a:t>
            </a:r>
            <a:r>
              <a:rPr sz="20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开发课题组小型工具</a:t>
            </a:r>
            <a:r>
              <a:rPr sz="20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—— </a:t>
            </a:r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门槛大幅降低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57200" y="2505456"/>
            <a:ext cx="2682163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2505456"/>
            <a:ext cx="2682163" cy="804672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2595110"/>
            <a:ext cx="268216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Arial"/>
                <a:ea typeface="Arial"/>
              </a:rPr>
              <a:t>5.1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24295"/>
            <a:ext cx="268216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自然语言编程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66928" y="3552587"/>
            <a:ext cx="2462707" cy="106041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2000"/>
              </a:lnSpc>
            </a:pP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需求表达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代码生成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建立开发边界感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零代码系统原型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322243" y="2505456"/>
            <a:ext cx="2682163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322243" y="2505456"/>
            <a:ext cx="2682163" cy="804672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22243" y="2595110"/>
            <a:ext cx="268216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Arial"/>
                <a:ea typeface="Arial"/>
              </a:rPr>
              <a:t>5.2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22243" y="2924294"/>
            <a:ext cx="268216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开发新范式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431971" y="3552587"/>
            <a:ext cx="2462707" cy="106041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2000"/>
              </a:lnSpc>
            </a:pP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传统ML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提示词推理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/
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智能体算法实验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非结构化数据处理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187287" y="2505456"/>
            <a:ext cx="2682163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87287" y="2505456"/>
            <a:ext cx="2682163" cy="804672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87287" y="2595110"/>
            <a:ext cx="268216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Arial"/>
                <a:ea typeface="Arial"/>
              </a:rPr>
              <a:t>5.3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7287" y="2924294"/>
            <a:ext cx="268216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数据分析可视化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297015" y="3552587"/>
            <a:ext cx="2462707" cy="106041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2000"/>
              </a:lnSpc>
            </a:pP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代码执行引擎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沙箱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数据体检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统计检验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学术绘图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可复现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9052331" y="2505456"/>
            <a:ext cx="2682163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052331" y="2505456"/>
            <a:ext cx="2682163" cy="80467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052331" y="2595110"/>
            <a:ext cx="268216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Arial"/>
                <a:ea typeface="Arial"/>
              </a:rPr>
              <a:t>5.4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331" y="2924294"/>
            <a:ext cx="268216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智能体软件开发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107194" y="3555150"/>
            <a:ext cx="2572435" cy="106041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2000"/>
              </a:lnSpc>
            </a:pP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最小可用原型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自动修复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边界测试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功能迭代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课题组可复用系统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457200" y="5568696"/>
            <a:ext cx="11368735" cy="804672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72871" y="5577105"/>
            <a:ext cx="11137392" cy="79714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核心：不再亲手敲代码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≠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不再思考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——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工作重心从“怎么写代码”转向“定义问题、约束机器、验证结果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全景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零代码开发全景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四步闭环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" y="900125"/>
            <a:ext cx="1143000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从“代码书写者”转变为“系统设计者</a:t>
            </a:r>
            <a:r>
              <a:rPr sz="28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8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任务监督者</a:t>
            </a:r>
            <a:r>
              <a:rPr sz="28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8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结果审查者</a:t>
            </a:r>
            <a:r>
              <a:rPr sz="28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”</a:t>
            </a:r>
          </a:p>
        </p:txBody>
      </p:sp>
      <p:sp>
        <p:nvSpPr>
          <p:cNvPr id="10" name="Chevron 9"/>
          <p:cNvSpPr/>
          <p:nvPr/>
        </p:nvSpPr>
        <p:spPr>
          <a:xfrm>
            <a:off x="457200" y="1874519"/>
            <a:ext cx="3189655" cy="1188720"/>
          </a:xfrm>
          <a:prstGeom prst="chevron">
            <a:avLst/>
          </a:prstGeom>
          <a:solidFill>
            <a:srgbClr val="0066CC"/>
          </a:solidFill>
          <a:ln>
            <a:noFill/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2023609"/>
            <a:ext cx="2686735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467093"/>
            <a:ext cx="2686735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需求表达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66928" y="3264407"/>
            <a:ext cx="2796463" cy="1783080"/>
          </a:xfrm>
          <a:prstGeom prst="rect">
            <a:avLst/>
          </a:prstGeom>
          <a:solidFill>
            <a:srgbClr val="F4F7FB"/>
          </a:solidFill>
          <a:ln w="15875">
            <a:solidFill>
              <a:srgbClr val="0066CC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613703"/>
            <a:ext cx="2659303" cy="10936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任务说明书五要素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：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目标·输入·输出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·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异常·验收标准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5" name="Chevron 14"/>
          <p:cNvSpPr/>
          <p:nvPr/>
        </p:nvSpPr>
        <p:spPr>
          <a:xfrm>
            <a:off x="3299383" y="1874519"/>
            <a:ext cx="3189655" cy="1188720"/>
          </a:xfrm>
          <a:prstGeom prst="chevron">
            <a:avLst/>
          </a:prstGeom>
          <a:solidFill>
            <a:srgbClr val="004CA0"/>
          </a:solidFill>
          <a:ln>
            <a:noFill/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45103" y="2023609"/>
            <a:ext cx="2686735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45103" y="2467093"/>
            <a:ext cx="2686735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代码生成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409111" y="3264407"/>
            <a:ext cx="2796463" cy="1783080"/>
          </a:xfrm>
          <a:prstGeom prst="rect">
            <a:avLst/>
          </a:prstGeom>
          <a:solidFill>
            <a:srgbClr val="F4F7FB"/>
          </a:solidFill>
          <a:ln w="15875">
            <a:solidFill>
              <a:srgbClr val="004CA0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82263" y="3613703"/>
            <a:ext cx="2659303" cy="10936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大模型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编程智能体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自动生成代码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、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界面与逻辑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0" name="Chevron 19"/>
          <p:cNvSpPr/>
          <p:nvPr/>
        </p:nvSpPr>
        <p:spPr>
          <a:xfrm>
            <a:off x="6141567" y="1874519"/>
            <a:ext cx="3189655" cy="1188720"/>
          </a:xfrm>
          <a:prstGeom prst="chevron">
            <a:avLst/>
          </a:prstGeom>
          <a:solidFill>
            <a:srgbClr val="F58020"/>
          </a:solidFill>
          <a:ln>
            <a:noFill/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87287" y="2023609"/>
            <a:ext cx="2686735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7287" y="2467093"/>
            <a:ext cx="2686735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运行验证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251295" y="3264407"/>
            <a:ext cx="2796463" cy="1783080"/>
          </a:xfrm>
          <a:prstGeom prst="rect">
            <a:avLst/>
          </a:prstGeom>
          <a:solidFill>
            <a:srgbClr val="F4F7FB"/>
          </a:solidFill>
          <a:ln w="15875">
            <a:solidFill>
              <a:srgbClr val="F58020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24447" y="3613703"/>
            <a:ext cx="2659303" cy="10936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沙箱执行、读取报错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样例检查、边界测试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结果复核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Chevron 24"/>
          <p:cNvSpPr/>
          <p:nvPr/>
        </p:nvSpPr>
        <p:spPr>
          <a:xfrm>
            <a:off x="8983751" y="1874519"/>
            <a:ext cx="3189655" cy="1188720"/>
          </a:xfrm>
          <a:prstGeom prst="chevron">
            <a:avLst/>
          </a:prstGeom>
          <a:solidFill>
            <a:srgbClr val="2E8B57"/>
          </a:solidFill>
          <a:ln>
            <a:noFill/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029471" y="2023609"/>
            <a:ext cx="2686735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29471" y="2467093"/>
            <a:ext cx="2686735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迭代原型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9093479" y="3264407"/>
            <a:ext cx="2796463" cy="1783080"/>
          </a:xfrm>
          <a:prstGeom prst="rect">
            <a:avLst/>
          </a:prstGeom>
          <a:solidFill>
            <a:srgbClr val="F4F7FB"/>
          </a:solidFill>
          <a:ln w="15875">
            <a:solidFill>
              <a:srgbClr val="2E8B57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66631" y="3613703"/>
            <a:ext cx="2659303" cy="10936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自动修复、小步迭代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从最小可用原型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到可复用系统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365760" y="5797296"/>
            <a:ext cx="11368735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4992" y="5907296"/>
            <a:ext cx="10911535" cy="383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升级路径：单次提示词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→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结构化需求说明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→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编程智能体开发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→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专业工程化开发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109728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5.1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4920" y="2792716"/>
            <a:ext cx="6675120" cy="5354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从“写代码”到“自然语言编程</a:t>
            </a:r>
            <a:r>
              <a:rPr sz="3400" b="1" i="0" dirty="0">
                <a:solidFill>
                  <a:srgbClr val="333333"/>
                </a:solidFill>
                <a:latin typeface="Microsoft YaHei"/>
                <a:ea typeface="Microsoft YaHei"/>
              </a:rPr>
              <a:t>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931920"/>
            <a:ext cx="1463040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114800"/>
            <a:ext cx="6766560" cy="11782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编程能力曾是科研门槛。大模型让交互方式转变：用自然语言描述目标、数据、逻辑与输出，由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生成代码、运行并解释结果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5.1.1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从“写代码”到“自然语言编程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930902"/>
            <a:ext cx="11430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编程范式：从“语法驱动”转向“意图驱动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8370" y="1541611"/>
            <a:ext cx="10444779" cy="4385487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传统流程：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学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Python/R/MATLAB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语法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逐行写代码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运行排错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反复改实现细节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新流程：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先想清问题（目标·输入·输出·异常·验收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）→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自然语言交给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AI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生成、执行、反馈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重心前移：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把精力从“语法记忆、函数调用、报错排查”移到“任务规划、逻辑约束、结果解释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”</a:t>
            </a: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● 角色升级：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从“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代码书写者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”→“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系统设计者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任务监督者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结果审查者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”</a:t>
            </a: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不变的是：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不亲手写代码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≠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不需要计算思维，仍要判断结果是否真实、合理、可复现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8026F-7076-915B-A29E-857B9625C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97C9366-F228-03DC-B889-38289688B126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77923EB6-80DE-E5A8-FF57-CF833081CD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6362FDC-234E-C1C5-D28D-0AF2AC3EE776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F9BEE6-EF74-2090-60B3-3CA33AC21AD5}"/>
              </a:ext>
            </a:extLst>
          </p:cNvPr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5.1.1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3D9B3E-4859-7603-9A94-70EC5FB48B18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15BC33-4640-7081-08F8-44F1C52B1613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从“写代码”到“自然语言编程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5223FD-2773-15EC-D1D9-231C722881BD}"/>
              </a:ext>
            </a:extLst>
          </p:cNvPr>
          <p:cNvSpPr txBox="1"/>
          <p:nvPr/>
        </p:nvSpPr>
        <p:spPr>
          <a:xfrm>
            <a:off x="2234004" y="5972394"/>
            <a:ext cx="821405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latin typeface="Microsoft YaHei"/>
                <a:ea typeface="Microsoft YaHei"/>
              </a:rPr>
              <a:t>图5-1 </a:t>
            </a:r>
            <a:r>
              <a:rPr b="0" dirty="0" err="1">
                <a:latin typeface="Microsoft YaHei"/>
                <a:ea typeface="Microsoft YaHei"/>
              </a:rPr>
              <a:t>编程范式从“语法驱动”到“意图驱动</a:t>
            </a:r>
            <a:r>
              <a:rPr b="0" dirty="0">
                <a:latin typeface="Microsoft YaHei"/>
                <a:ea typeface="Microsoft YaHei"/>
              </a:rPr>
              <a:t>”</a:t>
            </a: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8532D591-0E6B-0BD7-CCC5-923CEE92089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1521" y="1225676"/>
            <a:ext cx="9052560" cy="4415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1902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5.1.1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从“写代码”到“自然语言编程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859467"/>
            <a:ext cx="11430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人工智能时代的计算思维：从“会写代码”到“会定义与检查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33822"/>
            <a:ext cx="5538063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433822"/>
            <a:ext cx="5538063" cy="585216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433822"/>
            <a:ext cx="109728" cy="20574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1541764"/>
            <a:ext cx="521802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①　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拆解能力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13232" y="2229952"/>
            <a:ext cx="5080863" cy="1032068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6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把一个模糊的科研需求，拆解成若干清晰、可执行的操作步骤</a:t>
            </a:r>
            <a:r>
              <a:rPr sz="16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600" b="1" dirty="0">
                <a:solidFill>
                  <a:srgbClr val="004CA0"/>
                </a:solidFill>
                <a:latin typeface="Microsoft YaHei"/>
                <a:ea typeface="Microsoft YaHei"/>
              </a:rPr>
              <a:t>例：“</a:t>
            </a:r>
            <a:r>
              <a:rPr sz="16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提取年份</a:t>
            </a:r>
            <a:r>
              <a:rPr sz="1600" b="1" dirty="0">
                <a:solidFill>
                  <a:srgbClr val="004CA0"/>
                </a:solidFill>
                <a:latin typeface="Microsoft YaHei"/>
                <a:ea typeface="Microsoft YaHei"/>
              </a:rPr>
              <a:t>”→ </a:t>
            </a:r>
            <a:r>
              <a:rPr sz="16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匹配规则</a:t>
            </a:r>
            <a:r>
              <a:rPr sz="1600" b="1" dirty="0">
                <a:solidFill>
                  <a:srgbClr val="004CA0"/>
                </a:solidFill>
                <a:latin typeface="Microsoft YaHei"/>
                <a:ea typeface="Microsoft YaHei"/>
              </a:rPr>
              <a:t> + </a:t>
            </a:r>
            <a:r>
              <a:rPr sz="16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异常处理</a:t>
            </a:r>
            <a:r>
              <a:rPr sz="1600" b="1" dirty="0">
                <a:solidFill>
                  <a:srgbClr val="004CA0"/>
                </a:solidFill>
                <a:latin typeface="Microsoft YaHei"/>
                <a:ea typeface="Microsoft YaHei"/>
              </a:rPr>
              <a:t> + </a:t>
            </a:r>
            <a:r>
              <a:rPr sz="16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验收标准</a:t>
            </a:r>
            <a:endParaRPr sz="1600" b="1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196431" y="1433822"/>
            <a:ext cx="5538063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96431" y="1433822"/>
            <a:ext cx="5538063" cy="585216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96431" y="1433822"/>
            <a:ext cx="109728" cy="20574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79311" y="1541764"/>
            <a:ext cx="521802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②　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数据洞察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452464" y="2229952"/>
            <a:ext cx="4789278" cy="1032068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6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识别数据中的规律、噪声与异常，判断数据是否真正可靠</a:t>
            </a:r>
            <a:r>
              <a:rPr sz="15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6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例：发现缺失值、离群点、单位混用与重复记录</a:t>
            </a:r>
            <a:endParaRPr sz="1600" b="1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57200" y="3692390"/>
            <a:ext cx="5538063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3692390"/>
            <a:ext cx="5538063" cy="585216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" y="3692390"/>
            <a:ext cx="109728" cy="2057400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3800332"/>
            <a:ext cx="521802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③　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逻辑转化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13232" y="4642408"/>
            <a:ext cx="5080863" cy="724292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6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把专业问题转化为程序可以执行的明确逻辑</a:t>
            </a:r>
            <a:r>
              <a:rPr sz="16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6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例：把分类标准写成可判断的条件规则</a:t>
            </a:r>
            <a:endParaRPr sz="1600" b="1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196431" y="3692390"/>
            <a:ext cx="5538063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196431" y="3692390"/>
            <a:ext cx="5538063" cy="58521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196431" y="3692390"/>
            <a:ext cx="109728" cy="20574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79311" y="3800332"/>
            <a:ext cx="521802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④　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结果判断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452463" y="4642408"/>
            <a:ext cx="5080863" cy="724292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6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判断系统输出是否真实、合理、可复现</a:t>
            </a:r>
            <a:r>
              <a:rPr sz="16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6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例：抽样复核、边界测试、重复运行、人工抽查</a:t>
            </a:r>
            <a:endParaRPr sz="1600" b="1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28207" y="5962158"/>
            <a:ext cx="11368735" cy="66428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13232" y="5976175"/>
            <a:ext cx="10837254" cy="6642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过去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：“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我会不会写代码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　→　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现在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：“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我能不能把问题定义清楚，并检查机器是否真正完成了任务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5.1.1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从“写代码”到“自然语言编程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930902"/>
            <a:ext cx="11430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好的自然语言指令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=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一份简洁的“任务说明书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591056"/>
            <a:ext cx="2109155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591056"/>
            <a:ext cx="2109155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1720631"/>
            <a:ext cx="2109155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①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任务目标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30352" y="2298074"/>
            <a:ext cx="1962851" cy="70737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最终解决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什么问题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749235" y="1591056"/>
            <a:ext cx="2109155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749235" y="1591056"/>
            <a:ext cx="2109155" cy="56692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49235" y="1720631"/>
            <a:ext cx="2109155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②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输入数据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822387" y="2298074"/>
            <a:ext cx="1962851" cy="70737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读取哪些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文件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字段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41270" y="1591056"/>
            <a:ext cx="2109155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41270" y="1591056"/>
            <a:ext cx="2109155" cy="56692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41270" y="1720631"/>
            <a:ext cx="2109155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③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输出形式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114422" y="2298074"/>
            <a:ext cx="1962851" cy="70737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表格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图表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报告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网页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7333305" y="1591056"/>
            <a:ext cx="2109155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333305" y="1591056"/>
            <a:ext cx="2109155" cy="56692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33305" y="1720631"/>
            <a:ext cx="2109155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④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异常情况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406457" y="2298074"/>
            <a:ext cx="1962851" cy="70737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缺失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错误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重复如何处理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9625340" y="1591056"/>
            <a:ext cx="2109155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625340" y="1591056"/>
            <a:ext cx="2109155" cy="566928"/>
          </a:xfrm>
          <a:prstGeom prst="rect">
            <a:avLst/>
          </a:prstGeom>
          <a:solidFill>
            <a:srgbClr val="6A3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625340" y="1720631"/>
            <a:ext cx="2109155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⑤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验收标准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9698492" y="2298074"/>
            <a:ext cx="1962851" cy="70737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如何判断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已正确完成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57200" y="3419856"/>
            <a:ext cx="11274552" cy="2111368"/>
          </a:xfrm>
          <a:prstGeom prst="rect">
            <a:avLst/>
          </a:prstGeom>
          <a:solidFill>
            <a:srgbClr val="EEF2F7"/>
          </a:solidFill>
          <a:ln w="15875">
            <a:solidFill>
              <a:srgbClr val="2F3A4A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57200" y="3419856"/>
            <a:ext cx="11274552" cy="402336"/>
          </a:xfrm>
          <a:prstGeom prst="rect">
            <a:avLst/>
          </a:prstGeom>
          <a:solidFill>
            <a:srgbClr val="2F3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21792" y="3467135"/>
            <a:ext cx="11000232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▌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提示词示例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批量提取文献年份</a:t>
            </a:r>
            <a:endParaRPr sz="1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579271" y="3891229"/>
            <a:ext cx="11002975" cy="1538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 dirty="0">
                <a:solidFill>
                  <a:srgbClr val="1E2B3A"/>
                </a:solidFill>
                <a:latin typeface="Microsoft YaHei"/>
                <a:ea typeface="Microsoft YaHei"/>
              </a:rPr>
              <a:t>“</a:t>
            </a:r>
            <a:r>
              <a:rPr sz="2000"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请读取指定表格，提取‘文本’列中代表年份的</a:t>
            </a:r>
            <a:r>
              <a:rPr sz="2000" b="0" i="0" dirty="0">
                <a:solidFill>
                  <a:srgbClr val="1E2B3A"/>
                </a:solidFill>
                <a:latin typeface="Microsoft YaHei"/>
                <a:ea typeface="Microsoft YaHei"/>
              </a:rPr>
              <a:t> 4 位连续数字，存入新列‘</a:t>
            </a:r>
            <a:r>
              <a:rPr sz="2000"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年份</a:t>
            </a:r>
            <a:r>
              <a:rPr sz="2000" b="0" i="0" dirty="0">
                <a:solidFill>
                  <a:srgbClr val="1E2B3A"/>
                </a:solidFill>
                <a:latin typeface="Microsoft YaHei"/>
                <a:ea typeface="Microsoft YaHei"/>
              </a:rPr>
              <a:t>’；若某行无年份则填‘</a:t>
            </a:r>
            <a:r>
              <a:rPr sz="2000"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暂无</a:t>
            </a:r>
            <a:r>
              <a:rPr sz="2000" b="0" i="0" dirty="0">
                <a:solidFill>
                  <a:srgbClr val="1E2B3A"/>
                </a:solidFill>
                <a:latin typeface="Microsoft YaHei"/>
                <a:ea typeface="Microsoft YaHei"/>
              </a:rPr>
              <a:t>’；</a:t>
            </a:r>
            <a:r>
              <a:rPr sz="2000"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若同一行出现多个</a:t>
            </a:r>
            <a:r>
              <a:rPr sz="2000" b="0" i="0" dirty="0">
                <a:solidFill>
                  <a:srgbClr val="1E2B3A"/>
                </a:solidFill>
                <a:latin typeface="Microsoft YaHei"/>
                <a:ea typeface="Microsoft YaHei"/>
              </a:rPr>
              <a:t> 4 </a:t>
            </a:r>
            <a:r>
              <a:rPr sz="2000"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位数字，优先提取‘年’字前后的数字。处理完成后输出新表格，并统计成功提取、未提取、疑似异常的记录数量，同时随机展示</a:t>
            </a:r>
            <a:r>
              <a:rPr sz="2000" b="0" i="0" dirty="0">
                <a:solidFill>
                  <a:srgbClr val="1E2B3A"/>
                </a:solidFill>
                <a:latin typeface="Microsoft YaHei"/>
                <a:ea typeface="Microsoft YaHei"/>
              </a:rPr>
              <a:t> 10 </a:t>
            </a:r>
            <a:r>
              <a:rPr sz="2000"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条处理前后的样例，供我人工检查</a:t>
            </a:r>
            <a:r>
              <a:rPr sz="2000" b="0" i="0" dirty="0">
                <a:solidFill>
                  <a:srgbClr val="1E2B3A"/>
                </a:solidFill>
                <a:latin typeface="Microsoft YaHei"/>
                <a:ea typeface="Microsoft YaHei"/>
              </a:rPr>
              <a:t>。”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5768304"/>
            <a:ext cx="11368735" cy="748582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8708" y="5832194"/>
            <a:ext cx="10911535" cy="6642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为何优于“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帮我提取年份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”：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同时交代目标、输入、输出、异常处理与验收方式；但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AI 仍可能误判（把“第15卷”当年份），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须人工复核</a:t>
            </a:r>
            <a:r>
              <a:rPr sz="145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5.1.2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从“写代码”到“自然语言编程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930902"/>
            <a:ext cx="11430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零代码开发的两类系统：先判断难度，再决定如何描述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" y="1687068"/>
            <a:ext cx="5538063" cy="400668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687068"/>
            <a:ext cx="5538063" cy="585216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687068"/>
            <a:ext cx="109728" cy="4006686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1795010"/>
            <a:ext cx="521802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　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已知系统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08659" y="2494197"/>
            <a:ext cx="5282031" cy="2602370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互联网已有大量成熟实现、逻辑高度标准化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如：计算器、倒计时、贪吃蛇、单词测验、问卷页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特点：目标明确、规则成熟、边界清晰</a:t>
            </a:r>
            <a:r>
              <a:rPr sz="2000" b="1" dirty="0">
                <a:solidFill>
                  <a:srgbClr val="2E8B57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→ 只需“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意图交付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”，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交代总体目标即可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，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　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无需详述每一个底层实现步骤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6431" y="1687068"/>
            <a:ext cx="5538063" cy="400668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96431" y="1687068"/>
            <a:ext cx="5538063" cy="585216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96431" y="1687068"/>
            <a:ext cx="109728" cy="4006686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79311" y="1795010"/>
            <a:ext cx="521802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B　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自定义系统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447890" y="2476449"/>
            <a:ext cx="5080863" cy="2987091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带特定规则、数据格式与学科判断标准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知道大致怎么做，却不知道你心中的具体规则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 err="1">
                <a:solidFill>
                  <a:srgbClr val="C0392B"/>
                </a:solidFill>
                <a:latin typeface="Microsoft YaHei"/>
                <a:ea typeface="Microsoft YaHei"/>
              </a:rPr>
              <a:t>提示词模糊</a:t>
            </a:r>
            <a:r>
              <a:rPr sz="2000" b="1" dirty="0">
                <a:solidFill>
                  <a:srgbClr val="C0392B"/>
                </a:solidFill>
                <a:latin typeface="Microsoft YaHei"/>
                <a:ea typeface="Microsoft YaHei"/>
              </a:rPr>
              <a:t> → </a:t>
            </a:r>
            <a:r>
              <a:rPr sz="2000" b="1" dirty="0" err="1">
                <a:solidFill>
                  <a:srgbClr val="C0392B"/>
                </a:solidFill>
                <a:latin typeface="Microsoft YaHei"/>
                <a:ea typeface="Microsoft YaHei"/>
              </a:rPr>
              <a:t>只生成“形似而逻辑不准”的半成品</a:t>
            </a:r>
            <a:r>
              <a:rPr sz="2000" b="1" dirty="0">
                <a:solidFill>
                  <a:srgbClr val="C0392B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→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必须写清目标、输入、输出、约束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，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　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把判定标准与交互细节交代明确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7025" y="5940641"/>
            <a:ext cx="11368735" cy="679483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4992" y="5962222"/>
            <a:ext cx="10911535" cy="6642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生成代码只是中间步骤，不是最终目标：能打开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≠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正确，界面美观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≠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逻辑可靠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——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必须做结果验收与边界测试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274320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</a:rPr>
              <a:t>5.1.2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从“写代码”到“自然语言编程”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084" y="848950"/>
            <a:ext cx="7977692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已知系统示例：贪吃蛇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——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极简“意图交付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5601" y="5559181"/>
            <a:ext cx="5633368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图5-2 </a:t>
            </a:r>
            <a:r>
              <a:rPr sz="1600" b="0" dirty="0" err="1">
                <a:latin typeface="Microsoft YaHei"/>
                <a:ea typeface="Microsoft YaHei"/>
              </a:rPr>
              <a:t>贪吃蛇游戏系统界面（DeepSeek</a:t>
            </a:r>
            <a:r>
              <a:rPr sz="1600" b="0" dirty="0">
                <a:latin typeface="Microsoft YaHei"/>
                <a:ea typeface="Microsoft YaHei"/>
              </a:rPr>
              <a:t> </a:t>
            </a:r>
            <a:r>
              <a:rPr sz="1600" b="0" dirty="0" err="1">
                <a:latin typeface="Microsoft YaHei"/>
                <a:ea typeface="Microsoft YaHei"/>
              </a:rPr>
              <a:t>开发</a:t>
            </a:r>
            <a:r>
              <a:rPr sz="1600" b="0" dirty="0"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1554480"/>
            <a:ext cx="6465115" cy="2533377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4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常见错误：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把提示词写得过于冗长（详述按键监听、坐标表示、碰撞判断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…）</a:t>
            </a:r>
          </a:p>
          <a:p>
            <a:pPr algn="l">
              <a:lnSpc>
                <a:spcPct val="124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正确做法：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大模型已掌握此类标准结构，简洁交代总体目标即可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4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自动处理：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按键防抖、状态重置、画布刷新等底层复杂逻辑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04088" y="4099291"/>
            <a:ext cx="5114006" cy="1736733"/>
          </a:xfrm>
          <a:prstGeom prst="rect">
            <a:avLst/>
          </a:prstGeom>
          <a:solidFill>
            <a:srgbClr val="EEF2F7"/>
          </a:solidFill>
          <a:ln w="15875">
            <a:solidFill>
              <a:srgbClr val="2F3A4A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04088" y="4099291"/>
            <a:ext cx="4922215" cy="402336"/>
          </a:xfrm>
          <a:prstGeom prst="rect">
            <a:avLst/>
          </a:prstGeom>
          <a:solidFill>
            <a:srgbClr val="2F3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4609" y="4137786"/>
            <a:ext cx="4647895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▌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提示词示例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贪吃蛇（已知系统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468" y="4599232"/>
            <a:ext cx="4728036" cy="1030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“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请开发一个可以在浏览器中直接运行的贪吃蛇游戏，在页面上方实时显示当前得分，并提供重新开始按钮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。”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989320"/>
            <a:ext cx="11475720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0060" y="6134572"/>
            <a:ext cx="11551615" cy="3515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保存为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.html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双击即可在浏览器运行；想加“双人模式”等功能，继续用自然语言沟通即可</a:t>
            </a:r>
            <a:r>
              <a:rPr sz="15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8E7DC5E4-D04A-3264-2907-44C08DF48CE4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077" t="17017" r="10721" b="3741"/>
          <a:stretch/>
        </p:blipFill>
        <p:spPr bwMode="auto">
          <a:xfrm>
            <a:off x="7832643" y="1062841"/>
            <a:ext cx="2935626" cy="433175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5.1.2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从“写代码”到“自然语言编程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537" y="889862"/>
            <a:ext cx="8643769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自定义系统示例：个人健康评估</a:t>
            </a:r>
            <a:r>
              <a:rPr sz="28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—— </a:t>
            </a:r>
            <a:r>
              <a:rPr sz="28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结构化指令</a:t>
            </a:r>
            <a:endParaRPr sz="28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473790" y="1051561"/>
            <a:ext cx="3050698" cy="491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279341" y="6181344"/>
            <a:ext cx="4598261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图5-3 </a:t>
            </a:r>
            <a:r>
              <a:rPr sz="1600" b="0" dirty="0" err="1">
                <a:latin typeface="Microsoft YaHei"/>
                <a:ea typeface="Microsoft YaHei"/>
              </a:rPr>
              <a:t>个人健康评估系统界面（DeepSeek</a:t>
            </a:r>
            <a:r>
              <a:rPr sz="1600" b="0" dirty="0">
                <a:latin typeface="Microsoft YaHei"/>
                <a:ea typeface="Microsoft YaHei"/>
              </a:rPr>
              <a:t> </a:t>
            </a:r>
            <a:r>
              <a:rPr sz="1600" b="0" dirty="0" err="1">
                <a:latin typeface="Microsoft YaHei"/>
                <a:ea typeface="Microsoft YaHei"/>
              </a:rPr>
              <a:t>开发</a:t>
            </a:r>
            <a:r>
              <a:rPr sz="1600" b="0" dirty="0"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537133"/>
            <a:ext cx="7511527" cy="191929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4000"/>
              </a:lnSpc>
              <a:spcAft>
                <a:spcPts val="800"/>
              </a:spcAft>
            </a:pP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● 关键差异：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不仅说“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做什么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”，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还明确如何接收数据、如何输出、判定标准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4000"/>
              </a:lnSpc>
              <a:spcAft>
                <a:spcPts val="800"/>
              </a:spcAft>
            </a:pP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精准实现：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单位换算、多重条件判断、动态颜色交互输出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4000"/>
              </a:lnSpc>
              <a:spcAft>
                <a:spcPts val="800"/>
              </a:spcAft>
            </a:pP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对比：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比“帮我做个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BMI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计算器”更易符合真实预期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02920" y="3867452"/>
            <a:ext cx="7162495" cy="2207290"/>
          </a:xfrm>
          <a:prstGeom prst="rect">
            <a:avLst/>
          </a:prstGeom>
          <a:solidFill>
            <a:srgbClr val="EEF2F7"/>
          </a:solidFill>
          <a:ln w="15875">
            <a:solidFill>
              <a:srgbClr val="2F3A4A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02920" y="3844493"/>
            <a:ext cx="7162495" cy="402336"/>
          </a:xfrm>
          <a:prstGeom prst="rect">
            <a:avLst/>
          </a:prstGeom>
          <a:solidFill>
            <a:srgbClr val="2F3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300" y="3903346"/>
            <a:ext cx="6888175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▌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提示词示例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健康评估（自定义系统</a:t>
            </a:r>
            <a:r>
              <a:rPr sz="1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4370372"/>
            <a:ext cx="6760159" cy="13846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“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开发个人健康状态评估系统：输入性别（下拉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）、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身高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(cm)、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体重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(kg)；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点击‘开始评估’后计算并显示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 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BMI；并严格按标准判定、动态改变字体颜色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：&lt;18.5 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偏瘦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(蓝)、18.5–24 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正常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(绿)、24–28 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超重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(橙)、≥28 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肥胖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(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红+警告图标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)。”</a:t>
            </a:r>
          </a:p>
        </p:txBody>
      </p:sp>
      <p:pic>
        <p:nvPicPr>
          <p:cNvPr id="18" name="图片 17">
            <a:extLst>
              <a:ext uri="{FF2B5EF4-FFF2-40B4-BE49-F238E27FC236}">
                <a16:creationId xmlns:a16="http://schemas.microsoft.com/office/drawing/2014/main" id="{00134F22-6E8D-C9CB-0703-C38DCEE400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3790" y="1051561"/>
            <a:ext cx="3050698" cy="4948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5.1.2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从“写代码”到“自然语言编程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900125"/>
            <a:ext cx="1143000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验收：生成代码只是中间步骤</a:t>
            </a:r>
            <a:r>
              <a:rPr sz="2800" b="1" i="0" dirty="0">
                <a:solidFill>
                  <a:srgbClr val="004CA0"/>
                </a:solidFill>
                <a:latin typeface="Microsoft YaHei"/>
                <a:ea typeface="Microsoft YaHei"/>
              </a:rPr>
              <a:t>，“</a:t>
            </a:r>
            <a:r>
              <a:rPr sz="28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能打开”不等于“正确</a:t>
            </a:r>
            <a:r>
              <a:rPr sz="28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09344"/>
            <a:ext cx="5538063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609344"/>
            <a:ext cx="5538063" cy="585216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609344"/>
            <a:ext cx="109728" cy="20574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1717286"/>
            <a:ext cx="521802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①　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普通样例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13232" y="2485944"/>
            <a:ext cx="5080863" cy="871127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输入常见数据，确认核心结果是否正确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例：身高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 170 /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体重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 65 → BMI≈22.5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正常</a:t>
            </a:r>
            <a:endParaRPr sz="2000" b="1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196431" y="1609344"/>
            <a:ext cx="5538063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96431" y="1609344"/>
            <a:ext cx="5538063" cy="585216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96431" y="1609344"/>
            <a:ext cx="109728" cy="20574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79311" y="1717286"/>
            <a:ext cx="521802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②　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边界测试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452463" y="2286000"/>
            <a:ext cx="5080863" cy="1271016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在分类阈值处检查判定是否准确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例：BMI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恰为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 18.5 / 24 / 28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时分类是否正确</a:t>
            </a:r>
            <a:endParaRPr sz="2000" b="1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57200" y="3867912"/>
            <a:ext cx="5538063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3867912"/>
            <a:ext cx="5538063" cy="585216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" y="3867912"/>
            <a:ext cx="109728" cy="2057400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3975854"/>
            <a:ext cx="521802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③　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异常输入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13232" y="4544568"/>
            <a:ext cx="5080863" cy="1271016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输入不合法数据时是否被正确处理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例：身高为空是否报错？体重为负是否被拒绝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？</a:t>
            </a:r>
            <a:endParaRPr sz="1350" b="1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196431" y="3867912"/>
            <a:ext cx="5538063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196431" y="3867912"/>
            <a:ext cx="5538063" cy="58521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196431" y="3867912"/>
            <a:ext cx="109728" cy="20574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79311" y="3975854"/>
            <a:ext cx="521802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④　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友好提示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452463" y="4544568"/>
            <a:ext cx="5080863" cy="1271016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非法输入时是否给出清楚、友好的提示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例：输入字母时提示“请输入数字”而非崩溃</a:t>
            </a:r>
            <a:endParaRPr sz="2000" b="1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11480" y="6053328"/>
            <a:ext cx="11368735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12063" y="6227904"/>
            <a:ext cx="11368735" cy="2876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只有通过样例检查、边界测试、重复运行与人工抽查，才能判断系统是否真正可靠</a:t>
            </a:r>
            <a:r>
              <a:rPr b="1" i="0" dirty="0">
                <a:solidFill>
                  <a:srgbClr val="FFFFFF"/>
                </a:solidFill>
                <a:latin typeface="Microsoft YaHei"/>
                <a:ea typeface="Microsoft YaHei"/>
              </a:rPr>
              <a:t> —— </a:t>
            </a:r>
            <a:r>
              <a:rPr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页面美观</a:t>
            </a:r>
            <a:r>
              <a:rPr b="1" i="0" dirty="0">
                <a:solidFill>
                  <a:srgbClr val="FFFFFF"/>
                </a:solidFill>
                <a:latin typeface="Microsoft YaHei"/>
                <a:ea typeface="Microsoft YaHei"/>
              </a:rPr>
              <a:t> ≠ </a:t>
            </a:r>
            <a:r>
              <a:rPr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逻辑可靠</a:t>
            </a:r>
            <a:r>
              <a:rPr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7EC91-9B0D-E563-1D10-C3A1EE5BE1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823B020-A56B-20D4-76E5-29DD0E985E6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3A861758-FCCF-D824-9CFF-62F963E050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969FE33-04A0-18A5-2D4F-51B17E7F60F9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6652B2-D0EA-62DF-7915-28A84B3196C3}"/>
              </a:ext>
            </a:extLst>
          </p:cNvPr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5.1.3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6F5E82-38E8-8F09-7992-4B137A107F71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74F7ED-1F1D-A7B1-846B-4E6E9FC85350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从“写代码”到“自然语言编程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498A14-DDDC-0550-1DA6-05FAC483C30D}"/>
              </a:ext>
            </a:extLst>
          </p:cNvPr>
          <p:cNvSpPr txBox="1"/>
          <p:nvPr/>
        </p:nvSpPr>
        <p:spPr>
          <a:xfrm>
            <a:off x="168536" y="867162"/>
            <a:ext cx="11430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开发边界感：用“逻辑复杂度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×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外部依赖性”判断任务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77374EE-190F-90D4-03C1-BA28E61CE886}"/>
              </a:ext>
            </a:extLst>
          </p:cNvPr>
          <p:cNvSpPr/>
          <p:nvPr/>
        </p:nvSpPr>
        <p:spPr>
          <a:xfrm>
            <a:off x="5410047" y="1408176"/>
            <a:ext cx="1371600" cy="32004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40F6B3-5FA6-3B6F-969B-36058E0C8170}"/>
              </a:ext>
            </a:extLst>
          </p:cNvPr>
          <p:cNvSpPr txBox="1"/>
          <p:nvPr/>
        </p:nvSpPr>
        <p:spPr>
          <a:xfrm>
            <a:off x="349822" y="1343734"/>
            <a:ext cx="3652452" cy="5090487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横轴</a:t>
            </a: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逻辑复杂度：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越右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多步骤、多状态、多模块协同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纵轴</a:t>
            </a: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外部依赖性：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越上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需调用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API、连数据库、访问网络、服务器部署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斜向升级路径：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单次提示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结构化需求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智能体开发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工程化开发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第三因素：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输入输出明确、可测试、可复现才适合交给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AI</a:t>
            </a: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核心提醒：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任务越复杂，越不能把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当一次性代码生成器，而应作为开发伙伴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5279D35-56F0-E394-42B1-015B21802B36}"/>
              </a:ext>
            </a:extLst>
          </p:cNvPr>
          <p:cNvSpPr/>
          <p:nvPr/>
        </p:nvSpPr>
        <p:spPr>
          <a:xfrm>
            <a:off x="4352096" y="1396926"/>
            <a:ext cx="7547885" cy="4747842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051FB7-780C-D661-BE77-39035724F634}"/>
              </a:ext>
            </a:extLst>
          </p:cNvPr>
          <p:cNvSpPr txBox="1"/>
          <p:nvPr/>
        </p:nvSpPr>
        <p:spPr>
          <a:xfrm>
            <a:off x="4726552" y="6235091"/>
            <a:ext cx="7173429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图5-4 </a:t>
            </a:r>
            <a:r>
              <a:rPr sz="1600" b="0" dirty="0" err="1">
                <a:latin typeface="Microsoft YaHei"/>
                <a:ea typeface="Microsoft YaHei"/>
              </a:rPr>
              <a:t>人工智能辅助开发任务的边界评估图</a:t>
            </a:r>
            <a:endParaRPr sz="1600" b="0" dirty="0">
              <a:latin typeface="Microsoft YaHei"/>
              <a:ea typeface="Microsoft YaHei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C1DA5877-E2E8-17B9-719D-C993AD12D71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6" t="8909" b="7303"/>
          <a:stretch/>
        </p:blipFill>
        <p:spPr bwMode="auto">
          <a:xfrm>
            <a:off x="4461732" y="1424178"/>
            <a:ext cx="7282263" cy="466047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9448737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109728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5.2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59680" y="2743200"/>
            <a:ext cx="6675120" cy="5354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软件与工具开发的新范式</a:t>
            </a:r>
            <a:endParaRPr sz="34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931920"/>
            <a:ext cx="1463040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114800"/>
            <a:ext cx="6766560" cy="7720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过去构建智能分析工具高度依赖传统机器学习流程。生成式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带来三种范式，在不同层面降低科研工具开发门槛</a:t>
            </a:r>
            <a:r>
              <a:rPr sz="18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5.2.1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软件与工具开发的新范式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386521" y="870598"/>
            <a:ext cx="5214052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智能数据处理工具开发的三种范式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93733" y="1441788"/>
            <a:ext cx="3550474" cy="5075098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传统机器学习：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标注数据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训练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评估；可控严谨，适合算法研究，但门槛高、周期长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000" b="1" dirty="0">
                <a:solidFill>
                  <a:srgbClr val="2E8B57"/>
                </a:solidFill>
                <a:latin typeface="Microsoft YaHei"/>
                <a:ea typeface="Microsoft YaHei"/>
              </a:rPr>
              <a:t>● </a:t>
            </a:r>
            <a:r>
              <a:rPr sz="20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提示词直接推理：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写清标准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少量示例，预训练模型直接分类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提取；启动快、门槛低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000" b="1" dirty="0">
                <a:solidFill>
                  <a:srgbClr val="F58020"/>
                </a:solidFill>
                <a:latin typeface="Microsoft YaHei"/>
                <a:ea typeface="Microsoft YaHei"/>
              </a:rPr>
              <a:t>● </a:t>
            </a:r>
            <a:r>
              <a:rPr sz="20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智能体算法实验：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交付数据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目标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指标，智能体自动写码、跑实验、出图出报告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并非替代关系：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按任务目标、数据条件与严谨性要求，选择合适的工具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034118" y="1492357"/>
            <a:ext cx="7974697" cy="438893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46522" y="6123422"/>
            <a:ext cx="821405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图5-5 </a:t>
            </a:r>
            <a:r>
              <a:rPr sz="1600" b="0" dirty="0" err="1">
                <a:latin typeface="Microsoft YaHei"/>
                <a:ea typeface="Microsoft YaHei"/>
              </a:rPr>
              <a:t>智能数据处理工具开发的三种范式对比</a:t>
            </a:r>
            <a:endParaRPr sz="1600" b="0" dirty="0">
              <a:latin typeface="Microsoft YaHei"/>
              <a:ea typeface="Microsoft YaHei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7632E164-674E-CF6F-4BBD-B4663A39735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417"/>
          <a:stretch/>
        </p:blipFill>
        <p:spPr bwMode="auto">
          <a:xfrm>
            <a:off x="4142231" y="1554259"/>
            <a:ext cx="7749005" cy="408161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5.2.1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软件与工具开发的新范式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" y="900125"/>
            <a:ext cx="1143000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三种范式深入对比：优势</a:t>
            </a:r>
            <a:r>
              <a:rPr sz="28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8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不足</a:t>
            </a:r>
            <a:r>
              <a:rPr sz="28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8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适用场景</a:t>
            </a:r>
            <a:endParaRPr sz="28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" y="1778508"/>
            <a:ext cx="3624986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778508"/>
            <a:ext cx="3624986" cy="585216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778508"/>
            <a:ext cx="109728" cy="3977639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1886450"/>
            <a:ext cx="3304946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①　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传统机器学习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53795" y="2496662"/>
            <a:ext cx="3423818" cy="2922971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优势：过程相对可控、严谨</a:t>
            </a:r>
            <a:r>
              <a:rPr sz="2000" b="1" dirty="0">
                <a:solidFill>
                  <a:srgbClr val="2E8B57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 err="1">
                <a:solidFill>
                  <a:srgbClr val="C0392B"/>
                </a:solidFill>
                <a:latin typeface="Microsoft YaHei"/>
                <a:ea typeface="Microsoft YaHei"/>
              </a:rPr>
              <a:t>不足：数据</a:t>
            </a:r>
            <a:r>
              <a:rPr sz="2000" b="1" dirty="0">
                <a:solidFill>
                  <a:srgbClr val="C0392B"/>
                </a:solidFill>
                <a:latin typeface="Microsoft YaHei"/>
                <a:ea typeface="Microsoft YaHei"/>
              </a:rPr>
              <a:t> / </a:t>
            </a:r>
            <a:r>
              <a:rPr sz="2000" b="1" dirty="0" err="1">
                <a:solidFill>
                  <a:srgbClr val="C0392B"/>
                </a:solidFill>
                <a:latin typeface="Microsoft YaHei"/>
                <a:ea typeface="Microsoft YaHei"/>
              </a:rPr>
              <a:t>编程</a:t>
            </a:r>
            <a:r>
              <a:rPr sz="2000" b="1" dirty="0">
                <a:solidFill>
                  <a:srgbClr val="C0392B"/>
                </a:solidFill>
                <a:latin typeface="Microsoft YaHei"/>
                <a:ea typeface="Microsoft YaHei"/>
              </a:rPr>
              <a:t> / </a:t>
            </a:r>
            <a:r>
              <a:rPr sz="2000" b="1" dirty="0" err="1">
                <a:solidFill>
                  <a:srgbClr val="C0392B"/>
                </a:solidFill>
                <a:latin typeface="Microsoft YaHei"/>
                <a:ea typeface="Microsoft YaHei"/>
              </a:rPr>
              <a:t>知识门槛高，周期长</a:t>
            </a:r>
            <a:r>
              <a:rPr sz="2000" b="1" dirty="0">
                <a:solidFill>
                  <a:srgbClr val="C0392B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适用：算法研究、高可靠预测、模型比较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例：训练并调参一个图像分类模型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83354" y="1778508"/>
            <a:ext cx="3624986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283354" y="1778508"/>
            <a:ext cx="3624986" cy="585216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83354" y="1778508"/>
            <a:ext cx="109728" cy="3977639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66234" y="1886450"/>
            <a:ext cx="3304946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②　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提示词直接推理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534814" y="2409460"/>
            <a:ext cx="3167786" cy="3307691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优势：启动快、代码量少、门槛低</a:t>
            </a:r>
            <a:r>
              <a:rPr sz="2000" b="1" dirty="0">
                <a:solidFill>
                  <a:srgbClr val="2E8B57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 err="1">
                <a:solidFill>
                  <a:srgbClr val="C0392B"/>
                </a:solidFill>
                <a:latin typeface="Microsoft YaHei"/>
                <a:ea typeface="Microsoft YaHei"/>
              </a:rPr>
              <a:t>不足：受措辞、示例、版本、顺序影响</a:t>
            </a:r>
            <a:r>
              <a:rPr sz="2000" b="1" dirty="0">
                <a:solidFill>
                  <a:srgbClr val="C0392B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适用：文本分类、信息提取、问卷初筛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例：把评论分为支持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 /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反对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 /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中立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09508" y="1778508"/>
            <a:ext cx="3624986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109508" y="1778508"/>
            <a:ext cx="3624986" cy="585216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109508" y="1778508"/>
            <a:ext cx="109728" cy="3977639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92388" y="1886450"/>
            <a:ext cx="3304946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③　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智能体算法实验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365540" y="2396946"/>
            <a:ext cx="3167786" cy="3307691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优势：把“想法”变成可运行实验流程</a:t>
            </a:r>
            <a:r>
              <a:rPr sz="2000" b="1" dirty="0">
                <a:solidFill>
                  <a:srgbClr val="2E8B57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 err="1">
                <a:solidFill>
                  <a:srgbClr val="C0392B"/>
                </a:solidFill>
                <a:latin typeface="Microsoft YaHei"/>
                <a:ea typeface="Microsoft YaHei"/>
              </a:rPr>
              <a:t>不足：仍需检查数据、划分、指标、复现</a:t>
            </a:r>
            <a:r>
              <a:rPr sz="2000" b="1" dirty="0">
                <a:solidFill>
                  <a:srgbClr val="C0392B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适用：基线实验、算法对比、可复现报告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例：建文本分类基线，出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 F1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与混淆矩阵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2775" y="6005321"/>
            <a:ext cx="11368735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3795" y="6127053"/>
            <a:ext cx="11100098" cy="3515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生成式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AI 不是简单“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取代传统机器学习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”，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而是在不同层面降低科研工具开发的门槛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5.2.2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软件与工具开发的新范式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" y="900125"/>
            <a:ext cx="1143000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提示词直接推理：零样本</a:t>
            </a:r>
            <a:r>
              <a:rPr sz="28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vs </a:t>
            </a:r>
            <a:r>
              <a:rPr sz="28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少样本</a:t>
            </a:r>
            <a:endParaRPr sz="28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" y="1572768"/>
            <a:ext cx="5532120" cy="4297680"/>
          </a:xfrm>
          <a:prstGeom prst="rect">
            <a:avLst/>
          </a:prstGeom>
          <a:solidFill>
            <a:srgbClr val="EEF2F7"/>
          </a:solidFill>
          <a:ln w="15875">
            <a:solidFill>
              <a:srgbClr val="004CA0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572768"/>
            <a:ext cx="5532120" cy="402336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" y="1620047"/>
            <a:ext cx="5257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▌ ①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零样本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Zero-shot（不给示例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14688"/>
            <a:ext cx="5129784" cy="38667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“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作为社会学数据分析助手，请判断以下受访者评论的情感态度。你只能输出三个类别之一：支持、反对或中立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。
</a:t>
            </a:r>
            <a:r>
              <a:rPr b="0" i="0" dirty="0" err="1">
                <a:solidFill>
                  <a:srgbClr val="C00000"/>
                </a:solidFill>
                <a:latin typeface="Microsoft YaHei"/>
                <a:ea typeface="Microsoft YaHei"/>
              </a:rPr>
              <a:t>评论文本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：这项政策极大地减轻了我的经济负担，流程也简化了，非常感谢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！”</a:t>
            </a:r>
            <a:endParaRPr lang="en-US" b="0" i="0" dirty="0">
              <a:solidFill>
                <a:srgbClr val="1E2B3A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8000"/>
              </a:lnSpc>
            </a:pP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
→ 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模型据积极表达直接输出“支持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”。</a:t>
            </a:r>
            <a:endParaRPr lang="en-US" b="0" i="0" dirty="0">
              <a:solidFill>
                <a:srgbClr val="1E2B3A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8000"/>
              </a:lnSpc>
            </a:pP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
</a:t>
            </a:r>
            <a:r>
              <a:rPr b="0" i="0" dirty="0" err="1">
                <a:solidFill>
                  <a:srgbClr val="C00000"/>
                </a:solidFill>
                <a:latin typeface="Microsoft YaHei"/>
                <a:ea typeface="Microsoft YaHei"/>
              </a:rPr>
              <a:t>优点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：简单快捷，适合标准直观的任务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。
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局限：遇反讽、双重否定、既肯定又批评的模糊样本时不够稳定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1572768"/>
            <a:ext cx="5532120" cy="4297680"/>
          </a:xfrm>
          <a:prstGeom prst="rect">
            <a:avLst/>
          </a:prstGeom>
          <a:solidFill>
            <a:srgbClr val="EEF2F7"/>
          </a:solidFill>
          <a:ln w="15875">
            <a:solidFill>
              <a:srgbClr val="2E8B57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99632" y="1572768"/>
            <a:ext cx="5532120" cy="40233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64224" y="1620047"/>
            <a:ext cx="5257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▌ ②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少样本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Few-shot（给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3–5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个示例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75688"/>
            <a:ext cx="5129784" cy="3512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“…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只能输出：支持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 / 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反对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 / 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中立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。
</a:t>
            </a:r>
            <a:r>
              <a:rPr b="0" i="0" dirty="0">
                <a:solidFill>
                  <a:srgbClr val="C00000"/>
                </a:solidFill>
                <a:latin typeface="Microsoft YaHei"/>
                <a:ea typeface="Microsoft YaHei"/>
              </a:rPr>
              <a:t>【</a:t>
            </a:r>
            <a:r>
              <a:rPr b="0" i="0" dirty="0" err="1">
                <a:solidFill>
                  <a:srgbClr val="C00000"/>
                </a:solidFill>
                <a:latin typeface="Microsoft YaHei"/>
                <a:ea typeface="Microsoft YaHei"/>
              </a:rPr>
              <a:t>分类标准】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支持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=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认可并正面评价；反对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=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否定或强调负面；中立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=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事实陈述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/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观望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/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信息不足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。
</a:t>
            </a:r>
            <a:r>
              <a:rPr b="0" i="0" dirty="0">
                <a:solidFill>
                  <a:srgbClr val="C00000"/>
                </a:solidFill>
                <a:latin typeface="Microsoft YaHei"/>
                <a:ea typeface="Microsoft YaHei"/>
              </a:rPr>
              <a:t>【</a:t>
            </a:r>
            <a:r>
              <a:rPr b="0" i="0" dirty="0" err="1">
                <a:solidFill>
                  <a:srgbClr val="C00000"/>
                </a:solidFill>
                <a:latin typeface="Microsoft YaHei"/>
                <a:ea typeface="Microsoft YaHei"/>
              </a:rPr>
              <a:t>参考示例</a:t>
            </a:r>
            <a:r>
              <a:rPr b="0" i="0" dirty="0">
                <a:solidFill>
                  <a:srgbClr val="C00000"/>
                </a:solidFill>
                <a:latin typeface="Microsoft YaHei"/>
                <a:ea typeface="Microsoft YaHei"/>
              </a:rPr>
              <a:t>】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
· “成本超预算15%，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但数据信噪比空前，值得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” → 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支持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
· “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初衷好，但繁文缛节增加基层工作量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” → 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反对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
· “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还没看到明显改变，再观察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” → 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中立</a:t>
            </a:r>
            <a:endParaRPr lang="en-US" b="0" i="0" dirty="0">
              <a:solidFill>
                <a:srgbClr val="1E2B3A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8000"/>
              </a:lnSpc>
            </a:pP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
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现在请对以下评论分类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：……”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989320"/>
            <a:ext cx="11368735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6131284"/>
            <a:ext cx="11368735" cy="3195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少样本通过“输入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—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输出”示例让模型对齐你的判断尺度，比零样本更稳定、更贴合编码标准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5.2.2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软件与工具开发的新范式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" y="900125"/>
            <a:ext cx="1143000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提示词直接推理：用途广，但需把关</a:t>
            </a:r>
            <a:endParaRPr sz="28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" y="2075688"/>
            <a:ext cx="5538063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2075688"/>
            <a:ext cx="5538063" cy="58521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2075688"/>
            <a:ext cx="109728" cy="338328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2183630"/>
            <a:ext cx="521802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✓　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适用任务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13233" y="2668014"/>
            <a:ext cx="5025998" cy="2765556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文本分类、情感倾向识别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开放式问卷初步编码、访谈材料初筛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文献信息提取（对象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方法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发现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结论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）。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2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共同点：依赖语义理解，无需复杂模型训练</a:t>
            </a:r>
            <a:r>
              <a:rPr sz="2200" b="1" dirty="0">
                <a:solidFill>
                  <a:srgbClr val="2E8B57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6431" y="2075688"/>
            <a:ext cx="5538063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96431" y="2075688"/>
            <a:ext cx="5538063" cy="585216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96431" y="2075688"/>
            <a:ext cx="109728" cy="3383280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79311" y="2183630"/>
            <a:ext cx="521802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!　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影响因素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452463" y="2879610"/>
            <a:ext cx="5080863" cy="2342363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lang="zh-CN" altLang="en-US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提示词措辞：标准模糊则模型自行理解。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lang="zh-CN" altLang="en-US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示例选择：不具代表性则学到偏差。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lang="zh-CN" altLang="en-US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模型版本 </a:t>
            </a:r>
            <a:r>
              <a:rPr lang="en-US" altLang="zh-CN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/ </a:t>
            </a:r>
            <a:r>
              <a:rPr lang="zh-CN" altLang="en-US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上下文顺序：结果可能漂移。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lang="zh-CN" altLang="en-US"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对策：抽样复核 </a:t>
            </a:r>
            <a:r>
              <a:rPr lang="en-US" altLang="zh-CN"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+ </a:t>
            </a:r>
            <a:r>
              <a:rPr lang="zh-CN" altLang="en-US"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一致性检查 </a:t>
            </a:r>
            <a:r>
              <a:rPr lang="en-US" altLang="zh-CN"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+ </a:t>
            </a:r>
            <a:r>
              <a:rPr lang="zh-CN" altLang="en-US"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错误分析。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0" y="5652275"/>
            <a:ext cx="11368735" cy="823379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5132" y="5662288"/>
            <a:ext cx="11238515" cy="79714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定位：轻量级语义判断工具。让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AI 做“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第一轮整理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”（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初筛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/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预分类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），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研究人员负责“标准制定”与“结果把关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5.2.3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软件与工具开发的新范式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-137160" y="878106"/>
            <a:ext cx="11430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智能体算法实验：搭建可运行、可检查、可复查的实验流程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410047" y="1408176"/>
            <a:ext cx="1371600" cy="32004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422272"/>
            <a:ext cx="3881440" cy="5090487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交付方式：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用自然语言说明任务目标、输入数据、输出要求（模型由智能体自选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自动闭环：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数据读取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生成代码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训练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评估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保存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results.txt 与 predictions.xlsx</a:t>
            </a: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● 实测结果：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9600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训练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/ 7766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测试；Accuracy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0.8477，F1 0.8797</a:t>
            </a: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混淆矩阵</a:t>
            </a: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“好评”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更可靠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，“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差评”仍有误判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——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需继续分析误判样本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● 正确定位：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把智能体视为“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高效算法助理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”，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重复性技术工作交给它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84361" y="1353311"/>
            <a:ext cx="7441880" cy="4855193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28782" y="6272515"/>
            <a:ext cx="6368968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图5-6 </a:t>
            </a:r>
            <a:r>
              <a:rPr sz="1600" b="0" dirty="0" err="1">
                <a:latin typeface="Microsoft YaHei"/>
                <a:ea typeface="Microsoft YaHei"/>
              </a:rPr>
              <a:t>智能体执行文本分类实验的基本过程</a:t>
            </a:r>
            <a:endParaRPr sz="1600" b="0" dirty="0">
              <a:latin typeface="Microsoft YaHei"/>
              <a:ea typeface="Microsoft YaHei"/>
            </a:endParaRP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B15FCA02-56C4-3190-647B-4313337746D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72" t="8167" r="2011" b="7762"/>
          <a:stretch>
            <a:fillRect/>
          </a:stretch>
        </p:blipFill>
        <p:spPr bwMode="auto">
          <a:xfrm>
            <a:off x="4404749" y="1408176"/>
            <a:ext cx="7263942" cy="474546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5.2.4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软件与工具开发的新范式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4043" y="991771"/>
            <a:ext cx="1143000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非结构化数据：大模型的语义理解优势</a:t>
            </a:r>
            <a:endParaRPr sz="28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7791" y="1637189"/>
            <a:ext cx="9313338" cy="4731030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数据现状：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论文正文、实验记录、访谈、问卷、政策文本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…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无统一字段与格式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传统脆弱：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正则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关键词匹配，换种表达、用中文数字、信息跨句就漏判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● 语义理解：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“150°C”“一百五十度”“控制在150左右”可统一为同一条件</a:t>
            </a: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前置整理：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模型先从混乱材料提取初始结果，再经字段规范、单位统一、证据追溯、人工复核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定位：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不取代Excel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/SPSS/R/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Python，而是它们的前置“翻译官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308B6-E0B2-4F40-1B29-A997C1204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E2349161-BA31-54AE-AA33-3D55693DD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F52C784-49C1-A046-EC9C-91129202DDA0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8E213-9147-7060-F275-8F13E1C4A98B}"/>
              </a:ext>
            </a:extLst>
          </p:cNvPr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5.2.4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BA74D8-9150-8F8C-4672-7C023B470897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FBFB6C-F2BF-1A4B-9E6D-E470D21351B1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软件与工具开发的新范式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8B177B-3684-B865-9FEE-AD7F1400F4CD}"/>
              </a:ext>
            </a:extLst>
          </p:cNvPr>
          <p:cNvSpPr txBox="1"/>
          <p:nvPr/>
        </p:nvSpPr>
        <p:spPr>
          <a:xfrm>
            <a:off x="365760" y="885182"/>
            <a:ext cx="11430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非结构化数据：大模型的语义理解优势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94C4247-4599-FD55-2F4D-FBDF25DBC6B3}"/>
              </a:ext>
            </a:extLst>
          </p:cNvPr>
          <p:cNvSpPr/>
          <p:nvPr/>
        </p:nvSpPr>
        <p:spPr>
          <a:xfrm>
            <a:off x="2026579" y="1362457"/>
            <a:ext cx="8563696" cy="4701872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C3C3D07-456B-6482-1951-C067C0586A93}"/>
              </a:ext>
            </a:extLst>
          </p:cNvPr>
          <p:cNvSpPr txBox="1"/>
          <p:nvPr/>
        </p:nvSpPr>
        <p:spPr>
          <a:xfrm>
            <a:off x="2572621" y="6181343"/>
            <a:ext cx="7173429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图5-7 </a:t>
            </a:r>
            <a:r>
              <a:rPr sz="1600" b="0" dirty="0" err="1">
                <a:latin typeface="Microsoft YaHei"/>
                <a:ea typeface="Microsoft YaHei"/>
              </a:rPr>
              <a:t>基于大模型的非结构化数据清洗流水线</a:t>
            </a:r>
            <a:endParaRPr sz="1600" b="0" dirty="0">
              <a:latin typeface="Microsoft YaHei"/>
              <a:ea typeface="Microsoft YaHei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7213C6F1-AC1B-2F3C-0C9F-E4B9CB50246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121" b="17573"/>
          <a:stretch/>
        </p:blipFill>
        <p:spPr bwMode="auto">
          <a:xfrm>
            <a:off x="2160494" y="1494836"/>
            <a:ext cx="8295865" cy="443711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943855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5.2.4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软件与工具开发的新范式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" y="930902"/>
            <a:ext cx="11430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示例：催化剂反应条件提取（识别中文数字与上下文对应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572768"/>
            <a:ext cx="6766560" cy="1084212"/>
          </a:xfrm>
          <a:prstGeom prst="rect">
            <a:avLst/>
          </a:prstGeom>
          <a:solidFill>
            <a:srgbClr val="F4F7FB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1526401"/>
            <a:ext cx="6400800" cy="10071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原文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：“在 150°C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的密闭环境中加入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5g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催化剂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A，而在另一组对比实验中，温度被大幅提升到了两百摄氏度，使用的是催化剂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B。”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94076"/>
            <a:ext cx="6766560" cy="2240280"/>
          </a:xfrm>
          <a:prstGeom prst="rect">
            <a:avLst/>
          </a:prstGeom>
          <a:solidFill>
            <a:srgbClr val="EEF2F7"/>
          </a:solidFill>
          <a:ln w="15875">
            <a:solidFill>
              <a:srgbClr val="2F3A4A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2871216"/>
            <a:ext cx="6766560" cy="402336"/>
          </a:xfrm>
          <a:prstGeom prst="rect">
            <a:avLst/>
          </a:prstGeom>
          <a:solidFill>
            <a:srgbClr val="2F3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792" y="2941355"/>
            <a:ext cx="6492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▌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提示词示例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结构化提取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58368" y="3396996"/>
            <a:ext cx="6364224" cy="13846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“请从下面的实验描述中提取每组实验的催化剂名称和反应温度。请将温度统一转换为阿拉伯数字，并用表格形式输出。若某项信息无法从原文判断，请填写‘未说明’，不要自行补充。”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1572768"/>
            <a:ext cx="42062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 dirty="0">
                <a:solidFill>
                  <a:srgbClr val="004CA0"/>
                </a:solidFill>
                <a:latin typeface="Microsoft YaHei"/>
                <a:ea typeface="Microsoft YaHei"/>
              </a:rPr>
              <a:t>表5-1 </a:t>
            </a:r>
            <a:r>
              <a:rPr sz="16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大模型提取的结果</a:t>
            </a:r>
            <a:endParaRPr sz="16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589520" y="2057400"/>
            <a:ext cx="1325880" cy="530352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635240" y="2057400"/>
            <a:ext cx="123444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50" b="1" i="0">
                <a:solidFill>
                  <a:srgbClr val="FFFFFF"/>
                </a:solidFill>
                <a:latin typeface="Microsoft YaHei"/>
                <a:ea typeface="Microsoft YaHei"/>
              </a:rPr>
              <a:t>实验组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15400" y="2057400"/>
            <a:ext cx="1554480" cy="530352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961120" y="2057400"/>
            <a:ext cx="146304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50" b="1" i="0">
                <a:solidFill>
                  <a:srgbClr val="FFFFFF"/>
                </a:solidFill>
                <a:latin typeface="Microsoft YaHei"/>
                <a:ea typeface="Microsoft YaHei"/>
              </a:rPr>
              <a:t>催化剂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469880" y="2057400"/>
            <a:ext cx="1371600" cy="530352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515600" y="2057400"/>
            <a:ext cx="12801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50" b="1" i="0">
                <a:solidFill>
                  <a:srgbClr val="FFFFFF"/>
                </a:solidFill>
                <a:latin typeface="Microsoft YaHei"/>
                <a:ea typeface="Microsoft YaHei"/>
              </a:rPr>
              <a:t>反应温度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89520" y="2587752"/>
            <a:ext cx="132588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699248" y="2624328"/>
            <a:ext cx="1106424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50" b="1" i="0">
                <a:solidFill>
                  <a:srgbClr val="333333"/>
                </a:solidFill>
                <a:latin typeface="Microsoft YaHei"/>
                <a:ea typeface="Microsoft YaHei"/>
              </a:rPr>
              <a:t>第一组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15400" y="2587752"/>
            <a:ext cx="155448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025128" y="2624328"/>
            <a:ext cx="1335024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0" i="0">
                <a:solidFill>
                  <a:srgbClr val="333333"/>
                </a:solidFill>
                <a:latin typeface="Microsoft YaHei"/>
                <a:ea typeface="Microsoft YaHei"/>
              </a:rPr>
              <a:t>催化剂 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469880" y="2587752"/>
            <a:ext cx="137160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579608" y="2624328"/>
            <a:ext cx="1152144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0" i="0">
                <a:solidFill>
                  <a:srgbClr val="333333"/>
                </a:solidFill>
                <a:latin typeface="Microsoft YaHei"/>
                <a:ea typeface="Microsoft YaHei"/>
              </a:rPr>
              <a:t>150 °C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89520" y="3191256"/>
            <a:ext cx="132588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699248" y="3227832"/>
            <a:ext cx="1106424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50" b="1" i="0">
                <a:solidFill>
                  <a:srgbClr val="333333"/>
                </a:solidFill>
                <a:latin typeface="Microsoft YaHei"/>
                <a:ea typeface="Microsoft YaHei"/>
              </a:rPr>
              <a:t>第二组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15400" y="3191256"/>
            <a:ext cx="155448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025128" y="3227832"/>
            <a:ext cx="1335024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0" i="0">
                <a:solidFill>
                  <a:srgbClr val="333333"/>
                </a:solidFill>
                <a:latin typeface="Microsoft YaHei"/>
                <a:ea typeface="Microsoft YaHei"/>
              </a:rPr>
              <a:t>催化剂 B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469880" y="3191256"/>
            <a:ext cx="137160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579608" y="3227832"/>
            <a:ext cx="1152144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0" i="0">
                <a:solidFill>
                  <a:srgbClr val="333333"/>
                </a:solidFill>
                <a:latin typeface="Microsoft YaHei"/>
                <a:ea typeface="Microsoft YaHei"/>
              </a:rPr>
              <a:t>200 °C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89520" y="4022718"/>
            <a:ext cx="4069080" cy="1069848"/>
          </a:xfrm>
          <a:prstGeom prst="rect">
            <a:avLst/>
          </a:prstGeom>
          <a:solidFill>
            <a:srgbClr val="F4F7FB"/>
          </a:solidFill>
          <a:ln w="15875">
            <a:solidFill>
              <a:srgbClr val="2E8B57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49539" y="4065520"/>
            <a:ext cx="3703320" cy="9842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“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两百摄氏度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”→ 200：模型据上下文判断 A↔150、B↔200，并识别中文数字与转折关系。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7499" y="5449824"/>
            <a:ext cx="11368735" cy="741036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0080" y="5460083"/>
            <a:ext cx="10911535" cy="730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语义解析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≠ 结果一定正确：模型可能因表达含糊而误判，或在缺依据时按常识补全。应作为“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前置整理助手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”，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再经人工复核确认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109728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5.3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704098"/>
            <a:ext cx="6675120" cy="5354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自动化数据分析与可视化</a:t>
            </a:r>
            <a:endParaRPr sz="34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931920"/>
            <a:ext cx="1463040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114800"/>
            <a:ext cx="6766560" cy="11782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涉及大规模表格、统计检验与绘图时，语言推理不可靠。代码执行引擎与编程智能体把分析推进到“生成代码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运行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检查”的可复核流程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71891"/>
            <a:ext cx="9144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5.3.1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自动化数据分析与可视化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00100" y="947404"/>
            <a:ext cx="95554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代码执行引擎：从“语言推理”到“程序计算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1484" y="1694184"/>
            <a:ext cx="9806492" cy="4731030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沙箱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SandBox：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云端瞬间分配的安全、独立、配置完备的虚拟数据工作站，隔离防越权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预装科学库：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Pandas（数据处理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）、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SciPy（统计推断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  <a:r>
              <a:rPr lang="zh-CN" altLang="en-US"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、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Matplotlib（学术绘图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代理闭环：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意图识别与规划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代码执行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自主纠错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结果综合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自主纠错：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代码报错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沙箱回传日志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模型读日志、改代码、重跑，直至跑通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● 严谨意义：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上万行数据求标准差，纯语言模型会“猜”，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引擎则真算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std()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53A81-C290-4B9B-9549-BDFA40B8D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7AF5AF7-3EE2-C25A-CADB-613685360112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423355F7-FB45-B25F-8263-A4063A1579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33B45C5-3A00-41C0-35B3-DDCCF516B838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853618-1D80-4F6B-8420-2F8AE5BAA207}"/>
              </a:ext>
            </a:extLst>
          </p:cNvPr>
          <p:cNvSpPr txBox="1"/>
          <p:nvPr/>
        </p:nvSpPr>
        <p:spPr>
          <a:xfrm>
            <a:off x="27432" y="371891"/>
            <a:ext cx="9144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5.3.1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DE89132-D054-73F7-E661-8F2A78CE79BF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1E7338-0182-EE06-ECAB-E9F16D730FCF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自动化数据分析与可视化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C7A8B8-87CC-9527-3AD8-97A168A87E85}"/>
              </a:ext>
            </a:extLst>
          </p:cNvPr>
          <p:cNvSpPr txBox="1"/>
          <p:nvPr/>
        </p:nvSpPr>
        <p:spPr>
          <a:xfrm>
            <a:off x="1234440" y="974368"/>
            <a:ext cx="95554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代码执行引擎：从“语言推理”到“程序计算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06ABC6-5815-447A-6951-919B1D3D607B}"/>
              </a:ext>
            </a:extLst>
          </p:cNvPr>
          <p:cNvSpPr txBox="1"/>
          <p:nvPr/>
        </p:nvSpPr>
        <p:spPr>
          <a:xfrm>
            <a:off x="1707185" y="5970027"/>
            <a:ext cx="821405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图5-8 </a:t>
            </a:r>
            <a:r>
              <a:rPr sz="1600" b="0" dirty="0" err="1">
                <a:latin typeface="Microsoft YaHei"/>
                <a:ea typeface="Microsoft YaHei"/>
              </a:rPr>
              <a:t>大模型代码执行引擎的底层代理闭环</a:t>
            </a:r>
            <a:endParaRPr sz="1600" b="0" dirty="0">
              <a:latin typeface="Microsoft YaHei"/>
              <a:ea typeface="Microsoft YaHei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E172EE1C-9FD8-DD1E-9EDF-527A0A93883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46" t="5915" r="1526" b="10058"/>
          <a:stretch/>
        </p:blipFill>
        <p:spPr bwMode="auto">
          <a:xfrm>
            <a:off x="1372767" y="1434354"/>
            <a:ext cx="9063643" cy="442200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7506368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5.3.1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自动化数据分析与可视化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" y="900125"/>
            <a:ext cx="1143000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代理工作流：一个具有智能体特征的闭环</a:t>
            </a:r>
            <a:endParaRPr sz="28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11480" y="1965960"/>
            <a:ext cx="2695879" cy="73152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1965960"/>
            <a:ext cx="2695879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697480"/>
            <a:ext cx="2695879" cy="2468880"/>
          </a:xfrm>
          <a:prstGeom prst="rect">
            <a:avLst/>
          </a:prstGeom>
          <a:solidFill>
            <a:srgbClr val="F4F7FB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4632" y="3061454"/>
            <a:ext cx="2549575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意图识别与规划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39496" y="3749040"/>
            <a:ext cx="2439847" cy="969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判断需精确计算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，
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中止文字推演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，
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转而编写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Python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代码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079927" y="1965960"/>
            <a:ext cx="201168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58020"/>
                </a:solidFill>
                <a:latin typeface="Microsoft YaHei"/>
                <a:ea typeface="Microsoft YaHei"/>
              </a:rPr>
              <a:t>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53663" y="1965960"/>
            <a:ext cx="2695879" cy="731520"/>
          </a:xfrm>
          <a:prstGeom prst="rect">
            <a:avLst/>
          </a:prstGeom>
          <a:solidFill>
            <a:srgbClr val="004CA0"/>
          </a:solidFill>
          <a:ln>
            <a:noFill/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53663" y="1965960"/>
            <a:ext cx="2695879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53663" y="2697480"/>
            <a:ext cx="2695879" cy="2468880"/>
          </a:xfrm>
          <a:prstGeom prst="rect">
            <a:avLst/>
          </a:prstGeom>
          <a:solidFill>
            <a:srgbClr val="F4F7FB"/>
          </a:solidFill>
          <a:ln w="1587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26815" y="3061454"/>
            <a:ext cx="2549575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代码执行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381679" y="3749040"/>
            <a:ext cx="2439847" cy="6366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把代码下发至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沙箱环境中运行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922111" y="1965960"/>
            <a:ext cx="201168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58020"/>
                </a:solidFill>
                <a:latin typeface="Microsoft YaHei"/>
                <a:ea typeface="Microsoft YaHei"/>
              </a:rPr>
              <a:t>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5847" y="1965960"/>
            <a:ext cx="2695879" cy="731520"/>
          </a:xfrm>
          <a:prstGeom prst="rect">
            <a:avLst/>
          </a:prstGeom>
          <a:solidFill>
            <a:srgbClr val="F58020"/>
          </a:solidFill>
          <a:ln>
            <a:noFill/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95847" y="1965960"/>
            <a:ext cx="2695879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5847" y="2697480"/>
            <a:ext cx="2695879" cy="2468880"/>
          </a:xfrm>
          <a:prstGeom prst="rect">
            <a:avLst/>
          </a:prstGeom>
          <a:solidFill>
            <a:srgbClr val="F4F7FB"/>
          </a:solidFill>
          <a:ln w="1587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68999" y="3061454"/>
            <a:ext cx="2549575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自主纠错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223863" y="3749040"/>
            <a:ext cx="2439847" cy="969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读取报错日志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，
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定位逻辑漏洞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，
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改代码并重新提交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764295" y="1965960"/>
            <a:ext cx="201168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58020"/>
                </a:solidFill>
                <a:latin typeface="Microsoft YaHei"/>
                <a:ea typeface="Microsoft YaHei"/>
              </a:rPr>
              <a:t>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38031" y="1965960"/>
            <a:ext cx="2695879" cy="731520"/>
          </a:xfrm>
          <a:prstGeom prst="rect">
            <a:avLst/>
          </a:prstGeom>
          <a:solidFill>
            <a:srgbClr val="2E8B57"/>
          </a:solidFill>
          <a:ln>
            <a:noFill/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938031" y="1965960"/>
            <a:ext cx="2695879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38031" y="2697480"/>
            <a:ext cx="2695879" cy="2468880"/>
          </a:xfrm>
          <a:prstGeom prst="rect">
            <a:avLst/>
          </a:prstGeom>
          <a:solidFill>
            <a:srgbClr val="F4F7FB"/>
          </a:solidFill>
          <a:ln w="1587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011183" y="3061454"/>
            <a:ext cx="2549575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结果综合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9120911" y="3713540"/>
            <a:ext cx="2439847" cy="969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提取沙箱计算结果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，
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结合自然语言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输出给用户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411480" y="5530334"/>
            <a:ext cx="11368735" cy="844646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40663" y="5582772"/>
            <a:ext cx="10966399" cy="79714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架构意义：把分析从“单向文字生成”推进到“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可运行、可检查的程序计算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”，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显著提升数据分析的严谨性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5.3.2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自动化数据分析与可视化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" y="930902"/>
            <a:ext cx="11430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表格数据的“数据体检”：先检查，再分析（表5-2）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5167" y="1572768"/>
            <a:ext cx="1554480" cy="4572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0887" y="1647479"/>
            <a:ext cx="14630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检查维度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209647" y="1572768"/>
            <a:ext cx="4754880" cy="4572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255367" y="1647479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可以检查什么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964527" y="1572768"/>
            <a:ext cx="4572000" cy="4572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10247" y="1647479"/>
            <a:ext cx="4480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研究人员需要确认什么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55167" y="2029968"/>
            <a:ext cx="1554480" cy="548640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64895" y="2165789"/>
            <a:ext cx="133502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表格结构</a:t>
            </a:r>
            <a:endParaRPr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209647" y="2029968"/>
            <a:ext cx="4754880" cy="548640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319375" y="2181178"/>
            <a:ext cx="45354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行数、列数、字段名称、数据类型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964527" y="2029968"/>
            <a:ext cx="4572000" cy="548640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074255" y="2181178"/>
            <a:ext cx="435254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字段含义是否被正确理解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55167" y="2578608"/>
            <a:ext cx="15544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4895" y="2714429"/>
            <a:ext cx="133502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缺失值</a:t>
            </a:r>
            <a:endParaRPr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2209647" y="2578608"/>
            <a:ext cx="47548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319375" y="2729818"/>
            <a:ext cx="45354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哪些列有空值、缺失比例多少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964527" y="2578608"/>
            <a:ext cx="45720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074255" y="2729818"/>
            <a:ext cx="435254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缺失是否随机，是否需删除或填补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55167" y="3127248"/>
            <a:ext cx="1554480" cy="548640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4895" y="3263069"/>
            <a:ext cx="133502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异常值</a:t>
            </a:r>
            <a:endParaRPr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2209647" y="3127248"/>
            <a:ext cx="4754880" cy="548640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319375" y="3278458"/>
            <a:ext cx="45354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数值是否超常识范围（年龄200、成绩为负）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64527" y="3127248"/>
            <a:ext cx="4572000" cy="548640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074255" y="3278458"/>
            <a:ext cx="435254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是录入错误还是重要样本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655167" y="3675888"/>
            <a:ext cx="15544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64895" y="3811709"/>
            <a:ext cx="133502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重复记录</a:t>
            </a:r>
            <a:endParaRPr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2209647" y="3675888"/>
            <a:ext cx="47548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19375" y="3827098"/>
            <a:ext cx="45354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是否存在完全重复或高度相似样本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6964527" y="3675888"/>
            <a:ext cx="45720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074255" y="3827098"/>
            <a:ext cx="435254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是否应删除重复记录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655167" y="4224528"/>
            <a:ext cx="1554480" cy="548640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64895" y="4360349"/>
            <a:ext cx="133502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类别分布</a:t>
            </a:r>
            <a:endParaRPr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209647" y="4224528"/>
            <a:ext cx="4754880" cy="548640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319375" y="4375738"/>
            <a:ext cx="45354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类别是否严重不均衡（某类占95%）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64527" y="4224528"/>
            <a:ext cx="4572000" cy="548640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074255" y="4375738"/>
            <a:ext cx="435254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是否影响后续统计或建模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655167" y="4773168"/>
            <a:ext cx="15544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64895" y="4908989"/>
            <a:ext cx="133502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单位格式</a:t>
            </a:r>
            <a:endParaRPr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2209647" y="4773168"/>
            <a:ext cx="47548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319375" y="4924378"/>
            <a:ext cx="45354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单位是否混乱（cm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与 m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混用、日期不一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64527" y="4773168"/>
            <a:ext cx="45720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074255" y="4924378"/>
            <a:ext cx="435254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是否需统一单位与格式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655167" y="5321808"/>
            <a:ext cx="1554480" cy="548640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64895" y="5457629"/>
            <a:ext cx="133502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变量关系</a:t>
            </a:r>
            <a:endParaRPr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2209647" y="5321808"/>
            <a:ext cx="4754880" cy="548640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319375" y="5473018"/>
            <a:ext cx="45354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初步相关性、分组均值、变化趋势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6964527" y="5321808"/>
            <a:ext cx="4572000" cy="548640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074255" y="5473018"/>
            <a:ext cx="435254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是否具学科意义，是否需进一步检验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411480" y="5992548"/>
            <a:ext cx="11368735" cy="66428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24992" y="5992548"/>
            <a:ext cx="10911535" cy="6642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不要一上来就“直接画图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/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给结论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”：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先做数据体检。删样本、填缺失、改异常等关键操作须由研究人员确认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274320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</a:rPr>
              <a:t>5.3.3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自动化数据分析与可视化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3612" y="840325"/>
            <a:ext cx="7019068" cy="3231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1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统计检验与学术图表：以“三种肥料对株高的影响”为例</a:t>
            </a:r>
            <a:endParaRPr sz="21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22982" y="1315427"/>
            <a:ext cx="2107853" cy="4834007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方法：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三组独立样本均值比较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单因素方差分析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One-way ANOVA</a:t>
            </a: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解读：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B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组明显高于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A、C，但统计显著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≠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实际效果一定重要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须复核：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分组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测量变量是否识别对？方法是否合设计？图表是否夸大差异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8940" y="6096656"/>
            <a:ext cx="821405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图5-9 </a:t>
            </a:r>
            <a:r>
              <a:rPr sz="1600" b="0" dirty="0" err="1">
                <a:latin typeface="Microsoft YaHei"/>
                <a:ea typeface="Microsoft YaHei"/>
              </a:rPr>
              <a:t>大模型自动化统计检验与学术绘图结果</a:t>
            </a:r>
            <a:endParaRPr sz="1600" b="0" dirty="0">
              <a:latin typeface="Microsoft YaHei"/>
              <a:ea typeface="Microsoft YaHei"/>
            </a:endParaRPr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B83CC640-9B57-C9D8-3095-58FB6505114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76" r="9279" b="38170"/>
          <a:stretch>
            <a:fillRect/>
          </a:stretch>
        </p:blipFill>
        <p:spPr>
          <a:xfrm>
            <a:off x="2993612" y="1226575"/>
            <a:ext cx="8762213" cy="48474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5.3.4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自动化数据分析与可视化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" y="930902"/>
            <a:ext cx="11430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可复现分析：把过程保存为一组文件（表5-3）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447" y="1572768"/>
            <a:ext cx="1463040" cy="47548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5167" y="1656623"/>
            <a:ext cx="13716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文件类型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072487" y="1572768"/>
            <a:ext cx="2011680" cy="47548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118207" y="1656623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示例文件名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084167" y="1572768"/>
            <a:ext cx="3840480" cy="47548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29887" y="1656623"/>
            <a:ext cx="37490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作用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924647" y="1572768"/>
            <a:ext cx="3657600" cy="47548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70367" y="1656623"/>
            <a:ext cx="35661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需要检查的问题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09447" y="2048256"/>
            <a:ext cx="1463040" cy="58521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19175" y="2202365"/>
            <a:ext cx="124358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原始数据</a:t>
            </a:r>
            <a:endParaRPr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072487" y="2048256"/>
            <a:ext cx="2011680" cy="58521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182215" y="2217754"/>
            <a:ext cx="17922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data.csv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84167" y="2048256"/>
            <a:ext cx="3840480" cy="58521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193895" y="2217754"/>
            <a:ext cx="36210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保存分析所依据的数据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924647" y="2048256"/>
            <a:ext cx="3657600" cy="58521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34375" y="2217754"/>
            <a:ext cx="343814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是否正确版本，是否被误删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覆盖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09447" y="2633472"/>
            <a:ext cx="146304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19175" y="2787581"/>
            <a:ext cx="124358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分析代码</a:t>
            </a:r>
            <a:endParaRPr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2072487" y="2633472"/>
            <a:ext cx="201168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182215" y="2802970"/>
            <a:ext cx="17922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analysis.py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84167" y="2633472"/>
            <a:ext cx="384048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93895" y="2802970"/>
            <a:ext cx="36210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记录读取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清洗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统计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绘图过程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7924647" y="2633472"/>
            <a:ext cx="365760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34375" y="2802970"/>
            <a:ext cx="343814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能否重跑，是否读对字段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609447" y="3218688"/>
            <a:ext cx="1463040" cy="58521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19175" y="3372797"/>
            <a:ext cx="124358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图表文件</a:t>
            </a:r>
            <a:endParaRPr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2072487" y="3218688"/>
            <a:ext cx="2011680" cy="58521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182215" y="3388186"/>
            <a:ext cx="17922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figure.png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84167" y="3218688"/>
            <a:ext cx="3840480" cy="58521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193895" y="3388186"/>
            <a:ext cx="36210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保存最终可视化结果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7924647" y="3218688"/>
            <a:ext cx="3657600" cy="58521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034375" y="3388186"/>
            <a:ext cx="343814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是否与数据和结论一致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609447" y="3803904"/>
            <a:ext cx="146304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19175" y="3958013"/>
            <a:ext cx="124358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结果文件</a:t>
            </a:r>
            <a:endParaRPr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2072487" y="3803904"/>
            <a:ext cx="201168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182215" y="3973402"/>
            <a:ext cx="17922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results.txt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84167" y="3803904"/>
            <a:ext cx="384048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193895" y="3973402"/>
            <a:ext cx="36210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保存统计量、p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值、指标汇总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7924647" y="3803904"/>
            <a:ext cx="365760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034375" y="3973402"/>
            <a:ext cx="343814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数值是否与代码输出一致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609447" y="4389120"/>
            <a:ext cx="1463040" cy="58521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19175" y="4543229"/>
            <a:ext cx="124358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分析报告</a:t>
            </a:r>
            <a:endParaRPr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2072487" y="4389120"/>
            <a:ext cx="2011680" cy="58521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2182215" y="4558618"/>
            <a:ext cx="17922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report.md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084167" y="4389120"/>
            <a:ext cx="3840480" cy="58521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193895" y="4558618"/>
            <a:ext cx="36210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说明目标、方法、结果与复核点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7924647" y="4389120"/>
            <a:ext cx="3657600" cy="58521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034375" y="4558618"/>
            <a:ext cx="343814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是否过度解释、结论跳跃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609447" y="4974336"/>
            <a:ext cx="146304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719175" y="5128445"/>
            <a:ext cx="124358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提示词记录</a:t>
            </a:r>
            <a:endParaRPr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2072487" y="4974336"/>
            <a:ext cx="201168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2182215" y="5143834"/>
            <a:ext cx="17922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prompt.txt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084167" y="4974336"/>
            <a:ext cx="384048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193895" y="5143834"/>
            <a:ext cx="36210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记录向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下达的关键任务说明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7924647" y="4974336"/>
            <a:ext cx="365760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8034375" y="5143834"/>
            <a:ext cx="343814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能否说明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实际执行了什么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411480" y="5859691"/>
            <a:ext cx="11368735" cy="797141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70712" y="5859691"/>
            <a:ext cx="10911535" cy="79714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可复现比一次性结论更重要：存文件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≠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一定可靠，仍需核对代码读对文件、图表对应变量、数值前后一致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109728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5.4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07711" y="2743200"/>
            <a:ext cx="6675120" cy="5354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智能体驱动的软件开发流程</a:t>
            </a:r>
            <a:endParaRPr sz="34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931920"/>
            <a:ext cx="1463040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114800"/>
            <a:ext cx="6766560" cy="11782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真实科研还需可反复使用的小型工具。从自然语言需求出发，形成最小可用原型，再经代码生成、调试、测试与迭代，发展为可复用系统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5.4.1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智能体驱动的软件开发流程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-589995" y="956837"/>
            <a:ext cx="6518829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从需求说明到最小可用原型（MVP</a:t>
            </a:r>
            <a:r>
              <a:rPr sz="2200" b="1" i="0" dirty="0">
                <a:solidFill>
                  <a:srgbClr val="004CA0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48350" y="945239"/>
            <a:ext cx="7074709" cy="52947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25846" y="6309979"/>
            <a:ext cx="72237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图5-10 </a:t>
            </a:r>
            <a:r>
              <a:rPr sz="1600" b="0" dirty="0" err="1">
                <a:latin typeface="Microsoft YaHei"/>
                <a:ea typeface="Microsoft YaHei"/>
              </a:rPr>
              <a:t>OpenCode</a:t>
            </a:r>
            <a:r>
              <a:rPr sz="1600" b="0" dirty="0">
                <a:latin typeface="Microsoft YaHei"/>
                <a:ea typeface="Microsoft YaHei"/>
              </a:rPr>
              <a:t> </a:t>
            </a:r>
            <a:r>
              <a:rPr sz="1600" b="0" dirty="0" err="1">
                <a:latin typeface="Microsoft YaHei"/>
                <a:ea typeface="Microsoft YaHei"/>
              </a:rPr>
              <a:t>生成的实验数据分析系统最小可用原型</a:t>
            </a:r>
            <a:endParaRPr sz="1600" b="0" dirty="0">
              <a:latin typeface="Microsoft YaHei"/>
              <a:ea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80060" y="1426455"/>
            <a:ext cx="4131833" cy="2082484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4000"/>
              </a:lnSpc>
              <a:spcAft>
                <a:spcPts val="800"/>
              </a:spcAft>
            </a:pPr>
            <a:r>
              <a:rPr sz="12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1600" b="1" dirty="0">
                <a:solidFill>
                  <a:srgbClr val="0066CC"/>
                </a:solidFill>
                <a:latin typeface="Microsoft YaHei"/>
                <a:ea typeface="Microsoft YaHei"/>
              </a:rPr>
              <a:t>MVP </a:t>
            </a:r>
            <a:r>
              <a:rPr sz="16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定义</a:t>
            </a:r>
            <a:r>
              <a:rPr sz="155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  <a:r>
              <a:rPr sz="16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只保留核心功能、能跑通主流程、可真实试用的第一版</a:t>
            </a:r>
            <a:endParaRPr sz="15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4000"/>
              </a:lnSpc>
              <a:spcAft>
                <a:spcPts val="800"/>
              </a:spcAft>
            </a:pPr>
            <a:r>
              <a:rPr sz="12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16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四大特征</a:t>
            </a:r>
            <a:r>
              <a:rPr sz="155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  <a:r>
              <a:rPr sz="16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接收真实数据</a:t>
            </a:r>
            <a:r>
              <a:rPr sz="16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16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完成核心计算</a:t>
            </a:r>
            <a:r>
              <a:rPr sz="16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16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生成图表</a:t>
            </a:r>
            <a:r>
              <a:rPr sz="16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16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保存结果</a:t>
            </a:r>
            <a:endParaRPr sz="15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4000"/>
              </a:lnSpc>
              <a:spcAft>
                <a:spcPts val="800"/>
              </a:spcAft>
            </a:pPr>
            <a:r>
              <a:rPr sz="12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1600" b="1" dirty="0">
                <a:solidFill>
                  <a:srgbClr val="0066CC"/>
                </a:solidFill>
                <a:latin typeface="Microsoft YaHei"/>
                <a:ea typeface="Microsoft YaHei"/>
              </a:rPr>
              <a:t>目标</a:t>
            </a:r>
            <a:r>
              <a:rPr sz="155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  <a:r>
              <a:rPr sz="1600" b="0" dirty="0">
                <a:solidFill>
                  <a:srgbClr val="333333"/>
                </a:solidFill>
                <a:latin typeface="Microsoft YaHei"/>
                <a:ea typeface="Microsoft YaHei"/>
              </a:rPr>
              <a:t>不是“</a:t>
            </a:r>
            <a:r>
              <a:rPr sz="16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大而全</a:t>
            </a:r>
            <a:r>
              <a:rPr sz="1600" b="0" dirty="0">
                <a:solidFill>
                  <a:srgbClr val="333333"/>
                </a:solidFill>
                <a:latin typeface="Microsoft YaHei"/>
                <a:ea typeface="Microsoft YaHei"/>
              </a:rPr>
              <a:t>”，</a:t>
            </a:r>
            <a:r>
              <a:rPr sz="16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而是“能运行、能演示、能检查、能继续改</a:t>
            </a:r>
            <a:r>
              <a:rPr sz="1600" b="0" dirty="0">
                <a:solidFill>
                  <a:srgbClr val="333333"/>
                </a:solidFill>
                <a:latin typeface="Microsoft YaHei"/>
                <a:ea typeface="Microsoft YaHei"/>
              </a:rPr>
              <a:t>”</a:t>
            </a:r>
            <a:endParaRPr sz="15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84935" y="3557016"/>
            <a:ext cx="4180837" cy="2916936"/>
          </a:xfrm>
          <a:prstGeom prst="rect">
            <a:avLst/>
          </a:prstGeom>
          <a:solidFill>
            <a:srgbClr val="EEF2F7"/>
          </a:solidFill>
          <a:ln w="15875">
            <a:solidFill>
              <a:srgbClr val="2F3A4A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02920" y="3557016"/>
            <a:ext cx="4180837" cy="402336"/>
          </a:xfrm>
          <a:prstGeom prst="rect">
            <a:avLst/>
          </a:prstGeom>
          <a:solidFill>
            <a:srgbClr val="2F3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513" y="3619685"/>
            <a:ext cx="40162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1" i="0" dirty="0">
                <a:solidFill>
                  <a:srgbClr val="FFFFFF"/>
                </a:solidFill>
                <a:latin typeface="Microsoft YaHei"/>
                <a:ea typeface="Microsoft YaHei"/>
              </a:rPr>
              <a:t>▌ </a:t>
            </a:r>
            <a:r>
              <a:rPr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提示词示例</a:t>
            </a:r>
            <a:r>
              <a:rPr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最小可用原型</a:t>
            </a:r>
            <a:endParaRPr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46846" y="3959352"/>
            <a:ext cx="4043082" cy="24913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i="0" dirty="0">
                <a:solidFill>
                  <a:srgbClr val="1E2B3A"/>
                </a:solidFill>
                <a:latin typeface="Microsoft YaHei"/>
                <a:ea typeface="Microsoft YaHei"/>
              </a:rPr>
              <a:t>“</a:t>
            </a:r>
            <a:r>
              <a:rPr sz="1600"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开发本地运行的实验数据分析工具原型。第一版只需读取一个</a:t>
            </a:r>
            <a:r>
              <a:rPr sz="1600" b="0" i="0" dirty="0">
                <a:solidFill>
                  <a:srgbClr val="1E2B3A"/>
                </a:solidFill>
                <a:latin typeface="Microsoft YaHei"/>
                <a:ea typeface="Microsoft YaHei"/>
              </a:rPr>
              <a:t> </a:t>
            </a:r>
            <a:r>
              <a:rPr sz="1600"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CSV，做基础数据检查，计算分组均值与标准差，生成一张对比图，把图表和简短报告存到</a:t>
            </a:r>
            <a:r>
              <a:rPr sz="1600" b="0" i="0" dirty="0">
                <a:solidFill>
                  <a:srgbClr val="1E2B3A"/>
                </a:solidFill>
                <a:latin typeface="Microsoft YaHei"/>
                <a:ea typeface="Microsoft YaHei"/>
              </a:rPr>
              <a:t> outputs。请生成项目结构、可运行代码、requirements.txt 和 </a:t>
            </a:r>
            <a:r>
              <a:rPr sz="1600"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README.md。暂不加用户登录</a:t>
            </a:r>
            <a:r>
              <a:rPr sz="1600" b="0" i="0" dirty="0">
                <a:solidFill>
                  <a:srgbClr val="1E2B3A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数据库</a:t>
            </a:r>
            <a:r>
              <a:rPr sz="1600" b="0" i="0" dirty="0">
                <a:solidFill>
                  <a:srgbClr val="1E2B3A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云端</a:t>
            </a:r>
            <a:r>
              <a:rPr sz="1600" b="0" i="0" dirty="0">
                <a:solidFill>
                  <a:srgbClr val="1E2B3A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多人协作。验收：用</a:t>
            </a:r>
            <a:r>
              <a:rPr sz="1600" b="0" i="0" dirty="0">
                <a:solidFill>
                  <a:srgbClr val="1E2B3A"/>
                </a:solidFill>
                <a:latin typeface="Microsoft YaHei"/>
                <a:ea typeface="Microsoft YaHei"/>
              </a:rPr>
              <a:t> sample_data.csv </a:t>
            </a:r>
            <a:r>
              <a:rPr sz="1600"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运行后能生成</a:t>
            </a:r>
            <a:r>
              <a:rPr sz="1600" b="0" i="0" dirty="0">
                <a:solidFill>
                  <a:srgbClr val="1E2B3A"/>
                </a:solidFill>
                <a:latin typeface="Microsoft YaHei"/>
                <a:ea typeface="Microsoft YaHei"/>
              </a:rPr>
              <a:t> figure.png 和 report.md。”</a:t>
            </a:r>
          </a:p>
        </p:txBody>
      </p:sp>
      <p:pic>
        <p:nvPicPr>
          <p:cNvPr id="18" name="图片 17">
            <a:extLst>
              <a:ext uri="{FF2B5EF4-FFF2-40B4-BE49-F238E27FC236}">
                <a16:creationId xmlns:a16="http://schemas.microsoft.com/office/drawing/2014/main" id="{E4788712-0B0C-F82B-67E3-6B9DF64E04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4925" y="1069848"/>
            <a:ext cx="6975021" cy="50721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5.4.1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智能体驱动的软件开发流程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" y="930902"/>
            <a:ext cx="11430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主动划定功能边界：第一版做什么、不做什么（表5-4）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0887" y="1572768"/>
            <a:ext cx="182880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6607" y="1670339"/>
            <a:ext cx="1737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内容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529687" y="1572768"/>
            <a:ext cx="457200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75407" y="1670339"/>
            <a:ext cx="4480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第一版原型需要做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101687" y="1572768"/>
            <a:ext cx="4389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47407" y="1670339"/>
            <a:ext cx="42976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第一版暂时不做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00887" y="2075688"/>
            <a:ext cx="182880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0615" y="2238941"/>
            <a:ext cx="16093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数据输入</a:t>
            </a:r>
            <a:endParaRPr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529687" y="2075688"/>
            <a:ext cx="457200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639415" y="2238941"/>
            <a:ext cx="43525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支持读取一个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CSV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文件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7101687" y="2075688"/>
            <a:ext cx="438912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11415" y="2238941"/>
            <a:ext cx="416966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支持所有格式、批量上传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0887" y="2679192"/>
            <a:ext cx="182880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0615" y="2842445"/>
            <a:ext cx="16093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数据分析</a:t>
            </a:r>
            <a:endParaRPr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2529687" y="2679192"/>
            <a:ext cx="457200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639415" y="2842445"/>
            <a:ext cx="43525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计算基础统计量并生成图表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7101687" y="2679192"/>
            <a:ext cx="438912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211415" y="2842445"/>
            <a:ext cx="416966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自动选择所有复杂统计模型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0887" y="3282696"/>
            <a:ext cx="182880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10615" y="3445949"/>
            <a:ext cx="16093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333333"/>
                </a:solidFill>
                <a:latin typeface="Microsoft YaHei"/>
                <a:ea typeface="Microsoft YaHei"/>
              </a:rPr>
              <a:t>结果输出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29687" y="3282696"/>
            <a:ext cx="457200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639415" y="3445949"/>
            <a:ext cx="43525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保存图表和简短报告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7101687" y="3282696"/>
            <a:ext cx="438912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211415" y="3445949"/>
            <a:ext cx="416966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生成完整论文级报告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0887" y="3886200"/>
            <a:ext cx="182880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10615" y="4049453"/>
            <a:ext cx="16093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333333"/>
                </a:solidFill>
                <a:latin typeface="Microsoft YaHei"/>
                <a:ea typeface="Microsoft YaHei"/>
              </a:rPr>
              <a:t>用户界面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29687" y="3886200"/>
            <a:ext cx="457200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639415" y="4049453"/>
            <a:ext cx="43525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简单本地界面或命令行入口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01687" y="3886200"/>
            <a:ext cx="438912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211415" y="4049453"/>
            <a:ext cx="416966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精美前端、多用户界面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00887" y="4489704"/>
            <a:ext cx="182880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10615" y="4652957"/>
            <a:ext cx="16093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333333"/>
                </a:solidFill>
                <a:latin typeface="Microsoft YaHei"/>
                <a:ea typeface="Microsoft YaHei"/>
              </a:rPr>
              <a:t>数据存储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29687" y="4489704"/>
            <a:ext cx="457200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639415" y="4652957"/>
            <a:ext cx="43525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保存到本地文件夹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01687" y="4489704"/>
            <a:ext cx="438912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211415" y="4652957"/>
            <a:ext cx="416966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数据库、云端同步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00887" y="5093208"/>
            <a:ext cx="182880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10615" y="5256461"/>
            <a:ext cx="16093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333333"/>
                </a:solidFill>
                <a:latin typeface="Microsoft YaHei"/>
                <a:ea typeface="Microsoft YaHei"/>
              </a:rPr>
              <a:t>系统运行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29687" y="5093208"/>
            <a:ext cx="457200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639415" y="5256461"/>
            <a:ext cx="43525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本地运行并提供说明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101687" y="5093208"/>
            <a:ext cx="438912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211415" y="5256461"/>
            <a:ext cx="416966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云端部署、账号权限管理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5897425"/>
            <a:ext cx="11368735" cy="72973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40080" y="5961931"/>
            <a:ext cx="10911535" cy="6642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划边界不是限制发展，而是让智能体优先完成最关键、最易验证的部分，也便于判断生成结果是否符合预期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5.4.2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智能体驱动的软件开发流程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" y="930902"/>
            <a:ext cx="5075816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代码生成、运行与自动修复闭环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11480" y="1424178"/>
            <a:ext cx="4749378" cy="4392475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不只是生成代码：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在项目目录建文件、装依赖、运行程序，参与“生成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运行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检查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修复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”</a:t>
            </a: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项目化产出：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app.py、analyzer.py、requirements.txt、README.md、outputs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常见错误：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依赖缺失、路径错误、列名不符、中文字体、输出目录不存在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自动修复：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据终端报错自动改代码（建目录、补依赖、自动识别列名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修复</a:t>
            </a: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 ≠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免检：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可能“为跑通”而跳过出错数据、默认填补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——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须查修复说明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677421" y="1069849"/>
            <a:ext cx="5689826" cy="4471416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14057" y="5642181"/>
            <a:ext cx="6368968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图5-11 </a:t>
            </a:r>
            <a:r>
              <a:rPr sz="1600" b="0" dirty="0" err="1">
                <a:latin typeface="Microsoft YaHei"/>
                <a:ea typeface="Microsoft YaHei"/>
              </a:rPr>
              <a:t>智能体开发中的代码生成与自动修复闭环</a:t>
            </a:r>
            <a:endParaRPr sz="1600" b="0" dirty="0">
              <a:latin typeface="Microsoft YaHei"/>
              <a:ea typeface="Microsoft YaHe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11480" y="5989320"/>
            <a:ext cx="11368735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6147250"/>
            <a:ext cx="11155680" cy="2876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人工验收四点：是否读对数据文件？输出文件是否真实生成？图表报告是否与数据一致？README</a:t>
            </a:r>
            <a:r>
              <a:rPr b="1" i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能否照做</a:t>
            </a:r>
            <a:r>
              <a:rPr b="1" i="0" dirty="0">
                <a:solidFill>
                  <a:srgbClr val="FFFFFF"/>
                </a:solidFill>
                <a:latin typeface="Microsoft YaHei"/>
                <a:ea typeface="Microsoft YaHei"/>
              </a:rPr>
              <a:t>？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3861E9D3-7F77-1D66-33C2-EA017B3DAD0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51" t="8908" r="4957" b="2855"/>
          <a:stretch/>
        </p:blipFill>
        <p:spPr bwMode="auto">
          <a:xfrm>
            <a:off x="5706238" y="1130501"/>
            <a:ext cx="5508608" cy="42992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5.4.3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智能体驱动的软件开发流程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" y="930902"/>
            <a:ext cx="11430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边界用例测试：覆盖“用户如何使用工具”的全过程（表5-5）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5167" y="1572768"/>
            <a:ext cx="173736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0887" y="1670339"/>
            <a:ext cx="16459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测试类型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392527" y="1572768"/>
            <a:ext cx="365760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38247" y="1670339"/>
            <a:ext cx="35661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主要目的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050127" y="1572768"/>
            <a:ext cx="548640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95847" y="1670339"/>
            <a:ext cx="53949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示例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5167" y="2075688"/>
            <a:ext cx="173736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64895" y="2238941"/>
            <a:ext cx="151790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正常用例</a:t>
            </a:r>
            <a:endParaRPr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392527" y="2075688"/>
            <a:ext cx="365760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02255" y="2238941"/>
            <a:ext cx="34381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检查核心流程能否跑通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050127" y="2075688"/>
            <a:ext cx="548640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59855" y="2238941"/>
            <a:ext cx="52669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上传标准 CSV，成功生成图表和报告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5167" y="2679192"/>
            <a:ext cx="173736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4895" y="2842445"/>
            <a:ext cx="151790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333333"/>
                </a:solidFill>
                <a:latin typeface="Microsoft YaHei"/>
                <a:ea typeface="Microsoft YaHei"/>
              </a:rPr>
              <a:t>边界用例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92527" y="2679192"/>
            <a:ext cx="365760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502255" y="2842445"/>
            <a:ext cx="34381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检查极端情况是否可处理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50127" y="2679192"/>
            <a:ext cx="548640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159855" y="2842445"/>
            <a:ext cx="52669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样本量很少、数值范围很大、文件名含中文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5167" y="3282696"/>
            <a:ext cx="173736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4895" y="3445949"/>
            <a:ext cx="151790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333333"/>
                </a:solidFill>
                <a:latin typeface="Microsoft YaHei"/>
                <a:ea typeface="Microsoft YaHei"/>
              </a:rPr>
              <a:t>异常用例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92527" y="3282696"/>
            <a:ext cx="365760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502255" y="3445949"/>
            <a:ext cx="34381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检查错误输入时是否有提示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50127" y="3282696"/>
            <a:ext cx="548640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59855" y="3445949"/>
            <a:ext cx="52669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空文件、缺字段、数值列混入文字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5167" y="3886200"/>
            <a:ext cx="173736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64895" y="4049453"/>
            <a:ext cx="151790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333333"/>
                </a:solidFill>
                <a:latin typeface="Microsoft YaHei"/>
                <a:ea typeface="Microsoft YaHei"/>
              </a:rPr>
              <a:t>操作用例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92527" y="3886200"/>
            <a:ext cx="365760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502255" y="4049453"/>
            <a:ext cx="34381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检查用户流程是否顺畅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50127" y="3886200"/>
            <a:ext cx="548640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159855" y="4049453"/>
            <a:ext cx="52669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重复运行、重新上传、改参数后再分析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5167" y="4489704"/>
            <a:ext cx="173736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64895" y="4652957"/>
            <a:ext cx="151790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333333"/>
                </a:solidFill>
                <a:latin typeface="Microsoft YaHei"/>
                <a:ea typeface="Microsoft YaHei"/>
              </a:rPr>
              <a:t>输出用例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92527" y="4489704"/>
            <a:ext cx="365760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502255" y="4652957"/>
            <a:ext cx="34381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检查结果文件是否正确保存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50127" y="4489704"/>
            <a:ext cx="548640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159855" y="4652957"/>
            <a:ext cx="52669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figure.png、report.md 是否生成且正确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5167" y="5093208"/>
            <a:ext cx="173736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64895" y="5256461"/>
            <a:ext cx="151790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333333"/>
                </a:solidFill>
                <a:latin typeface="Microsoft YaHei"/>
                <a:ea typeface="Microsoft YaHei"/>
              </a:rPr>
              <a:t>环境用例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92527" y="5093208"/>
            <a:ext cx="365760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502255" y="5256461"/>
            <a:ext cx="34381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检查不同运行环境下是否可用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50127" y="5093208"/>
            <a:ext cx="548640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159855" y="5256461"/>
            <a:ext cx="52669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缺少依赖库、路径变化、重装后运行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5371" y="5949893"/>
            <a:ext cx="11368735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55167" y="6070570"/>
            <a:ext cx="10911535" cy="3195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功能迭代遵循“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小步修改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”：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每次只解决一个问题</a:t>
            </a:r>
            <a:r>
              <a:rPr lang="zh-CN" altLang="en-US"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，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并记录每次修改原因与结果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5.4.4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智能体驱动的软件开发流程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798167" y="964692"/>
            <a:ext cx="858998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从原型工具到课题组可复用系统（表5-6）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327" y="1572768"/>
            <a:ext cx="2011680" cy="438912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8047" y="1638335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条件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804007" y="1572768"/>
            <a:ext cx="5120640" cy="438912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49727" y="1638335"/>
            <a:ext cx="50292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具体要求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4647" y="1572768"/>
            <a:ext cx="3474720" cy="438912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70367" y="1638335"/>
            <a:ext cx="33832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作用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327" y="2011680"/>
            <a:ext cx="2011680" cy="49377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02055" y="2120069"/>
            <a:ext cx="179222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项目结构清晰</a:t>
            </a:r>
            <a:endParaRPr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804007" y="2011680"/>
            <a:ext cx="5120640" cy="49377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913735" y="2135458"/>
            <a:ext cx="490118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入口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模块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数据样例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输出目录分开存放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7924647" y="2011680"/>
            <a:ext cx="3474720" cy="49377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34375" y="2135458"/>
            <a:ext cx="325526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便于理解、修改、维护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327" y="2505456"/>
            <a:ext cx="201168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2055" y="2613845"/>
            <a:ext cx="179222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333333"/>
                </a:solidFill>
                <a:latin typeface="Microsoft YaHei"/>
                <a:ea typeface="Microsoft YaHei"/>
              </a:rPr>
              <a:t>运行说明完整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04007" y="2505456"/>
            <a:ext cx="512064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913735" y="2629234"/>
            <a:ext cx="490118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README 写明依赖、运行命令、输入格式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24647" y="2505456"/>
            <a:ext cx="34747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34375" y="2629234"/>
            <a:ext cx="325526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便于他人独立运行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327" y="2999232"/>
            <a:ext cx="2011680" cy="49377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02055" y="3107621"/>
            <a:ext cx="179222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333333"/>
                </a:solidFill>
                <a:latin typeface="Microsoft YaHei"/>
                <a:ea typeface="Microsoft YaHei"/>
              </a:rPr>
              <a:t>示例数据可用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04007" y="2999232"/>
            <a:ext cx="5120640" cy="49377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913735" y="3123010"/>
            <a:ext cx="490118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提供 sample_data.csv 等示例文件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24647" y="2999232"/>
            <a:ext cx="3474720" cy="49377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34375" y="3123010"/>
            <a:ext cx="325526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便于快速验证系统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2327" y="3493008"/>
            <a:ext cx="201168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02055" y="3601397"/>
            <a:ext cx="179222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333333"/>
                </a:solidFill>
                <a:latin typeface="Microsoft YaHei"/>
                <a:ea typeface="Microsoft YaHei"/>
              </a:rPr>
              <a:t>示例输出明确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4007" y="3493008"/>
            <a:ext cx="512064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913735" y="3616786"/>
            <a:ext cx="490118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提供示例图表、报告或结果文件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24647" y="3493008"/>
            <a:ext cx="34747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034375" y="3616786"/>
            <a:ext cx="325526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便于判断结果是否正确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2327" y="3986784"/>
            <a:ext cx="2011680" cy="49377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02055" y="4095173"/>
            <a:ext cx="179222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333333"/>
                </a:solidFill>
                <a:latin typeface="Microsoft YaHei"/>
                <a:ea typeface="Microsoft YaHei"/>
              </a:rPr>
              <a:t>依赖环境可复现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04007" y="3986784"/>
            <a:ext cx="5120640" cy="49377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913735" y="4110562"/>
            <a:ext cx="490118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提供 requirements.txt 或环境说明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924647" y="3986784"/>
            <a:ext cx="3474720" cy="49377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034375" y="4110562"/>
            <a:ext cx="325526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减少环境差异导致的报错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2327" y="4480560"/>
            <a:ext cx="201168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02055" y="4588949"/>
            <a:ext cx="179222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333333"/>
                </a:solidFill>
                <a:latin typeface="Microsoft YaHei"/>
                <a:ea typeface="Microsoft YaHei"/>
              </a:rPr>
              <a:t>修改记录清楚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04007" y="4480560"/>
            <a:ext cx="512064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913735" y="4604338"/>
            <a:ext cx="490118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记录修复内容、版本变化、新增功能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924647" y="4480560"/>
            <a:ext cx="34747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034375" y="4604338"/>
            <a:ext cx="325526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便于维护与问题回溯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92327" y="4974336"/>
            <a:ext cx="2011680" cy="49377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02055" y="5082725"/>
            <a:ext cx="179222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333333"/>
                </a:solidFill>
                <a:latin typeface="Microsoft YaHei"/>
                <a:ea typeface="Microsoft YaHei"/>
              </a:rPr>
              <a:t>使用边界明确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804007" y="4974336"/>
            <a:ext cx="5120640" cy="49377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913735" y="5098114"/>
            <a:ext cx="490118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说明当前支持与不支持的功能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924647" y="4974336"/>
            <a:ext cx="3474720" cy="49377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034375" y="5098114"/>
            <a:ext cx="325526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避免用户误用工具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92327" y="5468112"/>
            <a:ext cx="201168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902055" y="5576501"/>
            <a:ext cx="179222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333333"/>
                </a:solidFill>
                <a:latin typeface="Microsoft YaHei"/>
                <a:ea typeface="Microsoft YaHei"/>
              </a:rPr>
              <a:t>数据安全可控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04007" y="5468112"/>
            <a:ext cx="512064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2913735" y="5591890"/>
            <a:ext cx="490118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说明数据保存位置与敏感数据注意事项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924647" y="5468112"/>
            <a:ext cx="34747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034375" y="5591890"/>
            <a:ext cx="325526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降低隐私与泄露风险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11480" y="6053328"/>
            <a:ext cx="11368735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40080" y="6022938"/>
            <a:ext cx="10911535" cy="6642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可复用性不只来自复杂功能，更来自规范组织、清晰说明与稳定运行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——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本地可运行、说明清楚已能显著提效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109728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5.5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4920" y="2674172"/>
            <a:ext cx="66751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本章实训</a:t>
            </a:r>
            <a:endParaRPr sz="34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931920"/>
            <a:ext cx="1463040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114800"/>
            <a:ext cx="6766560" cy="7720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三个递进演练：零代码趣味应用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非结构化数据分类器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智能体科研数据分析工具的开发与测试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5.5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本章实训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" y="930902"/>
            <a:ext cx="11430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三个递进演练：从趣味应用到完整零代码开发流程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" y="1709928"/>
            <a:ext cx="3624986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709928"/>
            <a:ext cx="3624986" cy="585216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709928"/>
            <a:ext cx="109728" cy="41148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1833259"/>
            <a:ext cx="3304946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演练一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　Token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成本看板</a:t>
            </a:r>
            <a:endParaRPr sz="22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13232" y="2456516"/>
            <a:ext cx="3231794" cy="3003442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零代码构建网页版“实时提示词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Token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与成本估算看板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”。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实时统计中英字数、估算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Token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与花费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b="1" dirty="0">
                <a:solidFill>
                  <a:srgbClr val="C0392B"/>
                </a:solidFill>
                <a:latin typeface="Microsoft YaHei"/>
                <a:ea typeface="Microsoft YaHei"/>
              </a:rPr>
              <a:t>超 8000 Token </a:t>
            </a:r>
            <a:r>
              <a:rPr b="1" dirty="0" err="1">
                <a:solidFill>
                  <a:srgbClr val="C0392B"/>
                </a:solidFill>
                <a:latin typeface="Microsoft YaHei"/>
                <a:ea typeface="Microsoft YaHei"/>
              </a:rPr>
              <a:t>进度条变红并弹出警告</a:t>
            </a:r>
            <a:r>
              <a:rPr b="1" dirty="0">
                <a:solidFill>
                  <a:srgbClr val="C0392B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b="1" dirty="0" err="1">
                <a:solidFill>
                  <a:srgbClr val="004CA0"/>
                </a:solidFill>
                <a:latin typeface="Microsoft YaHei"/>
                <a:ea typeface="Microsoft YaHei"/>
              </a:rPr>
              <a:t>迭代挑战：加深色模式</a:t>
            </a:r>
            <a:r>
              <a:rPr b="1" dirty="0">
                <a:solidFill>
                  <a:srgbClr val="004CA0"/>
                </a:solidFill>
                <a:latin typeface="Microsoft YaHei"/>
                <a:ea typeface="Microsoft YaHei"/>
              </a:rPr>
              <a:t> / </a:t>
            </a:r>
            <a:r>
              <a:rPr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一键复制按钮</a:t>
            </a:r>
            <a:r>
              <a:rPr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83354" y="1709928"/>
            <a:ext cx="3624986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283354" y="1709928"/>
            <a:ext cx="3624986" cy="585216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83354" y="1709928"/>
            <a:ext cx="109728" cy="41148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66234" y="1833259"/>
            <a:ext cx="3304946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演练二　审稿意见分类器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9386" y="2543887"/>
            <a:ext cx="3167786" cy="2657193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构建“审稿意见情感倾向与决策分类器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”。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准备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3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段不同态度的模拟审稿意见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b="1" dirty="0" err="1">
                <a:solidFill>
                  <a:srgbClr val="C0392B"/>
                </a:solidFill>
                <a:latin typeface="Microsoft YaHei"/>
                <a:ea typeface="Microsoft YaHei"/>
              </a:rPr>
              <a:t>强制</a:t>
            </a:r>
            <a:r>
              <a:rPr b="1" dirty="0">
                <a:solidFill>
                  <a:srgbClr val="C0392B"/>
                </a:solidFill>
                <a:latin typeface="Microsoft YaHei"/>
                <a:ea typeface="Microsoft YaHei"/>
              </a:rPr>
              <a:t> JSON / </a:t>
            </a:r>
            <a:r>
              <a:rPr b="1" dirty="0" err="1">
                <a:solidFill>
                  <a:srgbClr val="C0392B"/>
                </a:solidFill>
                <a:latin typeface="Microsoft YaHei"/>
                <a:ea typeface="Microsoft YaHei"/>
              </a:rPr>
              <a:t>表格输出</a:t>
            </a:r>
            <a:r>
              <a:rPr b="1" dirty="0">
                <a:solidFill>
                  <a:srgbClr val="C0392B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b="1" dirty="0" err="1">
                <a:solidFill>
                  <a:srgbClr val="004CA0"/>
                </a:solidFill>
                <a:latin typeface="Microsoft YaHei"/>
                <a:ea typeface="Microsoft YaHei"/>
              </a:rPr>
              <a:t>字段：编号·情感·判定·核心建议</a:t>
            </a:r>
            <a:r>
              <a:rPr b="1" dirty="0">
                <a:solidFill>
                  <a:srgbClr val="004CA0"/>
                </a:solidFill>
                <a:latin typeface="Microsoft YaHei"/>
                <a:ea typeface="Microsoft YaHei"/>
              </a:rPr>
              <a:t>(≤20字)。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09508" y="1709928"/>
            <a:ext cx="3624986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109508" y="1709928"/>
            <a:ext cx="3624986" cy="585216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109508" y="1709928"/>
            <a:ext cx="109728" cy="4114800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92388" y="1833259"/>
            <a:ext cx="3304946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演练三　数据分析工具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0968" y="2549776"/>
            <a:ext cx="3167786" cy="2657193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用智能体开发本学科“科研数据自动分析工具”原型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读 CSV/Excel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体检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统计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绘图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保存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b="1" dirty="0" err="1">
                <a:solidFill>
                  <a:srgbClr val="C0392B"/>
                </a:solidFill>
                <a:latin typeface="Microsoft YaHei"/>
                <a:ea typeface="Microsoft YaHei"/>
              </a:rPr>
              <a:t>设计</a:t>
            </a:r>
            <a:r>
              <a:rPr b="1" dirty="0">
                <a:solidFill>
                  <a:srgbClr val="C0392B"/>
                </a:solidFill>
                <a:latin typeface="Microsoft YaHei"/>
                <a:ea typeface="Microsoft YaHei"/>
              </a:rPr>
              <a:t> ≥5 </a:t>
            </a:r>
            <a:r>
              <a:rPr b="1" dirty="0" err="1">
                <a:solidFill>
                  <a:srgbClr val="C0392B"/>
                </a:solidFill>
                <a:latin typeface="Microsoft YaHei"/>
                <a:ea typeface="Microsoft YaHei"/>
              </a:rPr>
              <a:t>个测试用例</a:t>
            </a:r>
            <a:r>
              <a:rPr b="1" dirty="0">
                <a:solidFill>
                  <a:srgbClr val="C0392B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b="1" dirty="0" err="1">
                <a:solidFill>
                  <a:srgbClr val="004CA0"/>
                </a:solidFill>
                <a:latin typeface="Microsoft YaHei"/>
                <a:ea typeface="Microsoft YaHei"/>
              </a:rPr>
              <a:t>完成一次功能迭代并记录前后变化</a:t>
            </a:r>
            <a:r>
              <a:rPr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927098"/>
            <a:ext cx="11368735" cy="72973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5988538"/>
            <a:ext cx="10911535" cy="6642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重点不是开发复杂系统，而是体验“需求描述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→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原型生成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→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运行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→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测试修复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→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结果保存”的完整零代码流程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292608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8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本章小结</a:t>
            </a:r>
            <a:endParaRPr sz="48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53212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822960" cy="120700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822960" cy="12070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5.1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1508760"/>
            <a:ext cx="43891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自然语言编程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289304" y="1938012"/>
            <a:ext cx="4507992" cy="531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范式从“语法驱动”转向“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意图驱动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”；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好指令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=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任务说明书五要素；建立开发边界感（四象限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25896" y="1417320"/>
            <a:ext cx="553212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025896" y="1417320"/>
            <a:ext cx="822960" cy="120700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25896" y="1417320"/>
            <a:ext cx="822960" cy="12070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5.2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3448" y="1508760"/>
            <a:ext cx="43891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开发新范式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931511" y="1937535"/>
            <a:ext cx="4672584" cy="531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三种范式：传统ML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提示词直接推理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智能体算法实验；零样本与少样本；非结构化数据语义提取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52344"/>
            <a:ext cx="553212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65760" y="2752344"/>
            <a:ext cx="822960" cy="120700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" y="2752344"/>
            <a:ext cx="822960" cy="12070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5.3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53312" y="2843784"/>
            <a:ext cx="43891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4CA0"/>
                </a:solidFill>
                <a:latin typeface="Microsoft YaHei"/>
                <a:ea typeface="Microsoft YaHei"/>
              </a:rPr>
              <a:t>数据分析可视化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9304" y="3191615"/>
            <a:ext cx="4507992" cy="807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代码执行引擎+沙箱实现“生成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运行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检查”闭环；数据体检、统计检验与学术绘图；可复现保存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25896" y="2752344"/>
            <a:ext cx="553212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025896" y="2752344"/>
            <a:ext cx="822960" cy="120700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25896" y="2752344"/>
            <a:ext cx="822960" cy="12070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5.4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3448" y="2843784"/>
            <a:ext cx="43891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4CA0"/>
                </a:solidFill>
                <a:latin typeface="Microsoft YaHei"/>
                <a:ea typeface="Microsoft YaHei"/>
              </a:rPr>
              <a:t>智能体软件开发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4191" y="3207501"/>
            <a:ext cx="4627223" cy="807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需求收缩为最小可用原型；生成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运行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自动修复闭环；边界用例测试与小步迭代；走向可复用系统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087368"/>
            <a:ext cx="553212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65760" y="4087368"/>
            <a:ext cx="822960" cy="120700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5760" y="4087368"/>
            <a:ext cx="822960" cy="12070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3312" y="4178808"/>
            <a:ext cx="43891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4CA0"/>
                </a:solidFill>
                <a:latin typeface="Microsoft YaHei"/>
                <a:ea typeface="Microsoft YaHei"/>
              </a:rPr>
              <a:t>AI 的定位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53312" y="4562856"/>
            <a:ext cx="4389120" cy="531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AI 是高效的“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算法助理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”，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不是最终裁判；它降低门槛，但不替代任务定义与结果验证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25896" y="4087368"/>
            <a:ext cx="553212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025896" y="4087368"/>
            <a:ext cx="822960" cy="120700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025896" y="4087368"/>
            <a:ext cx="822960" cy="12070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13448" y="4178808"/>
            <a:ext cx="43891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4CA0"/>
                </a:solidFill>
                <a:latin typeface="Microsoft YaHei"/>
                <a:ea typeface="Microsoft YaHei"/>
              </a:rPr>
              <a:t>核心能力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13448" y="4562856"/>
            <a:ext cx="4389120" cy="531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清晰表达需求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严格验证结果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——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二者同时成立，零代码编程才真正成为科研利器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774436"/>
            <a:ext cx="11368735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50432" y="5907581"/>
            <a:ext cx="11368735" cy="3515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不要只问“AI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能不能做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”，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而要问：能否拆解？每一步能否测试？最终结果能否验证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？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arallelogram 3"/>
          <p:cNvSpPr/>
          <p:nvPr/>
        </p:nvSpPr>
        <p:spPr>
          <a:xfrm>
            <a:off x="0" y="4114800"/>
            <a:ext cx="6858000" cy="2743200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2286000"/>
            <a:ext cx="12191695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0" b="1" i="0">
                <a:solidFill>
                  <a:srgbClr val="FFFFFF"/>
                </a:solidFill>
                <a:latin typeface="Arial"/>
                <a:ea typeface="Arial"/>
              </a:rPr>
              <a:t>THANKS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14800"/>
            <a:ext cx="1219169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solidFill>
                  <a:srgbClr val="E6F2FC"/>
                </a:solidFill>
                <a:latin typeface="Microsoft YaHei"/>
                <a:ea typeface="Microsoft YaHei"/>
              </a:rPr>
              <a:t>感 谢 聆 听 ， 欢 迎 提 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85216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i="0">
                <a:solidFill>
                  <a:srgbClr val="E6F2FC"/>
                </a:solidFill>
                <a:latin typeface="Microsoft YaHei"/>
                <a:ea typeface="Microsoft YaHei"/>
              </a:rPr>
              <a:t>扬州大学  ·  第 5 章  ·  零代码编程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</TotalTime>
  <Words>2680</Words>
  <Application>Microsoft Office PowerPoint</Application>
  <PresentationFormat>宽屏</PresentationFormat>
  <Paragraphs>496</Paragraphs>
  <Slides>40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40</vt:i4>
      </vt:variant>
    </vt:vector>
  </HeadingPairs>
  <TitlesOfParts>
    <vt:vector size="44" baseType="lpstr">
      <vt:lpstr>Microsoft YaHei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朋 王</cp:lastModifiedBy>
  <cp:revision>3</cp:revision>
  <dcterms:created xsi:type="dcterms:W3CDTF">2013-01-27T09:14:16Z</dcterms:created>
  <dcterms:modified xsi:type="dcterms:W3CDTF">2026-06-13T14:36:18Z</dcterms:modified>
  <cp:category/>
</cp:coreProperties>
</file>