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94" r:id="rId8"/>
    <p:sldId id="262" r:id="rId9"/>
    <p:sldId id="263" r:id="rId10"/>
    <p:sldId id="264" r:id="rId11"/>
    <p:sldId id="265" r:id="rId12"/>
    <p:sldId id="266" r:id="rId13"/>
    <p:sldId id="267" r:id="rId14"/>
    <p:sldId id="295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96" r:id="rId23"/>
    <p:sldId id="277" r:id="rId24"/>
    <p:sldId id="278" r:id="rId25"/>
    <p:sldId id="279" r:id="rId26"/>
    <p:sldId id="297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7"/>
  </p:normalViewPr>
  <p:slideViewPr>
    <p:cSldViewPr snapToGrid="0" snapToObjects="1">
      <p:cViewPr varScale="1">
        <p:scale>
          <a:sx n="85" d="100"/>
          <a:sy n="85" d="100"/>
        </p:scale>
        <p:origin x="85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7315200" y="0"/>
            <a:ext cx="4876495" cy="3657600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7315199" y="3056965"/>
            <a:ext cx="4876495" cy="3801035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0" y="2327701"/>
            <a:ext cx="12191695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《</a:t>
            </a:r>
            <a:r>
              <a:rPr sz="5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生成式人工智能</a:t>
            </a:r>
            <a:r>
              <a:rPr lang="zh-CN" altLang="en-US" sz="5400" b="1" dirty="0">
                <a:solidFill>
                  <a:srgbClr val="FFFFFF"/>
                </a:solidFill>
                <a:latin typeface="Microsoft YaHei"/>
                <a:ea typeface="Microsoft YaHei"/>
              </a:rPr>
              <a:t>与科研素养</a:t>
            </a:r>
            <a:r>
              <a:rPr sz="5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310128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icrosoft YaHei"/>
                <a:ea typeface="Microsoft YaHei"/>
              </a:rPr>
              <a:t>第 5 章   零代码编程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553212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扬州大学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ight Arrow 2"/>
          <p:cNvSpPr/>
          <p:nvPr/>
        </p:nvSpPr>
        <p:spPr>
          <a:xfrm>
            <a:off x="7909560" y="1508760"/>
            <a:ext cx="3962400" cy="4693024"/>
          </a:xfrm>
          <a:prstGeom prst="rightArrow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3657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 i="0">
                <a:solidFill>
                  <a:srgbClr val="333333"/>
                </a:solidFill>
                <a:latin typeface="Microsoft YaHei"/>
                <a:ea typeface="Microsoft YaHei"/>
              </a:rPr>
              <a:t>目录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320040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2148840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5.1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148840"/>
            <a:ext cx="612648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83080" y="2148840"/>
            <a:ext cx="59436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0066CC"/>
                </a:solidFill>
                <a:latin typeface="Microsoft YaHei"/>
                <a:ea typeface="Microsoft YaHei"/>
              </a:rPr>
              <a:t>用自然语言生成程序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16936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916936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5.2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00200" y="2916936"/>
            <a:ext cx="612648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783080" y="2916936"/>
            <a:ext cx="59436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0066CC"/>
                </a:solidFill>
                <a:latin typeface="Microsoft YaHei"/>
                <a:ea typeface="Microsoft YaHei"/>
              </a:rPr>
              <a:t>开发科研数据处理工具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85032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685032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5.3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00200" y="3685032"/>
            <a:ext cx="612648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83080" y="3685032"/>
            <a:ext cx="59436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0066CC"/>
                </a:solidFill>
                <a:latin typeface="Microsoft YaHei"/>
                <a:ea typeface="Microsoft YaHei"/>
              </a:rPr>
              <a:t>用AI完成数据分析与可视化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453128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4453128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5.4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00200" y="4453128"/>
            <a:ext cx="612648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783080" y="4453128"/>
            <a:ext cx="59436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0066CC"/>
                </a:solidFill>
                <a:latin typeface="Microsoft YaHei"/>
                <a:ea typeface="Microsoft YaHei"/>
              </a:rPr>
              <a:t>编程智能体辅助开发与修复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21224"/>
            <a:ext cx="9601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5221224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5.5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5221224"/>
            <a:ext cx="6126480" cy="603504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83080" y="5221224"/>
            <a:ext cx="594360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900" b="1" i="0">
                <a:solidFill>
                  <a:srgbClr val="0066CC"/>
                </a:solidFill>
                <a:latin typeface="Microsoft YaHei"/>
                <a:ea typeface="Microsoft YaHei"/>
              </a:rPr>
              <a:t>本章实训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导言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用自然语言开发科研工具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" y="987552"/>
            <a:ext cx="11247120" cy="749808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77790"/>
            <a:ext cx="1124712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用自然语言提出任务，让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生成代码、运行分析、开发原型并保存结果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112471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可用于处理</a:t>
            </a:r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表格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、整理文本、</a:t>
            </a:r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统计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绘图和开发</a:t>
            </a:r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小型工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具，具体结果</a:t>
            </a:r>
            <a:r>
              <a:rPr sz="2000" b="1" i="0" dirty="0">
                <a:solidFill>
                  <a:srgbClr val="004CA0"/>
                </a:solidFill>
                <a:latin typeface="Microsoft YaHei"/>
                <a:ea typeface="Microsoft YaHei"/>
              </a:rPr>
              <a:t>需要测</a:t>
            </a:r>
            <a:r>
              <a:rPr sz="20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试与复核。</a:t>
            </a:r>
            <a:endParaRPr sz="20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7200" y="2505456"/>
            <a:ext cx="2682163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505456"/>
            <a:ext cx="2682163" cy="80467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595110"/>
            <a:ext cx="26821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Arial"/>
                <a:ea typeface="Arial"/>
              </a:rPr>
              <a:t>5.1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24295"/>
            <a:ext cx="26821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自然语言编程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928" y="3552587"/>
            <a:ext cx="2462707" cy="10604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2000"/>
              </a:lnSpc>
            </a:pP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需求表达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代码生成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建立开发边界感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零代码系统原型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22243" y="2505456"/>
            <a:ext cx="2682163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322243" y="2505456"/>
            <a:ext cx="2682163" cy="804672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22243" y="2595110"/>
            <a:ext cx="26821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Arial"/>
                <a:ea typeface="Arial"/>
              </a:rPr>
              <a:t>5.2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22243" y="2924294"/>
            <a:ext cx="26821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开发新范式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31971" y="3552587"/>
            <a:ext cx="2462707" cy="10604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2000"/>
              </a:lnSpc>
            </a:pP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传统ML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提示词推理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智能体算法实验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非结构化数据处理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187287" y="2505456"/>
            <a:ext cx="2682163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87287" y="2505456"/>
            <a:ext cx="2682163" cy="804672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87287" y="2595110"/>
            <a:ext cx="26821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Arial"/>
                <a:ea typeface="Arial"/>
              </a:rPr>
              <a:t>5.3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7287" y="2924294"/>
            <a:ext cx="26821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数据分析可视化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97015" y="3552587"/>
            <a:ext cx="2462707" cy="10604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2000"/>
              </a:lnSpc>
            </a:pP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代码执行引擎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沙箱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数据体检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统计检验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学术绘图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可复现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052331" y="2505456"/>
            <a:ext cx="2682163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52331" y="2505456"/>
            <a:ext cx="2682163" cy="80467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331" y="2595110"/>
            <a:ext cx="26821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Arial"/>
                <a:ea typeface="Arial"/>
              </a:rPr>
              <a:t>5.4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331" y="2924294"/>
            <a:ext cx="268216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智能体软件开发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107194" y="3555150"/>
            <a:ext cx="2572435" cy="106041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32000"/>
              </a:lnSpc>
            </a:pP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最小可用原型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自动修复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边界测试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功能迭代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课题组可复用系统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457200" y="5568696"/>
            <a:ext cx="11368735" cy="80467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2871" y="5577105"/>
            <a:ext cx="11137392" cy="7971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研究者负责明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确问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题、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约束操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作和验证结果，仍需理解基本计算过程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全景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零代码开发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的基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本流程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900125"/>
            <a:ext cx="11430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从说明需求开始，逐步生成</a:t>
            </a:r>
            <a:r>
              <a:rPr sz="2800" b="1" i="0" dirty="0">
                <a:solidFill>
                  <a:srgbClr val="004CA0"/>
                </a:solidFill>
                <a:latin typeface="Microsoft YaHei"/>
                <a:ea typeface="Microsoft YaHei"/>
              </a:rPr>
              <a:t>代码、</a:t>
            </a:r>
            <a:r>
              <a:rPr sz="28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运行检</a:t>
            </a:r>
            <a:r>
              <a:rPr sz="28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查并完</a:t>
            </a:r>
            <a:r>
              <a:rPr sz="28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善工具</a:t>
            </a:r>
            <a:r>
              <a:rPr sz="2800" b="1" i="0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0" name="Chevron 9"/>
          <p:cNvSpPr/>
          <p:nvPr/>
        </p:nvSpPr>
        <p:spPr>
          <a:xfrm>
            <a:off x="457200" y="1874519"/>
            <a:ext cx="3189655" cy="1188720"/>
          </a:xfrm>
          <a:prstGeom prst="chevron">
            <a:avLst/>
          </a:prstGeom>
          <a:solidFill>
            <a:srgbClr val="0066CC"/>
          </a:solidFill>
          <a:ln>
            <a:noFill/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2023609"/>
            <a:ext cx="268673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67093"/>
            <a:ext cx="268673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需求表达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66928" y="3264407"/>
            <a:ext cx="2796463" cy="1783080"/>
          </a:xfrm>
          <a:prstGeom prst="rect">
            <a:avLst/>
          </a:prstGeom>
          <a:solidFill>
            <a:srgbClr val="F4F7FB"/>
          </a:solidFill>
          <a:ln w="15875">
            <a:solidFill>
              <a:srgbClr val="0066CC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613703"/>
            <a:ext cx="2659303" cy="10936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任务说明书五要素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：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目标·输入·输出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·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异常·验收标准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3299383" y="1874519"/>
            <a:ext cx="3189655" cy="1188720"/>
          </a:xfrm>
          <a:prstGeom prst="chevron">
            <a:avLst/>
          </a:prstGeom>
          <a:solidFill>
            <a:srgbClr val="004CA0"/>
          </a:solidFill>
          <a:ln>
            <a:noFill/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45103" y="2023609"/>
            <a:ext cx="268673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5103" y="2467093"/>
            <a:ext cx="268673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代码生成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409111" y="3264407"/>
            <a:ext cx="2796463" cy="1783080"/>
          </a:xfrm>
          <a:prstGeom prst="rect">
            <a:avLst/>
          </a:prstGeom>
          <a:solidFill>
            <a:srgbClr val="F4F7FB"/>
          </a:solidFill>
          <a:ln w="15875">
            <a:solidFill>
              <a:srgbClr val="004CA0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82263" y="3613703"/>
            <a:ext cx="2659303" cy="10936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大模型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编程智能体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自动生成代码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、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界面与逻辑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0" name="Chevron 19"/>
          <p:cNvSpPr/>
          <p:nvPr/>
        </p:nvSpPr>
        <p:spPr>
          <a:xfrm>
            <a:off x="6141567" y="1874519"/>
            <a:ext cx="3189655" cy="1188720"/>
          </a:xfrm>
          <a:prstGeom prst="chevron">
            <a:avLst/>
          </a:prstGeom>
          <a:solidFill>
            <a:srgbClr val="F58020"/>
          </a:solidFill>
          <a:ln>
            <a:noFill/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87287" y="2023609"/>
            <a:ext cx="268673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7287" y="2467093"/>
            <a:ext cx="268673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运行验证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51295" y="3264407"/>
            <a:ext cx="2796463" cy="1783080"/>
          </a:xfrm>
          <a:prstGeom prst="rect">
            <a:avLst/>
          </a:prstGeom>
          <a:solidFill>
            <a:srgbClr val="F4F7FB"/>
          </a:solidFill>
          <a:ln w="15875">
            <a:solidFill>
              <a:srgbClr val="F58020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24447" y="3613703"/>
            <a:ext cx="2659303" cy="10936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沙箱执行、读取报错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样例检查、边界测试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结果复核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5" name="Chevron 24"/>
          <p:cNvSpPr/>
          <p:nvPr/>
        </p:nvSpPr>
        <p:spPr>
          <a:xfrm>
            <a:off x="8983751" y="1874519"/>
            <a:ext cx="3189655" cy="1188720"/>
          </a:xfrm>
          <a:prstGeom prst="chevron">
            <a:avLst/>
          </a:prstGeom>
          <a:solidFill>
            <a:srgbClr val="2E8B57"/>
          </a:solidFill>
          <a:ln>
            <a:noFill/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29471" y="2023609"/>
            <a:ext cx="268673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9471" y="2467093"/>
            <a:ext cx="268673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迭代原型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093479" y="3264407"/>
            <a:ext cx="2796463" cy="1783080"/>
          </a:xfrm>
          <a:prstGeom prst="rect">
            <a:avLst/>
          </a:prstGeom>
          <a:solidFill>
            <a:srgbClr val="F4F7FB"/>
          </a:solidFill>
          <a:ln w="15875">
            <a:solidFill>
              <a:srgbClr val="2E8B57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66631" y="3613703"/>
            <a:ext cx="2659303" cy="10936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2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自动修复、小步迭代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从最小可用原型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到可复用系统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65760" y="5797296"/>
            <a:ext cx="11368735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4992" y="5907296"/>
            <a:ext cx="10911535" cy="38350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升级路径：单次提示词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结构化需求说明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编程智能体开发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→ 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专业工程化开发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09728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5.1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2792716"/>
            <a:ext cx="6675120" cy="5354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用自然语言生成程</a:t>
            </a:r>
            <a:r>
              <a:rPr sz="3400" b="1" i="0" dirty="0">
                <a:solidFill>
                  <a:srgbClr val="333333"/>
                </a:solidFill>
                <a:latin typeface="Microsoft YaHei"/>
                <a:ea typeface="Microsoft YaHei"/>
              </a:rPr>
              <a:t>序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931920"/>
            <a:ext cx="146304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114800"/>
            <a:ext cx="6766560" cy="1178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研究人员可用自然语言描述目标、数据和处理规则，让AI辅助生成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代码，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再运行并检查结果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用自然语言生成程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30902"/>
            <a:ext cx="1143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把任务要求转化为可执行的代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8370" y="1541611"/>
            <a:ext cx="10444779" cy="438548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传统流程：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学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Python/R/MATLAB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语法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逐行写代码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运行排错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反复改实现细节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新流程：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先想清问题（目标·输入·输出·异常·验收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）→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自然语言交给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AI →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生成、执行、反馈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●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 研究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者需要明确任务、检查处理逻辑，并解释计算结果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● AI可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减少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部分代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码书写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，需求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分析、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测试和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维护仍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然重要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●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 计算思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维仍是基础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：判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断结果是否正确、合理，并能重复运行。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8026F-7076-915B-A29E-857B9625C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7C9366-F228-03DC-B889-38289688B12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77923EB6-80DE-E5A8-FF57-CF833081C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6362FDC-234E-C1C5-D28D-0AF2AC3EE776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F9BEE6-EF74-2090-60B3-3CA33AC21AD5}"/>
              </a:ext>
            </a:extLst>
          </p:cNvPr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5.1.1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3D9B3E-4859-7603-9A94-70EC5FB48B18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15BC33-4640-7081-08F8-44F1C52B1613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用自然语言生成程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序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5223FD-2773-15EC-D1D9-231C722881BD}"/>
              </a:ext>
            </a:extLst>
          </p:cNvPr>
          <p:cNvSpPr txBox="1"/>
          <p:nvPr/>
        </p:nvSpPr>
        <p:spPr>
          <a:xfrm>
            <a:off x="2234004" y="5972394"/>
            <a:ext cx="8214055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0" dirty="0">
                <a:latin typeface="Microsoft YaHei"/>
                <a:ea typeface="Microsoft YaHei"/>
              </a:rPr>
              <a:t>图5-1 </a:t>
            </a:r>
            <a:r>
              <a:rPr b="0" dirty="0" err="1">
                <a:latin typeface="Microsoft YaHei"/>
                <a:ea typeface="Microsoft YaHei"/>
              </a:rPr>
              <a:t>编程范式从“语法驱动”到“意图驱动</a:t>
            </a:r>
            <a:r>
              <a:rPr b="0" dirty="0">
                <a:latin typeface="Microsoft YaHei"/>
                <a:ea typeface="Microsoft YaHei"/>
              </a:rPr>
              <a:t>”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532D591-0E6B-0BD7-CCC5-923CEE92089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521" y="1225676"/>
            <a:ext cx="9052560" cy="441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190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用自然语言生成程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859467"/>
            <a:ext cx="1143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自然语言编程需要的基本能力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33822"/>
            <a:ext cx="5538063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433822"/>
            <a:ext cx="5538063" cy="58521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433822"/>
            <a:ext cx="109728" cy="20574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541764"/>
            <a:ext cx="52180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①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拆解能力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2229952"/>
            <a:ext cx="5080863" cy="1032068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把一个模糊的科研需求，拆解成若干清晰、可执行的操作步骤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1" dirty="0">
                <a:solidFill>
                  <a:srgbClr val="004CA0"/>
                </a:solidFill>
                <a:latin typeface="Microsoft YaHei"/>
                <a:ea typeface="Microsoft YaHei"/>
              </a:rPr>
              <a:t>例：“</a:t>
            </a:r>
            <a:r>
              <a:rPr sz="16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提取年份</a:t>
            </a:r>
            <a:r>
              <a:rPr sz="1600" b="1" dirty="0">
                <a:solidFill>
                  <a:srgbClr val="004CA0"/>
                </a:solidFill>
                <a:latin typeface="Microsoft YaHei"/>
                <a:ea typeface="Microsoft YaHei"/>
              </a:rPr>
              <a:t>”→ </a:t>
            </a:r>
            <a:r>
              <a:rPr sz="16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匹配规则</a:t>
            </a:r>
            <a:r>
              <a:rPr sz="1600" b="1" dirty="0">
                <a:solidFill>
                  <a:srgbClr val="004CA0"/>
                </a:solidFill>
                <a:latin typeface="Microsoft YaHei"/>
                <a:ea typeface="Microsoft YaHei"/>
              </a:rPr>
              <a:t> + </a:t>
            </a:r>
            <a:r>
              <a:rPr sz="16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异常处理</a:t>
            </a:r>
            <a:r>
              <a:rPr sz="1600" b="1" dirty="0">
                <a:solidFill>
                  <a:srgbClr val="004CA0"/>
                </a:solidFill>
                <a:latin typeface="Microsoft YaHei"/>
                <a:ea typeface="Microsoft YaHei"/>
              </a:rPr>
              <a:t> + </a:t>
            </a:r>
            <a:r>
              <a:rPr sz="16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验收标准</a:t>
            </a:r>
            <a:endParaRPr sz="1600" b="1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96431" y="1433822"/>
            <a:ext cx="5538063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6431" y="1433822"/>
            <a:ext cx="5538063" cy="585216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6431" y="1433822"/>
            <a:ext cx="109728" cy="20574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9311" y="1541764"/>
            <a:ext cx="52180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②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数据洞察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2464" y="2229952"/>
            <a:ext cx="4789278" cy="1032068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识别数据中的规律、噪声与异常，判断数据是否真正可靠</a:t>
            </a:r>
            <a:r>
              <a:rPr sz="15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例：发现缺失值、离群点、单位混用与重复记录</a:t>
            </a:r>
            <a:endParaRPr sz="1600" b="1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3692390"/>
            <a:ext cx="5538063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692390"/>
            <a:ext cx="5538063" cy="585216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692390"/>
            <a:ext cx="109728" cy="205740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800332"/>
            <a:ext cx="52180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③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逻辑转化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3232" y="4642408"/>
            <a:ext cx="5080863" cy="724292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把专业问题转化为程序可以执行的明确逻辑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例：把分类标准写成可判断的条件规则</a:t>
            </a:r>
            <a:endParaRPr sz="1600" b="1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196431" y="3692390"/>
            <a:ext cx="5538063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6431" y="3692390"/>
            <a:ext cx="5538063" cy="58521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96431" y="3692390"/>
            <a:ext cx="109728" cy="20574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9311" y="3800332"/>
            <a:ext cx="52180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④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结果判断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52463" y="4642408"/>
            <a:ext cx="5080863" cy="724292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判断系统输出是否真实、合理、可复现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16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例：抽样复核、边界测试、重复运行、人工抽查</a:t>
            </a:r>
            <a:endParaRPr sz="1600" b="1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28207" y="5962158"/>
            <a:ext cx="11368735" cy="66428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13232" y="5976175"/>
            <a:ext cx="10837254" cy="6642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清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楚定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义问题、理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解处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理过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程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并检查结果，是使用AI编程的重要基础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5.1.1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用自然语言生成程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30902"/>
            <a:ext cx="1143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好的自然语言指令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 = 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一份简洁的“任务说明书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91056"/>
            <a:ext cx="210915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591056"/>
            <a:ext cx="2109155" cy="56692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720631"/>
            <a:ext cx="210915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①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任务目标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30352" y="2298074"/>
            <a:ext cx="1962851" cy="7073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最终解决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什么问题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749235" y="1591056"/>
            <a:ext cx="210915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49235" y="1591056"/>
            <a:ext cx="2109155" cy="566928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9235" y="1720631"/>
            <a:ext cx="210915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②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输入数据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22387" y="2298074"/>
            <a:ext cx="1962851" cy="7073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读取哪些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文件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字段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41270" y="1591056"/>
            <a:ext cx="210915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41270" y="1591056"/>
            <a:ext cx="2109155" cy="566928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41270" y="1720631"/>
            <a:ext cx="210915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③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输出形式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14422" y="2298074"/>
            <a:ext cx="1962851" cy="7073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表格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图表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报告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网页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333305" y="1591056"/>
            <a:ext cx="210915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33305" y="1591056"/>
            <a:ext cx="2109155" cy="5669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33305" y="1720631"/>
            <a:ext cx="210915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④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异常情况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06457" y="2298074"/>
            <a:ext cx="1962851" cy="7073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缺失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错误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重复如何处理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625340" y="1591056"/>
            <a:ext cx="2109155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25340" y="1591056"/>
            <a:ext cx="2109155" cy="566928"/>
          </a:xfrm>
          <a:prstGeom prst="rect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25340" y="1720631"/>
            <a:ext cx="210915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⑤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验收标准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98492" y="2298074"/>
            <a:ext cx="1962851" cy="70737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如何判断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已正确完成</a:t>
            </a:r>
            <a:endParaRPr sz="20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57200" y="3419856"/>
            <a:ext cx="11274552" cy="2111368"/>
          </a:xfrm>
          <a:prstGeom prst="rect">
            <a:avLst/>
          </a:prstGeom>
          <a:solidFill>
            <a:srgbClr val="EEF2F7"/>
          </a:solidFill>
          <a:ln w="15875">
            <a:solidFill>
              <a:srgbClr val="2F3A4A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3419856"/>
            <a:ext cx="11274552" cy="402336"/>
          </a:xfrm>
          <a:prstGeom prst="rect">
            <a:avLst/>
          </a:prstGeom>
          <a:solidFill>
            <a:srgbClr val="2F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3467135"/>
            <a:ext cx="11000232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▌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提示词示例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批量提取文献年份</a:t>
            </a:r>
            <a:endParaRPr sz="1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79271" y="3891229"/>
            <a:ext cx="11002975" cy="1538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 i="0" dirty="0">
                <a:solidFill>
                  <a:srgbClr val="1E2B3A"/>
                </a:solidFill>
                <a:latin typeface="Microsoft YaHei"/>
                <a:ea typeface="Microsoft YaHei"/>
              </a:rPr>
              <a:t>“</a:t>
            </a:r>
            <a:r>
              <a:rPr sz="2000"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请读取指定表格，提取‘文本’列中代表年份的</a:t>
            </a:r>
            <a:r>
              <a:rPr sz="2000" b="0" i="0" dirty="0">
                <a:solidFill>
                  <a:srgbClr val="1E2B3A"/>
                </a:solidFill>
                <a:latin typeface="Microsoft YaHei"/>
                <a:ea typeface="Microsoft YaHei"/>
              </a:rPr>
              <a:t> 4 位连续数字，存入新列‘</a:t>
            </a:r>
            <a:r>
              <a:rPr sz="2000"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年份</a:t>
            </a:r>
            <a:r>
              <a:rPr sz="2000" b="0" i="0" dirty="0">
                <a:solidFill>
                  <a:srgbClr val="1E2B3A"/>
                </a:solidFill>
                <a:latin typeface="Microsoft YaHei"/>
                <a:ea typeface="Microsoft YaHei"/>
              </a:rPr>
              <a:t>’；若某行无年份则填‘</a:t>
            </a:r>
            <a:r>
              <a:rPr sz="2000"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暂无</a:t>
            </a:r>
            <a:r>
              <a:rPr sz="2000" b="0" i="0" dirty="0">
                <a:solidFill>
                  <a:srgbClr val="1E2B3A"/>
                </a:solidFill>
                <a:latin typeface="Microsoft YaHei"/>
                <a:ea typeface="Microsoft YaHei"/>
              </a:rPr>
              <a:t>’；</a:t>
            </a:r>
            <a:r>
              <a:rPr sz="2000"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若同一行出现多个</a:t>
            </a:r>
            <a:r>
              <a:rPr sz="2000" b="0" i="0" dirty="0">
                <a:solidFill>
                  <a:srgbClr val="1E2B3A"/>
                </a:solidFill>
                <a:latin typeface="Microsoft YaHei"/>
                <a:ea typeface="Microsoft YaHei"/>
              </a:rPr>
              <a:t> 4 </a:t>
            </a:r>
            <a:r>
              <a:rPr sz="2000"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位数字，优先提取‘年’字前后的数字。处理完成后输出新表格，并统计成功提取、未提取、疑似异常的记录数量，同时随机展示</a:t>
            </a:r>
            <a:r>
              <a:rPr sz="2000" b="0" i="0" dirty="0">
                <a:solidFill>
                  <a:srgbClr val="1E2B3A"/>
                </a:solidFill>
                <a:latin typeface="Microsoft YaHei"/>
                <a:ea typeface="Microsoft YaHei"/>
              </a:rPr>
              <a:t> 10 </a:t>
            </a:r>
            <a:r>
              <a:rPr sz="2000"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条处理前后的样例，供我人工检查</a:t>
            </a:r>
            <a:r>
              <a:rPr sz="2000" b="0" i="0" dirty="0">
                <a:solidFill>
                  <a:srgbClr val="1E2B3A"/>
                </a:solidFill>
                <a:latin typeface="Microsoft YaHei"/>
                <a:ea typeface="Microsoft YaHei"/>
              </a:rPr>
              <a:t>。”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5768304"/>
            <a:ext cx="11368735" cy="74858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8708" y="5832194"/>
            <a:ext cx="10911535" cy="6642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这条指令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说明了目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标、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输入、输出、异常处理和检查方式。多个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数字或不规范年份仍可能被误判，需要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抽样核对</a:t>
            </a:r>
            <a:r>
              <a:rPr sz="145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用自然语言生成程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30902"/>
            <a:ext cx="1143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零代码开发的两类系统：先判断难度，再决定如何描述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687068"/>
            <a:ext cx="5538063" cy="400668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87068"/>
            <a:ext cx="5538063" cy="58521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87068"/>
            <a:ext cx="109728" cy="400668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795010"/>
            <a:ext cx="52180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已知系统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8659" y="2494197"/>
            <a:ext cx="5282031" cy="260237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互联网已有大量成熟实现、逻辑高度标准化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如：计算器、倒计时、贪吃蛇、单词测验、问卷页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特点：目标明确、规则成熟、边界清晰</a:t>
            </a:r>
            <a:r>
              <a:rPr sz="2000" b="1" dirty="0">
                <a:solidFill>
                  <a:srgbClr val="2E8B57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可先简要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说明总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体目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标与必要功能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再根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据运行结果补充细节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431" y="1687068"/>
            <a:ext cx="5538063" cy="400668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6431" y="1687068"/>
            <a:ext cx="5538063" cy="585216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6431" y="1687068"/>
            <a:ext cx="109728" cy="4006686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9311" y="1795010"/>
            <a:ext cx="52180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B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自定义系统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7890" y="2476449"/>
            <a:ext cx="5080863" cy="2987091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带特定规则、数据格式与学科判断标准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已有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实现经验不能替代你的具体业务规则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 err="1">
                <a:solidFill>
                  <a:srgbClr val="C0392B"/>
                </a:solidFill>
                <a:latin typeface="Microsoft YaHei"/>
                <a:ea typeface="Microsoft YaHei"/>
              </a:rPr>
              <a:t>要求不明确</a:t>
            </a:r>
            <a:r>
              <a:rPr sz="2000" b="1" dirty="0">
                <a:solidFill>
                  <a:srgbClr val="C0392B"/>
                </a:solidFill>
                <a:latin typeface="Microsoft YaHei"/>
                <a:ea typeface="Microsoft YaHei"/>
              </a:rPr>
              <a:t>时，界</a:t>
            </a:r>
            <a:r>
              <a:rPr sz="2000" b="1" dirty="0" err="1">
                <a:solidFill>
                  <a:srgbClr val="C0392B"/>
                </a:solidFill>
                <a:latin typeface="Microsoft YaHei"/>
                <a:ea typeface="Microsoft YaHei"/>
              </a:rPr>
              <a:t>面可能可用，但处理逻辑不符合需求</a:t>
            </a:r>
            <a:r>
              <a:rPr sz="2000" b="1" dirty="0">
                <a:solidFill>
                  <a:srgbClr val="C0392B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→ 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必须写清目标、输入、输出、约束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，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　 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把判定标准与交互细节交代明确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025" y="5940641"/>
            <a:ext cx="11368735" cy="679483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4992" y="5962222"/>
            <a:ext cx="10911535" cy="6642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程序能打开、界面美观，只说明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部分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要求达成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，还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需用样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例与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边界情况验证功能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2743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5.1.2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用自然语言生成程序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084" y="848950"/>
            <a:ext cx="7977692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常见应用示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例：贪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吃蛇游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65601" y="5559181"/>
            <a:ext cx="563336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图5-2 </a:t>
            </a:r>
            <a:r>
              <a:rPr sz="1600" b="0" dirty="0" err="1">
                <a:latin typeface="Microsoft YaHei"/>
                <a:ea typeface="Microsoft YaHei"/>
              </a:rPr>
              <a:t>贪吃蛇游戏系统界面（DeepSeek</a:t>
            </a:r>
            <a:r>
              <a:rPr sz="1600" b="0" dirty="0">
                <a:latin typeface="Microsoft YaHei"/>
                <a:ea typeface="Microsoft YaHei"/>
              </a:rPr>
              <a:t> </a:t>
            </a:r>
            <a:r>
              <a:rPr sz="1600" b="0" dirty="0" err="1">
                <a:latin typeface="Microsoft YaHei"/>
                <a:ea typeface="Microsoft YaHei"/>
              </a:rPr>
              <a:t>开发</a:t>
            </a:r>
            <a:r>
              <a:rPr sz="1600" b="0" dirty="0"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" y="1554480"/>
            <a:ext cx="6465115" cy="2533377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提问时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先说明核心功能，按需要补充操作方式和运行条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件。</a:t>
            </a: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简洁需求可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用于生成原型，但不能省略重要的功能与约束。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检查按键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响应、状态重置和碰撞判断是否正常。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04088" y="4099291"/>
            <a:ext cx="5114006" cy="1736733"/>
          </a:xfrm>
          <a:prstGeom prst="rect">
            <a:avLst/>
          </a:prstGeom>
          <a:solidFill>
            <a:srgbClr val="EEF2F7"/>
          </a:solidFill>
          <a:ln w="15875">
            <a:solidFill>
              <a:srgbClr val="2F3A4A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" y="4099291"/>
            <a:ext cx="4922215" cy="402336"/>
          </a:xfrm>
          <a:prstGeom prst="rect">
            <a:avLst/>
          </a:prstGeom>
          <a:solidFill>
            <a:srgbClr val="2F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609" y="4137786"/>
            <a:ext cx="464789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▌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提示词示例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贪吃蛇（已知系统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468" y="4599232"/>
            <a:ext cx="4728036" cy="1030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“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请开发一个可以在浏览器中直接运行的贪吃蛇游戏，在页面上方实时显示当前得分，并提供重新开始按钮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。”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989320"/>
            <a:ext cx="11475720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0060" y="6134572"/>
            <a:ext cx="11551615" cy="3515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若生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成单文件HT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ML，可保存后在浏览器测试。增加功能后需再次检查原有操作</a:t>
            </a:r>
            <a:r>
              <a:rPr sz="15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8E7DC5E4-D04A-3264-2907-44C08DF48CE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77" t="17017" r="10721" b="3741"/>
          <a:stretch/>
        </p:blipFill>
        <p:spPr bwMode="auto">
          <a:xfrm>
            <a:off x="7832643" y="1062841"/>
            <a:ext cx="2935626" cy="43317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用自然语言生成程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537" y="889862"/>
            <a:ext cx="8643769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自定义规则示例：B</a:t>
            </a:r>
            <a:r>
              <a:rPr sz="2800" b="1" i="0" dirty="0">
                <a:solidFill>
                  <a:srgbClr val="004CA0"/>
                </a:solidFill>
                <a:latin typeface="Microsoft YaHei"/>
                <a:ea typeface="Microsoft YaHei"/>
              </a:rPr>
              <a:t>MI计</a:t>
            </a:r>
            <a:r>
              <a:rPr sz="28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算演示</a:t>
            </a:r>
            <a:endParaRPr sz="28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473790" y="1051561"/>
            <a:ext cx="3050698" cy="491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79341" y="6181344"/>
            <a:ext cx="459826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图5-3</a:t>
            </a:r>
            <a:r>
              <a:rPr sz="1600" b="0" dirty="0" err="1">
                <a:latin typeface="Microsoft YaHei"/>
                <a:ea typeface="Microsoft YaHei"/>
              </a:rPr>
              <a:t> BMI计算演示界面（编程</a:t>
            </a:r>
            <a:r>
              <a:rPr sz="1600" b="0" dirty="0">
                <a:latin typeface="Microsoft YaHei"/>
                <a:ea typeface="Microsoft YaHei"/>
              </a:rPr>
              <a:t>示</a:t>
            </a:r>
            <a:r>
              <a:rPr sz="1600" b="0" dirty="0" err="1">
                <a:latin typeface="Microsoft YaHei"/>
                <a:ea typeface="Microsoft YaHei"/>
              </a:rPr>
              <a:t>例</a:t>
            </a:r>
            <a:r>
              <a:rPr sz="1600" b="0" dirty="0"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37133"/>
            <a:ext cx="7511527" cy="1919299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● 关键差异：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不仅说“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做什么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”，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还明确如何接收数据、如何输出、判定标准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检查单位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换算、阈值判断和结果颜色是否符合要求。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22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2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对比：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比“帮我做个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BMI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计算器”更易符合真实预期</a:t>
            </a:r>
            <a:endParaRPr sz="22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920" y="3867452"/>
            <a:ext cx="7162495" cy="2207290"/>
          </a:xfrm>
          <a:prstGeom prst="rect">
            <a:avLst/>
          </a:prstGeom>
          <a:solidFill>
            <a:srgbClr val="EEF2F7"/>
          </a:solidFill>
          <a:ln w="15875">
            <a:solidFill>
              <a:srgbClr val="2F3A4A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844493"/>
            <a:ext cx="7162495" cy="402336"/>
          </a:xfrm>
          <a:prstGeom prst="rect">
            <a:avLst/>
          </a:prstGeom>
          <a:solidFill>
            <a:srgbClr val="2F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0300" y="3903346"/>
            <a:ext cx="688817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▌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提示词示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例：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按给定规则实现计</a:t>
            </a:r>
            <a:r>
              <a:rPr sz="1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370372"/>
            <a:ext cx="6760159" cy="1384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“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开发BMI计算演示：输入身高(c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m)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和体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重(kg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)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，计算B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MI；按本练习给定区间显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示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结果：&lt;18.5、18.5≤值&lt;2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4、24≤值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&lt;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28、≥28，分别用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蓝、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绿、橙、红色。检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查非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正数输入。该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工具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仅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作编程演示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。”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00134F22-6E8D-C9CB-0703-C38DCEE400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3790" y="1051561"/>
            <a:ext cx="3050698" cy="4948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5.1.2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用自然语言生成程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900125"/>
            <a:ext cx="11430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验收：生成代码只是中间步骤</a:t>
            </a:r>
            <a:r>
              <a:rPr sz="2800" b="1" i="0" dirty="0">
                <a:solidFill>
                  <a:srgbClr val="004CA0"/>
                </a:solidFill>
                <a:latin typeface="Microsoft YaHei"/>
                <a:ea typeface="Microsoft YaHei"/>
              </a:rPr>
              <a:t>，“</a:t>
            </a:r>
            <a:r>
              <a:rPr sz="28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能打开”不等于“正确</a:t>
            </a:r>
            <a:r>
              <a:rPr sz="2800" b="1" i="0" dirty="0">
                <a:solidFill>
                  <a:srgbClr val="004CA0"/>
                </a:solidFill>
                <a:latin typeface="Microsoft YaHei"/>
                <a:ea typeface="Microsoft YaHei"/>
              </a:rPr>
              <a:t>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09344"/>
            <a:ext cx="5538063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609344"/>
            <a:ext cx="5538063" cy="58521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609344"/>
            <a:ext cx="109728" cy="20574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717286"/>
            <a:ext cx="52180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①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普通样例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2485944"/>
            <a:ext cx="5080863" cy="87112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输入常见数据，确认核心结果是否正确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例：1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70 cm、6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5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 kg，核对BMI约为22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.5</a:t>
            </a:r>
            <a:endParaRPr sz="2000" b="1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196431" y="1609344"/>
            <a:ext cx="5538063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6431" y="1609344"/>
            <a:ext cx="5538063" cy="585216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6431" y="1609344"/>
            <a:ext cx="109728" cy="20574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9311" y="1717286"/>
            <a:ext cx="52180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②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边界测试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2463" y="2286000"/>
            <a:ext cx="5080863" cy="1271016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在分类阈值处检查判定是否准确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例：BMI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 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恰为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 18.5 / 24 / 28 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时分类是否正确</a:t>
            </a:r>
            <a:endParaRPr sz="2000" b="1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7200" y="3867912"/>
            <a:ext cx="5538063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57200" y="3867912"/>
            <a:ext cx="5538063" cy="585216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3867912"/>
            <a:ext cx="109728" cy="205740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3975854"/>
            <a:ext cx="52180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③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异常输入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3232" y="4544568"/>
            <a:ext cx="5080863" cy="1271016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输入不合法数据时是否被正确处理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例：身高为空是否报错？体重为负是否被拒绝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？</a:t>
            </a:r>
            <a:endParaRPr sz="1350" b="1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196431" y="3867912"/>
            <a:ext cx="5538063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6431" y="3867912"/>
            <a:ext cx="5538063" cy="58521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96431" y="3867912"/>
            <a:ext cx="109728" cy="20574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79311" y="3975854"/>
            <a:ext cx="52180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④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友好提示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52463" y="4544568"/>
            <a:ext cx="5080863" cy="1271016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非法输入时是否给出清楚、友好的提示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例：输入字母时提示“请输入数字”而非崩溃</a:t>
            </a:r>
            <a:endParaRPr sz="2000" b="1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11480" y="6053328"/>
            <a:ext cx="11368735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12063" y="6227904"/>
            <a:ext cx="11368735" cy="2876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检查普通样例、阈值、异常输入和重复运行，并</a:t>
            </a:r>
            <a:r>
              <a:rPr b="1" i="0" dirty="0">
                <a:solidFill>
                  <a:srgbClr val="FFFFFF"/>
                </a:solidFill>
                <a:latin typeface="Microsoft YaHei"/>
                <a:ea typeface="Microsoft YaHei"/>
              </a:rPr>
              <a:t>记录尚</a:t>
            </a:r>
            <a:r>
              <a:rPr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未覆</a:t>
            </a:r>
            <a:r>
              <a:rPr b="1" i="0" dirty="0">
                <a:solidFill>
                  <a:srgbClr val="FFFFFF"/>
                </a:solidFill>
                <a:latin typeface="Microsoft YaHei"/>
                <a:ea typeface="Microsoft YaHei"/>
              </a:rPr>
              <a:t>盖的</a:t>
            </a:r>
            <a:r>
              <a:rPr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情况</a:t>
            </a:r>
            <a:r>
              <a:rPr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7EC91-9B0D-E563-1D10-C3A1EE5BE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23B020-A56B-20D4-76E5-29DD0E985E6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3A861758-FCCF-D824-9CFF-62F963E05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969FE33-04A0-18A5-2D4F-51B17E7F60F9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6652B2-D0EA-62DF-7915-28A84B3196C3}"/>
              </a:ext>
            </a:extLst>
          </p:cNvPr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5.1.3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6F5E82-38E8-8F09-7992-4B137A107F71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74F7ED-1F1D-A7B1-846B-4E6E9FC85350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用自然语言生成程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498A14-DDDC-0550-1DA6-05FAC483C30D}"/>
              </a:ext>
            </a:extLst>
          </p:cNvPr>
          <p:cNvSpPr txBox="1"/>
          <p:nvPr/>
        </p:nvSpPr>
        <p:spPr>
          <a:xfrm>
            <a:off x="168536" y="867162"/>
            <a:ext cx="1143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从逻辑复杂度与外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部</a:t>
            </a:r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依赖评估任务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7374EE-190F-90D4-03C1-BA28E61CE886}"/>
              </a:ext>
            </a:extLst>
          </p:cNvPr>
          <p:cNvSpPr/>
          <p:nvPr/>
        </p:nvSpPr>
        <p:spPr>
          <a:xfrm>
            <a:off x="5410047" y="1408176"/>
            <a:ext cx="1371600" cy="32004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40F6B3-5FA6-3B6F-969B-36058E0C8170}"/>
              </a:ext>
            </a:extLst>
          </p:cNvPr>
          <p:cNvSpPr txBox="1"/>
          <p:nvPr/>
        </p:nvSpPr>
        <p:spPr>
          <a:xfrm>
            <a:off x="349822" y="1343734"/>
            <a:ext cx="3652452" cy="509048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横轴</a:t>
            </a: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逻辑复杂度：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越右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多步骤、多状态、多模块协同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纵轴</a:t>
            </a: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外部依赖性：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越上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需调用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API、连数据库、访问网络、服务器部署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斜向升级路径：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单次提示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结构化需求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智能体开发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工程化开发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第三因素：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输入输出明确、可测试、可复现才适合交给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AI</a:t>
            </a: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 复杂任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务宜分阶段开发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，每阶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段都要设置可检查的结果。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5279D35-56F0-E394-42B1-015B21802B36}"/>
              </a:ext>
            </a:extLst>
          </p:cNvPr>
          <p:cNvSpPr/>
          <p:nvPr/>
        </p:nvSpPr>
        <p:spPr>
          <a:xfrm>
            <a:off x="4352096" y="1396926"/>
            <a:ext cx="7547885" cy="47478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051FB7-780C-D661-BE77-39035724F634}"/>
              </a:ext>
            </a:extLst>
          </p:cNvPr>
          <p:cNvSpPr txBox="1"/>
          <p:nvPr/>
        </p:nvSpPr>
        <p:spPr>
          <a:xfrm>
            <a:off x="4726552" y="6235091"/>
            <a:ext cx="717342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图5-4 </a:t>
            </a:r>
            <a:r>
              <a:rPr sz="1600" b="0" dirty="0" err="1">
                <a:latin typeface="Microsoft YaHei"/>
                <a:ea typeface="Microsoft YaHei"/>
              </a:rPr>
              <a:t>人工智能辅助开发任务的边界评估图</a:t>
            </a:r>
            <a:endParaRPr sz="1600" b="0" dirty="0">
              <a:latin typeface="Microsoft YaHei"/>
              <a:ea typeface="Microsoft YaHei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1DA5877-E2E8-17B9-719D-C993AD12D71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6" t="8909" b="7303"/>
          <a:stretch/>
        </p:blipFill>
        <p:spPr bwMode="auto">
          <a:xfrm>
            <a:off x="4461732" y="1424178"/>
            <a:ext cx="7282263" cy="466047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944873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09728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5.2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59680" y="2743200"/>
            <a:ext cx="6675120" cy="5354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开发科研数据处理工具</a:t>
            </a:r>
            <a:endParaRPr sz="3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931920"/>
            <a:ext cx="146304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114800"/>
            <a:ext cx="6766560" cy="7720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可根据任务选择传统机器学习、提示词直接推理或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智能体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辅助实验，并检查数据、方法与评价指标</a:t>
            </a:r>
            <a:r>
              <a:rPr sz="18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开发科研数据处理工具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386521" y="870598"/>
            <a:ext cx="5214052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智能数据处理工具开发的三种范式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3733" y="1441788"/>
            <a:ext cx="3550474" cy="5075098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传统机器学习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：标注、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训练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与评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估，便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于控制实验过程，需要相应数据和方法基础。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000" b="1" dirty="0">
                <a:solidFill>
                  <a:srgbClr val="2E8B57"/>
                </a:solidFill>
                <a:latin typeface="Microsoft YaHei"/>
                <a:ea typeface="Microsoft YaHei"/>
              </a:rPr>
              <a:t>● </a:t>
            </a:r>
            <a:r>
              <a:rPr sz="20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提示词直接推理：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写清标准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 + 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少量示例，预训练模型直接分类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提取；启动快、门槛低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000" b="1" dirty="0">
                <a:solidFill>
                  <a:srgbClr val="F58020"/>
                </a:solidFill>
                <a:latin typeface="Microsoft YaHei"/>
                <a:ea typeface="Microsoft YaHei"/>
              </a:rPr>
              <a:t>● </a:t>
            </a:r>
            <a:r>
              <a:rPr sz="2000" b="1" dirty="0" err="1">
                <a:solidFill>
                  <a:srgbClr val="F58020"/>
                </a:solidFill>
                <a:latin typeface="Microsoft YaHei"/>
                <a:ea typeface="Microsoft YaHei"/>
              </a:rPr>
              <a:t>智能体辅助实验：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说明数据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、目标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和指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标，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让工具生成并运行代码，再检查过程和结果。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0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0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并非替代关系：</a:t>
            </a: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按任务目标、数据条件与严谨性要求，选择合适的工具</a:t>
            </a:r>
            <a:endParaRPr sz="20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034118" y="1492357"/>
            <a:ext cx="7974697" cy="4388930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46522" y="6123422"/>
            <a:ext cx="82140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图5-5 </a:t>
            </a:r>
            <a:r>
              <a:rPr sz="1600" b="0" dirty="0" err="1">
                <a:latin typeface="Microsoft YaHei"/>
                <a:ea typeface="Microsoft YaHei"/>
              </a:rPr>
              <a:t>智能数据处理工具开发的三种范式对比</a:t>
            </a:r>
            <a:endParaRPr sz="1600" b="0" dirty="0">
              <a:latin typeface="Microsoft YaHei"/>
              <a:ea typeface="Microsoft YaHei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632E164-674E-CF6F-4BBD-B4663A3973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17"/>
          <a:stretch/>
        </p:blipFill>
        <p:spPr bwMode="auto">
          <a:xfrm>
            <a:off x="4142231" y="1554259"/>
            <a:ext cx="7749005" cy="40816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5.2.1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开发科研数据处理工具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900125"/>
            <a:ext cx="11430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三种范式深入对比：优势</a:t>
            </a:r>
            <a:r>
              <a:rPr sz="2800" b="1" i="0" dirty="0">
                <a:solidFill>
                  <a:srgbClr val="004CA0"/>
                </a:solidFill>
                <a:latin typeface="Microsoft YaHei"/>
                <a:ea typeface="Microsoft YaHei"/>
              </a:rPr>
              <a:t> · </a:t>
            </a:r>
            <a:r>
              <a:rPr sz="28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不足</a:t>
            </a:r>
            <a:r>
              <a:rPr sz="2800" b="1" i="0" dirty="0">
                <a:solidFill>
                  <a:srgbClr val="004CA0"/>
                </a:solidFill>
                <a:latin typeface="Microsoft YaHei"/>
                <a:ea typeface="Microsoft YaHei"/>
              </a:rPr>
              <a:t> · </a:t>
            </a:r>
            <a:r>
              <a:rPr sz="28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适用场景</a:t>
            </a:r>
            <a:endParaRPr sz="28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778508"/>
            <a:ext cx="3624986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78508"/>
            <a:ext cx="3624986" cy="58521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78508"/>
            <a:ext cx="109728" cy="3977639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886450"/>
            <a:ext cx="3304946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①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传统机器学习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3795" y="2496662"/>
            <a:ext cx="3423818" cy="2922971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优势：可明确控制训练与评估流程</a:t>
            </a:r>
            <a:r>
              <a:rPr sz="2000" b="1" dirty="0">
                <a:solidFill>
                  <a:srgbClr val="2E8B57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 err="1">
                <a:solidFill>
                  <a:srgbClr val="C0392B"/>
                </a:solidFill>
                <a:latin typeface="Microsoft YaHei"/>
                <a:ea typeface="Microsoft YaHei"/>
              </a:rPr>
              <a:t>不足：数据</a:t>
            </a:r>
            <a:r>
              <a:rPr sz="2000" b="1" dirty="0">
                <a:solidFill>
                  <a:srgbClr val="C0392B"/>
                </a:solidFill>
                <a:latin typeface="Microsoft YaHei"/>
                <a:ea typeface="Microsoft YaHei"/>
              </a:rPr>
              <a:t> / </a:t>
            </a:r>
            <a:r>
              <a:rPr sz="2000" b="1" dirty="0" err="1">
                <a:solidFill>
                  <a:srgbClr val="C0392B"/>
                </a:solidFill>
                <a:latin typeface="Microsoft YaHei"/>
                <a:ea typeface="Microsoft YaHei"/>
              </a:rPr>
              <a:t>编程</a:t>
            </a:r>
            <a:r>
              <a:rPr sz="2000" b="1" dirty="0">
                <a:solidFill>
                  <a:srgbClr val="C0392B"/>
                </a:solidFill>
                <a:latin typeface="Microsoft YaHei"/>
                <a:ea typeface="Microsoft YaHei"/>
              </a:rPr>
              <a:t> / </a:t>
            </a:r>
            <a:r>
              <a:rPr sz="2000" b="1" dirty="0" err="1">
                <a:solidFill>
                  <a:srgbClr val="C0392B"/>
                </a:solidFill>
                <a:latin typeface="Microsoft YaHei"/>
                <a:ea typeface="Microsoft YaHei"/>
              </a:rPr>
              <a:t>知识门槛高，周期长</a:t>
            </a:r>
            <a:r>
              <a:rPr sz="2000" b="1" dirty="0">
                <a:solidFill>
                  <a:srgbClr val="C0392B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适用：算法研究、高可靠预测、模型比较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例：训练并调参一个图像分类模型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3354" y="1778508"/>
            <a:ext cx="3624986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83354" y="1778508"/>
            <a:ext cx="3624986" cy="585216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83354" y="1778508"/>
            <a:ext cx="109728" cy="3977639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6234" y="1886450"/>
            <a:ext cx="3304946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②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提示词直接推理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34814" y="2409460"/>
            <a:ext cx="3167786" cy="3307691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优势：启动快、代码量少、门槛低</a:t>
            </a:r>
            <a:r>
              <a:rPr sz="2000" b="1" dirty="0">
                <a:solidFill>
                  <a:srgbClr val="2E8B57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 err="1">
                <a:solidFill>
                  <a:srgbClr val="C0392B"/>
                </a:solidFill>
                <a:latin typeface="Microsoft YaHei"/>
                <a:ea typeface="Microsoft YaHei"/>
              </a:rPr>
              <a:t>不足：受措辞、示例、版本、顺序影响</a:t>
            </a:r>
            <a:r>
              <a:rPr sz="2000" b="1" dirty="0">
                <a:solidFill>
                  <a:srgbClr val="C0392B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适用：文本分类、信息提取、问卷初筛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例：把评论分为支持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 / 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反对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 / 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中立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9508" y="1778508"/>
            <a:ext cx="3624986" cy="3977639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09508" y="1778508"/>
            <a:ext cx="3624986" cy="585216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09508" y="1778508"/>
            <a:ext cx="109728" cy="3977639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92388" y="1886450"/>
            <a:ext cx="3304946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③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智能体算法实验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65540" y="2396946"/>
            <a:ext cx="3167786" cy="3307691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优势：把“想法”变成可运行实验流程</a:t>
            </a:r>
            <a:r>
              <a:rPr sz="2000" b="1" dirty="0">
                <a:solidFill>
                  <a:srgbClr val="2E8B57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 err="1">
                <a:solidFill>
                  <a:srgbClr val="C0392B"/>
                </a:solidFill>
                <a:latin typeface="Microsoft YaHei"/>
                <a:ea typeface="Microsoft YaHei"/>
              </a:rPr>
              <a:t>不足：仍需检查数据、划分、指标、复现</a:t>
            </a:r>
            <a:r>
              <a:rPr sz="2000" b="1" dirty="0">
                <a:solidFill>
                  <a:srgbClr val="C0392B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适用：基线实验、算法对比、可复现报告</a:t>
            </a:r>
            <a:r>
              <a:rPr sz="20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例：建文本分类基线，出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 F1 </a:t>
            </a:r>
            <a:r>
              <a:rPr sz="2000"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与混淆矩阵</a:t>
            </a:r>
            <a:r>
              <a:rPr sz="2000"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2775" y="6005321"/>
            <a:ext cx="11368735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5" y="6127053"/>
            <a:ext cx="11100098" cy="3515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三种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方式各有适用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条件，应根据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研究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目标、数据和验证要求选择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5.2.2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开发科研数据处理工具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900125"/>
            <a:ext cx="11430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提示词直接推理：零样本</a:t>
            </a:r>
            <a:r>
              <a:rPr sz="2800" b="1" i="0" dirty="0">
                <a:solidFill>
                  <a:srgbClr val="004CA0"/>
                </a:solidFill>
                <a:latin typeface="Microsoft YaHei"/>
                <a:ea typeface="Microsoft YaHei"/>
              </a:rPr>
              <a:t> vs </a:t>
            </a:r>
            <a:r>
              <a:rPr sz="28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少样本</a:t>
            </a:r>
            <a:endParaRPr sz="28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5532120" cy="4297680"/>
          </a:xfrm>
          <a:prstGeom prst="rect">
            <a:avLst/>
          </a:prstGeom>
          <a:solidFill>
            <a:srgbClr val="EEF2F7"/>
          </a:solidFill>
          <a:ln w="15875">
            <a:solidFill>
              <a:srgbClr val="004CA0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572768"/>
            <a:ext cx="5532120" cy="402336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1792" y="1620047"/>
            <a:ext cx="5257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▌ ①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零样本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Zero-shot（不给示例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14688"/>
            <a:ext cx="5129784" cy="38667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“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作为社会学数据分析助手，请判断以下受访者评论的情感态度。你只能输出三个类别之一：支持、反对或中立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。
</a:t>
            </a:r>
            <a:r>
              <a:rPr b="0" i="0" dirty="0" err="1">
                <a:solidFill>
                  <a:srgbClr val="C00000"/>
                </a:solidFill>
                <a:latin typeface="Microsoft YaHei"/>
                <a:ea typeface="Microsoft YaHei"/>
              </a:rPr>
              <a:t>评论文本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：这项政策极大地减轻了我的经济负担，流程也简化了，非常感谢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！”</a:t>
            </a:r>
            <a:endParaRPr lang="en-US" b="0" i="0" dirty="0">
              <a:solidFill>
                <a:srgbClr val="1E2B3A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8000"/>
              </a:lnSpc>
            </a:pP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
→ 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模型据积极表达直接输出“支持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”。</a:t>
            </a:r>
            <a:endParaRPr lang="en-US" b="0" i="0" dirty="0">
              <a:solidFill>
                <a:srgbClr val="1E2B3A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8000"/>
              </a:lnSpc>
            </a:pP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
</a:t>
            </a:r>
            <a:r>
              <a:rPr b="0" i="0" dirty="0" err="1">
                <a:solidFill>
                  <a:srgbClr val="C00000"/>
                </a:solidFill>
                <a:latin typeface="Microsoft YaHei"/>
                <a:ea typeface="Microsoft YaHei"/>
              </a:rPr>
              <a:t>优点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：简单快捷，适合标准直观的任务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。
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局限：遇反讽、双重否定、既肯定又批评的模糊样本时不够稳定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1572768"/>
            <a:ext cx="5532120" cy="4297680"/>
          </a:xfrm>
          <a:prstGeom prst="rect">
            <a:avLst/>
          </a:prstGeom>
          <a:solidFill>
            <a:srgbClr val="EEF2F7"/>
          </a:solidFill>
          <a:ln w="15875">
            <a:solidFill>
              <a:srgbClr val="2E8B57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9632" y="1572768"/>
            <a:ext cx="5532120" cy="40233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64224" y="1620047"/>
            <a:ext cx="52578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▌ ②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少样本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Few-shot（给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3–5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个示例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075688"/>
            <a:ext cx="5129784" cy="3512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“…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只能输出：支持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反对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中立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。
</a:t>
            </a:r>
            <a:r>
              <a:rPr b="0" i="0" dirty="0">
                <a:solidFill>
                  <a:srgbClr val="C00000"/>
                </a:solidFill>
                <a:latin typeface="Microsoft YaHei"/>
                <a:ea typeface="Microsoft YaHei"/>
              </a:rPr>
              <a:t>【</a:t>
            </a:r>
            <a:r>
              <a:rPr b="0" i="0" dirty="0" err="1">
                <a:solidFill>
                  <a:srgbClr val="C00000"/>
                </a:solidFill>
                <a:latin typeface="Microsoft YaHei"/>
                <a:ea typeface="Microsoft YaHei"/>
              </a:rPr>
              <a:t>分类标准】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支持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=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认可并正面评价；反对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=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否定或强调负面；中立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=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事实陈述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/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观望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/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信息不足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。
</a:t>
            </a:r>
            <a:r>
              <a:rPr b="0" i="0" dirty="0">
                <a:solidFill>
                  <a:srgbClr val="C00000"/>
                </a:solidFill>
                <a:latin typeface="Microsoft YaHei"/>
                <a:ea typeface="Microsoft YaHei"/>
              </a:rPr>
              <a:t>【</a:t>
            </a:r>
            <a:r>
              <a:rPr b="0" i="0" dirty="0" err="1">
                <a:solidFill>
                  <a:srgbClr val="C00000"/>
                </a:solidFill>
                <a:latin typeface="Microsoft YaHei"/>
                <a:ea typeface="Microsoft YaHei"/>
              </a:rPr>
              <a:t>参考示例</a:t>
            </a:r>
            <a:r>
              <a:rPr b="0" i="0" dirty="0">
                <a:solidFill>
                  <a:srgbClr val="C00000"/>
                </a:solidFill>
                <a:latin typeface="Microsoft YaHei"/>
                <a:ea typeface="Microsoft YaHei"/>
              </a:rPr>
              <a:t>】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
· “成本超预算15%，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但数据信噪比空前，值得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” → 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支持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
· “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初衷好，但繁文缛节增加基层工作量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” → 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反对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
· “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还没看到明显改变，再观察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” → 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中立</a:t>
            </a:r>
            <a:endParaRPr lang="en-US" b="0" i="0" dirty="0">
              <a:solidFill>
                <a:srgbClr val="1E2B3A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8000"/>
              </a:lnSpc>
            </a:pP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
</a:t>
            </a:r>
            <a:r>
              <a:rPr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现在请对以下评论分类</a:t>
            </a: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：……”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989320"/>
            <a:ext cx="11368735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6131284"/>
            <a:ext cx="11368735" cy="31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少样本可帮助说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明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分类标准，但效果取决于示例和任务，仍需通过独立样本评估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5.2.2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开发科研数据处理工具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900125"/>
            <a:ext cx="11430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提示词直接推理：用途广，但需把关</a:t>
            </a:r>
            <a:endParaRPr sz="28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2075688"/>
            <a:ext cx="5538063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2075688"/>
            <a:ext cx="5538063" cy="58521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075688"/>
            <a:ext cx="109728" cy="338328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183630"/>
            <a:ext cx="52180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✓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适用任务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3" y="2668014"/>
            <a:ext cx="5025998" cy="2765556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文本分类、情感倾向识别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开放式问卷初步编码、访谈材料初筛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文献信息提取（对象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方法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发现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sz="22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结论</a:t>
            </a:r>
            <a:r>
              <a:rPr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）。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sz="2200" b="1" dirty="0" err="1">
                <a:solidFill>
                  <a:srgbClr val="2E8B57"/>
                </a:solidFill>
                <a:latin typeface="Microsoft YaHei"/>
                <a:ea typeface="Microsoft YaHei"/>
              </a:rPr>
              <a:t>共同点：依赖语义理解，无需复杂模型训练</a:t>
            </a:r>
            <a:r>
              <a:rPr sz="2200" b="1" dirty="0">
                <a:solidFill>
                  <a:srgbClr val="2E8B57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431" y="2075688"/>
            <a:ext cx="5538063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6431" y="2075688"/>
            <a:ext cx="5538063" cy="585216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96431" y="2075688"/>
            <a:ext cx="109728" cy="338328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79311" y="2183630"/>
            <a:ext cx="5218023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!　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影响因素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52463" y="2879610"/>
            <a:ext cx="5080863" cy="2342363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提示词措辞：标准模糊则模型自行理解。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示例选择：不具代表性则学到偏差。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模型版本 </a:t>
            </a:r>
            <a:r>
              <a:rPr lang="en-US" altLang="zh-CN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/ </a:t>
            </a:r>
            <a:r>
              <a:rPr lang="zh-CN" altLang="en-US" sz="2200" b="0" dirty="0">
                <a:solidFill>
                  <a:srgbClr val="333333"/>
                </a:solidFill>
                <a:latin typeface="Microsoft YaHei"/>
                <a:ea typeface="Microsoft YaHei"/>
              </a:rPr>
              <a:t>上下文顺序：结果可能漂移。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lang="zh-CN" altLang="en-US"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对策：抽样复核 </a:t>
            </a:r>
            <a:r>
              <a:rPr lang="en-US" altLang="zh-CN"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+ </a:t>
            </a:r>
            <a:r>
              <a:rPr lang="zh-CN" altLang="en-US"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一致性检查 </a:t>
            </a:r>
            <a:r>
              <a:rPr lang="en-US" altLang="zh-CN"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+ </a:t>
            </a:r>
            <a:r>
              <a:rPr lang="zh-CN" altLang="en-US" sz="2200" b="1" dirty="0">
                <a:solidFill>
                  <a:srgbClr val="F58020"/>
                </a:solidFill>
                <a:latin typeface="Microsoft YaHei"/>
                <a:ea typeface="Microsoft YaHei"/>
              </a:rPr>
              <a:t>错误分析。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3190" y="5652275"/>
            <a:ext cx="11368735" cy="823379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5132" y="5662288"/>
            <a:ext cx="11238515" cy="7971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定位：轻量级语义判断工具。让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AI 做“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第一轮整理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”（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初筛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/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预分类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），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研究人员负责“标准制定”与“结果把关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5.2.3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开发科研数据处理工具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137160" y="878106"/>
            <a:ext cx="1143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智能体算法实验：搭建可运行、可检查、可复查的实验流程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10047" y="1408176"/>
            <a:ext cx="1371600" cy="32004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422272"/>
            <a:ext cx="3881440" cy="509048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说明目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标、数据与输出要求。模型选择及评价方案需要审查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自动闭环：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数据读取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生成代码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训练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评估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保存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results.txt 与 predictions.xlsx</a:t>
            </a: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教材示例：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训练集96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00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条、测试集776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6条，Accuracy为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0.8477，F1为0.8797。</a:t>
            </a: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这些指</a:t>
            </a: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标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仅对应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本次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实验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，还需查看分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类别表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现和误判样本。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智能体可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辅助重复性操作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，研究者负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责实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验设计与结果解释。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84361" y="1353311"/>
            <a:ext cx="7441880" cy="4855193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28782" y="6272515"/>
            <a:ext cx="636896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图5-6 </a:t>
            </a:r>
            <a:r>
              <a:rPr sz="1600" b="0" dirty="0" err="1">
                <a:latin typeface="Microsoft YaHei"/>
                <a:ea typeface="Microsoft YaHei"/>
              </a:rPr>
              <a:t>智能体执行文本分类实验的基本过程</a:t>
            </a:r>
            <a:endParaRPr sz="1600" b="0" dirty="0">
              <a:latin typeface="Microsoft YaHei"/>
              <a:ea typeface="Microsoft YaHei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B15FCA02-56C4-3190-647B-4313337746D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" t="8167" r="2011" b="7762"/>
          <a:stretch>
            <a:fillRect/>
          </a:stretch>
        </p:blipFill>
        <p:spPr bwMode="auto">
          <a:xfrm>
            <a:off x="4404749" y="1408176"/>
            <a:ext cx="7263942" cy="47454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5.2.4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开发科研数据处理工具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94043" y="991771"/>
            <a:ext cx="11430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非结构化数据：大模型的语义理解优势</a:t>
            </a:r>
            <a:endParaRPr sz="28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7791" y="1637189"/>
            <a:ext cx="9313338" cy="473103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数据现状：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论文正文、实验记录、访谈、问卷、政策文本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…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无统一字段与格式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正则和关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键词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规则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便于精确匹配，但可能漏掉改写或跨句信息。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● 模型可结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合上下文理解数字与单位，但“150左右”应保留其近似含义。</a:t>
            </a: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前置整理：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模型先从混乱材料提取初始结果，再经字段规范、单位统一、证据追溯、人工复核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先整理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为规范字段，再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用Excel、S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PSS、R或Python等工具分析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308B6-E0B2-4F40-1B29-A997C1204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E2349161-BA31-54AE-AA33-3D55693DD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F52C784-49C1-A046-EC9C-91129202DDA0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8E213-9147-7060-F275-8F13E1C4A98B}"/>
              </a:ext>
            </a:extLst>
          </p:cNvPr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5.2.4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BA74D8-9150-8F8C-4672-7C023B470897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FBFB6C-F2BF-1A4B-9E6D-E470D21351B1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开发科研数据处理工具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8B177B-3684-B865-9FEE-AD7F1400F4CD}"/>
              </a:ext>
            </a:extLst>
          </p:cNvPr>
          <p:cNvSpPr txBox="1"/>
          <p:nvPr/>
        </p:nvSpPr>
        <p:spPr>
          <a:xfrm>
            <a:off x="365760" y="885182"/>
            <a:ext cx="1143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非结构化数据：大模型的语义理解优势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4C4247-4599-FD55-2F4D-FBDF25DBC6B3}"/>
              </a:ext>
            </a:extLst>
          </p:cNvPr>
          <p:cNvSpPr/>
          <p:nvPr/>
        </p:nvSpPr>
        <p:spPr>
          <a:xfrm>
            <a:off x="2026579" y="1362457"/>
            <a:ext cx="8563696" cy="4701872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3C3D07-456B-6482-1951-C067C0586A93}"/>
              </a:ext>
            </a:extLst>
          </p:cNvPr>
          <p:cNvSpPr txBox="1"/>
          <p:nvPr/>
        </p:nvSpPr>
        <p:spPr>
          <a:xfrm>
            <a:off x="2572621" y="6181343"/>
            <a:ext cx="717342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图5-7 </a:t>
            </a:r>
            <a:r>
              <a:rPr sz="1600" b="0" dirty="0" err="1">
                <a:latin typeface="Microsoft YaHei"/>
                <a:ea typeface="Microsoft YaHei"/>
              </a:rPr>
              <a:t>基于大模型的非结构化数据清洗流水线</a:t>
            </a:r>
            <a:endParaRPr sz="1600" b="0" dirty="0">
              <a:latin typeface="Microsoft YaHei"/>
              <a:ea typeface="Microsoft YaHei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213C6F1-AC1B-2F3C-0C9F-E4B9CB50246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21" b="17573"/>
          <a:stretch/>
        </p:blipFill>
        <p:spPr bwMode="auto">
          <a:xfrm>
            <a:off x="2160494" y="1494836"/>
            <a:ext cx="8295865" cy="443711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43855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5.2.4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开发科研数据处理工具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930902"/>
            <a:ext cx="1143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示例：催化剂反应条件提取（识别中文数字与上下文对应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72768"/>
            <a:ext cx="6766560" cy="1084212"/>
          </a:xfrm>
          <a:prstGeom prst="rect">
            <a:avLst/>
          </a:prstGeom>
          <a:solidFill>
            <a:srgbClr val="F4F7FB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526401"/>
            <a:ext cx="6400800" cy="100713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原文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：“在 150°C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的密闭环境中加入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5g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催化剂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A，而在另一组对比实验中，温度被大幅提升到了两百摄氏度，使用的是催化剂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B。”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894076"/>
            <a:ext cx="6766560" cy="2240280"/>
          </a:xfrm>
          <a:prstGeom prst="rect">
            <a:avLst/>
          </a:prstGeom>
          <a:solidFill>
            <a:srgbClr val="EEF2F7"/>
          </a:solidFill>
          <a:ln w="15875">
            <a:solidFill>
              <a:srgbClr val="2F3A4A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871216"/>
            <a:ext cx="6766560" cy="402336"/>
          </a:xfrm>
          <a:prstGeom prst="rect">
            <a:avLst/>
          </a:prstGeom>
          <a:solidFill>
            <a:srgbClr val="2F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2941355"/>
            <a:ext cx="6492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▌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提示词示例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结构化提取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8368" y="3396996"/>
            <a:ext cx="6364224" cy="13846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b="0" i="0" dirty="0">
                <a:solidFill>
                  <a:srgbClr val="1E2B3A"/>
                </a:solidFill>
                <a:latin typeface="Microsoft YaHei"/>
                <a:ea typeface="Microsoft YaHei"/>
              </a:rPr>
              <a:t>“请从下面的实验描述中提取每组实验的催化剂名称和反应温度。请将温度统一转换为阿拉伯数字，并用表格形式输出。若某项信息无法从原文判断，请填写‘未说明’，不要自行补充。”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572768"/>
            <a:ext cx="42062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dirty="0">
                <a:solidFill>
                  <a:srgbClr val="004CA0"/>
                </a:solidFill>
                <a:latin typeface="Microsoft YaHei"/>
                <a:ea typeface="Microsoft YaHei"/>
              </a:rPr>
              <a:t>表5-1 </a:t>
            </a:r>
            <a:r>
              <a:rPr sz="16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大模型提取的结果</a:t>
            </a:r>
            <a:endParaRPr sz="16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589520" y="2057400"/>
            <a:ext cx="1325880" cy="53035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2057400"/>
            <a:ext cx="12344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</a:rPr>
              <a:t>实验组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15400" y="2057400"/>
            <a:ext cx="1554480" cy="53035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0" y="2057400"/>
            <a:ext cx="146304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</a:rPr>
              <a:t>催化剂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69880" y="2057400"/>
            <a:ext cx="1371600" cy="53035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0" y="2057400"/>
            <a:ext cx="1280160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Microsoft YaHei"/>
                <a:ea typeface="Microsoft YaHei"/>
              </a:rPr>
              <a:t>反应温度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587752"/>
            <a:ext cx="132588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99248" y="2624328"/>
            <a:ext cx="110642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 i="0">
                <a:solidFill>
                  <a:srgbClr val="333333"/>
                </a:solidFill>
                <a:latin typeface="Microsoft YaHei"/>
                <a:ea typeface="Microsoft YaHei"/>
              </a:rPr>
              <a:t>第一组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400" y="2587752"/>
            <a:ext cx="155448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025128" y="2624328"/>
            <a:ext cx="133502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333333"/>
                </a:solidFill>
                <a:latin typeface="Microsoft YaHei"/>
                <a:ea typeface="Microsoft YaHei"/>
              </a:rPr>
              <a:t>催化剂 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69880" y="2587752"/>
            <a:ext cx="137160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79608" y="2624328"/>
            <a:ext cx="115214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333333"/>
                </a:solidFill>
                <a:latin typeface="Microsoft YaHei"/>
                <a:ea typeface="Microsoft YaHei"/>
              </a:rPr>
              <a:t>150 °C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3191256"/>
            <a:ext cx="13258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99248" y="3227832"/>
            <a:ext cx="110642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50" b="1" i="0">
                <a:solidFill>
                  <a:srgbClr val="333333"/>
                </a:solidFill>
                <a:latin typeface="Microsoft YaHei"/>
                <a:ea typeface="Microsoft YaHei"/>
              </a:rPr>
              <a:t>第二组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15400" y="3191256"/>
            <a:ext cx="155448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25128" y="3227832"/>
            <a:ext cx="133502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333333"/>
                </a:solidFill>
                <a:latin typeface="Microsoft YaHei"/>
                <a:ea typeface="Microsoft YaHei"/>
              </a:rPr>
              <a:t>催化剂 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469880" y="3191256"/>
            <a:ext cx="13716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79608" y="3227832"/>
            <a:ext cx="1152144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50" b="0" i="0">
                <a:solidFill>
                  <a:srgbClr val="333333"/>
                </a:solidFill>
                <a:latin typeface="Microsoft YaHei"/>
                <a:ea typeface="Microsoft YaHei"/>
              </a:rPr>
              <a:t>200 °C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9520" y="4022718"/>
            <a:ext cx="4069080" cy="1069848"/>
          </a:xfrm>
          <a:prstGeom prst="rect">
            <a:avLst/>
          </a:prstGeom>
          <a:solidFill>
            <a:srgbClr val="F4F7FB"/>
          </a:solidFill>
          <a:ln w="15875">
            <a:solidFill>
              <a:srgbClr val="2E8B57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49539" y="4065520"/>
            <a:ext cx="3703320" cy="9842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2000"/>
              </a:lnSpc>
            </a:pP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“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两百摄氏度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”→ 200：模型据上下文判断 A↔150、B↔200，并识别中文数字与转折关系。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7499" y="5449824"/>
            <a:ext cx="11368735" cy="74103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5460083"/>
            <a:ext cx="10911535" cy="730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语义解析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 ≠ 结果一定正确：模型可能因表达含糊而误判，或在缺依据时按常识补全。应作为“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前置整理助手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”，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再经人工复核确认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09728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5.3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704098"/>
            <a:ext cx="6675120" cy="5354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用AI完成数据分析与可视化</a:t>
            </a:r>
            <a:endParaRPr sz="3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931920"/>
            <a:ext cx="146304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114800"/>
            <a:ext cx="6766560" cy="1178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表格分析和统计绘图需要实际读取数据、运行计算。应保存代码与输出，便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/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于核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/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查和重复运行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71891"/>
            <a:ext cx="9144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5.3.1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自动化数据分析与可视化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" y="947404"/>
            <a:ext cx="9555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代码执行引擎：从“语言推理”到“程序计算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1484" y="1694184"/>
            <a:ext cx="9806492" cy="4731030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●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 沙</a:t>
            </a: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/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箱是相对隔离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的执行环境，位置、权限与配置取决于产品。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常用库包括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Pandas、Sci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Py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和Matplotl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i</a:t>
            </a:r>
            <a:r>
              <a:rPr lang="zh-CN" altLang="en-US"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b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，使用前确认环境中是否可用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代理闭环：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意图识别与规划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代码执行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自主纠错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结果综合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24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报错后可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根据日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志修改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并重跑，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仍需检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查是否改变了方法或跳过数据。</a:t>
            </a:r>
            <a:endParaRPr sz="24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2400" b="1" dirty="0">
                <a:solidFill>
                  <a:srgbClr val="0066CC"/>
                </a:solidFill>
                <a:latin typeface="Microsoft YaHei"/>
                <a:ea typeface="Microsoft YaHei"/>
              </a:rPr>
              <a:t>● 程序计算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便于复核，但输入、公式、参数和</a:t>
            </a:r>
            <a:r>
              <a:rPr sz="24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统计假设</a:t>
            </a:r>
            <a:r>
              <a:rPr sz="2400" b="0" dirty="0">
                <a:solidFill>
                  <a:srgbClr val="333333"/>
                </a:solidFill>
                <a:latin typeface="Microsoft YaHei"/>
                <a:ea typeface="Microsoft YaHei"/>
              </a:rPr>
              <a:t>也要正确。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53A81-C290-4B9B-9549-BDFA40B8D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AF5AF7-3EE2-C25A-CADB-613685360112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>
            <a:extLst>
              <a:ext uri="{FF2B5EF4-FFF2-40B4-BE49-F238E27FC236}">
                <a16:creationId xmlns:a16="http://schemas.microsoft.com/office/drawing/2014/main" id="{423355F7-FB45-B25F-8263-A4063A1579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33B45C5-3A00-41C0-35B3-DDCCF516B838}"/>
              </a:ext>
            </a:extLst>
          </p:cNvPr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853618-1D80-4F6B-8420-2F8AE5BAA207}"/>
              </a:ext>
            </a:extLst>
          </p:cNvPr>
          <p:cNvSpPr txBox="1"/>
          <p:nvPr/>
        </p:nvSpPr>
        <p:spPr>
          <a:xfrm>
            <a:off x="27432" y="371891"/>
            <a:ext cx="9144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5.3.1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E89132-D054-73F7-E661-8F2A78CE79BF}"/>
              </a:ext>
            </a:extLst>
          </p:cNvPr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1E7338-0182-EE06-ECAB-E9F16D730FCF}"/>
              </a:ext>
            </a:extLst>
          </p:cNvPr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自动化数据分析与可视化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C7A8B8-87CC-9527-3AD8-97A168A87E85}"/>
              </a:ext>
            </a:extLst>
          </p:cNvPr>
          <p:cNvSpPr txBox="1"/>
          <p:nvPr/>
        </p:nvSpPr>
        <p:spPr>
          <a:xfrm>
            <a:off x="1234440" y="974368"/>
            <a:ext cx="955548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代码执行引擎：从“语言推理”到“程序计算</a:t>
            </a:r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06ABC6-5815-447A-6951-919B1D3D607B}"/>
              </a:ext>
            </a:extLst>
          </p:cNvPr>
          <p:cNvSpPr txBox="1"/>
          <p:nvPr/>
        </p:nvSpPr>
        <p:spPr>
          <a:xfrm>
            <a:off x="1707185" y="5970027"/>
            <a:ext cx="82140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图5-8 </a:t>
            </a:r>
            <a:r>
              <a:rPr sz="1600" b="0" dirty="0" err="1">
                <a:latin typeface="Microsoft YaHei"/>
                <a:ea typeface="Microsoft YaHei"/>
              </a:rPr>
              <a:t>大模型代码执行引擎的底层代理闭环</a:t>
            </a:r>
            <a:endParaRPr sz="1600" b="0" dirty="0">
              <a:latin typeface="Microsoft YaHei"/>
              <a:ea typeface="Microsoft YaHei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172EE1C-9FD8-DD1E-9EDF-527A0A93883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6" t="5915" r="1526" b="10058"/>
          <a:stretch/>
        </p:blipFill>
        <p:spPr bwMode="auto">
          <a:xfrm>
            <a:off x="1372767" y="1434354"/>
            <a:ext cx="9063643" cy="442200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50636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5.3.1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自动化数据分析与可视化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900125"/>
            <a:ext cx="11430000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代理工作流：一个具有智能体特征的闭环</a:t>
            </a:r>
            <a:endParaRPr sz="28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1480" y="1965960"/>
            <a:ext cx="2695879" cy="731520"/>
          </a:xfrm>
          <a:prstGeom prst="rect">
            <a:avLst/>
          </a:prstGeom>
          <a:solidFill>
            <a:srgbClr val="0066CC"/>
          </a:solidFill>
          <a:ln>
            <a:noFill/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1965960"/>
            <a:ext cx="26958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 dirty="0">
                <a:solidFill>
                  <a:srgbClr val="FFFFFF"/>
                </a:solidFill>
                <a:latin typeface="Arial"/>
                <a:ea typeface="Arial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697480"/>
            <a:ext cx="2695879" cy="2468880"/>
          </a:xfrm>
          <a:prstGeom prst="rect">
            <a:avLst/>
          </a:prstGeom>
          <a:solidFill>
            <a:srgbClr val="F4F7FB"/>
          </a:solidFill>
          <a:ln w="15875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" y="3061454"/>
            <a:ext cx="254957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意图识别与规划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9496" y="3749040"/>
            <a:ext cx="2439847" cy="969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判断需精确计算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，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中止文字推演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，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转而编写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Python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代码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079927" y="1965960"/>
            <a:ext cx="20116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58020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53663" y="1965960"/>
            <a:ext cx="2695879" cy="731520"/>
          </a:xfrm>
          <a:prstGeom prst="rect">
            <a:avLst/>
          </a:prstGeom>
          <a:solidFill>
            <a:srgbClr val="004CA0"/>
          </a:solidFill>
          <a:ln>
            <a:noFill/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53663" y="1965960"/>
            <a:ext cx="26958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  <a:ea typeface="Arial"/>
              </a:rP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53663" y="2697480"/>
            <a:ext cx="2695879" cy="2468880"/>
          </a:xfrm>
          <a:prstGeom prst="rect">
            <a:avLst/>
          </a:prstGeom>
          <a:solidFill>
            <a:srgbClr val="F4F7FB"/>
          </a:solidFill>
          <a:ln w="15875">
            <a:solidFill>
              <a:srgbClr val="004C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26815" y="3061454"/>
            <a:ext cx="254957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代码执行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81679" y="3749040"/>
            <a:ext cx="2439847" cy="6366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把代码下发至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沙箱环境中运行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22111" y="1965960"/>
            <a:ext cx="20116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58020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5847" y="1965960"/>
            <a:ext cx="2695879" cy="731520"/>
          </a:xfrm>
          <a:prstGeom prst="rect">
            <a:avLst/>
          </a:prstGeom>
          <a:solidFill>
            <a:srgbClr val="F58020"/>
          </a:solidFill>
          <a:ln>
            <a:noFill/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5847" y="1965960"/>
            <a:ext cx="26958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5847" y="2697480"/>
            <a:ext cx="2695879" cy="2468880"/>
          </a:xfrm>
          <a:prstGeom prst="rect">
            <a:avLst/>
          </a:prstGeom>
          <a:solidFill>
            <a:srgbClr val="F4F7FB"/>
          </a:solidFill>
          <a:ln w="15875">
            <a:solidFill>
              <a:srgbClr val="F58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168999" y="3061454"/>
            <a:ext cx="254957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自主纠错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23863" y="3749040"/>
            <a:ext cx="2439847" cy="969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读取报错日志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，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定位逻辑漏洞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，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改代码并重新提交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64295" y="1965960"/>
            <a:ext cx="201168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58020"/>
                </a:solidFill>
                <a:latin typeface="Microsoft YaHei"/>
                <a:ea typeface="Microsoft YaHei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38031" y="1965960"/>
            <a:ext cx="2695879" cy="731520"/>
          </a:xfrm>
          <a:prstGeom prst="rect">
            <a:avLst/>
          </a:prstGeom>
          <a:solidFill>
            <a:srgbClr val="2E8B57"/>
          </a:solidFill>
          <a:ln>
            <a:noFill/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38031" y="1965960"/>
            <a:ext cx="26958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  <a:ea typeface="Arial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38031" y="2697480"/>
            <a:ext cx="2695879" cy="2468880"/>
          </a:xfrm>
          <a:prstGeom prst="rect">
            <a:avLst/>
          </a:prstGeom>
          <a:solidFill>
            <a:srgbClr val="F4F7FB"/>
          </a:solidFill>
          <a:ln w="158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011183" y="3061454"/>
            <a:ext cx="2549575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结果综合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120911" y="3713540"/>
            <a:ext cx="2439847" cy="969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提取沙箱计算结果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，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结合自然语言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
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输出给用户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11480" y="5530334"/>
            <a:ext cx="11368735" cy="84464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40663" y="5582772"/>
            <a:ext cx="10966399" cy="7971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代码执行使计算过程可以保存和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检查，研究方法与结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果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解释仍需人工复核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5.3.2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自动化数据分析与可视化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930902"/>
            <a:ext cx="1143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表格数据的“数据体检”：先检查，再分析（表5-2）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5167" y="1572768"/>
            <a:ext cx="1554480" cy="457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887" y="1647479"/>
            <a:ext cx="14630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检查维度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09647" y="1572768"/>
            <a:ext cx="4754880" cy="457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55367" y="1647479"/>
            <a:ext cx="46634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可以检查什么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964527" y="1572768"/>
            <a:ext cx="4572000" cy="4572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10247" y="1647479"/>
            <a:ext cx="4480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研究人员需要确认什么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55167" y="2029968"/>
            <a:ext cx="1554480" cy="548640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4895" y="2165789"/>
            <a:ext cx="13350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表格结构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209647" y="2029968"/>
            <a:ext cx="4754880" cy="548640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19375" y="2181178"/>
            <a:ext cx="45354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行数、列数、字段名称、数据类型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964527" y="2029968"/>
            <a:ext cx="4572000" cy="548640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74255" y="2181178"/>
            <a:ext cx="435254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字段含义是否被正确理解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55167" y="2578608"/>
            <a:ext cx="155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4895" y="2714429"/>
            <a:ext cx="13350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缺失值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209647" y="2578608"/>
            <a:ext cx="4754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19375" y="2729818"/>
            <a:ext cx="45354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哪些列有空值、缺失比例多少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964527" y="2578608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74255" y="2729818"/>
            <a:ext cx="435254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缺失是否随机，是否需删除或填补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55167" y="3127248"/>
            <a:ext cx="1554480" cy="548640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4895" y="3263069"/>
            <a:ext cx="13350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异常值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209647" y="3127248"/>
            <a:ext cx="4754880" cy="548640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319375" y="3278458"/>
            <a:ext cx="45354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数值是否超常识范围（年龄200、成绩为负）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64527" y="3127248"/>
            <a:ext cx="4572000" cy="548640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074255" y="3278458"/>
            <a:ext cx="435254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是录入错误还是重要样本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55167" y="3675888"/>
            <a:ext cx="155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4895" y="3811709"/>
            <a:ext cx="13350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重复记录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209647" y="3675888"/>
            <a:ext cx="4754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319375" y="3827098"/>
            <a:ext cx="45354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是否存在完全重复或高度相似样本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964527" y="3675888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074255" y="3827098"/>
            <a:ext cx="435254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是否应删除重复记录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55167" y="4224528"/>
            <a:ext cx="1554480" cy="548640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4895" y="4360349"/>
            <a:ext cx="13350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类别分布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209647" y="4224528"/>
            <a:ext cx="4754880" cy="548640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319375" y="4375738"/>
            <a:ext cx="45354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类别是否严重不均衡（某类占95%）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64527" y="4224528"/>
            <a:ext cx="4572000" cy="548640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074255" y="4375738"/>
            <a:ext cx="435254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是否影响后续统计或建模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55167" y="4773168"/>
            <a:ext cx="155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4895" y="4908989"/>
            <a:ext cx="13350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单位格式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209647" y="4773168"/>
            <a:ext cx="47548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319375" y="4924378"/>
            <a:ext cx="45354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单位是否混乱（cm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与 m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混用、日期不一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64527" y="4773168"/>
            <a:ext cx="45720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074255" y="4924378"/>
            <a:ext cx="435254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是否需统一单位与格式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55167" y="5321808"/>
            <a:ext cx="1554480" cy="548640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64895" y="5457629"/>
            <a:ext cx="13350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变量关系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2209647" y="5321808"/>
            <a:ext cx="4754880" cy="548640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319375" y="5473018"/>
            <a:ext cx="45354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初步相关性、分组均值、变化趋势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964527" y="5321808"/>
            <a:ext cx="4572000" cy="548640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074255" y="5473018"/>
            <a:ext cx="435254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是否具学科意义，是否需进一步检验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411480" y="5992548"/>
            <a:ext cx="11368735" cy="66428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24992" y="5992548"/>
            <a:ext cx="10911535" cy="6642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先检查数据质量。删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除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样本、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填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补缺失或处理异常值前，应说明方法与依据并保留原始数据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2743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</a:rPr>
              <a:t>5.3.3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274320"/>
            <a:ext cx="8686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自动化数据分析与可视化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3612" y="840325"/>
            <a:ext cx="7019068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统计检验与学术图表：以“三种肥料对株高的影响”为例</a:t>
            </a:r>
            <a:endParaRPr sz="21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2982" y="1315427"/>
            <a:ext cx="2107853" cy="4834007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方法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示例：满足设计和相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关假设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时，可用单因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素方差分析比较三组均值。</a:t>
            </a: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核对总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/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体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检验与后续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比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较，并结合效应量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判断差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异的实际意义。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须复核：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分组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测量变量是否识别对？方法是否合设计？图表是否夸大差异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8940" y="6096656"/>
            <a:ext cx="821405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图5-9 </a:t>
            </a:r>
            <a:r>
              <a:rPr sz="1600" b="0" dirty="0" err="1">
                <a:latin typeface="Microsoft YaHei"/>
                <a:ea typeface="Microsoft YaHei"/>
              </a:rPr>
              <a:t>大模型自动化统计检验与学术绘图结果</a:t>
            </a:r>
            <a:endParaRPr sz="1600" b="0" dirty="0">
              <a:latin typeface="Microsoft YaHei"/>
              <a:ea typeface="Microsoft YaHei"/>
            </a:endParaRPr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B83CC640-9B57-C9D8-3095-58FB650511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76" r="9279" b="38170"/>
          <a:stretch>
            <a:fillRect/>
          </a:stretch>
        </p:blipFill>
        <p:spPr>
          <a:xfrm>
            <a:off x="2993612" y="1226575"/>
            <a:ext cx="8762213" cy="4847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5.3.4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自动化数据分析与可视化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930902"/>
            <a:ext cx="1143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可复现分析：把过程保存为一组文件（表5-3）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447" y="1572768"/>
            <a:ext cx="1463040" cy="47548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5167" y="1656623"/>
            <a:ext cx="13716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文件类型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072487" y="1572768"/>
            <a:ext cx="2011680" cy="47548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118207" y="1656623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示例文件名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084167" y="1572768"/>
            <a:ext cx="3840480" cy="47548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29887" y="1656623"/>
            <a:ext cx="37490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作用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924647" y="1572768"/>
            <a:ext cx="3657600" cy="475488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970367" y="1656623"/>
            <a:ext cx="3566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需要检查的问题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09447" y="2048256"/>
            <a:ext cx="1463040" cy="58521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9175" y="2202365"/>
            <a:ext cx="124358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原始数据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072487" y="2048256"/>
            <a:ext cx="2011680" cy="58521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82215" y="2217754"/>
            <a:ext cx="17922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data.csv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84167" y="2048256"/>
            <a:ext cx="3840480" cy="58521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93895" y="2217754"/>
            <a:ext cx="36210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保存分析所依据的数据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924647" y="2048256"/>
            <a:ext cx="3657600" cy="58521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34375" y="2217754"/>
            <a:ext cx="343814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是否正确版本，是否被误删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覆盖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09447" y="2633472"/>
            <a:ext cx="1463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9175" y="2787581"/>
            <a:ext cx="124358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分析代码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072487" y="2633472"/>
            <a:ext cx="20116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82215" y="2802970"/>
            <a:ext cx="17922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analysis.py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84167" y="2633472"/>
            <a:ext cx="3840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93895" y="2802970"/>
            <a:ext cx="36210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记录读取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清洗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统计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绘图过程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924647" y="2633472"/>
            <a:ext cx="36576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34375" y="2802970"/>
            <a:ext cx="343814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能否重跑，是否读对字段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09447" y="3218688"/>
            <a:ext cx="1463040" cy="58521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19175" y="3372797"/>
            <a:ext cx="124358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图表文件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072487" y="3218688"/>
            <a:ext cx="2011680" cy="58521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182215" y="3388186"/>
            <a:ext cx="17922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figure.png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84167" y="3218688"/>
            <a:ext cx="3840480" cy="58521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193895" y="3388186"/>
            <a:ext cx="36210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保存最终可视化结果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924647" y="3218688"/>
            <a:ext cx="3657600" cy="58521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34375" y="3388186"/>
            <a:ext cx="343814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是否与数据和结论一致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09447" y="3803904"/>
            <a:ext cx="1463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19175" y="3958013"/>
            <a:ext cx="124358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结果文件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2072487" y="3803904"/>
            <a:ext cx="20116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182215" y="3973402"/>
            <a:ext cx="17922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results.txt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84167" y="3803904"/>
            <a:ext cx="3840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93895" y="3973402"/>
            <a:ext cx="36210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保存统计量、p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值、指标汇总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924647" y="3803904"/>
            <a:ext cx="36576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034375" y="3973402"/>
            <a:ext cx="343814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数值是否与代码输出一致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609447" y="4389120"/>
            <a:ext cx="1463040" cy="58521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19175" y="4543229"/>
            <a:ext cx="124358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分析报告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2072487" y="4389120"/>
            <a:ext cx="2011680" cy="58521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2182215" y="4558618"/>
            <a:ext cx="17922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report.md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84167" y="4389120"/>
            <a:ext cx="3840480" cy="58521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193895" y="4558618"/>
            <a:ext cx="36210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说明目标、方法、结果与复核点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7924647" y="4389120"/>
            <a:ext cx="3657600" cy="58521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034375" y="4558618"/>
            <a:ext cx="343814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是否过度解释、结论跳跃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609447" y="4974336"/>
            <a:ext cx="14630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19175" y="5128445"/>
            <a:ext cx="124358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提示词记录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2072487" y="4974336"/>
            <a:ext cx="20116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182215" y="5143834"/>
            <a:ext cx="17922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prompt.txt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84167" y="4974336"/>
            <a:ext cx="38404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4193895" y="5143834"/>
            <a:ext cx="362102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记录向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下达的关键任务说明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924647" y="4974336"/>
            <a:ext cx="365760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034375" y="5143834"/>
            <a:ext cx="343814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能否说明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AI 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实际执行了什么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411480" y="5859691"/>
            <a:ext cx="11368735" cy="797141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70712" y="5859691"/>
            <a:ext cx="10911535" cy="79714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保存数据、代码、环境和输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出后，</a:t>
            </a:r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还应重新运行核对。仅有文件并不能保证分析可靠</a:t>
            </a:r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09728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5.4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7711" y="2743200"/>
            <a:ext cx="6675120" cy="5354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编程智能体辅助开发与修复</a:t>
            </a:r>
            <a:endParaRPr sz="3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931920"/>
            <a:ext cx="146304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114800"/>
            <a:ext cx="6766560" cy="11782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真实科研还需可反复使用的小型工具。从自然语言需求出发，形成最小可用原型，再经代码生成、调试、测试与迭代，发展为可复用系统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5.4.1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编程智能体辅助开发与修复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589995" y="956837"/>
            <a:ext cx="6518829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从需求说明到最小可用原型（MVP</a:t>
            </a:r>
            <a:r>
              <a:rPr sz="2200" b="1" i="0" dirty="0">
                <a:solidFill>
                  <a:srgbClr val="004CA0"/>
                </a:solidFill>
                <a:latin typeface="Microsoft YaHei"/>
                <a:ea typeface="Microsoft YaHei"/>
              </a:rPr>
              <a:t>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8350" y="945239"/>
            <a:ext cx="7074709" cy="5294717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5846" y="6309979"/>
            <a:ext cx="722376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图5-10 </a:t>
            </a:r>
            <a:r>
              <a:rPr sz="1600" b="0" dirty="0" err="1">
                <a:latin typeface="Microsoft YaHei"/>
                <a:ea typeface="Microsoft YaHei"/>
              </a:rPr>
              <a:t>OpenCode</a:t>
            </a:r>
            <a:r>
              <a:rPr sz="1600" b="0" dirty="0">
                <a:latin typeface="Microsoft YaHei"/>
                <a:ea typeface="Microsoft YaHei"/>
              </a:rPr>
              <a:t> </a:t>
            </a:r>
            <a:r>
              <a:rPr sz="1600" b="0" dirty="0" err="1">
                <a:latin typeface="Microsoft YaHei"/>
                <a:ea typeface="Microsoft YaHei"/>
              </a:rPr>
              <a:t>生成的实验数据分析系统最小可用原型</a:t>
            </a:r>
            <a:endParaRPr sz="1600" b="0" dirty="0">
              <a:latin typeface="Microsoft YaHei"/>
              <a:ea typeface="Microsoft YaHe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060" y="1426455"/>
            <a:ext cx="4131833" cy="2082484"/>
          </a:xfrm>
          <a:prstGeom prst="rect">
            <a:avLst/>
          </a:prstGeom>
          <a:noFill/>
        </p:spPr>
        <p:txBody>
          <a:bodyPr wrap="square" lIns="36000" tIns="36000" rIns="36000" bIns="36000" anchor="t">
            <a:spAutoFit/>
          </a:bodyPr>
          <a:lstStyle/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2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1600" b="1" dirty="0">
                <a:solidFill>
                  <a:srgbClr val="0066CC"/>
                </a:solidFill>
                <a:latin typeface="Microsoft YaHei"/>
                <a:ea typeface="Microsoft YaHei"/>
              </a:rPr>
              <a:t>MVP </a:t>
            </a:r>
            <a:r>
              <a:rPr sz="1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定义</a:t>
            </a:r>
            <a:r>
              <a:rPr sz="155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只保留核心功能、能跑通主流程、可真实试用的第一版</a:t>
            </a:r>
            <a:endParaRPr sz="15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2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160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四大特征</a:t>
            </a:r>
            <a:r>
              <a:rPr sz="1550" b="1" dirty="0" err="1">
                <a:solidFill>
                  <a:srgbClr val="0066CC"/>
                </a:solidFill>
                <a:latin typeface="Microsoft YaHei"/>
                <a:ea typeface="Microsoft YaHei"/>
              </a:rPr>
              <a:t>：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接收真实数据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完成核心计算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生成图表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 · 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保存结果</a:t>
            </a:r>
            <a:endParaRPr sz="1500"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4000"/>
              </a:lnSpc>
              <a:spcAft>
                <a:spcPts val="800"/>
              </a:spcAft>
            </a:pPr>
            <a:r>
              <a:rPr sz="1200"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sz="1600" b="1" dirty="0">
                <a:solidFill>
                  <a:srgbClr val="0066CC"/>
                </a:solidFill>
                <a:latin typeface="Microsoft YaHei"/>
                <a:ea typeface="Microsoft YaHei"/>
              </a:rPr>
              <a:t>第</a:t>
            </a:r>
            <a:r>
              <a:rPr sz="1550" b="1" dirty="0">
                <a:solidFill>
                  <a:srgbClr val="0066CC"/>
                </a:solidFill>
                <a:latin typeface="Microsoft YaHei"/>
                <a:ea typeface="Microsoft YaHei"/>
              </a:rPr>
              <a:t>一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版聚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焦核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心流</a:t>
            </a:r>
            <a:r>
              <a:rPr sz="1600" b="0" dirty="0" err="1">
                <a:solidFill>
                  <a:srgbClr val="333333"/>
                </a:solidFill>
                <a:latin typeface="Microsoft YaHei"/>
                <a:ea typeface="Microsoft YaHei"/>
              </a:rPr>
              <a:t>程，便于试用、检查和继续修改</a:t>
            </a:r>
            <a:r>
              <a:rPr sz="1600"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  <a:endParaRPr sz="1500"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84935" y="3557016"/>
            <a:ext cx="4180837" cy="2916936"/>
          </a:xfrm>
          <a:prstGeom prst="rect">
            <a:avLst/>
          </a:prstGeom>
          <a:solidFill>
            <a:srgbClr val="EEF2F7"/>
          </a:solidFill>
          <a:ln w="15875">
            <a:solidFill>
              <a:srgbClr val="2F3A4A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557016"/>
            <a:ext cx="4180837" cy="402336"/>
          </a:xfrm>
          <a:prstGeom prst="rect">
            <a:avLst/>
          </a:prstGeom>
          <a:solidFill>
            <a:srgbClr val="2F3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7513" y="3619685"/>
            <a:ext cx="40162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Microsoft YaHei"/>
                <a:ea typeface="Microsoft YaHei"/>
              </a:rPr>
              <a:t>▌ </a:t>
            </a:r>
            <a:r>
              <a:rPr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提示词示例</a:t>
            </a:r>
            <a:r>
              <a:rPr b="1" i="0" dirty="0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最小可用原型</a:t>
            </a:r>
            <a:endParaRPr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6846" y="3959352"/>
            <a:ext cx="4043082" cy="24913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600" b="0" i="0" dirty="0">
                <a:solidFill>
                  <a:srgbClr val="1E2B3A"/>
                </a:solidFill>
                <a:latin typeface="Microsoft YaHei"/>
                <a:ea typeface="Microsoft YaHei"/>
              </a:rPr>
              <a:t>“</a:t>
            </a:r>
            <a:r>
              <a:rPr sz="1600"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开发本地运行的实验数据分析工具原型。第一版只需读取一个</a:t>
            </a:r>
            <a:r>
              <a:rPr sz="1600" b="0" i="0" dirty="0">
                <a:solidFill>
                  <a:srgbClr val="1E2B3A"/>
                </a:solidFill>
                <a:latin typeface="Microsoft YaHei"/>
                <a:ea typeface="Microsoft YaHei"/>
              </a:rPr>
              <a:t> </a:t>
            </a:r>
            <a:r>
              <a:rPr sz="1600"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CSV，做基础数据检查，计算分组均值与标准差，生成一张对比图，把图表和简短报告存到</a:t>
            </a:r>
            <a:r>
              <a:rPr sz="1600" b="0" i="0" dirty="0">
                <a:solidFill>
                  <a:srgbClr val="1E2B3A"/>
                </a:solidFill>
                <a:latin typeface="Microsoft YaHei"/>
                <a:ea typeface="Microsoft YaHei"/>
              </a:rPr>
              <a:t> outputs。请生成项目结构、可运行代码、requirements.txt 和 </a:t>
            </a:r>
            <a:r>
              <a:rPr sz="1600"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README.md。暂不加用户登录</a:t>
            </a:r>
            <a:r>
              <a:rPr sz="1600" b="0" i="0" dirty="0">
                <a:solidFill>
                  <a:srgbClr val="1E2B3A"/>
                </a:solidFill>
                <a:latin typeface="Microsoft YaHei"/>
                <a:ea typeface="Microsoft YaHei"/>
              </a:rPr>
              <a:t>/</a:t>
            </a:r>
            <a:r>
              <a:rPr sz="1600"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数据库</a:t>
            </a:r>
            <a:r>
              <a:rPr sz="1600" b="0" i="0" dirty="0">
                <a:solidFill>
                  <a:srgbClr val="1E2B3A"/>
                </a:solidFill>
                <a:latin typeface="Microsoft YaHei"/>
                <a:ea typeface="Microsoft YaHei"/>
              </a:rPr>
              <a:t>/</a:t>
            </a:r>
            <a:r>
              <a:rPr sz="1600"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云端</a:t>
            </a:r>
            <a:r>
              <a:rPr sz="1600" b="0" i="0" dirty="0">
                <a:solidFill>
                  <a:srgbClr val="1E2B3A"/>
                </a:solidFill>
                <a:latin typeface="Microsoft YaHei"/>
                <a:ea typeface="Microsoft YaHei"/>
              </a:rPr>
              <a:t>/</a:t>
            </a:r>
            <a:r>
              <a:rPr sz="1600"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多人协作。验收：用</a:t>
            </a:r>
            <a:r>
              <a:rPr sz="1600" b="0" i="0" dirty="0">
                <a:solidFill>
                  <a:srgbClr val="1E2B3A"/>
                </a:solidFill>
                <a:latin typeface="Microsoft YaHei"/>
                <a:ea typeface="Microsoft YaHei"/>
              </a:rPr>
              <a:t> sample_data.csv </a:t>
            </a:r>
            <a:r>
              <a:rPr sz="1600" b="0" i="0" dirty="0" err="1">
                <a:solidFill>
                  <a:srgbClr val="1E2B3A"/>
                </a:solidFill>
                <a:latin typeface="Microsoft YaHei"/>
                <a:ea typeface="Microsoft YaHei"/>
              </a:rPr>
              <a:t>运行后能生成</a:t>
            </a:r>
            <a:r>
              <a:rPr sz="1600" b="0" i="0" dirty="0">
                <a:solidFill>
                  <a:srgbClr val="1E2B3A"/>
                </a:solidFill>
                <a:latin typeface="Microsoft YaHei"/>
                <a:ea typeface="Microsoft YaHei"/>
              </a:rPr>
              <a:t> figure.png 和 report.md。”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E4788712-0B0C-F82B-67E3-6B9DF64E04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925" y="1069848"/>
            <a:ext cx="6975021" cy="50721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5.4.1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编程智能体辅助开发与修复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930902"/>
            <a:ext cx="1143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主动划定功能边界：第一版做什么、不做什么（表5-4）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0887" y="1572768"/>
            <a:ext cx="182880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6607" y="1670339"/>
            <a:ext cx="17373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内容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29687" y="1572768"/>
            <a:ext cx="457200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75407" y="1670339"/>
            <a:ext cx="44805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第一版原型需要做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101687" y="1572768"/>
            <a:ext cx="4389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47407" y="1670339"/>
            <a:ext cx="42976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第一版暂时不做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00887" y="2075688"/>
            <a:ext cx="182880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0615" y="2238941"/>
            <a:ext cx="16093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数据输入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529687" y="2075688"/>
            <a:ext cx="457200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639415" y="2238941"/>
            <a:ext cx="43525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支持读取一个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CSV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文件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101687" y="2075688"/>
            <a:ext cx="438912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11415" y="2238941"/>
            <a:ext cx="416966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支持所有格式、批量上传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0887" y="2679192"/>
            <a:ext cx="18288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10615" y="2842445"/>
            <a:ext cx="16093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数据分析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529687" y="2679192"/>
            <a:ext cx="4572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639415" y="2842445"/>
            <a:ext cx="43525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计算基础统计量并生成图表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7101687" y="2679192"/>
            <a:ext cx="43891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11415" y="2842445"/>
            <a:ext cx="416966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自动选择所有复杂统计模型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00887" y="3282696"/>
            <a:ext cx="182880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0615" y="3445949"/>
            <a:ext cx="16093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333333"/>
                </a:solidFill>
                <a:latin typeface="Microsoft YaHei"/>
                <a:ea typeface="Microsoft YaHei"/>
              </a:rPr>
              <a:t>结果输出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29687" y="3282696"/>
            <a:ext cx="457200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639415" y="3445949"/>
            <a:ext cx="43525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保存图表和简短报告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101687" y="3282696"/>
            <a:ext cx="438912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211415" y="3445949"/>
            <a:ext cx="416966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生成完整论文级报告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0887" y="3886200"/>
            <a:ext cx="18288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0615" y="4049453"/>
            <a:ext cx="16093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333333"/>
                </a:solidFill>
                <a:latin typeface="Microsoft YaHei"/>
                <a:ea typeface="Microsoft YaHei"/>
              </a:rPr>
              <a:t>用户界面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29687" y="3886200"/>
            <a:ext cx="4572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639415" y="4049453"/>
            <a:ext cx="43525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简单本地界面或命令行入口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01687" y="3886200"/>
            <a:ext cx="43891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211415" y="4049453"/>
            <a:ext cx="416966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精美前端、多用户界面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0887" y="4489704"/>
            <a:ext cx="182880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10615" y="4652957"/>
            <a:ext cx="16093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333333"/>
                </a:solidFill>
                <a:latin typeface="Microsoft YaHei"/>
                <a:ea typeface="Microsoft YaHei"/>
              </a:rPr>
              <a:t>数据存储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29687" y="4489704"/>
            <a:ext cx="457200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639415" y="4652957"/>
            <a:ext cx="43525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保存到本地文件夹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01687" y="4489704"/>
            <a:ext cx="438912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211415" y="4652957"/>
            <a:ext cx="416966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数据库、云端同步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0887" y="5093208"/>
            <a:ext cx="18288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0615" y="5256461"/>
            <a:ext cx="16093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333333"/>
                </a:solidFill>
                <a:latin typeface="Microsoft YaHei"/>
                <a:ea typeface="Microsoft YaHei"/>
              </a:rPr>
              <a:t>系统运行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529687" y="5093208"/>
            <a:ext cx="4572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639415" y="5256461"/>
            <a:ext cx="43525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本地运行并提供说明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01687" y="5093208"/>
            <a:ext cx="438912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211415" y="5256461"/>
            <a:ext cx="416966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云端部署、账号权限管理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1480" y="5897425"/>
            <a:ext cx="11368735" cy="72973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" y="5961931"/>
            <a:ext cx="10911535" cy="6642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先限定第一版范围，有助于集中完成核心功能，并按明确标准验收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5.4.2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编程智能体辅助开发与修复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930902"/>
            <a:ext cx="5075816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代码生成、运行与自动修复闭环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1424178"/>
            <a:ext cx="4749378" cy="4392475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不只是生成代码：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在项目目录建文件、装依赖、运行程序，参与“生成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—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运行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—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检查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—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修复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”</a:t>
            </a: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项目化产出：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app.py、analyzer.py、requirements.txt、README.md、outputs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常见错误：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依赖缺失、路径错误、列名不符、中文字体、输出目录不存在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根据报错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修正路径、依赖或列名，并说明修改内容与依据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● 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运</a:t>
            </a:r>
            <a:r>
              <a:rPr b="1" dirty="0">
                <a:solidFill>
                  <a:srgbClr val="0066CC"/>
                </a:solidFill>
                <a:latin typeface="Microsoft YaHei"/>
                <a:ea typeface="Microsoft YaHei"/>
              </a:rPr>
              <a:t>行成功</a:t>
            </a:r>
            <a:r>
              <a:rPr b="1" dirty="0" err="1">
                <a:solidFill>
                  <a:srgbClr val="0066CC"/>
                </a:solidFill>
                <a:latin typeface="Microsoft YaHei"/>
                <a:ea typeface="Microsoft YaHei"/>
              </a:rPr>
              <a:t>后还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需检查数据处理，避免修复时擅自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跳过或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填补数据。</a:t>
            </a:r>
            <a:endParaRPr b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677421" y="1069849"/>
            <a:ext cx="5689826" cy="4471416"/>
          </a:xfrm>
          <a:prstGeom prst="rect">
            <a:avLst/>
          </a:prstGeom>
          <a:solidFill>
            <a:srgbClr val="FFFFFF"/>
          </a:solidFill>
          <a:ln w="19050">
            <a:solidFill>
              <a:srgbClr val="0066CC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14057" y="5642181"/>
            <a:ext cx="636896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latin typeface="Microsoft YaHei"/>
                <a:ea typeface="Microsoft YaHei"/>
              </a:rPr>
              <a:t>图5-11 </a:t>
            </a:r>
            <a:r>
              <a:rPr sz="1600" b="0" dirty="0" err="1">
                <a:latin typeface="Microsoft YaHei"/>
                <a:ea typeface="Microsoft YaHei"/>
              </a:rPr>
              <a:t>智能体开发中的代码生成与自动修复闭环</a:t>
            </a:r>
            <a:endParaRPr sz="1600" b="0" dirty="0"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1480" y="5989320"/>
            <a:ext cx="11368735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6147250"/>
            <a:ext cx="11155680" cy="2876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人工验收四点：是否读对数据文件？输出文件是否真实生成？图表报告是否与数据一致？README</a:t>
            </a:r>
            <a:r>
              <a:rPr b="1" i="0" dirty="0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能否照做</a:t>
            </a:r>
            <a:r>
              <a:rPr b="1" i="0" dirty="0">
                <a:solidFill>
                  <a:srgbClr val="FFFFFF"/>
                </a:solidFill>
                <a:latin typeface="Microsoft YaHei"/>
                <a:ea typeface="Microsoft YaHei"/>
              </a:rPr>
              <a:t>？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861E9D3-7F77-1D66-33C2-EA017B3DAD0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51" t="8908" r="4957" b="2855"/>
          <a:stretch/>
        </p:blipFill>
        <p:spPr bwMode="auto">
          <a:xfrm>
            <a:off x="5706238" y="1130501"/>
            <a:ext cx="5508608" cy="429924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5.4.3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编程智能体辅助开发与修复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930902"/>
            <a:ext cx="1143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边界用例测试：覆盖“用户如何使用工具”的全过程（表5-5）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5167" y="1572768"/>
            <a:ext cx="173736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0887" y="1670339"/>
            <a:ext cx="164592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测试类型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392527" y="1572768"/>
            <a:ext cx="365760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38247" y="1670339"/>
            <a:ext cx="35661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主要目的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050127" y="1572768"/>
            <a:ext cx="548640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95847" y="1670339"/>
            <a:ext cx="539496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示例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5167" y="2075688"/>
            <a:ext cx="173736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4895" y="2238941"/>
            <a:ext cx="151790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正常用例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392527" y="2075688"/>
            <a:ext cx="365760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02255" y="2238941"/>
            <a:ext cx="34381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检查核心流程能否跑通</a:t>
            </a:r>
            <a:endParaRPr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050127" y="2075688"/>
            <a:ext cx="548640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59855" y="2238941"/>
            <a:ext cx="52669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上传标准 CSV，成功生成图表和报告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167" y="2679192"/>
            <a:ext cx="1737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4895" y="2842445"/>
            <a:ext cx="151790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333333"/>
                </a:solidFill>
                <a:latin typeface="Microsoft YaHei"/>
                <a:ea typeface="Microsoft YaHei"/>
              </a:rPr>
              <a:t>边界用例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92527" y="2679192"/>
            <a:ext cx="36576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02255" y="2842445"/>
            <a:ext cx="34381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检查极端情况是否可处理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50127" y="2679192"/>
            <a:ext cx="5486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59855" y="2842445"/>
            <a:ext cx="52669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样本量很少、数值范围很大、文件名含中文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167" y="3282696"/>
            <a:ext cx="173736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4895" y="3445949"/>
            <a:ext cx="151790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333333"/>
                </a:solidFill>
                <a:latin typeface="Microsoft YaHei"/>
                <a:ea typeface="Microsoft YaHei"/>
              </a:rPr>
              <a:t>异常用例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92527" y="3282696"/>
            <a:ext cx="365760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502255" y="3445949"/>
            <a:ext cx="34381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检查错误输入时是否有提示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50127" y="3282696"/>
            <a:ext cx="548640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159855" y="3445949"/>
            <a:ext cx="52669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空文件、缺字段、数值列混入文字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5167" y="3886200"/>
            <a:ext cx="1737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64895" y="4049453"/>
            <a:ext cx="151790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333333"/>
                </a:solidFill>
                <a:latin typeface="Microsoft YaHei"/>
                <a:ea typeface="Microsoft YaHei"/>
              </a:rPr>
              <a:t>操作用例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2527" y="3886200"/>
            <a:ext cx="36576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502255" y="4049453"/>
            <a:ext cx="34381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检查用户流程是否顺畅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050127" y="3886200"/>
            <a:ext cx="5486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59855" y="4049453"/>
            <a:ext cx="52669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重复运行、重新上传、改参数后再分析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5167" y="4489704"/>
            <a:ext cx="173736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4895" y="4652957"/>
            <a:ext cx="151790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333333"/>
                </a:solidFill>
                <a:latin typeface="Microsoft YaHei"/>
                <a:ea typeface="Microsoft YaHei"/>
              </a:rPr>
              <a:t>输出用例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92527" y="4489704"/>
            <a:ext cx="365760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502255" y="4652957"/>
            <a:ext cx="34381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检查结果文件是否正确保存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50127" y="4489704"/>
            <a:ext cx="5486400" cy="603504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159855" y="4652957"/>
            <a:ext cx="52669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figure.png、report.md 是否生成且正确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5167" y="5093208"/>
            <a:ext cx="173736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4895" y="5256461"/>
            <a:ext cx="151790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333333"/>
                </a:solidFill>
                <a:latin typeface="Microsoft YaHei"/>
                <a:ea typeface="Microsoft YaHei"/>
              </a:rPr>
              <a:t>环境用例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92527" y="5093208"/>
            <a:ext cx="36576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502255" y="5256461"/>
            <a:ext cx="34381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检查不同运行环境下是否可用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50127" y="5093208"/>
            <a:ext cx="54864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159855" y="5256461"/>
            <a:ext cx="526694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b="0" i="0">
                <a:solidFill>
                  <a:srgbClr val="333333"/>
                </a:solidFill>
                <a:latin typeface="Microsoft YaHei"/>
                <a:ea typeface="Microsoft YaHei"/>
              </a:rPr>
              <a:t>缺少依赖库、路径变化、重装后运行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5371" y="5949893"/>
            <a:ext cx="11368735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55167" y="6070570"/>
            <a:ext cx="10911535" cy="3195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功能迭代遵循“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小步修改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”：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每次只解决一个问题</a:t>
            </a:r>
            <a:r>
              <a:rPr lang="zh-CN" altLang="en-US"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，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并记录每次修改原因与结果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5.4.4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编程智能体辅助开发与修复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98167" y="964692"/>
            <a:ext cx="8589981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004CA0"/>
                </a:solidFill>
                <a:latin typeface="Microsoft YaHei"/>
                <a:ea typeface="Microsoft YaHei"/>
              </a:rPr>
              <a:t>从原型工具到课题组可复用系统（表5-6）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327" y="1572768"/>
            <a:ext cx="2011680" cy="43891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8047" y="1638335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条件</a:t>
            </a:r>
            <a:endParaRPr sz="20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04007" y="1572768"/>
            <a:ext cx="5120640" cy="43891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49727" y="1638335"/>
            <a:ext cx="502920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具体要求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24647" y="1572768"/>
            <a:ext cx="3474720" cy="438912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70367" y="1638335"/>
            <a:ext cx="338328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icrosoft YaHei"/>
                <a:ea typeface="Microsoft YaHei"/>
              </a:rPr>
              <a:t>作用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2327" y="2011680"/>
            <a:ext cx="2011680" cy="49377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2055" y="2120069"/>
            <a:ext cx="17922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项目结构清晰</a:t>
            </a:r>
            <a:endParaRPr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804007" y="2011680"/>
            <a:ext cx="5120640" cy="49377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13735" y="2135458"/>
            <a:ext cx="490118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入口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模块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数据样例</a:t>
            </a:r>
            <a:r>
              <a:rPr sz="1600" b="0" i="0" dirty="0">
                <a:solidFill>
                  <a:srgbClr val="333333"/>
                </a:solidFill>
                <a:latin typeface="Microsoft YaHei"/>
                <a:ea typeface="Microsoft YaHei"/>
              </a:rPr>
              <a:t>/</a:t>
            </a:r>
            <a:r>
              <a:rPr sz="16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输出目录分开存放</a:t>
            </a:r>
            <a:endParaRPr sz="1600" b="0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924647" y="2011680"/>
            <a:ext cx="3474720" cy="49377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34375" y="2135458"/>
            <a:ext cx="325526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便于理解、修改、维护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2327" y="2505456"/>
            <a:ext cx="2011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2055" y="2613845"/>
            <a:ext cx="17922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333333"/>
                </a:solidFill>
                <a:latin typeface="Microsoft YaHei"/>
                <a:ea typeface="Microsoft YaHei"/>
              </a:rPr>
              <a:t>运行说明完整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04007" y="2505456"/>
            <a:ext cx="5120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13735" y="2629234"/>
            <a:ext cx="490118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README 写明依赖、运行命令、输入格式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24647" y="2505456"/>
            <a:ext cx="34747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34375" y="2629234"/>
            <a:ext cx="325526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便于他人独立运行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2327" y="2999232"/>
            <a:ext cx="2011680" cy="49377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02055" y="3107621"/>
            <a:ext cx="17922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333333"/>
                </a:solidFill>
                <a:latin typeface="Microsoft YaHei"/>
                <a:ea typeface="Microsoft YaHei"/>
              </a:rPr>
              <a:t>示例数据可用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04007" y="2999232"/>
            <a:ext cx="5120640" cy="49377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13735" y="3123010"/>
            <a:ext cx="490118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提供 sample_data.csv 等示例文件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24647" y="2999232"/>
            <a:ext cx="3474720" cy="49377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034375" y="3123010"/>
            <a:ext cx="325526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便于快速验证系统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2327" y="3493008"/>
            <a:ext cx="2011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02055" y="3601397"/>
            <a:ext cx="17922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333333"/>
                </a:solidFill>
                <a:latin typeface="Microsoft YaHei"/>
                <a:ea typeface="Microsoft YaHei"/>
              </a:rPr>
              <a:t>示例输出明确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04007" y="3493008"/>
            <a:ext cx="5120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13735" y="3616786"/>
            <a:ext cx="490118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提供示例图表、报告或结果文件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24647" y="3493008"/>
            <a:ext cx="34747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34375" y="3616786"/>
            <a:ext cx="325526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便于判断结果是否正确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2327" y="3986784"/>
            <a:ext cx="2011680" cy="49377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2055" y="4095173"/>
            <a:ext cx="17922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333333"/>
                </a:solidFill>
                <a:latin typeface="Microsoft YaHei"/>
                <a:ea typeface="Microsoft YaHei"/>
              </a:rPr>
              <a:t>依赖环境可复现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04007" y="3986784"/>
            <a:ext cx="5120640" cy="49377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13735" y="4110562"/>
            <a:ext cx="490118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提供 requirements.txt 或环境说明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24647" y="3986784"/>
            <a:ext cx="3474720" cy="49377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034375" y="4110562"/>
            <a:ext cx="325526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减少环境差异导致的报错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2327" y="4480560"/>
            <a:ext cx="2011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02055" y="4588949"/>
            <a:ext cx="17922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333333"/>
                </a:solidFill>
                <a:latin typeface="Microsoft YaHei"/>
                <a:ea typeface="Microsoft YaHei"/>
              </a:rPr>
              <a:t>修改记录清楚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04007" y="4480560"/>
            <a:ext cx="5120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13735" y="4604338"/>
            <a:ext cx="490118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记录修复内容、版本变化、新增功能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924647" y="4480560"/>
            <a:ext cx="34747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034375" y="4604338"/>
            <a:ext cx="325526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便于维护与问题回溯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92327" y="4974336"/>
            <a:ext cx="2011680" cy="49377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02055" y="5082725"/>
            <a:ext cx="17922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333333"/>
                </a:solidFill>
                <a:latin typeface="Microsoft YaHei"/>
                <a:ea typeface="Microsoft YaHei"/>
              </a:rPr>
              <a:t>使用边界明确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804007" y="4974336"/>
            <a:ext cx="5120640" cy="49377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913735" y="5098114"/>
            <a:ext cx="490118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说明当前支持与不支持的功能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924647" y="4974336"/>
            <a:ext cx="3474720" cy="493776"/>
          </a:xfrm>
          <a:prstGeom prst="rect">
            <a:avLst/>
          </a:prstGeom>
          <a:solidFill>
            <a:srgbClr val="E6F2FC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034375" y="5098114"/>
            <a:ext cx="325526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避免用户误用工具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92327" y="5468112"/>
            <a:ext cx="201168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02055" y="5576501"/>
            <a:ext cx="1792224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b="1" i="0">
                <a:solidFill>
                  <a:srgbClr val="333333"/>
                </a:solidFill>
                <a:latin typeface="Microsoft YaHei"/>
                <a:ea typeface="Microsoft YaHei"/>
              </a:rPr>
              <a:t>数据安全可控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804007" y="5468112"/>
            <a:ext cx="512064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913735" y="5591890"/>
            <a:ext cx="490118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说明数据保存位置与敏感数据注意事项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24647" y="5468112"/>
            <a:ext cx="3474720" cy="493776"/>
          </a:xfrm>
          <a:prstGeom prst="rect">
            <a:avLst/>
          </a:prstGeom>
          <a:solidFill>
            <a:srgbClr val="FFFFFF"/>
          </a:solidFill>
          <a:ln w="6350">
            <a:solidFill>
              <a:srgbClr val="D9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34375" y="5591890"/>
            <a:ext cx="3255264" cy="24622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>
                <a:solidFill>
                  <a:srgbClr val="333333"/>
                </a:solidFill>
                <a:latin typeface="Microsoft YaHei"/>
                <a:ea typeface="Microsoft YaHei"/>
              </a:rPr>
              <a:t>降低隐私与泄露风险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6053328"/>
            <a:ext cx="11368735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40080" y="6022938"/>
            <a:ext cx="10911535" cy="6642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可复用工具需要清楚的结构、运行说明、依赖版本和稳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定性检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查，便于其他成员验证与维护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389120" y="0"/>
            <a:ext cx="109728" cy="68580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3657600" cy="2286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0" b="1" i="0">
                <a:solidFill>
                  <a:srgbClr val="FFFFFF"/>
                </a:solidFill>
                <a:latin typeface="Arial"/>
                <a:ea typeface="Arial"/>
              </a:rPr>
              <a:t>5.5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2674172"/>
            <a:ext cx="66751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本章实训</a:t>
            </a:r>
            <a:endParaRPr sz="3400" b="1" i="0" dirty="0">
              <a:solidFill>
                <a:srgbClr val="333333"/>
              </a:solidFill>
              <a:latin typeface="Microsoft YaHei"/>
              <a:ea typeface="Microsoft YaHe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0" y="3931920"/>
            <a:ext cx="1463040" cy="45720"/>
          </a:xfrm>
          <a:prstGeom prst="rect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4114800"/>
            <a:ext cx="6766560" cy="7720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三个递进演练：零代码趣味应用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非结构化数据分类器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sz="2000"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智能体科研数据分析工具的开发与测试</a:t>
            </a:r>
            <a:r>
              <a:rPr sz="2000"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pic>
        <p:nvPicPr>
          <p:cNvPr id="10" name="Picture 9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74320"/>
            <a:ext cx="960120" cy="50292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" y="341114"/>
            <a:ext cx="9144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>
                <a:solidFill>
                  <a:srgbClr val="FFFFFF"/>
                </a:solidFill>
                <a:latin typeface="Microsoft YaHei"/>
                <a:ea typeface="Microsoft YaHei"/>
              </a:rPr>
              <a:t>5.5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274320"/>
            <a:ext cx="9052560" cy="502920"/>
          </a:xfrm>
          <a:prstGeom prst="rect">
            <a:avLst/>
          </a:prstGeom>
          <a:solidFill>
            <a:srgbClr val="3A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341114"/>
            <a:ext cx="86868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本章实训</a:t>
            </a:r>
            <a:endParaRPr sz="24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930902"/>
            <a:ext cx="11430000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三个递进演练：从趣味应用到完整零代码开发流程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57200" y="1709928"/>
            <a:ext cx="362498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" y="1709928"/>
            <a:ext cx="3624986" cy="585216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709928"/>
            <a:ext cx="109728" cy="41148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1833259"/>
            <a:ext cx="3304946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演练一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　Token 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成本看板</a:t>
            </a:r>
            <a:endParaRPr sz="2200" b="1" i="0" dirty="0">
              <a:solidFill>
                <a:srgbClr val="FFFFFF"/>
              </a:solidFill>
              <a:latin typeface="Microsoft YaHei"/>
              <a:ea typeface="Microsoft YaHe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2456516"/>
            <a:ext cx="3231794" cy="3003442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零代码构建网页版“实时提示词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Token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与成本估算看板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”。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按选定模型的规则估算词元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数和费用，并说明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估算误差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b="1" dirty="0">
                <a:solidFill>
                  <a:srgbClr val="C0392B"/>
                </a:solidFill>
                <a:latin typeface="Microsoft YaHei"/>
                <a:ea typeface="Microsoft YaHei"/>
              </a:rPr>
              <a:t>示例：超过自设8000词元阈值时</a:t>
            </a:r>
            <a:r>
              <a:rPr b="1" dirty="0" err="1">
                <a:solidFill>
                  <a:srgbClr val="C0392B"/>
                </a:solidFill>
                <a:latin typeface="Microsoft YaHei"/>
                <a:ea typeface="Microsoft YaHei"/>
              </a:rPr>
              <a:t>提示，勿当作通用模型限制</a:t>
            </a:r>
            <a:r>
              <a:rPr b="1" dirty="0">
                <a:solidFill>
                  <a:srgbClr val="C0392B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b="1" dirty="0" err="1">
                <a:solidFill>
                  <a:srgbClr val="004CA0"/>
                </a:solidFill>
                <a:latin typeface="Microsoft YaHei"/>
                <a:ea typeface="Microsoft YaHei"/>
              </a:rPr>
              <a:t>迭代挑战：加深色模式</a:t>
            </a:r>
            <a:r>
              <a:rPr b="1" dirty="0">
                <a:solidFill>
                  <a:srgbClr val="004CA0"/>
                </a:solidFill>
                <a:latin typeface="Microsoft YaHei"/>
                <a:ea typeface="Microsoft YaHei"/>
              </a:rPr>
              <a:t> / </a:t>
            </a:r>
            <a:r>
              <a:rPr b="1" dirty="0" err="1">
                <a:solidFill>
                  <a:srgbClr val="004CA0"/>
                </a:solidFill>
                <a:latin typeface="Microsoft YaHei"/>
                <a:ea typeface="Microsoft YaHei"/>
              </a:rPr>
              <a:t>一键复制按钮</a:t>
            </a:r>
            <a:r>
              <a:rPr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83354" y="1709928"/>
            <a:ext cx="362498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83354" y="1709928"/>
            <a:ext cx="3624986" cy="585216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83354" y="1709928"/>
            <a:ext cx="109728" cy="4114800"/>
          </a:xfrm>
          <a:prstGeom prst="rect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6234" y="1833259"/>
            <a:ext cx="3304946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演练二　审稿意见分类器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9386" y="2543887"/>
            <a:ext cx="3167786" cy="2657193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构建“审稿意见情感倾向与决策分类器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”。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准备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3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段不同态度的模拟审稿意见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b="1" dirty="0" err="1">
                <a:solidFill>
                  <a:srgbClr val="C0392B"/>
                </a:solidFill>
                <a:latin typeface="Microsoft YaHei"/>
                <a:ea typeface="Microsoft YaHei"/>
              </a:rPr>
              <a:t>强制</a:t>
            </a:r>
            <a:r>
              <a:rPr b="1" dirty="0">
                <a:solidFill>
                  <a:srgbClr val="C0392B"/>
                </a:solidFill>
                <a:latin typeface="Microsoft YaHei"/>
                <a:ea typeface="Microsoft YaHei"/>
              </a:rPr>
              <a:t> JSON / </a:t>
            </a:r>
            <a:r>
              <a:rPr b="1" dirty="0" err="1">
                <a:solidFill>
                  <a:srgbClr val="C0392B"/>
                </a:solidFill>
                <a:latin typeface="Microsoft YaHei"/>
                <a:ea typeface="Microsoft YaHei"/>
              </a:rPr>
              <a:t>表格输出</a:t>
            </a:r>
            <a:r>
              <a:rPr b="1" dirty="0">
                <a:solidFill>
                  <a:srgbClr val="C0392B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b="1" dirty="0" err="1">
                <a:solidFill>
                  <a:srgbClr val="004CA0"/>
                </a:solidFill>
                <a:latin typeface="Microsoft YaHei"/>
                <a:ea typeface="Microsoft YaHei"/>
              </a:rPr>
              <a:t>字段：编号·情感·判定·核心建议</a:t>
            </a:r>
            <a:r>
              <a:rPr b="1" dirty="0">
                <a:solidFill>
                  <a:srgbClr val="004CA0"/>
                </a:solidFill>
                <a:latin typeface="Microsoft YaHei"/>
                <a:ea typeface="Microsoft YaHei"/>
              </a:rPr>
              <a:t>(≤20字)。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09508" y="1709928"/>
            <a:ext cx="362498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09508" y="1709928"/>
            <a:ext cx="3624986" cy="585216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09508" y="1709928"/>
            <a:ext cx="109728" cy="4114800"/>
          </a:xfrm>
          <a:prstGeom prst="rect">
            <a:avLst/>
          </a:prstGeom>
          <a:solidFill>
            <a:srgbClr val="F58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92388" y="1833259"/>
            <a:ext cx="3304946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</a:rPr>
              <a:t>演练三　数据分析工具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0968" y="2549776"/>
            <a:ext cx="3167786" cy="2657193"/>
          </a:xfrm>
          <a:prstGeom prst="rect">
            <a:avLst/>
          </a:prstGeom>
          <a:noFill/>
        </p:spPr>
        <p:txBody>
          <a:bodyPr wrap="square" lIns="36000" tIns="36000" rIns="36000" bIns="3600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用智能体开发本学科“科研数据自动分析工具”原型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读 CSV/Excel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体检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统计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绘图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 → </a:t>
            </a:r>
            <a:r>
              <a:rPr b="0" dirty="0" err="1">
                <a:solidFill>
                  <a:srgbClr val="333333"/>
                </a:solidFill>
                <a:latin typeface="Microsoft YaHei"/>
                <a:ea typeface="Microsoft YaHei"/>
              </a:rPr>
              <a:t>保存</a:t>
            </a:r>
            <a:r>
              <a:rPr b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b="1" dirty="0" err="1">
                <a:solidFill>
                  <a:srgbClr val="C0392B"/>
                </a:solidFill>
                <a:latin typeface="Microsoft YaHei"/>
                <a:ea typeface="Microsoft YaHei"/>
              </a:rPr>
              <a:t>设计</a:t>
            </a:r>
            <a:r>
              <a:rPr b="1" dirty="0">
                <a:solidFill>
                  <a:srgbClr val="C0392B"/>
                </a:solidFill>
                <a:latin typeface="Microsoft YaHei"/>
                <a:ea typeface="Microsoft YaHei"/>
              </a:rPr>
              <a:t> ≥5 </a:t>
            </a:r>
            <a:r>
              <a:rPr b="1" dirty="0" err="1">
                <a:solidFill>
                  <a:srgbClr val="C0392B"/>
                </a:solidFill>
                <a:latin typeface="Microsoft YaHei"/>
                <a:ea typeface="Microsoft YaHei"/>
              </a:rPr>
              <a:t>个测试用例</a:t>
            </a:r>
            <a:r>
              <a:rPr b="1" dirty="0">
                <a:solidFill>
                  <a:srgbClr val="C0392B"/>
                </a:solidFill>
                <a:latin typeface="Microsoft YaHei"/>
                <a:ea typeface="Microsoft YaHei"/>
              </a:rPr>
              <a:t>。</a:t>
            </a:r>
          </a:p>
          <a:p>
            <a:pPr algn="l">
              <a:lnSpc>
                <a:spcPct val="125000"/>
              </a:lnSpc>
              <a:spcAft>
                <a:spcPts val="500"/>
              </a:spcAft>
            </a:pPr>
            <a:r>
              <a:rPr b="1" dirty="0" err="1">
                <a:solidFill>
                  <a:srgbClr val="004CA0"/>
                </a:solidFill>
                <a:latin typeface="Microsoft YaHei"/>
                <a:ea typeface="Microsoft YaHei"/>
              </a:rPr>
              <a:t>完成一次功能迭代并记录前后变化</a:t>
            </a:r>
            <a:r>
              <a:rPr b="1" dirty="0">
                <a:solidFill>
                  <a:srgbClr val="004CA0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927098"/>
            <a:ext cx="11368735" cy="72973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988538"/>
            <a:ext cx="10911535" cy="6642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通过练习完成需求说明、原型生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成、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测试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修复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与保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存结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果，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记录</a:t>
            </a:r>
            <a:r>
              <a:rPr sz="20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仍需人工处理的问题</a:t>
            </a:r>
            <a:r>
              <a:rPr sz="20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48006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yz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7175" y="246888"/>
            <a:ext cx="1691640" cy="548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292608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800" b="1" i="0" dirty="0" err="1">
                <a:solidFill>
                  <a:srgbClr val="0066CC"/>
                </a:solidFill>
                <a:latin typeface="Microsoft YaHei"/>
                <a:ea typeface="Microsoft YaHei"/>
              </a:rPr>
              <a:t>本章小结</a:t>
            </a:r>
            <a:endParaRPr sz="4800" b="1" i="0" dirty="0">
              <a:solidFill>
                <a:srgbClr val="0066CC"/>
              </a:solidFill>
              <a:latin typeface="Microsoft YaHei"/>
              <a:ea typeface="Microsoft YaHe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59" y="1417319"/>
            <a:ext cx="5715137" cy="224187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" name="Rectangle 6"/>
          <p:cNvSpPr/>
          <p:nvPr/>
        </p:nvSpPr>
        <p:spPr>
          <a:xfrm>
            <a:off x="365760" y="1417319"/>
            <a:ext cx="850186" cy="2241871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365760" y="2353589"/>
            <a:ext cx="850186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5.1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1508760"/>
            <a:ext cx="453432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自然语言编程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89303" y="1938012"/>
            <a:ext cx="4657129" cy="9080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明确目标、输入、输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出、异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常处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理和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验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收标准，并根据复杂度安排开发步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骤。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25895" y="1417319"/>
            <a:ext cx="5715137" cy="224187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Rectangle 11"/>
          <p:cNvSpPr/>
          <p:nvPr/>
        </p:nvSpPr>
        <p:spPr>
          <a:xfrm>
            <a:off x="6025896" y="1417319"/>
            <a:ext cx="850186" cy="2241871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6025896" y="2353589"/>
            <a:ext cx="850186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5.2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1508760"/>
            <a:ext cx="453432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dirty="0" err="1">
                <a:solidFill>
                  <a:srgbClr val="004CA0"/>
                </a:solidFill>
                <a:latin typeface="Microsoft YaHei"/>
                <a:ea typeface="Microsoft YaHei"/>
              </a:rPr>
              <a:t>开发新范式</a:t>
            </a:r>
            <a:endParaRPr sz="2400" b="1" i="0" dirty="0">
              <a:solidFill>
                <a:srgbClr val="004CA0"/>
              </a:solidFill>
              <a:latin typeface="Microsoft YaHei"/>
              <a:ea typeface="Microsoft YaHe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31511" y="1937535"/>
            <a:ext cx="4827166" cy="9080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三种范式：传统ML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提示词直接推理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 / 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智能体算法实验；零样本与少样本；非结构化数据语义提取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59" y="2902243"/>
            <a:ext cx="5715137" cy="224187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Rectangle 16"/>
          <p:cNvSpPr/>
          <p:nvPr/>
        </p:nvSpPr>
        <p:spPr>
          <a:xfrm>
            <a:off x="365760" y="2902243"/>
            <a:ext cx="850186" cy="2241871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8" name="TextBox 17"/>
          <p:cNvSpPr txBox="1"/>
          <p:nvPr/>
        </p:nvSpPr>
        <p:spPr>
          <a:xfrm>
            <a:off x="365760" y="3838513"/>
            <a:ext cx="850186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5.3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2993684"/>
            <a:ext cx="453432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04CA0"/>
                </a:solidFill>
                <a:latin typeface="Microsoft YaHei"/>
                <a:ea typeface="Microsoft YaHei"/>
              </a:rPr>
              <a:t>数据分析可视化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9303" y="3341515"/>
            <a:ext cx="4657129" cy="9080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代码执行引擎+沙箱实现“生成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—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运行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—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检查”闭环；数据体检、统计检验与学术绘图；可复现保存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5895" y="2902243"/>
            <a:ext cx="5715137" cy="2241871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6"/>
            </a:solidFill>
          </a:ln>
          <a:effectLst>
            <a:outerShdw blurRad="45720" dist="36576" dir="5400000" rotWithShape="0">
              <a:srgbClr val="808080">
                <a:alpha val="5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2" name="Rectangle 21"/>
          <p:cNvSpPr/>
          <p:nvPr/>
        </p:nvSpPr>
        <p:spPr>
          <a:xfrm>
            <a:off x="6025896" y="2902243"/>
            <a:ext cx="850186" cy="2241871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/>
          <p:cNvSpPr txBox="1"/>
          <p:nvPr/>
        </p:nvSpPr>
        <p:spPr>
          <a:xfrm>
            <a:off x="6025896" y="3838513"/>
            <a:ext cx="850186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Microsoft YaHei"/>
                <a:ea typeface="Microsoft YaHei"/>
              </a:rPr>
              <a:t>5.4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2993684"/>
            <a:ext cx="453432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>
                <a:solidFill>
                  <a:srgbClr val="004CA0"/>
                </a:solidFill>
                <a:latin typeface="Microsoft YaHei"/>
                <a:ea typeface="Microsoft YaHei"/>
              </a:rPr>
              <a:t>智能体软件开发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69551" y="3496161"/>
            <a:ext cx="4780304" cy="9080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需求收缩为最小可用原型；生成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—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运行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—</a:t>
            </a:r>
            <a:r>
              <a:rPr b="0" i="0" dirty="0" err="1">
                <a:solidFill>
                  <a:srgbClr val="333333"/>
                </a:solidFill>
                <a:latin typeface="Microsoft YaHei"/>
                <a:ea typeface="Microsoft YaHei"/>
              </a:rPr>
              <a:t>自动修复闭环；边界用例测试与小步迭代；走向可复用系统</a:t>
            </a:r>
            <a:r>
              <a:rPr b="0" i="0" dirty="0">
                <a:solidFill>
                  <a:srgbClr val="333333"/>
                </a:solidFill>
                <a:latin typeface="Microsoft YaHei"/>
                <a:ea typeface="Microsoft YaHei"/>
              </a:rPr>
              <a:t>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774436"/>
            <a:ext cx="11368735" cy="603504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50432" y="5907581"/>
            <a:ext cx="11368735" cy="35157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使用AI开发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时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，应明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确每</a:t>
            </a:r>
            <a:r>
              <a:rPr sz="2200" b="1" i="0" dirty="0" err="1">
                <a:solidFill>
                  <a:srgbClr val="FFFFFF"/>
                </a:solidFill>
                <a:latin typeface="Microsoft YaHei"/>
                <a:ea typeface="Microsoft YaHei"/>
              </a:rPr>
              <a:t>一步做什么、如何测试，以及如何验证最终结果</a:t>
            </a:r>
            <a:r>
              <a:rPr sz="2200" b="1" i="0" dirty="0">
                <a:solidFill>
                  <a:srgbClr val="FFFFFF"/>
                </a:solidFill>
                <a:latin typeface="Microsoft YaHei"/>
                <a:ea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0" y="4114800"/>
            <a:ext cx="6858000" cy="2743200"/>
          </a:xfrm>
          <a:prstGeom prst="parallelogram">
            <a:avLst/>
          </a:prstGeom>
          <a:solidFill>
            <a:srgbClr val="004C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286000"/>
            <a:ext cx="1219169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Arial"/>
                <a:ea typeface="Arial"/>
              </a:rPr>
              <a:t>THANKS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114800"/>
            <a:ext cx="1219169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0" i="0">
                <a:solidFill>
                  <a:srgbClr val="E6F2FC"/>
                </a:solidFill>
                <a:latin typeface="Microsoft YaHei"/>
                <a:ea typeface="Microsoft YaHei"/>
              </a:rPr>
              <a:t>感 谢 聆 听 ， 欢 迎 提 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0" i="0">
                <a:solidFill>
                  <a:srgbClr val="E6F2FC"/>
                </a:solidFill>
                <a:latin typeface="Microsoft YaHei"/>
                <a:ea typeface="Microsoft YaHei"/>
              </a:rPr>
              <a:t>扬州大学  ·  第 5 章  ·  零代码编程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2660</Words>
  <Application>Microsoft Macintosh PowerPoint</Application>
  <PresentationFormat>宽屏</PresentationFormat>
  <Paragraphs>490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4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Microsoft Office User</cp:lastModifiedBy>
  <cp:revision>5</cp:revision>
  <dcterms:created xsi:type="dcterms:W3CDTF">2013-01-27T09:14:16Z</dcterms:created>
  <dcterms:modified xsi:type="dcterms:W3CDTF">2026-09-05T01:35:34Z</dcterms:modified>
  <cp:category/>
</cp:coreProperties>
</file>