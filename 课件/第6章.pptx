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1" r:id="rId11"/>
    <p:sldId id="265" r:id="rId12"/>
    <p:sldId id="266" r:id="rId13"/>
    <p:sldId id="267" r:id="rId14"/>
    <p:sldId id="268" r:id="rId15"/>
    <p:sldId id="269" r:id="rId16"/>
    <p:sldId id="302" r:id="rId17"/>
    <p:sldId id="270" r:id="rId18"/>
    <p:sldId id="271" r:id="rId19"/>
    <p:sldId id="272" r:id="rId20"/>
    <p:sldId id="273" r:id="rId21"/>
    <p:sldId id="274" r:id="rId22"/>
    <p:sldId id="303" r:id="rId23"/>
    <p:sldId id="275" r:id="rId24"/>
    <p:sldId id="276" r:id="rId25"/>
    <p:sldId id="277" r:id="rId26"/>
    <p:sldId id="304" r:id="rId27"/>
    <p:sldId id="278" r:id="rId28"/>
    <p:sldId id="279" r:id="rId29"/>
    <p:sldId id="280" r:id="rId30"/>
    <p:sldId id="281" r:id="rId31"/>
    <p:sldId id="305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306" r:id="rId50"/>
    <p:sldId id="307" r:id="rId51"/>
    <p:sldId id="299" r:id="rId52"/>
    <p:sldId id="300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7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15200" y="0"/>
            <a:ext cx="4876800" cy="36576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132320" y="3200400"/>
            <a:ext cx="5059375" cy="36576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342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《</a:t>
            </a:r>
            <a:r>
              <a:rPr sz="5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生成式人工智能</a:t>
            </a: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与科研素养</a:t>
            </a:r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</a:rPr>
              <a:t>第 6 章   大模型赋能学术研究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扬州大学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7814381" y="1759144"/>
            <a:ext cx="4106732" cy="4674736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33333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200400" cy="35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103120"/>
            <a:ext cx="9601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10312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103120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用AI发现和凝练研究选题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16352"/>
            <a:ext cx="9601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816352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2816352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用AI检索和阅读文献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9584"/>
            <a:ext cx="9601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529584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3080" y="3529584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用AI搭建文献综述框架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9601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42816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242816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4242816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用AI设计研究方案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56048"/>
            <a:ext cx="9601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56048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4956048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83080" y="4956048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用AI搭建结构与撰写初稿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69280"/>
            <a:ext cx="9601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669280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566928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83080" y="5669280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用AI检查论文与准备投稿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AI在学术研究各环节中的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辅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助作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56156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从选题</a:t>
            </a:r>
            <a:r>
              <a:rPr sz="28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、文献阅读到研究设计、写作与修改</a:t>
            </a:r>
            <a:endParaRPr sz="28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247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AI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可辅助获取信息、梳理思路和修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改表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达，研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究者负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责判断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依据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并承担学术责任。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360669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914400" cy="13716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Arial"/>
              </a:rPr>
              <a:t>6.1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20227"/>
            <a:ext cx="241797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选题凝练</a:t>
            </a:r>
            <a:endParaRPr sz="22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3172968"/>
            <a:ext cx="2417978" cy="25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模糊想法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可研究题目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92498" y="2514600"/>
            <a:ext cx="360669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2498" y="2514600"/>
            <a:ext cx="914400" cy="13716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2498" y="251460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Arial"/>
              </a:rPr>
              <a:t>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4058" y="2720227"/>
            <a:ext cx="241797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文献检索</a:t>
            </a:r>
            <a:endParaRPr sz="22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44058" y="3172968"/>
            <a:ext cx="2417978" cy="25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检索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筛选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结构化阅读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27796" y="2514600"/>
            <a:ext cx="360669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7796" y="2514600"/>
            <a:ext cx="914400" cy="137160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7796" y="251460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Arial"/>
              </a:rPr>
              <a:t>6.3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9356" y="2720227"/>
            <a:ext cx="241797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58020"/>
                </a:solidFill>
                <a:latin typeface="Microsoft YaHei"/>
                <a:ea typeface="Microsoft YaHei"/>
              </a:rPr>
              <a:t>框架搭建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9356" y="3172968"/>
            <a:ext cx="2417978" cy="25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脉络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观点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综述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切入点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360669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114800"/>
            <a:ext cx="914400" cy="1371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Arial"/>
              </a:rPr>
              <a:t>6.4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320427"/>
            <a:ext cx="241797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Microsoft YaHei"/>
                <a:ea typeface="Microsoft YaHei"/>
              </a:rPr>
              <a:t>方案设计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73168"/>
            <a:ext cx="2417978" cy="25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思路 · 方法 · 流程 · 可行性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2498" y="4114800"/>
            <a:ext cx="360669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2498" y="4114800"/>
            <a:ext cx="914400" cy="137160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2498" y="411480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Arial"/>
              </a:rPr>
              <a:t>6.5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4058" y="4320427"/>
            <a:ext cx="241797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6A3D9A"/>
                </a:solidFill>
                <a:latin typeface="Microsoft YaHei"/>
                <a:ea typeface="Microsoft YaHei"/>
              </a:rPr>
              <a:t>论文写作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4058" y="4773168"/>
            <a:ext cx="2417978" cy="25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结构 · 初稿 · 表达 · 摘要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7796" y="4114800"/>
            <a:ext cx="360669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27796" y="4114800"/>
            <a:ext cx="914400" cy="13716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27796" y="411480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Arial"/>
              </a:rPr>
              <a:t>6.6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9356" y="4320427"/>
            <a:ext cx="241797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修改投稿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9356" y="4773168"/>
            <a:ext cx="2417978" cy="25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结构 · 表达 · 审稿 · 回复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247120" cy="65836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149227"/>
            <a:ext cx="112471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本章以研究生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“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小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扬”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的选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题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过程为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例，展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示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各环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节的提问与核查方法。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“小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扬”的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研究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过程示例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532120" cy="566928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50358"/>
            <a:ext cx="5532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起点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："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我想研究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教育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"（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模糊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051560"/>
            <a:ext cx="5644590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08776" y="1208681"/>
            <a:ext cx="5635446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目标：形成有证据支持、表述规范的研究成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果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" y="2286000"/>
            <a:ext cx="2210257" cy="1143000"/>
          </a:xfrm>
          <a:prstGeom prst="chevron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53378"/>
            <a:ext cx="175305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4740"/>
            <a:ext cx="175305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Microsoft YaHei"/>
                <a:ea typeface="Microsoft YaHei"/>
              </a:rPr>
              <a:t>模糊想法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3593592"/>
            <a:ext cx="1871929" cy="1280160"/>
          </a:xfrm>
          <a:prstGeom prst="rect">
            <a:avLst/>
          </a:prstGeom>
          <a:solidFill>
            <a:srgbClr val="F4F7FB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4095885"/>
            <a:ext cx="1762201" cy="2938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我想研究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教育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2329129" y="2286000"/>
            <a:ext cx="2210257" cy="1143000"/>
          </a:xfrm>
          <a:prstGeom prst="chevron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20569" y="2453378"/>
            <a:ext cx="175305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0569" y="2924740"/>
            <a:ext cx="175305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Microsoft YaHei"/>
                <a:ea typeface="Microsoft YaHei"/>
              </a:rPr>
              <a:t>清晰选题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38857" y="3593592"/>
            <a:ext cx="1871929" cy="1280160"/>
          </a:xfrm>
          <a:prstGeom prst="rect">
            <a:avLst/>
          </a:prstGeom>
          <a:solidFill>
            <a:srgbClr val="F4F7FB"/>
          </a:solidFill>
          <a:ln w="1587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93721" y="3936610"/>
            <a:ext cx="1762201" cy="612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对批判性思维的影响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4246778" y="2286000"/>
            <a:ext cx="2210257" cy="1143000"/>
          </a:xfrm>
          <a:prstGeom prst="chevron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8218" y="2453378"/>
            <a:ext cx="175305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8218" y="2924740"/>
            <a:ext cx="175305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Microsoft YaHei"/>
                <a:ea typeface="Microsoft YaHei"/>
              </a:rPr>
              <a:t>文献基础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6506" y="3593592"/>
            <a:ext cx="1871929" cy="1280160"/>
          </a:xfrm>
          <a:prstGeom prst="rect">
            <a:avLst/>
          </a:prstGeom>
          <a:solidFill>
            <a:srgbClr val="F4F7FB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11370" y="3936610"/>
            <a:ext cx="1762201" cy="612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检索·筛选·精读核心文献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6164427" y="2286000"/>
            <a:ext cx="2210257" cy="1143000"/>
          </a:xfrm>
          <a:prstGeom prst="chevron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5867" y="2453378"/>
            <a:ext cx="175305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5867" y="2924740"/>
            <a:ext cx="175305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Microsoft YaHei"/>
                <a:ea typeface="Microsoft YaHei"/>
              </a:rPr>
              <a:t>研究框架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4155" y="3593592"/>
            <a:ext cx="1871929" cy="1280160"/>
          </a:xfrm>
          <a:prstGeom prst="rect">
            <a:avLst/>
          </a:prstGeom>
          <a:solidFill>
            <a:srgbClr val="F4F7FB"/>
          </a:solidFill>
          <a:ln w="1587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9019" y="3936610"/>
            <a:ext cx="1762201" cy="612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脉络·观点·综述·切入点</a:t>
            </a:r>
          </a:p>
        </p:txBody>
      </p:sp>
      <p:sp>
        <p:nvSpPr>
          <p:cNvPr id="32" name="Chevron 31"/>
          <p:cNvSpPr/>
          <p:nvPr/>
        </p:nvSpPr>
        <p:spPr>
          <a:xfrm>
            <a:off x="8082076" y="2286000"/>
            <a:ext cx="2210257" cy="1143000"/>
          </a:xfrm>
          <a:prstGeom prst="chevron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73516" y="2453378"/>
            <a:ext cx="175305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3516" y="2924740"/>
            <a:ext cx="175305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Microsoft YaHei"/>
                <a:ea typeface="Microsoft YaHei"/>
              </a:rPr>
              <a:t>研究方案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1804" y="3593592"/>
            <a:ext cx="1871929" cy="1280160"/>
          </a:xfrm>
          <a:prstGeom prst="rect">
            <a:avLst/>
          </a:prstGeom>
          <a:solidFill>
            <a:srgbClr val="F4F7FB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46668" y="3936610"/>
            <a:ext cx="1762201" cy="612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思路·方法·流程·可行性</a:t>
            </a:r>
          </a:p>
        </p:txBody>
      </p:sp>
      <p:sp>
        <p:nvSpPr>
          <p:cNvPr id="37" name="Chevron 36"/>
          <p:cNvSpPr/>
          <p:nvPr/>
        </p:nvSpPr>
        <p:spPr>
          <a:xfrm>
            <a:off x="9999725" y="2286000"/>
            <a:ext cx="2210257" cy="1143000"/>
          </a:xfrm>
          <a:prstGeom prst="chevron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91165" y="2453378"/>
            <a:ext cx="175305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1165" y="2924740"/>
            <a:ext cx="175305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Microsoft YaHei"/>
                <a:ea typeface="Microsoft YaHei"/>
              </a:rPr>
              <a:t>论文成果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9453" y="3593592"/>
            <a:ext cx="1871929" cy="1280160"/>
          </a:xfrm>
          <a:prstGeom prst="rect">
            <a:avLst/>
          </a:prstGeom>
          <a:solidFill>
            <a:srgbClr val="F4F7FB"/>
          </a:solidFill>
          <a:ln w="1587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64317" y="3936610"/>
            <a:ext cx="1762201" cy="612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写作·表达·修改·投稿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86984"/>
            <a:ext cx="11247120" cy="7132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" y="5561552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可辅助组织材料与表达，选题、方法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和结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论仍由研究者判断。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732442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用A</a:t>
            </a:r>
            <a:r>
              <a:rPr sz="3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I发现和凝练研究选题</a:t>
            </a:r>
            <a:endParaRPr sz="3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97040" cy="761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从研究兴趣出发，逐步限定对象、变量与情境。AI可提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出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候选问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题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，研究价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值与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可行性需要结合文献和条件评估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辅助选题与问题凝练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934" y="1138586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四步选题凝练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从一句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"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我想研究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AI 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教育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" 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出发</a:t>
            </a:r>
            <a:endParaRPr sz="2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737027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了解领域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" y="3675888"/>
            <a:ext cx="2517571" cy="6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建立领域地图，聚焦生成式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辅助学习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84499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0803" y="2103120"/>
            <a:ext cx="2737027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0803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0803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85667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发现空白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40531" y="3675888"/>
            <a:ext cx="2517571" cy="6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梳理热点，核查有关思维能力的潜在问题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9543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2103120"/>
            <a:ext cx="2737027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5847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0711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拆解问题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05575" y="3675888"/>
            <a:ext cx="2517571" cy="6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明确研究变量、限定对象、提出具体问题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587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0891" y="2103120"/>
            <a:ext cx="2737027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0891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0891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755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评估优化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619" y="3675888"/>
            <a:ext cx="2517571" cy="6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四维度判断价值，形成论文题目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3979" y="5440680"/>
            <a:ext cx="11475720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5390" y="5479913"/>
            <a:ext cx="10972800" cy="835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选题需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要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经过检索、比较和论证，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不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能只依据模型建议确定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辅助选题与问题凝练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8099" y="973896"/>
            <a:ext cx="95403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第一步：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了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解领域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基本结构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3764280" cy="4042508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先梳理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领域概况，再结合综述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与核心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文献核查。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认知四要素：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领域定义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主要分支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核心问题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基本方法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小扬的收获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"AI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教育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并非单一问题，聚焦到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生成式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辅助学习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分支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此阶段先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明确概念与分支，为后续检索做准备。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22085" y="5831664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图6-1 </a:t>
            </a:r>
            <a:r>
              <a:rPr sz="1600" b="0" dirty="0" err="1">
                <a:latin typeface="Microsoft YaHei"/>
                <a:ea typeface="Microsoft YaHei"/>
              </a:rPr>
              <a:t>利用大模型快速了解研究领域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DAFA647-54E8-568A-9440-6DE86C6EC863}"/>
              </a:ext>
            </a:extLst>
          </p:cNvPr>
          <p:cNvGrpSpPr/>
          <p:nvPr/>
        </p:nvGrpSpPr>
        <p:grpSpPr>
          <a:xfrm>
            <a:off x="4622085" y="1613488"/>
            <a:ext cx="7066995" cy="4042507"/>
            <a:chOff x="3539" y="1837"/>
            <a:chExt cx="8600" cy="6344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6E9F573-847B-D3FB-C6A5-F424B1048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77" y="2219"/>
              <a:ext cx="862" cy="1391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05D02CD7-A3AE-E29B-289D-CC632D5C9A69}"/>
                </a:ext>
              </a:extLst>
            </p:cNvPr>
            <p:cNvSpPr/>
            <p:nvPr/>
          </p:nvSpPr>
          <p:spPr>
            <a:xfrm>
              <a:off x="3539" y="1837"/>
              <a:ext cx="7383" cy="217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请用学术视角介绍“人工智能教育应用”这一研究领域，包括：领域定义、主要研究方向、核心问题、常见研究方法和当前发展趋势。请用结构化方式表达，适合研究生入门。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5247532-0078-5B3D-0811-1582848A5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436"/>
              <a:ext cx="844" cy="1392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117308C-D6DB-3AF4-272D-E47C6F11CFD1}"/>
                </a:ext>
              </a:extLst>
            </p:cNvPr>
            <p:cNvSpPr/>
            <p:nvPr/>
          </p:nvSpPr>
          <p:spPr>
            <a:xfrm>
              <a:off x="4682" y="4236"/>
              <a:ext cx="6288" cy="394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“人工智能教育应用是指利用人工智能技术支持教学、学习与教育管理的研究领域。主要研究方向包括：智能辅导系统、学习分析、自适应学习系统、生成式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辅助学习等。核心问题包括：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是否能提升学习效果、如何实现个性化学习、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对教师角色的影响等。常见方法包括实验研究、问卷调查、学习行为数据分析等”</a:t>
              </a:r>
              <a:endParaRPr lang="zh-CN" altLang="zh-CN" sz="1600" dirty="0"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辅助选题与问题凝练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第二步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梳理热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点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与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待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研究问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248" y="1329452"/>
            <a:ext cx="9600304" cy="169519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热点：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告诉你领域当前的关注焦点与主流方向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空白：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提示尚未充分研究、值得切入的问题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小扬关注“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A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I使用与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思考能力”的关系，接着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检索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具体情境下的已有证据。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AI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出的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“空白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”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只是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线索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，需要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通过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系统检索确认。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56108" y="6249329"/>
            <a:ext cx="698260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 </a:t>
            </a:r>
            <a:r>
              <a:rPr sz="1600" b="0" dirty="0" err="1">
                <a:latin typeface="Microsoft YaHei"/>
                <a:ea typeface="Microsoft YaHei"/>
              </a:rPr>
              <a:t>利用大模型识别研究热点与潜在空白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D42771-36B6-40B7-118F-CA04C59A9DDF}"/>
              </a:ext>
            </a:extLst>
          </p:cNvPr>
          <p:cNvGrpSpPr/>
          <p:nvPr/>
        </p:nvGrpSpPr>
        <p:grpSpPr>
          <a:xfrm>
            <a:off x="1828855" y="3119718"/>
            <a:ext cx="8457697" cy="2901272"/>
            <a:chOff x="3540" y="2181"/>
            <a:chExt cx="8599" cy="591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22C425B9-7307-479B-5671-8F3AC4701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77" y="2181"/>
              <a:ext cx="862" cy="1832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8361615-93A0-3DE4-2E4E-9542BE78ADD6}"/>
                </a:ext>
              </a:extLst>
            </p:cNvPr>
            <p:cNvSpPr/>
            <p:nvPr/>
          </p:nvSpPr>
          <p:spPr>
            <a:xfrm>
              <a:off x="3541" y="2181"/>
              <a:ext cx="7381" cy="1832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请总结近5年“生成式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辅助学习”领域的主要研究热点，并指出当前研究中仍然存在的不足或潜在空白。请分别列出热点与空白，并进行简要说明。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4D6395B-B2A8-468E-0A65-A8BBF0F79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437"/>
              <a:ext cx="844" cy="1833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6E0D1DF-DA5F-32D4-E911-B2602371E6B7}"/>
                </a:ext>
              </a:extLst>
            </p:cNvPr>
            <p:cNvSpPr/>
            <p:nvPr/>
          </p:nvSpPr>
          <p:spPr>
            <a:xfrm>
              <a:off x="4682" y="4236"/>
              <a:ext cx="6288" cy="3861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示例中的热点方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向：写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作辅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助、即时答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疑、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个性化学习及课程应用，实际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情况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应据检索更新。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可进一步核查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的问题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认知参与、批判性思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维、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学科差异与长期使用效果。不能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仅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凭模型回答判定这些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方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面研究不足。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辅助选题与问题凝练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第三步：明确变量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限定对象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提出具体问题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3382" y="6148510"/>
            <a:ext cx="56157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Microsoft YaHei"/>
                <a:ea typeface="Microsoft YaHei"/>
              </a:rPr>
              <a:t>图6-3 </a:t>
            </a:r>
            <a:r>
              <a:rPr sz="1600" b="0" i="0" dirty="0" err="1">
                <a:latin typeface="Microsoft YaHei"/>
                <a:ea typeface="Microsoft YaHei"/>
              </a:rPr>
              <a:t>利用大模型拆解研究变量与研究问题</a:t>
            </a:r>
            <a:endParaRPr sz="1600" b="0" i="0" dirty="0">
              <a:latin typeface="Microsoft YaHei"/>
              <a:ea typeface="Microsoft YaHei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1352300-2417-789B-83DE-BB6D4B4BB37E}"/>
              </a:ext>
            </a:extLst>
          </p:cNvPr>
          <p:cNvGrpSpPr/>
          <p:nvPr/>
        </p:nvGrpSpPr>
        <p:grpSpPr>
          <a:xfrm>
            <a:off x="2632176" y="1664483"/>
            <a:ext cx="7289970" cy="4086799"/>
            <a:chOff x="3729" y="1167"/>
            <a:chExt cx="8055" cy="775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54B5F79-10CE-25F4-95A6-BCC26D69B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22" y="1726"/>
              <a:ext cx="862" cy="1883"/>
            </a:xfrm>
            <a:prstGeom prst="rect">
              <a:avLst/>
            </a:prstGeom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24658976-8F1A-0521-82BF-05802FB36DE0}"/>
                </a:ext>
              </a:extLst>
            </p:cNvPr>
            <p:cNvSpPr/>
            <p:nvPr/>
          </p:nvSpPr>
          <p:spPr>
            <a:xfrm>
              <a:off x="3730" y="1167"/>
              <a:ext cx="7192" cy="284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我的研究方向是“生成式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对大学生学习的影响”。请帮我：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1.拆解可能涉及的研究变量（自变量与因变量）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2.提出3-5个具体可研究的问题（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Research Questions）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要求问题具体、可测量、适合论文研究。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C02EB9E-2621-8881-CD95-9250690E8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29" y="4764"/>
              <a:ext cx="844" cy="1883"/>
            </a:xfrm>
            <a:prstGeom prst="rect">
              <a:avLst/>
            </a:prstGeom>
          </p:spPr>
        </p:pic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8255346C-DE06-AE8C-8762-33517323113D}"/>
                </a:ext>
              </a:extLst>
            </p:cNvPr>
            <p:cNvSpPr/>
            <p:nvPr/>
          </p:nvSpPr>
          <p:spPr>
            <a:xfrm>
              <a:off x="4573" y="4323"/>
              <a:ext cx="6288" cy="4594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变量包括：</a:t>
              </a:r>
            </a:p>
            <a:p>
              <a:pPr algn="just"/>
              <a:r>
                <a:rPr lang="en-US" altLang="en-US" sz="1600" dirty="0">
                  <a:latin typeface="宋体" pitchFamily="2" charset="-122"/>
                  <a:ea typeface="宋体" pitchFamily="2" charset="-122"/>
                </a:rPr>
                <a:t>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自变量：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使用频率、使用方式</a:t>
              </a:r>
            </a:p>
            <a:p>
              <a:pPr algn="just"/>
              <a:r>
                <a:rPr lang="en-US" altLang="en-US" sz="1600" dirty="0">
                  <a:latin typeface="宋体" pitchFamily="2" charset="-122"/>
                  <a:ea typeface="宋体" pitchFamily="2" charset="-122"/>
                </a:rPr>
                <a:t>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因变量：学习成绩、学习效率、批判性思维能力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研究问题包括：</a:t>
              </a:r>
            </a:p>
            <a:p>
              <a:pPr algn="just"/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    1. 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使用频率与学习成绩有何关系？</a:t>
              </a:r>
            </a:p>
            <a:p>
              <a:pPr algn="just"/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    2.AI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辅助学习是否改变学生的学习策略</a:t>
              </a:r>
            </a:p>
            <a:p>
              <a:pPr algn="just"/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    3. 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使用与批判性思维能力有何关系？</a:t>
              </a:r>
            </a:p>
            <a:p>
              <a:pPr algn="just"/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    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4.不同使用方式对学习效果是否存在差异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3821-DD68-5AA9-292B-94E5D1C7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57589-626A-896C-3F82-ABA458C250E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0B32D3B9-F317-0D5A-6645-BF0A6D607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91C225-4F25-B0B0-EFB3-10C5C1D1CAF3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89853-044F-0280-71E1-E3822AF24244}"/>
              </a:ext>
            </a:extLst>
          </p:cNvPr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6.1.3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1638B6-5E2D-12D9-9E1F-29043DD37323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76CC6-328A-736C-1E1C-F818B6FC7921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辅助选题与问题凝练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52BC7-5EF8-CDEE-46BC-AA8ADA191351}"/>
              </a:ext>
            </a:extLst>
          </p:cNvPr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第三步：明确变量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限定对象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提出具体问题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CCF9A4-9FEE-77BF-89D9-8D417DD8DC20}"/>
              </a:ext>
            </a:extLst>
          </p:cNvPr>
          <p:cNvSpPr txBox="1"/>
          <p:nvPr/>
        </p:nvSpPr>
        <p:spPr>
          <a:xfrm>
            <a:off x="2832699" y="5359717"/>
            <a:ext cx="56157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Microsoft YaHei"/>
                <a:ea typeface="Microsoft YaHei"/>
              </a:rPr>
              <a:t>图6-4 </a:t>
            </a:r>
            <a:r>
              <a:rPr sz="1600" b="0" i="0" dirty="0" err="1">
                <a:latin typeface="Microsoft YaHei"/>
                <a:ea typeface="Microsoft YaHei"/>
              </a:rPr>
              <a:t>生成硕士论文的研究问题</a:t>
            </a:r>
            <a:endParaRPr sz="1600" b="0" i="0" dirty="0">
              <a:latin typeface="Microsoft YaHei"/>
              <a:ea typeface="Microsoft YaHe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797E09-BDE4-FAD6-B174-E753D6D586F4}"/>
              </a:ext>
            </a:extLst>
          </p:cNvPr>
          <p:cNvSpPr/>
          <p:nvPr/>
        </p:nvSpPr>
        <p:spPr>
          <a:xfrm>
            <a:off x="365760" y="5983233"/>
            <a:ext cx="114757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C69F7-A837-47D8-930E-F133F6C96C6A}"/>
              </a:ext>
            </a:extLst>
          </p:cNvPr>
          <p:cNvSpPr txBox="1"/>
          <p:nvPr/>
        </p:nvSpPr>
        <p:spPr>
          <a:xfrm>
            <a:off x="520848" y="6087658"/>
            <a:ext cx="11544749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小扬将候选问题聚焦于“生成式AI与大学生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批判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性思维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”，继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续评估测量方法与研究设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计。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331E419-4B42-DC67-88E4-26CF30BE98BE}"/>
              </a:ext>
            </a:extLst>
          </p:cNvPr>
          <p:cNvGrpSpPr/>
          <p:nvPr/>
        </p:nvGrpSpPr>
        <p:grpSpPr>
          <a:xfrm>
            <a:off x="2452781" y="2079812"/>
            <a:ext cx="7793878" cy="2665424"/>
            <a:chOff x="3540" y="2238"/>
            <a:chExt cx="8292" cy="3498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9B126C9B-0692-012C-765F-D58AF1D45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0" y="2238"/>
              <a:ext cx="862" cy="1109"/>
            </a:xfrm>
            <a:prstGeom prst="rect">
              <a:avLst/>
            </a:prstGeom>
          </p:spPr>
        </p:pic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52279C8-26CD-DA8E-29D5-B66A8029506E}"/>
                </a:ext>
              </a:extLst>
            </p:cNvPr>
            <p:cNvSpPr/>
            <p:nvPr/>
          </p:nvSpPr>
          <p:spPr>
            <a:xfrm>
              <a:off x="3541" y="2238"/>
              <a:ext cx="7381" cy="1109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请结合已有材料比较候选问题的价值与可行性，说明还缺少哪些信息。</a:t>
              </a: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BF93E844-FDBB-13B4-93A5-FF90ABBFB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3821"/>
              <a:ext cx="844" cy="1109"/>
            </a:xfrm>
            <a:prstGeom prst="rect">
              <a:avLst/>
            </a:prstGeom>
          </p:spPr>
        </p:pic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FB52E7DC-03C9-13F5-680C-CCD5C3F5D574}"/>
                </a:ext>
              </a:extLst>
            </p:cNvPr>
            <p:cNvSpPr/>
            <p:nvPr/>
          </p:nvSpPr>
          <p:spPr>
            <a:xfrm>
              <a:off x="4493" y="3821"/>
              <a:ext cx="6477" cy="191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候选问题：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“生成式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I辅助学习与大学生批判性思维的关系”。需界定使用方式与测量工具，因果判断还需相应研究设计。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128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6.1.4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辅助选题与问题凝练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4440" y="900092"/>
            <a:ext cx="957340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第四步：四个维度判断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值不值得做、能不能完成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076" y="1331901"/>
            <a:ext cx="8070448" cy="169519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理论价值：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能否补充或推进已有理论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实践价值：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能否回应真实的教学与学习需求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创新性：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视角、方法或结论是否有新意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6A3D9A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6A3D9A"/>
                </a:solidFill>
                <a:latin typeface="Microsoft YaHei"/>
                <a:ea typeface="Microsoft YaHei"/>
              </a:rPr>
              <a:t>可行性：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样本、数据、时间是否支撑落地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1300" y="6274103"/>
            <a:ext cx="5593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图6-5 </a:t>
            </a:r>
            <a:r>
              <a:rPr sz="1600" b="0" dirty="0" err="1">
                <a:latin typeface="Microsoft YaHei"/>
                <a:ea typeface="Microsoft YaHei"/>
              </a:rPr>
              <a:t>研究问题评估与优化示意图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17558D1-AF36-DD0C-F308-D29D03A65CC6}"/>
              </a:ext>
            </a:extLst>
          </p:cNvPr>
          <p:cNvGrpSpPr/>
          <p:nvPr/>
        </p:nvGrpSpPr>
        <p:grpSpPr>
          <a:xfrm>
            <a:off x="1782858" y="3170258"/>
            <a:ext cx="8626284" cy="3012519"/>
            <a:chOff x="3540" y="1471"/>
            <a:chExt cx="8244" cy="5988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86AE8E3-5EF1-13C7-0488-A4E97CBAD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22" y="2091"/>
              <a:ext cx="862" cy="1923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EBC12F0-D675-8D31-527C-C52DBFE32401}"/>
                </a:ext>
              </a:extLst>
            </p:cNvPr>
            <p:cNvSpPr/>
            <p:nvPr/>
          </p:nvSpPr>
          <p:spPr>
            <a:xfrm>
              <a:off x="3541" y="1471"/>
              <a:ext cx="7381" cy="2542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请从以下四个方面评估这个研究问题：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“生成式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辅助学习对大学生批判性思维能力的影响”1.理论价值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 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2.实践价值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 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3.创新性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 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4.可行性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并指出可能存在的问题及改进建议。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C476B1D-F65C-F837-787D-B413A9F10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436"/>
              <a:ext cx="844" cy="1692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4190929-2A4F-74CC-55BB-0A5CFF206596}"/>
                </a:ext>
              </a:extLst>
            </p:cNvPr>
            <p:cNvSpPr/>
            <p:nvPr/>
          </p:nvSpPr>
          <p:spPr>
            <a:xfrm>
              <a:off x="4655" y="4192"/>
              <a:ext cx="6266" cy="3267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理论价值：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有助于拓展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教育与认知发展研究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实践价值：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为教学设计提供参考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创新性：需与已有研究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比较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，不能仅凭主题较新判断。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可行性：需核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对样本、测量工具、研究设计与时间条件。</a:t>
              </a:r>
              <a:endParaRPr lang="en-US" altLang="zh-CN" sz="1600" dirty="0">
                <a:latin typeface="宋体" pitchFamily="2" charset="-122"/>
                <a:ea typeface="宋体" pitchFamily="2" charset="-122"/>
              </a:endParaRP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建议：进一步明确“批判性思维”的测量方式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6.1.5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辅助选题与问题凝练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28943" y="886968"/>
            <a:ext cx="64536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交叉学科视角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下的选题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1" y="1935631"/>
            <a:ext cx="3987648" cy="3303844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教育学：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AI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如何改变学习过程与教学方式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心理学：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认知负荷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自我调节学习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思维参与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计算机科学：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生成式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机制与提示词交互逻辑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伦理学：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技术依赖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学术诚信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人机协作边界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pic>
        <p:nvPicPr>
          <p:cNvPr id="11" name="Picture 10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823" y="1400778"/>
            <a:ext cx="6452057" cy="43032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54484" y="5751281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图6-6 </a:t>
            </a:r>
            <a:r>
              <a:rPr sz="1600" b="0" dirty="0" err="1">
                <a:latin typeface="Microsoft YaHei"/>
                <a:ea typeface="Microsoft YaHei"/>
              </a:rPr>
              <a:t>交叉学科研究问题生成提示示意图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6053328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147830"/>
            <a:ext cx="11018520" cy="377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跨学科视角可提供不同解释路径，是否有研究价值仍取决于问题与证据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46604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用A</a:t>
            </a:r>
            <a:r>
              <a:rPr sz="3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I检索和阅读文献</a:t>
            </a:r>
            <a:endParaRPr sz="3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1161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AI可帮助设计检索式、初筛论文和整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理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阅读笔记。检索结果、论文方法及主要结论需要回到原文核对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文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献检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索与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阅读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的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三项任务</a:t>
            </a:r>
            <a:endParaRPr sz="2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667658" cy="36576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3667658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339333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怎么检索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58568"/>
            <a:ext cx="3301898" cy="114940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把模糊主题拆成可检索的学术概念，构建可组合的关键词检索网络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2018" y="1600200"/>
            <a:ext cx="3667658" cy="36576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2018" y="1600200"/>
            <a:ext cx="3667658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9178" y="1698998"/>
            <a:ext cx="339333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②  读哪些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898" y="2258568"/>
            <a:ext cx="3301898" cy="118788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从几十、上百篇文献中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筛选真正值得优先阅读的核心文献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2556" y="1600200"/>
            <a:ext cx="3667658" cy="3657600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2556" y="1600200"/>
            <a:ext cx="3667658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9716" y="1698998"/>
            <a:ext cx="339333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③  讲了什么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2258568"/>
            <a:ext cx="3301898" cy="118788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把论文内容结构化提炼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转化为可服务写作的研究资源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305" y="5725037"/>
            <a:ext cx="11368735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79" y="5836174"/>
            <a:ext cx="11109961" cy="346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AI可以辅助整理，阅读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标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准与学术判断仍需要研究者把握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7085" y="118300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把研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究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主题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转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化为检索概念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068" y="2046458"/>
            <a:ext cx="10389557" cy="349710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▶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“AI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教育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”等词可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作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起点，还需按研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对象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、任务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和方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法扩展组合。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四步加工：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概念提炼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关键词扩展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中英文对照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组合建议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拆解维度：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同义词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近义词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上位词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下位词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英文表达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▶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在知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网、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万方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Web of Science等数据库中测试，并按检索语法调整。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313A-2762-3861-159F-87A99932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D037EF-E623-C488-792D-42A1B5D350B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C75B6AE4-3A11-0B7C-59C5-C9BCC67D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DC31A0-6A18-1B77-410B-98C6F23D1999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D4DD8-6BF0-3979-7E5E-E7A131C7BEAC}"/>
              </a:ext>
            </a:extLst>
          </p:cNvPr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C0B04-0483-7648-562B-725DEF702CC2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761AF-FF32-B1BE-F7F2-66461A296AEB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0A087-CEDF-833F-3D04-C3FFB6340604}"/>
              </a:ext>
            </a:extLst>
          </p:cNvPr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把研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究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主题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转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化为检索概念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44DB7-4827-7A26-A287-1AB69654E24D}"/>
              </a:ext>
            </a:extLst>
          </p:cNvPr>
          <p:cNvSpPr txBox="1"/>
          <p:nvPr/>
        </p:nvSpPr>
        <p:spPr>
          <a:xfrm>
            <a:off x="2711343" y="5911419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图6-7 </a:t>
            </a:r>
            <a:r>
              <a:rPr sz="1600" b="0" dirty="0" err="1">
                <a:latin typeface="Microsoft YaHei"/>
                <a:ea typeface="Microsoft YaHei"/>
              </a:rPr>
              <a:t>学术文献检索任务提示示意图和回答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F963FEF-1792-C368-2E06-C600B5AEF175}"/>
              </a:ext>
            </a:extLst>
          </p:cNvPr>
          <p:cNvGrpSpPr/>
          <p:nvPr/>
        </p:nvGrpSpPr>
        <p:grpSpPr>
          <a:xfrm>
            <a:off x="975733" y="1542177"/>
            <a:ext cx="10745551" cy="4123406"/>
            <a:chOff x="3541" y="1958"/>
            <a:chExt cx="8221" cy="5112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9C10490-77B8-52A9-FB0E-A91A60B90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89" y="2302"/>
              <a:ext cx="773" cy="1086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CA9EE1A-3396-97A2-61DC-69853C137679}"/>
                </a:ext>
              </a:extLst>
            </p:cNvPr>
            <p:cNvSpPr/>
            <p:nvPr/>
          </p:nvSpPr>
          <p:spPr>
            <a:xfrm>
              <a:off x="3541" y="1958"/>
              <a:ext cx="7381" cy="201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我想检索与“生成式人工智能辅助大学生写作学习”相关的学术文献。请帮我完成以下任务：</a:t>
              </a:r>
              <a:endParaRPr lang="zh-CN" altLang="en-US" sz="1600" dirty="0">
                <a:latin typeface="宋体" charset="0"/>
                <a:ea typeface="宋体" charset="0"/>
                <a:cs typeface="宋体" charset="0"/>
              </a:endParaRPr>
            </a:p>
            <a:p>
              <a:pPr algn="just"/>
              <a:r>
                <a:rPr lang="en-US" altLang="zh-CN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1 </a:t>
              </a:r>
              <a:r>
                <a:rPr lang="zh-CN" altLang="en-US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提炼这一主题中的核心概念；</a:t>
              </a:r>
              <a:endParaRPr lang="zh-CN" altLang="en-US" sz="1600" dirty="0">
                <a:latin typeface="宋体" charset="0"/>
                <a:ea typeface="宋体" charset="0"/>
                <a:cs typeface="宋体" charset="0"/>
              </a:endParaRPr>
            </a:p>
            <a:p>
              <a:pPr algn="just"/>
              <a:r>
                <a:rPr lang="en-US" altLang="zh-CN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2 </a:t>
              </a:r>
              <a:r>
                <a:rPr lang="zh-CN" altLang="en-US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为每个核心概念分别列出常见中文关键词、英文关键词、近义表达；</a:t>
              </a:r>
              <a:endParaRPr lang="zh-CN" altLang="en-US" sz="1600" dirty="0">
                <a:latin typeface="宋体" charset="0"/>
                <a:ea typeface="宋体" charset="0"/>
                <a:cs typeface="宋体" charset="0"/>
              </a:endParaRPr>
            </a:p>
            <a:p>
              <a:pPr algn="just"/>
              <a:r>
                <a:rPr lang="en-US" altLang="zh-CN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3 </a:t>
              </a:r>
              <a:r>
                <a:rPr lang="zh-CN" altLang="en-US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给出适合在中文数据库和英文数据库中使用的关键词组合建议；</a:t>
              </a:r>
              <a:endParaRPr lang="zh-CN" altLang="en-US" sz="1600" dirty="0">
                <a:latin typeface="宋体" charset="0"/>
                <a:ea typeface="宋体" charset="0"/>
                <a:cs typeface="宋体" charset="0"/>
              </a:endParaRPr>
            </a:p>
            <a:p>
              <a:pPr algn="just"/>
              <a:r>
                <a:rPr lang="en-US" altLang="zh-CN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4 </a:t>
              </a:r>
              <a:r>
                <a:rPr lang="zh-CN" altLang="en-US" sz="1600" dirty="0">
                  <a:latin typeface="宋体" charset="0"/>
                  <a:ea typeface="宋体" charset="0"/>
                  <a:cs typeface="宋体" charset="0"/>
                  <a:sym typeface="+mn-ea"/>
                </a:rPr>
                <a:t>尽量使用学术研究中常见的正式表达，而不是口语表达。</a:t>
              </a:r>
              <a:endParaRPr lang="zh-CN" altLang="en-US" sz="1600" dirty="0">
                <a:latin typeface="宋体" charset="0"/>
                <a:ea typeface="宋体" charset="0"/>
                <a:cs typeface="宋体" charset="0"/>
              </a:endParaRP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7BE4178-C8E2-9876-3E96-13FF6AA24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97" y="4436"/>
              <a:ext cx="787" cy="1206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FBBFF93-FE3B-6421-6EF8-F40C6E406678}"/>
                </a:ext>
              </a:extLst>
            </p:cNvPr>
            <p:cNvSpPr/>
            <p:nvPr/>
          </p:nvSpPr>
          <p:spPr>
            <a:xfrm>
              <a:off x="4656" y="4192"/>
              <a:ext cx="6266" cy="2878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核心概念包括三类：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第一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，生成式人工智能，可使用“生成式人工智能、大语言模型、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AIGC”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等中文关键词，对应英文表达如 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generative AI、large language model、LLM，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也可结合 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ChatGPT 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等相关表达；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第二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，大学生，可使用“大学生、本科生、高校学生”等中文关键词，对应英文表达如 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university students、college students、undergraduate students；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第三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，写作学习，可使用“学术写作、写作学习、写作能力、论文写作”等中文关键词，对应英文表达如 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academic writing、writing learning、writing performance、writing support。</a:t>
              </a:r>
              <a:endParaRPr lang="zh-CN" altLang="en-US" sz="1600" dirty="0">
                <a:latin typeface="宋体" pitchFamily="2" charset="-122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150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关键词不是固定的，而是随研究目的不断调整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643134"/>
            <a:ext cx="3145715" cy="441184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了解概况：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先用较宽的关键词组合，快速建立全局认知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锁定高相关：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逐步收缩条件，提高检索精准度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把握国际趋势：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优先使用英文关键词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国际数据库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6A3D9A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6A3D9A"/>
                </a:solidFill>
                <a:latin typeface="Microsoft YaHei"/>
                <a:ea typeface="Microsoft YaHei"/>
              </a:rPr>
              <a:t>根据检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索结果调整范围，兼顾相关性与遗漏风险。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55285" y="6156308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图6-8 </a:t>
            </a:r>
            <a:r>
              <a:rPr sz="1600" b="0" dirty="0" err="1">
                <a:latin typeface="Microsoft YaHei"/>
                <a:ea typeface="Microsoft YaHei"/>
              </a:rPr>
              <a:t>不同层次文献检索策略示意图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34C10F7-964C-A42A-A444-9D8827C52E99}"/>
              </a:ext>
            </a:extLst>
          </p:cNvPr>
          <p:cNvGrpSpPr/>
          <p:nvPr/>
        </p:nvGrpSpPr>
        <p:grpSpPr>
          <a:xfrm>
            <a:off x="3779234" y="1583052"/>
            <a:ext cx="8170863" cy="4411840"/>
            <a:chOff x="3539" y="1170"/>
            <a:chExt cx="8071" cy="6915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4B5513D9-B72E-47E6-FF08-8927CDF40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33" y="1583"/>
              <a:ext cx="777" cy="1352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235E03B-AB4B-A5FB-44E9-71DEE42B6B92}"/>
                </a:ext>
              </a:extLst>
            </p:cNvPr>
            <p:cNvSpPr/>
            <p:nvPr/>
          </p:nvSpPr>
          <p:spPr>
            <a:xfrm>
              <a:off x="3539" y="1170"/>
              <a:ext cx="7267" cy="244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请根据“生成式人工智能辅助大学生写作学习”这一主题，为我设计三组不同层次的文献检索式：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1.用于快速了解领域的宽泛检索式；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2.用于筛选高相关文献的聚焦检索式；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3.用于查找国外核心研究的英文检索式。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请分别说明每组检索式适合什么目的。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090DCF1-9F43-E5D1-BF3A-2997FF674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9" y="3777"/>
              <a:ext cx="844" cy="1479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906E062-8B32-6FFF-DAF9-9C2D1AAE743F}"/>
                </a:ext>
              </a:extLst>
            </p:cNvPr>
            <p:cNvSpPr/>
            <p:nvPr/>
          </p:nvSpPr>
          <p:spPr>
            <a:xfrm>
              <a:off x="4477" y="3863"/>
              <a:ext cx="6491" cy="422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宽泛检索式：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“人工智能” 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AND “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教育”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适用目的：快速了解大领域，获得背景性文献与综述性研究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聚焦检索式：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“生成式人工智能” 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AND “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大学生” 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AND “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学术写作”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适用目的：锁定与研究主题直接相关的实证研究和案例研究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英文核心检索式：</a:t>
              </a:r>
            </a:p>
            <a:p>
              <a:pPr algn="just"/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“generative AI” AND “higher education” AND “academic writing”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适用目的：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查找国际期刊中关于生成式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与大学写作的前沿研究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根据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研究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问题确定优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先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阅读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文献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495044"/>
            <a:ext cx="11247120" cy="169519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奠基性：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确立领域基本概念与理论基础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代表性：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方法、对象或结论具有典型意义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影响力：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被后续研究频繁引用，影响领域发展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高相关：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直接支撑你的选题、综述或研究设计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03953"/>
            <a:ext cx="1118311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图6-9 </a:t>
            </a:r>
            <a:r>
              <a:rPr sz="1600" b="0" dirty="0" err="1">
                <a:latin typeface="Microsoft YaHei"/>
                <a:ea typeface="Microsoft YaHei"/>
              </a:rPr>
              <a:t>核心文献筛选任务提示示意图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B9F5078-9FD5-CAA0-FA9D-10B41C50B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11" y="3383267"/>
            <a:ext cx="10968985" cy="254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按明确标准筛选文献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537025"/>
            <a:ext cx="3959711" cy="4213901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主题相关：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是否直接涉及生成式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AI、写作学习与认知参与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4CA0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4CA0"/>
                </a:solidFill>
                <a:latin typeface="Microsoft YaHei"/>
                <a:ea typeface="Microsoft YaHei"/>
              </a:rPr>
              <a:t>概念理论：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是否提供关键概念或理论模型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2E8B57"/>
                </a:solidFill>
                <a:latin typeface="Microsoft YaHei"/>
                <a:ea typeface="Microsoft YaHei"/>
              </a:rPr>
              <a:t>方法借鉴：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研究方法是否具有参考价值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F58020"/>
                </a:solidFill>
                <a:latin typeface="Microsoft YaHei"/>
                <a:ea typeface="Microsoft YaHei"/>
              </a:rPr>
              <a:t>研究质量：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重点检查设计、方法与论证。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6A3D9A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6A3D9A"/>
                </a:solidFill>
                <a:latin typeface="Microsoft YaHei"/>
                <a:ea typeface="Microsoft YaHei"/>
              </a:rPr>
              <a:t>领域影响：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被引情况与领域影响力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C0392B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C0392B"/>
                </a:solidFill>
                <a:latin typeface="Microsoft YaHei"/>
                <a:ea typeface="Microsoft YaHei"/>
              </a:rPr>
              <a:t>新问题：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是否回应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进入教育后的新议题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0" y="5696712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图6-10 </a:t>
            </a:r>
            <a:r>
              <a:rPr sz="1600" b="0" dirty="0" err="1">
                <a:latin typeface="Microsoft YaHei"/>
                <a:ea typeface="Microsoft YaHei"/>
              </a:rPr>
              <a:t>核心文献判断标准生成提示示意图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6053328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163572"/>
            <a:ext cx="11018520" cy="346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辅助初筛、分类、排序，但精读哪几篇，仍应由研究者结合自身研究问题决定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B473B13-42FA-D5C7-C5CD-4278CEA96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207" y="1356899"/>
            <a:ext cx="6418885" cy="42849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提取论文的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问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题、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方法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与证据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23846"/>
            <a:ext cx="3802828" cy="4042508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十个维度：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背景·问题·理论·对象·方法·数据·结论·创新·局限·启发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用法：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给出摘要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引言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方法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结论，让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生成结构化阅读笔记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二次检查：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是否准确反映原文？是否遗漏关键变量？是否有原文未支持的推断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警惕：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AI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可能把相关误作因果，把谨慎结论概括得过于绝对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7625" y="5668669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图6-11 </a:t>
            </a:r>
            <a:r>
              <a:rPr sz="1600" b="0" dirty="0" err="1">
                <a:latin typeface="Microsoft YaHei"/>
                <a:ea typeface="Microsoft YaHei"/>
              </a:rPr>
              <a:t>单篇论文结构化阅读任务提示示意图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6053328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147830"/>
            <a:ext cx="11018520" cy="377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笔记只是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初步提炼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"，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涉及方法、数据与结论时必须回到原文核对</a:t>
            </a:r>
            <a:r>
              <a:rPr sz="15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5" name="图片 14" descr="new4---13">
            <a:extLst>
              <a:ext uri="{FF2B5EF4-FFF2-40B4-BE49-F238E27FC236}">
                <a16:creationId xmlns:a16="http://schemas.microsoft.com/office/drawing/2014/main" id="{E1D6A40A-5E3D-03CF-0B83-BEBA9B2A9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101" y="1448145"/>
            <a:ext cx="6671827" cy="42185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6.2.3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AI 辅助文献检索与阅读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0066CC"/>
                </a:solidFill>
                <a:latin typeface="Microsoft YaHei"/>
                <a:ea typeface="Microsoft YaHei"/>
              </a:rPr>
              <a:t>多篇文献的比较阅读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7953" y="6103954"/>
            <a:ext cx="56157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Microsoft YaHei"/>
                <a:ea typeface="Microsoft YaHei"/>
              </a:rPr>
              <a:t>图6-12 </a:t>
            </a:r>
            <a:r>
              <a:rPr sz="1600" b="0" i="0" dirty="0" err="1">
                <a:latin typeface="Microsoft YaHei"/>
                <a:ea typeface="Microsoft YaHei"/>
              </a:rPr>
              <a:t>多篇文献比较阅读任务提示示意图</a:t>
            </a:r>
            <a:endParaRPr sz="1600" b="0" i="0" dirty="0">
              <a:latin typeface="Microsoft YaHei"/>
              <a:ea typeface="Microsoft YaHei"/>
            </a:endParaRPr>
          </a:p>
        </p:txBody>
      </p:sp>
      <p:pic>
        <p:nvPicPr>
          <p:cNvPr id="19" name="图片 18" descr="new money--14">
            <a:extLst>
              <a:ext uri="{FF2B5EF4-FFF2-40B4-BE49-F238E27FC236}">
                <a16:creationId xmlns:a16="http://schemas.microsoft.com/office/drawing/2014/main" id="{A26A1B52-C22C-2BE3-DE2D-E900CDBB7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764" y="1463040"/>
            <a:ext cx="7193431" cy="44399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D091-D17F-4308-E89E-D1BD13C4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E304E2-EA6B-43AB-C143-C4AFC1F9C0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EB3D3FC3-B638-E425-4D6C-E2E7FA4B5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C946B8-0D49-5C3E-3295-ACC7ABC9A209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36203-2322-69AD-5CDC-FFAB39806590}"/>
              </a:ext>
            </a:extLst>
          </p:cNvPr>
          <p:cNvSpPr txBox="1"/>
          <p:nvPr/>
        </p:nvSpPr>
        <p:spPr>
          <a:xfrm>
            <a:off x="27432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6.2.3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636C6E-1DAF-4B5B-CC8D-6D11555EE0F8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519AF-C5AC-A00E-6779-D1221C541B3C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AI 辅助文献检索与阅读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C95A0-240C-C623-D32D-433AAF4E6F1D}"/>
              </a:ext>
            </a:extLst>
          </p:cNvPr>
          <p:cNvSpPr txBox="1"/>
          <p:nvPr/>
        </p:nvSpPr>
        <p:spPr>
          <a:xfrm>
            <a:off x="3036641" y="5563267"/>
            <a:ext cx="56157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Microsoft YaHei"/>
                <a:ea typeface="Microsoft YaHei"/>
              </a:rPr>
              <a:t>图6-13 </a:t>
            </a:r>
            <a:r>
              <a:rPr sz="1600" b="0" i="0" dirty="0" err="1">
                <a:latin typeface="Microsoft YaHei"/>
                <a:ea typeface="Microsoft YaHei"/>
              </a:rPr>
              <a:t>研究局限与启发提炼任务提示示意图</a:t>
            </a:r>
            <a:endParaRPr sz="1600" b="0" i="0" dirty="0">
              <a:latin typeface="Microsoft YaHei"/>
              <a:ea typeface="Microsoft YaHe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31C49A-E4AF-56C1-6522-45FF0E19943D}"/>
              </a:ext>
            </a:extLst>
          </p:cNvPr>
          <p:cNvSpPr/>
          <p:nvPr/>
        </p:nvSpPr>
        <p:spPr>
          <a:xfrm>
            <a:off x="365760" y="6035040"/>
            <a:ext cx="114757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B864C-AF45-73BC-C215-E7E9DFF6A998}"/>
              </a:ext>
            </a:extLst>
          </p:cNvPr>
          <p:cNvSpPr txBox="1"/>
          <p:nvPr/>
        </p:nvSpPr>
        <p:spPr>
          <a:xfrm>
            <a:off x="638287" y="6124694"/>
            <a:ext cx="11109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从论文局限中寻找候选问题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，并判断这些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局限是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否已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被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后续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研究解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决。</a:t>
            </a:r>
          </a:p>
        </p:txBody>
      </p:sp>
      <p:pic>
        <p:nvPicPr>
          <p:cNvPr id="17" name="图片 16" descr="new4--15">
            <a:extLst>
              <a:ext uri="{FF2B5EF4-FFF2-40B4-BE49-F238E27FC236}">
                <a16:creationId xmlns:a16="http://schemas.microsoft.com/office/drawing/2014/main" id="{B297A2EC-7FD9-85FE-F1E8-462CBB9AC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572" y="1048512"/>
            <a:ext cx="6618535" cy="44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61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辅助文献检索与阅读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文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献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检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索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与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阅读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小结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3692042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369204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3692042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3061454"/>
            <a:ext cx="358231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建立检索路径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" y="3675888"/>
            <a:ext cx="3472586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自然语言 → 学术检索语言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9514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5818" y="2103120"/>
            <a:ext cx="3692042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85818" y="2103120"/>
            <a:ext cx="369204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5818" y="2788920"/>
            <a:ext cx="3692042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0682" y="3061454"/>
            <a:ext cx="358231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筛选核心文献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5546" y="3675888"/>
            <a:ext cx="3472586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建立标准，定优先阅读顺序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9572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5876" y="2103120"/>
            <a:ext cx="3692042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5876" y="2103120"/>
            <a:ext cx="369204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5876" y="2788920"/>
            <a:ext cx="3692042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60740" y="3061454"/>
            <a:ext cx="358231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结构化提炼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5604" y="3675888"/>
            <a:ext cx="3472586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把论文内容转化为研究资源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69280"/>
            <a:ext cx="11475720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0572" y="5940075"/>
            <a:ext cx="11300908" cy="333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不编造文献，不以A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I摘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要代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替原文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。引用前核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对出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处与含义，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检查模型是否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过度概括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98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用AI</a:t>
            </a:r>
            <a:r>
              <a:rPr sz="3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搭建文献综述框架</a:t>
            </a:r>
            <a:endParaRPr sz="3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65551" y="4023360"/>
            <a:ext cx="6860690" cy="761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在阅读基础上梳理发展脉络、比较主要观点，组织文献综述，并说明自己的研究问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题与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已有工作的关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系。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0575" y="1068062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明确本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研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究与已有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工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作的关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737027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梳理脉络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675888"/>
            <a:ext cx="2517571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领域如何形成与演进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84499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0803" y="2103120"/>
            <a:ext cx="2737027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0803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0803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85667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归纳观点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0531" y="3675888"/>
            <a:ext cx="2517571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已有研究的主要立场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9543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2103120"/>
            <a:ext cx="2737027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5847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0711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搭建综述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575" y="3675888"/>
            <a:ext cx="2517571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组织成有逻辑的框架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587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0891" y="2103120"/>
            <a:ext cx="2737027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0891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0891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755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形成切入点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619" y="3675888"/>
            <a:ext cx="2517571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找到自己的研究位置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69280"/>
            <a:ext cx="11475720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26425"/>
            <a:ext cx="109728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框架应帮助读者理解研究问题、证据和后续设计之间的联系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5EB66-E0B2-154D-B8D2-0AC40A3B9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3C7EEC-622C-AAB7-2D48-1474277BEED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24353BC8-A578-AE98-A834-0A96038F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7C138E-7919-EE6B-DE2A-6CA0818F5262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AE1C1-2A2C-00AF-4616-14585ACE7B2A}"/>
              </a:ext>
            </a:extLst>
          </p:cNvPr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C49B37-35E8-E168-45A5-25519B03F796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20317-1CB5-8643-654C-67AE2484CD08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DB25C-8AE3-BF25-2297-368423115423}"/>
              </a:ext>
            </a:extLst>
          </p:cNvPr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梳理研究脉络：按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阶段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—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背景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—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问题演变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—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新变化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"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组织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0136CF-356E-83B4-96DC-22BF7A91259F}"/>
              </a:ext>
            </a:extLst>
          </p:cNvPr>
          <p:cNvSpPr txBox="1"/>
          <p:nvPr/>
        </p:nvSpPr>
        <p:spPr>
          <a:xfrm>
            <a:off x="3173653" y="5730338"/>
            <a:ext cx="56157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Microsoft YaHei"/>
                <a:ea typeface="Microsoft YaHei"/>
              </a:rPr>
              <a:t>图6-14 </a:t>
            </a:r>
            <a:r>
              <a:rPr sz="1600" b="0" i="0" dirty="0" err="1">
                <a:latin typeface="Microsoft YaHei"/>
                <a:ea typeface="Microsoft YaHei"/>
              </a:rPr>
              <a:t>人工智能辅助写作学习发展脉络（提示</a:t>
            </a:r>
            <a:r>
              <a:rPr sz="1600" b="0" i="0" dirty="0"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3FCE3-F2AC-B65E-7826-C202774E7E0A}"/>
              </a:ext>
            </a:extLst>
          </p:cNvPr>
          <p:cNvSpPr/>
          <p:nvPr/>
        </p:nvSpPr>
        <p:spPr>
          <a:xfrm>
            <a:off x="365760" y="6035040"/>
            <a:ext cx="114757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999D9D-EEBB-BD0B-D879-25778179E48E}"/>
              </a:ext>
            </a:extLst>
          </p:cNvPr>
          <p:cNvSpPr txBox="1"/>
          <p:nvPr/>
        </p:nvSpPr>
        <p:spPr>
          <a:xfrm>
            <a:off x="548640" y="6124694"/>
            <a:ext cx="11109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梳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理研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究发展过程，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有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助于说明本研究承接了哪些问题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26B997A-B5A3-710E-2A8A-C8FF7414A3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917" y="1670566"/>
            <a:ext cx="5899911" cy="393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47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22751" y="6021672"/>
            <a:ext cx="56157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Microsoft YaHei"/>
                <a:ea typeface="Microsoft YaHei"/>
              </a:rPr>
              <a:t>图6-15 </a:t>
            </a:r>
            <a:r>
              <a:rPr sz="1600" b="0" i="0" dirty="0" err="1">
                <a:latin typeface="Microsoft YaHei"/>
                <a:ea typeface="Microsoft YaHei"/>
              </a:rPr>
              <a:t>人工智能辅助写作学习的发展脉络（输出</a:t>
            </a:r>
            <a:r>
              <a:rPr sz="1600" b="0" i="0" dirty="0">
                <a:latin typeface="Microsoft YaHei"/>
                <a:ea typeface="Microsoft YaHei"/>
              </a:rPr>
              <a:t>）</a:t>
            </a:r>
          </a:p>
        </p:txBody>
      </p:sp>
      <p:pic>
        <p:nvPicPr>
          <p:cNvPr id="17" name="图片 16" descr="4----15">
            <a:extLst>
              <a:ext uri="{FF2B5EF4-FFF2-40B4-BE49-F238E27FC236}">
                <a16:creationId xmlns:a16="http://schemas.microsoft.com/office/drawing/2014/main" id="{0287EA02-E595-65DC-B399-72010D9FA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670" y="983653"/>
            <a:ext cx="7331318" cy="489069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依据文献分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析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研究趋势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64" y="1773393"/>
            <a:ext cx="3302454" cy="400871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提问方式：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不泛问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介绍历史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而引导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AI 按 "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阶段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趋势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新变化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组织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趋势的意义：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判断研究位置的基础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——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知道领域正往哪里去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形成发展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脉络和趋势的草案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经原文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核查后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再用于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综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述。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 趋势判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断应说明所依据的文献范围与时间段。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4059" y="5925312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图6-16 </a:t>
            </a:r>
            <a:r>
              <a:rPr sz="1600" b="0" dirty="0" err="1">
                <a:latin typeface="Microsoft YaHei"/>
                <a:ea typeface="Microsoft YaHei"/>
              </a:rPr>
              <a:t>生成式</a:t>
            </a:r>
            <a:r>
              <a:rPr sz="1600" b="0" dirty="0">
                <a:latin typeface="Microsoft YaHei"/>
                <a:ea typeface="Microsoft YaHei"/>
              </a:rPr>
              <a:t> AI </a:t>
            </a:r>
            <a:r>
              <a:rPr sz="1600" b="0" dirty="0" err="1">
                <a:latin typeface="Microsoft YaHei"/>
                <a:ea typeface="Microsoft YaHei"/>
              </a:rPr>
              <a:t>辅助大学写作学习的发展趋势概括示意图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94EB990-5C23-D703-EA7A-BCAF5F85017F}"/>
              </a:ext>
            </a:extLst>
          </p:cNvPr>
          <p:cNvGrpSpPr/>
          <p:nvPr/>
        </p:nvGrpSpPr>
        <p:grpSpPr>
          <a:xfrm>
            <a:off x="4285129" y="1817476"/>
            <a:ext cx="7403951" cy="3730458"/>
            <a:chOff x="3540" y="2322"/>
            <a:chExt cx="8128" cy="5263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3EC4C621-54B4-F546-AEA8-6BAD87C8C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06" y="2553"/>
              <a:ext cx="862" cy="1057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731C29D-D52A-CEBA-81C8-5C23EDE440B7}"/>
                </a:ext>
              </a:extLst>
            </p:cNvPr>
            <p:cNvSpPr/>
            <p:nvPr/>
          </p:nvSpPr>
          <p:spPr>
            <a:xfrm>
              <a:off x="3541" y="2322"/>
              <a:ext cx="7265" cy="1288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请在上述发展脉络基础上，进一步概括“生成式人工智能辅助大学写作学习”当前的主要发展趋势。请从研究对象、研究问题、研究方法和研究关注点四个维度进行总结。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EB96E49-513B-90DD-F321-96E15CA6F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159"/>
              <a:ext cx="844" cy="1102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AA5FC24-E736-1E84-D779-78E0586BA3FA}"/>
                </a:ext>
              </a:extLst>
            </p:cNvPr>
            <p:cNvSpPr/>
            <p:nvPr/>
          </p:nvSpPr>
          <p:spPr>
            <a:xfrm>
              <a:off x="4384" y="3814"/>
              <a:ext cx="6422" cy="3771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以下为归纳方式示例，实际趋势需要文献支持：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在研究对象上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：逐渐从一般学生扩展到不同学科、不同学习阶段和不同写作任务类型。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在研究问题上，从关注写作结果质量，逐步转向关注学习过程、认知参与、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依赖和人机协同。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在研究方法上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：除了问卷和实验外，越来越多研究开始结合学习分析、日志数据、访谈和混合研究方法。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在研究关注点上：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除了效率与效果问题，伦理、公平、原创性和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素养培养正在成为新的重点。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比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较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观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点及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其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证据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854534"/>
            <a:ext cx="3333974" cy="3303844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促进作用：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研究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关注写作效率与表达质量的改善。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潜在风险：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部分研究讨论依赖与独立思考问题。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作用条件：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效果可能与使用方式、任务和教学设计有关。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6A3D9A"/>
                </a:solidFill>
                <a:latin typeface="Microsoft YaHei"/>
                <a:ea typeface="Microsoft YaHei"/>
              </a:rPr>
              <a:t>▶</a:t>
            </a:r>
            <a:r>
              <a:rPr sz="2000" b="1" dirty="0" err="1">
                <a:solidFill>
                  <a:srgbClr val="6A3D9A"/>
                </a:solidFill>
                <a:latin typeface="Microsoft YaHei"/>
                <a:ea typeface="Microsoft YaHei"/>
              </a:rPr>
              <a:t> 规范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：关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注伦理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、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公平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使用边界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689" y="5663917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图6-18 </a:t>
            </a:r>
            <a:r>
              <a:rPr sz="1600" b="0" dirty="0" err="1">
                <a:latin typeface="Microsoft YaHei"/>
                <a:ea typeface="Microsoft YaHei"/>
              </a:rPr>
              <a:t>主要研究观点归纳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6053328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147830"/>
            <a:ext cx="11018520" cy="377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比较观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点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时应说明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研究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对象、方法和证据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差异，避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免将立场直接当作事实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27CC3E1-082D-8F78-C75A-875AF8FED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689" y="1367414"/>
            <a:ext cx="6670829" cy="415331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以研究问题组织文献综述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6598" y="6164568"/>
            <a:ext cx="56157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Microsoft YaHei"/>
                <a:ea typeface="Microsoft YaHei"/>
              </a:rPr>
              <a:t>图6-20 </a:t>
            </a:r>
            <a:r>
              <a:rPr sz="1600" b="0" i="0" dirty="0" err="1">
                <a:latin typeface="Microsoft YaHei"/>
                <a:ea typeface="Microsoft YaHei"/>
              </a:rPr>
              <a:t>文献综述写作框架设计任务示意图</a:t>
            </a:r>
            <a:endParaRPr sz="1600" b="0" i="0" dirty="0">
              <a:latin typeface="Microsoft YaHei"/>
              <a:ea typeface="Microsoft YaHei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EEE3C63-F62A-2774-C659-DB0F46BC87D1}"/>
              </a:ext>
            </a:extLst>
          </p:cNvPr>
          <p:cNvGrpSpPr/>
          <p:nvPr/>
        </p:nvGrpSpPr>
        <p:grpSpPr>
          <a:xfrm>
            <a:off x="867449" y="1515008"/>
            <a:ext cx="10949419" cy="4481065"/>
            <a:chOff x="3542" y="2196"/>
            <a:chExt cx="9857" cy="4071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35E46225-764C-7D9B-7E81-6519337B3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85" y="2384"/>
              <a:ext cx="714" cy="683"/>
            </a:xfrm>
            <a:prstGeom prst="rect">
              <a:avLst/>
            </a:prstGeom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DB0DC8BD-E659-914B-AFD8-5C896DD38AD4}"/>
                </a:ext>
              </a:extLst>
            </p:cNvPr>
            <p:cNvSpPr/>
            <p:nvPr/>
          </p:nvSpPr>
          <p:spPr>
            <a:xfrm>
              <a:off x="3542" y="2196"/>
              <a:ext cx="9069" cy="97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我准备写一篇关于“生成式人工智能辅助大学生写作学习”的文献综述。请基于以下目标，为我设计一个适合硕士论文的文献综述写作框架：1. 能体现该领域的发展脉络；2. 能归纳已有研究的主要观点；3. 能呈现常见研究方法与不足；4. 最终能够自然引出我的研究问题。请给出分层标题，并简要说明每一部分应写什么内容。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9B3E652-781E-0F4F-8518-C90E60479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2" y="3423"/>
              <a:ext cx="842" cy="757"/>
            </a:xfrm>
            <a:prstGeom prst="rect">
              <a:avLst/>
            </a:prstGeom>
          </p:spPr>
        </p:pic>
        <p:sp>
          <p:nvSpPr>
            <p:cNvPr id="21" name="矩形: 圆角 14">
              <a:extLst>
                <a:ext uri="{FF2B5EF4-FFF2-40B4-BE49-F238E27FC236}">
                  <a16:creationId xmlns:a16="http://schemas.microsoft.com/office/drawing/2014/main" id="{A48D65F2-BD23-BD61-456B-FAF4DCEA5B07}"/>
                </a:ext>
              </a:extLst>
            </p:cNvPr>
            <p:cNvSpPr/>
            <p:nvPr/>
          </p:nvSpPr>
          <p:spPr>
            <a:xfrm>
              <a:off x="4384" y="3291"/>
              <a:ext cx="8374" cy="297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生成式人工智能进入教育写作场景的背景：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介绍生成式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的发展及其进入高等教育写作学习场景的现实背景，说明研究意义。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人工智能辅助写作学习研究的发展脉络：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回顾从计算机辅助写作、智能写作支持到生成式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辅助写作的发展过程，说明研究问题的演变。</a:t>
              </a:r>
              <a:endParaRPr lang="en-US" altLang="zh-CN" sz="1600" dirty="0">
                <a:latin typeface="宋体" pitchFamily="2" charset="-122"/>
                <a:ea typeface="宋体" pitchFamily="2" charset="-122"/>
              </a:endParaRP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生成式人工智能辅助大学生写作学习的主要研究观点：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提升写作效率与表达质量、可能削弱独立思考与原创性、作用取决于使用方式与教学设计、带来伦理与治理挑战</a:t>
              </a:r>
              <a:endParaRPr lang="en-US" altLang="zh-CN" sz="1600" dirty="0">
                <a:latin typeface="宋体" pitchFamily="2" charset="-122"/>
                <a:ea typeface="宋体" pitchFamily="2" charset="-122"/>
              </a:endParaRP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已有研究的常见方法与研究对象：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总结问卷研究、实验研究、访谈研究、混合研究等方法，以及研究对象多集中于大学生、特定课程情境等特点。</a:t>
              </a:r>
              <a:endParaRPr lang="en-US" altLang="zh-CN" sz="1600" dirty="0">
                <a:latin typeface="宋体" pitchFamily="2" charset="-122"/>
                <a:ea typeface="宋体" pitchFamily="2" charset="-122"/>
              </a:endParaRP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需要核查的研究局限：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可检查研究周期、过程数据、学科差异和认知机制等方面，具体不足须有文献依据。</a:t>
              </a:r>
              <a:endParaRPr lang="en-US" altLang="zh-CN" sz="1600" dirty="0">
                <a:latin typeface="宋体" pitchFamily="2" charset="-122"/>
                <a:ea typeface="宋体" pitchFamily="2" charset="-122"/>
              </a:endParaRP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文献综述总结与本研究切入点：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在总结已有研究的基础上，指出当前研究尚未充分回答的问题，并自然引出本研究的关注焦点。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D705-A79B-EFC4-806F-79E6ED71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25C164-CD4A-CA3B-2A19-59BF1AD0C94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D4B4E201-5509-223A-C294-8ABCD367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D91A76-1ADE-F82C-E316-E9E160FB40C2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FF37C-7CEA-A216-BC27-D311452E7714}"/>
              </a:ext>
            </a:extLst>
          </p:cNvPr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0832D-37D1-F2B4-ABFE-108FECF53D07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1F0A9-CDCE-1EF2-5998-EB7AA59F6E36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17303E-EA9F-F56D-8A52-FBB1E6976FD0}"/>
              </a:ext>
            </a:extLst>
          </p:cNvPr>
          <p:cNvSpPr txBox="1"/>
          <p:nvPr/>
        </p:nvSpPr>
        <p:spPr>
          <a:xfrm>
            <a:off x="3014661" y="5253196"/>
            <a:ext cx="561578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latin typeface="Microsoft YaHei"/>
                <a:ea typeface="Microsoft YaHei"/>
              </a:rPr>
              <a:t>图6-21 </a:t>
            </a:r>
            <a:r>
              <a:rPr b="0" i="0" dirty="0" err="1">
                <a:latin typeface="Microsoft YaHei"/>
                <a:ea typeface="Microsoft YaHei"/>
              </a:rPr>
              <a:t>文献综述组织方式比较与推荐方案</a:t>
            </a:r>
            <a:endParaRPr b="0" i="0" dirty="0">
              <a:latin typeface="Microsoft YaHei"/>
              <a:ea typeface="Microsoft YaHe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38F916-1389-E2F9-3237-E035CE77FC7C}"/>
              </a:ext>
            </a:extLst>
          </p:cNvPr>
          <p:cNvSpPr/>
          <p:nvPr/>
        </p:nvSpPr>
        <p:spPr>
          <a:xfrm>
            <a:off x="357987" y="5828832"/>
            <a:ext cx="114757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567DD8-6E39-D129-7034-4DF948AC1956}"/>
              </a:ext>
            </a:extLst>
          </p:cNvPr>
          <p:cNvSpPr txBox="1"/>
          <p:nvPr/>
        </p:nvSpPr>
        <p:spPr>
          <a:xfrm>
            <a:off x="548640" y="5949263"/>
            <a:ext cx="111099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综述四功能：梳理脉络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归纳观点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呈现不足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引出研究；组织方式可按时间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主题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理论方法</a:t>
            </a:r>
            <a:r>
              <a:rPr sz="15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5E08B5C-4315-265B-EC70-8AC4EBFA74AB}"/>
              </a:ext>
            </a:extLst>
          </p:cNvPr>
          <p:cNvGrpSpPr/>
          <p:nvPr/>
        </p:nvGrpSpPr>
        <p:grpSpPr>
          <a:xfrm>
            <a:off x="1739112" y="1453814"/>
            <a:ext cx="8942070" cy="3360158"/>
            <a:chOff x="3540" y="2549"/>
            <a:chExt cx="9932" cy="41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DF25A0D-DE7B-2FC8-8912-2339D69F5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0" y="2642"/>
              <a:ext cx="862" cy="995"/>
            </a:xfrm>
            <a:prstGeom prst="rect">
              <a:avLst/>
            </a:prstGeom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91E4E1D1-2F5A-B303-6ADB-7CEECAB73A84}"/>
                </a:ext>
              </a:extLst>
            </p:cNvPr>
            <p:cNvSpPr/>
            <p:nvPr/>
          </p:nvSpPr>
          <p:spPr>
            <a:xfrm>
              <a:off x="3541" y="2549"/>
              <a:ext cx="9069" cy="151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对于“生成式人工智能辅助大学生写作学习”这一主题，文献综述更适合采用哪一种组织方式：按时间脉络、按研究主题、按理论视角，还是按研究方法？请分别说明优缺点，并给出推荐方案。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DEF088E-667C-F903-27B9-400088F43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436"/>
              <a:ext cx="844" cy="995"/>
            </a:xfrm>
            <a:prstGeom prst="rect">
              <a:avLst/>
            </a:prstGeom>
          </p:spPr>
        </p:pic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B319BBA7-8925-EF92-8162-C050C87255F6}"/>
                </a:ext>
              </a:extLst>
            </p:cNvPr>
            <p:cNvSpPr/>
            <p:nvPr/>
          </p:nvSpPr>
          <p:spPr>
            <a:xfrm>
              <a:off x="4384" y="4222"/>
              <a:ext cx="8374" cy="2517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按时间组织，便于说明演变过程；按主题组织，便于比较观点；按理论组织，可呈现不同解释；按方法组织，可分析证据局限。本例可先概述发展过程，再按主题比较研究。具体结构应服务于研究问题。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2600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6.3.4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辅助研究框架搭建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287" y="879597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依据文献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与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实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际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条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件确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定切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入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点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37936"/>
            <a:ext cx="2276139" cy="4111309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群体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/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情境被忽略：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研究对象过于集中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4CA0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4CA0"/>
                </a:solidFill>
                <a:latin typeface="Microsoft YaHei"/>
                <a:ea typeface="Microsoft YaHei"/>
              </a:rPr>
              <a:t>结论不一致：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已有研究存在分歧，需要进一步澄清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2E8B57"/>
                </a:solidFill>
                <a:latin typeface="Microsoft YaHei"/>
                <a:ea typeface="Microsoft YaHei"/>
              </a:rPr>
              <a:t>重结果轻过程：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缺乏对过程的分析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F58020"/>
                </a:solidFill>
                <a:latin typeface="Microsoft YaHei"/>
                <a:ea typeface="Microsoft YaHei"/>
              </a:rPr>
              <a:t>方法单一：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新方法可能带来新发现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6A3D9A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6A3D9A"/>
                </a:solidFill>
                <a:latin typeface="Microsoft YaHei"/>
                <a:ea typeface="Microsoft YaHei"/>
              </a:rPr>
              <a:t>新技术</a:t>
            </a:r>
            <a:r>
              <a:rPr b="1" dirty="0">
                <a:solidFill>
                  <a:srgbClr val="6A3D9A"/>
                </a:solidFill>
                <a:latin typeface="Microsoft YaHei"/>
                <a:ea typeface="Microsoft YaHei"/>
              </a:rPr>
              <a:t>/</a:t>
            </a:r>
            <a:r>
              <a:rPr b="1" dirty="0" err="1">
                <a:solidFill>
                  <a:srgbClr val="6A3D9A"/>
                </a:solidFill>
                <a:latin typeface="Microsoft YaHei"/>
                <a:ea typeface="Microsoft YaHei"/>
              </a:rPr>
              <a:t>场景：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需要重新检验原有结论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1403" y="6336792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图6-22 </a:t>
            </a:r>
            <a:r>
              <a:rPr sz="1600" b="0" dirty="0" err="1">
                <a:latin typeface="Microsoft YaHei"/>
                <a:ea typeface="Microsoft YaHei"/>
              </a:rPr>
              <a:t>生成式</a:t>
            </a:r>
            <a:r>
              <a:rPr sz="1600" b="0" dirty="0">
                <a:latin typeface="Microsoft YaHei"/>
                <a:ea typeface="Microsoft YaHei"/>
              </a:rPr>
              <a:t> AI </a:t>
            </a:r>
            <a:r>
              <a:rPr sz="1600" b="0" dirty="0" err="1">
                <a:latin typeface="Microsoft YaHei"/>
                <a:ea typeface="Microsoft YaHei"/>
              </a:rPr>
              <a:t>辅助大学写作学习的研究切入点示意图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4CA0FC2-1D4A-A171-13BD-EF1F0F4E674A}"/>
              </a:ext>
            </a:extLst>
          </p:cNvPr>
          <p:cNvGrpSpPr/>
          <p:nvPr/>
        </p:nvGrpSpPr>
        <p:grpSpPr>
          <a:xfrm>
            <a:off x="3112636" y="1351286"/>
            <a:ext cx="8745482" cy="4843612"/>
            <a:chOff x="3540" y="1922"/>
            <a:chExt cx="9932" cy="6504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65B15D9-0084-122D-AD13-DFAC0F27F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0" y="2333"/>
              <a:ext cx="862" cy="1066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8C6B438-95BB-A6A0-E0D8-1F414DA111AE}"/>
                </a:ext>
              </a:extLst>
            </p:cNvPr>
            <p:cNvSpPr/>
            <p:nvPr/>
          </p:nvSpPr>
          <p:spPr>
            <a:xfrm>
              <a:off x="3541" y="1922"/>
              <a:ext cx="9069" cy="2142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基于“生成式人工智能辅助大学生写作学习”这一领域已有研究，请帮我寻找几个可能的研究切入点。要求：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1.切入点要建立在已有研究不足的基础上；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2.每个切入点说明它关注的核心问题是什么；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3.说明它相对于已有研究的新意在哪里；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4.尽量适合硕士论文规模，不要过大。</a:t>
              </a: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CC5E2ED-CBA7-7A3F-D433-6C00C15AC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436"/>
              <a:ext cx="844" cy="1066"/>
            </a:xfrm>
            <a:prstGeom prst="rect">
              <a:avLst/>
            </a:prstGeom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EBA1E5C3-A161-5A5F-41EE-420224CCEC17}"/>
                </a:ext>
              </a:extLst>
            </p:cNvPr>
            <p:cNvSpPr/>
            <p:nvPr/>
          </p:nvSpPr>
          <p:spPr>
            <a:xfrm>
              <a:off x="4384" y="4236"/>
              <a:ext cx="8374" cy="4190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切入点一：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关注生成式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辅助写作中的认知参与过程。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核心问题：学生在使用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辅助写作时，是在深化思考，还是在减少独立构思？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待核查：所选文献是否较少分析认知投入，后续研究是否已补充。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切入点二：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比较不同学科背景学生使用生成式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写作的差异。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核心问题：文科、理工科学生在写作任务中使用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的方式和效果是否不同？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待核查：学科差异是否已有专门研究，以及样本能否支持比较。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切入点三：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考察教师指导方式对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辅助写作效果的影响。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核心问题：在不同教学设计下，生成式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对学生写作学习的作用是否不同？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待核查：既有研究如何处理教学干预，本研究可增加什么证据。</a:t>
              </a:r>
            </a:p>
            <a:p>
              <a:pPr algn="just"/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切入点四：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研究生成式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使用与学术诚信认知之间的关系。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核心问题：学生如何界定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辅助与学术不端的边界？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新意：将工具使用问题与规范认知问题结合起来。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7127" y="2742478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用A</a:t>
            </a:r>
            <a:r>
              <a:rPr sz="3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I设计研究方案</a:t>
            </a:r>
            <a:endParaRPr sz="3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553047" cy="1161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研究方案需要说明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对象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、方法、流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程与实施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条件。AI可协助组织候选方案，再由研究者评估证据需求与可行性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辅助研究方案设计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98234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明确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研究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对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象、取证方法与实施步骤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737027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构思思路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" y="3675888"/>
            <a:ext cx="2517571" cy="6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对象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路径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84499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0803" y="2103120"/>
            <a:ext cx="2737027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0803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0803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85667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选择方法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40531" y="3675888"/>
            <a:ext cx="2517571" cy="6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问卷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实验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访谈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混合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9543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2103120"/>
            <a:ext cx="2737027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5847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0711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设计流程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05575" y="3675888"/>
            <a:ext cx="2517571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拆成可执行步骤链条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587" y="2788920"/>
            <a:ext cx="164592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0891" y="2103120"/>
            <a:ext cx="2737027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0891" y="2103120"/>
            <a:ext cx="2737027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0891" y="2788920"/>
            <a:ext cx="2737027" cy="242316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755" y="3061454"/>
            <a:ext cx="262729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检查可行性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619" y="3675888"/>
            <a:ext cx="2517571" cy="6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对象 / 数据 / 能力 / 时间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69280"/>
            <a:ext cx="11475720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26425"/>
            <a:ext cx="109728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不替研究者决定方案，而是帮助把零散模糊的想法转化为有结构的研究设计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6.4.1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AI 辅助研究方案设计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20" y="885182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先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说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明研究问题与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取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证思路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659170"/>
            <a:ext cx="2849880" cy="4673514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研究思路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 = 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对 "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对象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路径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关系的整体设想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五个基础问题：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核心问题？观察谁？关注什么变量？如何取证？最终说明什么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AI 当 "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思路生成器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"：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把一个问题展开成几种可能的研究路径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小扬的选择：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以课程论文为情境，比较不同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使用方式下的认知参与变化，并结合访谈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78245" y="6004331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图6-24 </a:t>
            </a:r>
            <a:r>
              <a:rPr sz="1600" b="0" dirty="0" err="1">
                <a:latin typeface="Microsoft YaHei"/>
                <a:ea typeface="Microsoft YaHei"/>
              </a:rPr>
              <a:t>生成式</a:t>
            </a:r>
            <a:r>
              <a:rPr sz="1600" b="0" dirty="0">
                <a:latin typeface="Microsoft YaHei"/>
                <a:ea typeface="Microsoft YaHei"/>
              </a:rPr>
              <a:t> AI </a:t>
            </a:r>
            <a:r>
              <a:rPr sz="1600" b="0" dirty="0" err="1">
                <a:latin typeface="Microsoft YaHei"/>
                <a:ea typeface="Microsoft YaHei"/>
              </a:rPr>
              <a:t>辅助写作认知参与研究思路设计示意图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7F5626B-5B01-1343-1632-504F777DC6E1}"/>
              </a:ext>
            </a:extLst>
          </p:cNvPr>
          <p:cNvGrpSpPr/>
          <p:nvPr/>
        </p:nvGrpSpPr>
        <p:grpSpPr>
          <a:xfrm>
            <a:off x="3690115" y="1876858"/>
            <a:ext cx="8002900" cy="3783965"/>
            <a:chOff x="3447" y="1828"/>
            <a:chExt cx="10025" cy="4718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85EEB7C-9D85-33B0-C757-14729FF75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0" y="2102"/>
              <a:ext cx="862" cy="852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CA15808-64E6-E684-723F-DFA0226DBCC8}"/>
                </a:ext>
              </a:extLst>
            </p:cNvPr>
            <p:cNvSpPr/>
            <p:nvPr/>
          </p:nvSpPr>
          <p:spPr>
            <a:xfrm>
              <a:off x="3539" y="1828"/>
              <a:ext cx="9071" cy="2608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我的研究问题是：“生成式人工智能辅助大学生写作时，学生的认知参与是否发生变化？”请帮我构思几种不同的研究思路。要求分别说明：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1.每种思路的核心关注点；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2.适合观察的研究对象；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3.大致可采用的研究方法；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4.各自的优点与局限。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请以硕士论文开题设计的角度回答。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092951C5-A30D-3809-DFCB-DBE89B25F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7" y="4651"/>
              <a:ext cx="862" cy="851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EE8239E-0885-E3BB-29A5-363CEDD8D823}"/>
                </a:ext>
              </a:extLst>
            </p:cNvPr>
            <p:cNvSpPr/>
            <p:nvPr/>
          </p:nvSpPr>
          <p:spPr>
            <a:xfrm>
              <a:off x="4309" y="4651"/>
              <a:ext cx="8300" cy="189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一种思路是比较使用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与不使用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时学生写作表现和思考过程的差异，适合做实验研究；另一种思路是关注学生在真实课程写作任务中如何使用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AI，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通过访谈和过程记录分析其认知参与变化；还有一种思路是调查学生不同使用方式与认知参与感之间的关系，更适合问卷研究。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辅助研究方案设计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根据问题与证据需求选择方法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336" y="1272156"/>
            <a:ext cx="3145715" cy="478117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问卷调查：可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描述分布与变量关系，须关注测量质量和抽样。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实验研究：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在设计和控制适当时，可提供因果推断依据。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访谈研究：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可了解体验与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解释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，需检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查提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问和分析过程。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混合研究：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先问卷看总体关系，再访谈析思考变化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←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小扬之选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57227" y="5653135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图6-25 </a:t>
            </a:r>
            <a:r>
              <a:rPr sz="1600" b="0" dirty="0" err="1">
                <a:latin typeface="Microsoft YaHei"/>
                <a:ea typeface="Microsoft YaHei"/>
              </a:rPr>
              <a:t>生成式</a:t>
            </a:r>
            <a:r>
              <a:rPr sz="1600" b="0" dirty="0">
                <a:latin typeface="Microsoft YaHei"/>
                <a:ea typeface="Microsoft YaHei"/>
              </a:rPr>
              <a:t> AI </a:t>
            </a:r>
            <a:r>
              <a:rPr sz="1600" b="0" dirty="0" err="1">
                <a:latin typeface="Microsoft YaHei"/>
                <a:ea typeface="Microsoft YaHei"/>
              </a:rPr>
              <a:t>使用方式与认知参与研究方法匹配示意图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6053328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34266" y="6147830"/>
            <a:ext cx="9499887" cy="377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方法选择不是为了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看起来规范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"，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而要与研究问题真正贴合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 sz="15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18C072B-28D6-BFEC-1A6B-B34D721AB366}"/>
              </a:ext>
            </a:extLst>
          </p:cNvPr>
          <p:cNvGrpSpPr/>
          <p:nvPr/>
        </p:nvGrpSpPr>
        <p:grpSpPr>
          <a:xfrm>
            <a:off x="3846749" y="1633156"/>
            <a:ext cx="7979186" cy="3866007"/>
            <a:chOff x="3540" y="1731"/>
            <a:chExt cx="9931" cy="5016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1B74E2F-49AB-CA37-4C45-6BF08390E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09" y="2024"/>
              <a:ext cx="862" cy="994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63C6A39-125F-79F1-0F21-C7A2BBF615FA}"/>
                </a:ext>
              </a:extLst>
            </p:cNvPr>
            <p:cNvSpPr/>
            <p:nvPr/>
          </p:nvSpPr>
          <p:spPr>
            <a:xfrm>
              <a:off x="3541" y="1731"/>
              <a:ext cx="9069" cy="270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我的研究问题是：“在大学课程论文写作中，不同生成式人工智能使用方式是否会影响学生的认知参与水平？”请从研究方法匹配的角度分析：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1.适合采用哪些研究方法；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2.每种方法分别能够回答什么问题；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3.哪种方法更适合作为硕士论文的主要方法；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4.如果采用混合研究，应如何组合。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请给出简明、实用的建议。</a:t>
              </a: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247B13F-634B-744E-3370-653302A70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558"/>
              <a:ext cx="844" cy="994"/>
            </a:xfrm>
            <a:prstGeom prst="rect">
              <a:avLst/>
            </a:prstGeom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E603089F-616E-F6C3-6102-D1BE6CB9CFAD}"/>
                </a:ext>
              </a:extLst>
            </p:cNvPr>
            <p:cNvSpPr/>
            <p:nvPr/>
          </p:nvSpPr>
          <p:spPr>
            <a:xfrm>
              <a:off x="4477" y="4651"/>
              <a:ext cx="8133" cy="2096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问卷适合分析报告的行为及变量关系；实验可比较设定条件下的变化；访谈可补充体验与过程信息。小扬可根据目标组合方法，同时说明每种资料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能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支持哪些结论，避免把相关性解释为因果。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6.4.3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辅助研究方案设计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将研究方案细化为实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施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步骤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605343"/>
            <a:ext cx="3459480" cy="478117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常见困境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说得清做什么，却说不清怎么做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 ——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方案停在概念层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AI 当 "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流程梳理助手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"：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把方案展开为清晰步骤，并提醒易忽视环节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完整链条：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问题提出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工具设计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数据收集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数据分析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结果呈现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检查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步骤的先后关系、关键环节与伦理要求。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2109" y="5921905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图6-26 </a:t>
            </a:r>
            <a:r>
              <a:rPr sz="1600" b="0" dirty="0" err="1">
                <a:latin typeface="Microsoft YaHei"/>
                <a:ea typeface="Microsoft YaHei"/>
              </a:rPr>
              <a:t>研究流程与实施步骤示意图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BAAC61D-5C0B-A449-5DDB-D558DE2ED6E6}"/>
              </a:ext>
            </a:extLst>
          </p:cNvPr>
          <p:cNvGrpSpPr/>
          <p:nvPr/>
        </p:nvGrpSpPr>
        <p:grpSpPr>
          <a:xfrm>
            <a:off x="4271085" y="1825370"/>
            <a:ext cx="7417995" cy="3625999"/>
            <a:chOff x="3540" y="2208"/>
            <a:chExt cx="9932" cy="429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0D39FB72-5A56-C732-7C37-477E331C5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0" y="2758"/>
              <a:ext cx="862" cy="852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5A7FDE5-24A1-3607-37E0-864485BA0BE5}"/>
                </a:ext>
              </a:extLst>
            </p:cNvPr>
            <p:cNvSpPr/>
            <p:nvPr/>
          </p:nvSpPr>
          <p:spPr>
            <a:xfrm>
              <a:off x="3541" y="2208"/>
              <a:ext cx="9069" cy="2227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请根据以下研究设想，帮我设计一份较完整的研究流程与实施步骤：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研究主题：生成式AI使用方式与大学生写作认知参与的关系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研究方法：问卷调查 + 半结构化访谈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研究对象：本科生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请按照“前期准备—数据收集—数据分析—结果呈现”的顺序展开，并说明每一步大致要做什么。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3C6C1B4-BEA0-1DEF-9DDA-70A9B6D4D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770"/>
              <a:ext cx="844" cy="717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C323384-0332-D3E6-E7B8-905152D1DA89}"/>
                </a:ext>
              </a:extLst>
            </p:cNvPr>
            <p:cNvSpPr/>
            <p:nvPr/>
          </p:nvSpPr>
          <p:spPr>
            <a:xfrm>
              <a:off x="4384" y="4651"/>
              <a:ext cx="8225" cy="1853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前期准备阶段包括明确变量、设计问卷、制定访谈提纲、进行预测试；数据收集阶段包括发放问卷、筛选样本、开展访谈；数据分析阶段包括描述性统计、相关分析、整理访谈文本、进行主题归纳；结果呈现阶段包括汇总定量与定性发现、比较不同使用方式的差异，并讨论其教育意义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6.4.4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辅助研究方案设计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结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合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实际条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件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检查方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案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可行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5327"/>
            <a:ext cx="2957456" cy="3303844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研究对象：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目标群体能否真正接触到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数据来源：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数据是否真的能收集到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分析能力：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自己的方法与分析能力是否匹配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6A3D9A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6A3D9A"/>
                </a:solidFill>
                <a:latin typeface="Microsoft YaHei"/>
                <a:ea typeface="Microsoft YaHei"/>
              </a:rPr>
              <a:t>时间安排：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在现实研究周期内是否做得完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0837" y="5620976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图6-27 </a:t>
            </a:r>
            <a:r>
              <a:rPr sz="1600" b="0" dirty="0" err="1">
                <a:latin typeface="Microsoft YaHei"/>
                <a:ea typeface="Microsoft YaHei"/>
              </a:rPr>
              <a:t>研究方案可行性评估示意图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6053328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117864"/>
            <a:ext cx="11247120" cy="7841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小扬根据风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险检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查缩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小到具体课程情境，并继续核对样本与方法是否适用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8E4A2F3-3A25-84EC-3C35-A8492A2FF365}"/>
              </a:ext>
            </a:extLst>
          </p:cNvPr>
          <p:cNvGrpSpPr/>
          <p:nvPr/>
        </p:nvGrpSpPr>
        <p:grpSpPr>
          <a:xfrm>
            <a:off x="3889764" y="1563886"/>
            <a:ext cx="7872543" cy="3870960"/>
            <a:chOff x="3422" y="1400"/>
            <a:chExt cx="10050" cy="5363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193F20F5-E2B2-DEA3-0805-F499E52AA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0" y="1544"/>
              <a:ext cx="862" cy="1069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E9E5543-742A-F148-5436-D9D159EC18E3}"/>
                </a:ext>
              </a:extLst>
            </p:cNvPr>
            <p:cNvSpPr/>
            <p:nvPr/>
          </p:nvSpPr>
          <p:spPr>
            <a:xfrm>
              <a:off x="3539" y="1400"/>
              <a:ext cx="9071" cy="3034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请从硕士论文实施的角度，评估以下研究方案的可行性，并指出潜在风险与改进建议：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研究主题：生成式AI使用方式与大学生写作认知参与的关系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研究方法：问卷调查 + 半结构化访谈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研究对象：本科生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研究情境：课程论文写作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请重点从样本获取、工具设计、时间安排、数据分析难度、研究伦理五个方面进行分析。</a:t>
              </a: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50C2ACCF-5A91-6F39-4149-73B7A3D3E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2" y="4518"/>
              <a:ext cx="962" cy="1069"/>
            </a:xfrm>
            <a:prstGeom prst="rect">
              <a:avLst/>
            </a:prstGeom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1793DC3B-EED2-D442-0995-DCA40B6E527C}"/>
                </a:ext>
              </a:extLst>
            </p:cNvPr>
            <p:cNvSpPr/>
            <p:nvPr/>
          </p:nvSpPr>
          <p:spPr>
            <a:xfrm>
              <a:off x="4384" y="4651"/>
              <a:ext cx="8227" cy="211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样本获取需要依赖课程或班级支持；问卷中的“认知参与”概念需要选择或改编合适量表；访谈提纲要避免过于宽泛；定量和定性数据结合分析对研究者能力提出更高要求；涉及学生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使用行为时，需要注意匿名和伦理说明。与此同时，</a:t>
              </a:r>
              <a:r>
                <a:rPr lang="en-US" altLang="zh-CN" sz="1600" dirty="0"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也可能提出一些改进建议，例如缩小样本范围、聚焦单一课程场景、减少变量数量等。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560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用AI</a:t>
            </a:r>
            <a:r>
              <a:rPr sz="3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搭建结构与撰写初稿</a:t>
            </a:r>
            <a:endParaRPr sz="3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1161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依据自己的研究材料搭建结构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、组织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初稿和修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改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表达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。A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I生成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的内容必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须核对，不得补造数据、文献和研究结论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辅助论文写作与表达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" y="890499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论文结构，是研究逻辑的书面呈现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6447" y="1350250"/>
            <a:ext cx="8764793" cy="169519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先列各节要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回答的问题，再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安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排正文内容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可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请A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I依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据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案提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出目录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草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案。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典型结构：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引言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文献综述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研究设计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结果分析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讨论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结论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分节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推进时，继续检查各部分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是否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支持研究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问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题。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6015" y="6032757"/>
            <a:ext cx="1118311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图6-28 </a:t>
            </a:r>
            <a:r>
              <a:rPr sz="1600" b="0" dirty="0" err="1">
                <a:latin typeface="Microsoft YaHei"/>
                <a:ea typeface="Microsoft YaHei"/>
              </a:rPr>
              <a:t>学术论文整体结构设计示意图</a:t>
            </a:r>
            <a:endParaRPr sz="1600" b="0" dirty="0">
              <a:latin typeface="Microsoft YaHei"/>
              <a:ea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183477-6FCB-0C3E-D62C-BF0B0F567944}"/>
              </a:ext>
            </a:extLst>
          </p:cNvPr>
          <p:cNvGrpSpPr/>
          <p:nvPr/>
        </p:nvGrpSpPr>
        <p:grpSpPr>
          <a:xfrm>
            <a:off x="1528146" y="3135868"/>
            <a:ext cx="8789029" cy="2734580"/>
            <a:chOff x="3539" y="2757"/>
            <a:chExt cx="9933" cy="3484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BC06151-9754-1929-0A38-B37DA07CF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0" y="2757"/>
              <a:ext cx="862" cy="847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E9F7BE4-4E37-0DB2-977D-7A15E912FBA1}"/>
                </a:ext>
              </a:extLst>
            </p:cNvPr>
            <p:cNvSpPr/>
            <p:nvPr/>
          </p:nvSpPr>
          <p:spPr>
            <a:xfrm>
              <a:off x="3539" y="2757"/>
              <a:ext cx="9071" cy="1678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请根据以下研究主题，帮我搭建一篇学术论文的整体结构：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主题：生成式AI使用方式与大学生写作认知参与的关系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方法：问卷调查 + 半结构化访谈</a:t>
              </a:r>
            </a:p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请给出适合中文学术论文的章节结构，并说明每一部分应写什么内容。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63CB2CC-270B-1878-70BE-E577D53EB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0" y="4651"/>
              <a:ext cx="844" cy="847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306B5E0-A0A0-CC11-FEAB-F731F9B0B8BE}"/>
                </a:ext>
              </a:extLst>
            </p:cNvPr>
            <p:cNvSpPr/>
            <p:nvPr/>
          </p:nvSpPr>
          <p:spPr>
            <a:xfrm>
              <a:off x="4384" y="4651"/>
              <a:ext cx="8225" cy="1590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itchFamily="2" charset="-122"/>
                  <a:ea typeface="宋体" pitchFamily="2" charset="-122"/>
                </a:rPr>
                <a:t>绪论、文献综述与理论基础、研究设计、研究结果、讨论与结论。并进一步说明绪论中应写研究背景与意义，文献综述中应回顾相关研究与概念，研究设计中应交代对象、工具和程序，结果部分呈现数据与发现，讨论部分解释结果、指出局限并提出建议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辅助论文写作与表达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依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据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已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有材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料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组织初稿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981032"/>
            <a:ext cx="3777424" cy="3673176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先提供自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己的材料、观点和引用，再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请AI协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助组织段落。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适用场景：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把零散的综述笔记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连贯的综述段落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降低起笔门槛：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从要点出发，生成初步文字框架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初稿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完成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后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，作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应核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对内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容、论证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与引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并按要求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说明AI使用情况。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74811" y="6163577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图6-29 </a:t>
            </a:r>
            <a:r>
              <a:rPr sz="1600" b="0" dirty="0" err="1">
                <a:latin typeface="Microsoft YaHei"/>
                <a:ea typeface="Microsoft YaHei"/>
              </a:rPr>
              <a:t>文献综述要点转化为学术表达任务示意图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3" name="图片 12" descr="image">
            <a:extLst>
              <a:ext uri="{FF2B5EF4-FFF2-40B4-BE49-F238E27FC236}">
                <a16:creationId xmlns:a16="http://schemas.microsoft.com/office/drawing/2014/main" id="{6A641594-A084-3BE5-A752-679DF9E22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688" y="1457468"/>
            <a:ext cx="7022663" cy="46737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6.5.3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辅助论文写作与表达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6731" y="96675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语言润色应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保留原有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含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义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与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证据范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1858349"/>
            <a:ext cx="3888649" cy="4042508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常见问题：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口语化、松散化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—— 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我觉得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这个说明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挺重要的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✗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改写前：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很多学生用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之后写得更快了，但不一定思考得更深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✓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 改写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示例：学生使用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AI后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可能更快完成写作，但写作速度与思考深度需要分别评估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润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色不能擅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自增加“已有研究表明”等未经支持的论据。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24226" y="6103953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图6-30 </a:t>
            </a:r>
            <a:r>
              <a:rPr sz="1600" b="0" dirty="0" err="1">
                <a:latin typeface="Microsoft YaHei"/>
                <a:ea typeface="Microsoft YaHei"/>
              </a:rPr>
              <a:t>学术表达改写任务提示示意图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3" name="图片 12" descr="image">
            <a:extLst>
              <a:ext uri="{FF2B5EF4-FFF2-40B4-BE49-F238E27FC236}">
                <a16:creationId xmlns:a16="http://schemas.microsoft.com/office/drawing/2014/main" id="{94985F31-C98A-8FE6-6FB8-948955A08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464" y="1459642"/>
            <a:ext cx="6863476" cy="457632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6.5.4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辅助论文写作与表达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标题概括研究核心，摘要准确交代研究信息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3493140" cy="4042508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标题：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准确概括研究核心，避免过于空泛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摘要：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研究目的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方法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主要结果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研究意义，四要素齐全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▶ AI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角色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多版本生成与比较优化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 ——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给信息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生成多版本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比较选择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收获：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学会什么样的标题更聚焦、什么样的摘要更完整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32670" y="6118523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图6-31 </a:t>
            </a:r>
            <a:r>
              <a:rPr sz="1600" b="0" dirty="0" err="1">
                <a:latin typeface="Microsoft YaHei"/>
                <a:ea typeface="Microsoft YaHei"/>
              </a:rPr>
              <a:t>学术论文标题与摘要生成任务示意图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4DFCCA6-19EA-A8C7-1A96-60AADF1BB0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676" y="1309249"/>
            <a:ext cx="7190404" cy="47939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48788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用AI</a:t>
            </a:r>
            <a:r>
              <a:rPr sz="3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检查论文与准备投稿</a:t>
            </a:r>
            <a:endParaRPr sz="3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761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写完初稿不等于结束。成熟的学术写作在反复修改中完成：检查结构逻辑、纠正表达、模拟审稿、得体回复意见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6.6.1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辅助论文修改与投稿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同时检查论文结构与论证逻辑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549" y="1673199"/>
            <a:ext cx="3414656" cy="441184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常见问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题：背景过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长、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综述与问题脱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节、结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果讨论混杂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、结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论超出证据。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作者盲区：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太熟悉自己的思路，反而看不出问题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AI 当 "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整体审稿助手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"：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从结构、章节衔接与论证逻辑检查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用法：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输入提纲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章节摘要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部分正文，让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指出结构与推进问题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66791" y="6154816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图6-32 </a:t>
            </a:r>
            <a:r>
              <a:rPr sz="1600" b="0" dirty="0" err="1">
                <a:latin typeface="Microsoft YaHei"/>
                <a:ea typeface="Microsoft YaHei"/>
              </a:rPr>
              <a:t>学术论文结构审阅任务提示示意图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00243E3-7290-A77B-2370-3521A679C8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052" y="1439180"/>
            <a:ext cx="6960796" cy="463982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6.6.2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辅助论文修改与投稿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定稿前的精修：逐段、逐节检查表达的规范性与清晰度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3602" y="1899363"/>
            <a:ext cx="3558092" cy="3673176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常见问题：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语句不通顺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概念使用不一致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重复表述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措辞不准确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反复阅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读后仍可能遗漏问题，可借助工具逐段检查。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AI 当 "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文本校对助手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"：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逐段检查表达的规范与清晰度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适用阶段：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尤其适合论文定稿前的精修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9360" y="5977436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图6-33 </a:t>
            </a:r>
            <a:r>
              <a:rPr sz="1600" b="0" dirty="0" err="1">
                <a:latin typeface="Microsoft YaHei"/>
                <a:ea typeface="Microsoft YaHei"/>
              </a:rPr>
              <a:t>学术论文表达问题检查任务示意图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359022A-BE99-0300-3086-BA401E46A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719" y="1420455"/>
            <a:ext cx="6645699" cy="443081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6.6.3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辅助论文修改与投稿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6378" y="1001777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投稿前，先借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做一次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模拟审稿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385" y="1709928"/>
            <a:ext cx="3513268" cy="441184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投稿前可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尝试从不同角度检查稿件，提前识别可能的问题。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AI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扮演审稿人：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从选题意义、方法设计、结果解释、学术贡献提问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常能暴露：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变量界定不清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样本说明过简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讨论未充分回应文献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对模型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出的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问题逐条核对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，不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能把模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拟意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见当作正式审稿结论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4635" y="6060038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图6-34 </a:t>
            </a:r>
            <a:r>
              <a:rPr sz="1600" b="0" dirty="0" err="1">
                <a:latin typeface="Microsoft YaHei"/>
                <a:ea typeface="Microsoft YaHei"/>
              </a:rPr>
              <a:t>学术论文审稿意见生成任务示意图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A7A00CA-3979-7F3C-F8C1-7D1D86211A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038" y="1652787"/>
            <a:ext cx="6522415" cy="434795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6.6.4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辅助论文修改与投稿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按实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际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修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改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情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况组织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审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稿回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472" y="1495511"/>
            <a:ext cx="3271221" cy="478117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回复应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逐条对应意见，说明修改内容、位置或不修改的理由。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AI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协助：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整理回复思路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优化措辞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使回应更有逻辑且礼貌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前提：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研究者真正理解问题，并决定接受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部分接受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解释不改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▶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示例：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针对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测量工具说明不足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补充来源、维度、信效度与匹配关系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29778" y="6214513"/>
            <a:ext cx="6522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图6-35 </a:t>
            </a:r>
            <a:r>
              <a:rPr sz="1600" b="0" dirty="0" err="1">
                <a:latin typeface="Microsoft YaHei"/>
                <a:ea typeface="Microsoft YaHei"/>
              </a:rPr>
              <a:t>学术论文审稿意见回应任务示意图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C44FC1-AB8B-3DD1-A8D2-81AF45D1C6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164" y="1507595"/>
            <a:ext cx="6957508" cy="463833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0" b="1" dirty="0">
                <a:solidFill>
                  <a:srgbClr val="FFFFFF"/>
                </a:solidFill>
                <a:latin typeface="Arial"/>
                <a:ea typeface="Arial"/>
              </a:rPr>
              <a:t>6</a:t>
            </a:r>
            <a:r>
              <a:rPr sz="15000" b="1" i="0" dirty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r>
              <a:rPr lang="en-US" sz="15000" b="1" i="0" dirty="0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sz="15000" b="1" i="0" dirty="0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74920" y="2674172"/>
            <a:ext cx="6675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本章实训</a:t>
            </a:r>
            <a:endParaRPr sz="3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931920"/>
            <a:ext cx="14630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14800"/>
            <a:ext cx="6766560" cy="771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lang="en-US"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辅助文献快速解析 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lang="en-US"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辅助选题与研究设计 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→ </a:t>
            </a:r>
            <a:r>
              <a:rPr lang="en-US"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辅助交叉学科研究设计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.</a:t>
            </a:r>
            <a:r>
              <a:rPr lang="en-US" altLang="zh-CN" sz="2400" b="1" i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本章实训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三个递进演练：</a:t>
            </a:r>
            <a:r>
              <a:rPr lang="en-US"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AI辅助科研训练与规范应用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709928"/>
            <a:ext cx="3686252" cy="4806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3686252" cy="68365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199" y="1709928"/>
            <a:ext cx="111583" cy="480695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79" y="1874533"/>
            <a:ext cx="33608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演练一</a:t>
            </a:r>
            <a:r>
              <a:rPr lang="zh-CN" altLang="en-US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en-US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辅助文献快速解析 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1" y="2591786"/>
            <a:ext cx="3286415" cy="328557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利用 </a:t>
            </a:r>
            <a:r>
              <a:rPr 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DeepSeek、</a:t>
            </a: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千问等工具，对 </a:t>
            </a:r>
            <a:r>
              <a:rPr lang="en-US" altLang="zh-CN" b="0" dirty="0">
                <a:solidFill>
                  <a:srgbClr val="333333"/>
                </a:solidFill>
                <a:latin typeface="Microsoft YaHei"/>
                <a:ea typeface="Microsoft YaHei"/>
              </a:rPr>
              <a:t>10 </a:t>
            </a: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篇相关文献进行快速解析，提取研究背景与问题、方法路线、核心结论与创新点，研究局限与未来方向。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输出“</a:t>
            </a:r>
            <a:r>
              <a:rPr lang="en-US" altLang="zh-CN" b="1" dirty="0">
                <a:solidFill>
                  <a:srgbClr val="C0392B"/>
                </a:solidFill>
                <a:latin typeface="Microsoft YaHei"/>
                <a:ea typeface="Microsoft YaHei"/>
              </a:rPr>
              <a:t>10</a:t>
            </a:r>
            <a:r>
              <a:rPr lang="zh-CN" alt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篇文献速读表”与≥</a:t>
            </a:r>
            <a:r>
              <a:rPr lang="en-US" altLang="zh-CN" b="1" dirty="0">
                <a:solidFill>
                  <a:srgbClr val="C0392B"/>
                </a:solidFill>
                <a:latin typeface="Microsoft YaHei"/>
                <a:ea typeface="Microsoft YaHei"/>
              </a:rPr>
              <a:t>500</a:t>
            </a:r>
            <a:r>
              <a:rPr lang="zh-CN" alt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字综述。</a:t>
            </a:r>
            <a:endParaRPr b="1" dirty="0">
              <a:solidFill>
                <a:srgbClr val="C0392B"/>
              </a:solidFill>
              <a:latin typeface="Microsoft YaHei"/>
              <a:ea typeface="Microsoft YaHei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提出至少3个</a:t>
            </a:r>
            <a:r>
              <a:rPr lang="en-US" altLang="zh-CN" b="1" dirty="0">
                <a:solidFill>
                  <a:srgbClr val="004CA0"/>
                </a:solidFill>
                <a:latin typeface="Microsoft YaHei"/>
                <a:ea typeface="Microsoft YaHei"/>
              </a:rPr>
              <a:t>候</a:t>
            </a: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选改进方向，并检索核查其依据。</a:t>
            </a:r>
            <a:endParaRPr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83354" y="1709928"/>
            <a:ext cx="3686252" cy="4806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3354" y="1709928"/>
            <a:ext cx="3686252" cy="68365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3353" y="1709928"/>
            <a:ext cx="111583" cy="480695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6233" y="1746530"/>
            <a:ext cx="3360803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演练二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altLang="zh-CN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辅助选题与研究设计 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39385" y="2650036"/>
            <a:ext cx="3221325" cy="293932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从模糊研究想法出发，借助 </a:t>
            </a:r>
            <a:r>
              <a:rPr 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完成研究方向细化、研究问题定义、创新点提炼与研究方案初步设计。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形成</a:t>
            </a:r>
            <a:r>
              <a:rPr lang="en-US" altLang="zh-CN" b="1" dirty="0">
                <a:solidFill>
                  <a:srgbClr val="C0392B"/>
                </a:solidFill>
                <a:latin typeface="Microsoft YaHei"/>
                <a:ea typeface="Microsoft YaHei"/>
              </a:rPr>
              <a:t>1</a:t>
            </a:r>
            <a:r>
              <a:rPr lang="zh-CN" alt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个明确研究题目与研究设计方案。</a:t>
            </a:r>
            <a:endParaRPr b="1" dirty="0">
              <a:solidFill>
                <a:srgbClr val="C0392B"/>
              </a:solidFill>
              <a:latin typeface="Microsoft YaHei"/>
              <a:ea typeface="Microsoft YaHei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说明背景、方法、数据与创新依据，预期结果仅作假设。</a:t>
            </a:r>
            <a:endParaRPr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09508" y="1709928"/>
            <a:ext cx="3686252" cy="4806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9508" y="1709928"/>
            <a:ext cx="3686252" cy="68365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9507" y="1709928"/>
            <a:ext cx="111583" cy="480695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2387" y="1746530"/>
            <a:ext cx="3360803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演练三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辅助交叉学科研究设计 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60967" y="2511923"/>
            <a:ext cx="3221325" cy="328557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围绕交叉主题，从多学科视角展开分析，并对 </a:t>
            </a:r>
            <a:r>
              <a:rPr 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生成内容进行事实、概念、逻辑、文献与规范性核查。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提交“多学科视角分析表”和“</a:t>
            </a:r>
            <a:r>
              <a:rPr 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AI</a:t>
            </a:r>
            <a:r>
              <a:rPr lang="zh-CN" altLang="en-US" b="1" dirty="0">
                <a:solidFill>
                  <a:srgbClr val="C0392B"/>
                </a:solidFill>
                <a:latin typeface="Microsoft YaHei"/>
                <a:ea typeface="Microsoft YaHei"/>
              </a:rPr>
              <a:t>输出质量检查表”。</a:t>
            </a:r>
            <a:endParaRPr b="1" dirty="0">
              <a:solidFill>
                <a:srgbClr val="C0392B"/>
              </a:solidFill>
              <a:latin typeface="Microsoft YaHei"/>
              <a:ea typeface="Microsoft YaHei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提出≥</a:t>
            </a:r>
            <a:r>
              <a:rPr lang="en-US" altLang="zh-CN" b="1" dirty="0">
                <a:solidFill>
                  <a:srgbClr val="004CA0"/>
                </a:solidFill>
                <a:latin typeface="Microsoft YaHei"/>
                <a:ea typeface="Microsoft YaHei"/>
              </a:rPr>
              <a:t>5</a:t>
            </a: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个研究问题，确定</a:t>
            </a:r>
            <a:r>
              <a:rPr lang="en-US" altLang="zh-CN" b="1" dirty="0">
                <a:solidFill>
                  <a:srgbClr val="004CA0"/>
                </a:solidFill>
                <a:latin typeface="Microsoft YaHei"/>
                <a:ea typeface="Microsoft YaHei"/>
              </a:rPr>
              <a:t>1</a:t>
            </a: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个题目，形成修改稿与</a:t>
            </a:r>
            <a:r>
              <a:rPr 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AI</a:t>
            </a: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使用反思。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0" b="1" i="0">
                <a:solidFill>
                  <a:srgbClr val="0066CC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847" y="1170432"/>
            <a:ext cx="22860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50876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选题凝练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65960"/>
            <a:ext cx="4343400" cy="514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了解领域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发现空白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拆解问题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评估优化，把模糊想法变成可研究的题目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50876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150876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50876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22008" y="158191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文献检索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965960"/>
            <a:ext cx="4343400" cy="514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扩展并测试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检索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词，筛选相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关文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献，结构化整理内容并核对原文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5292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85292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85292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292608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框架搭建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310128"/>
            <a:ext cx="4343400" cy="514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梳理脉络 · 归纳观点 · 搭建综述 · 形成切入点，回答 "我的研究站在哪里"。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85292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1888" y="285292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85292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2008" y="292608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方案设计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3310128"/>
            <a:ext cx="4343400" cy="514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构思思路 → 选择方法 → 设计流程 → 检查可行性，把意图落到可执行方案。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97096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197096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197096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4270248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论文写作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54296"/>
            <a:ext cx="4343400" cy="514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搭结构 → 起初稿 → 优化表达 → 打磨摘要标题，把研究写成规范学术文本。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4197096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1888" y="4197096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6.6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128" y="4197096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22008" y="4270248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修改投稿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4654296"/>
            <a:ext cx="4343400" cy="514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检查结构、表达和引用，评估模拟审稿意见，按实际修改情况回复。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7987" y="5687568"/>
            <a:ext cx="11475720" cy="7498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0867" y="5750823"/>
            <a:ext cx="11109960" cy="653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本章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重点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AI辅助科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各环节，研究者负责证据核验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、独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立判断与学术责任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114800"/>
            <a:ext cx="6858000" cy="27432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Microsoft YaHei"/>
                <a:ea typeface="Microsoft YaHei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E6F2FC"/>
                </a:solidFill>
                <a:latin typeface="Microsoft YaHei"/>
                <a:ea typeface="Microsoft YaHei"/>
              </a:rPr>
              <a:t>扬州大学  ·  第 6 章  ·  大模型赋能学术研究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4342</Words>
  <Application>Microsoft Office PowerPoint</Application>
  <PresentationFormat>宽屏</PresentationFormat>
  <Paragraphs>563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7" baseType="lpstr">
      <vt:lpstr>宋体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Windows 用户</cp:lastModifiedBy>
  <cp:revision>6</cp:revision>
  <dcterms:created xsi:type="dcterms:W3CDTF">2013-01-27T09:14:16Z</dcterms:created>
  <dcterms:modified xsi:type="dcterms:W3CDTF">2026-09-25T09:12:14Z</dcterms:modified>
  <cp:category/>
</cp:coreProperties>
</file>