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301" r:id="rId11"/>
    <p:sldId id="265" r:id="rId12"/>
    <p:sldId id="266" r:id="rId13"/>
    <p:sldId id="267" r:id="rId14"/>
    <p:sldId id="268" r:id="rId15"/>
    <p:sldId id="269" r:id="rId16"/>
    <p:sldId id="302" r:id="rId17"/>
    <p:sldId id="270" r:id="rId18"/>
    <p:sldId id="271" r:id="rId19"/>
    <p:sldId id="272" r:id="rId20"/>
    <p:sldId id="273" r:id="rId21"/>
    <p:sldId id="274" r:id="rId22"/>
    <p:sldId id="303" r:id="rId23"/>
    <p:sldId id="275" r:id="rId24"/>
    <p:sldId id="276" r:id="rId25"/>
    <p:sldId id="277" r:id="rId26"/>
    <p:sldId id="304" r:id="rId27"/>
    <p:sldId id="278" r:id="rId28"/>
    <p:sldId id="279" r:id="rId29"/>
    <p:sldId id="280" r:id="rId30"/>
    <p:sldId id="281" r:id="rId31"/>
    <p:sldId id="305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306" r:id="rId50"/>
    <p:sldId id="307" r:id="rId51"/>
    <p:sldId id="299" r:id="rId52"/>
    <p:sldId id="300" r:id="rId5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7"/>
  </p:normalViewPr>
  <p:slideViewPr>
    <p:cSldViewPr snapToGrid="0" snapToObjects="1">
      <p:cViewPr varScale="1">
        <p:scale>
          <a:sx n="85" d="100"/>
          <a:sy n="85" d="100"/>
        </p:scale>
        <p:origin x="85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7315200" y="0"/>
            <a:ext cx="4876800" cy="3657600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Parallelogram 3"/>
          <p:cNvSpPr/>
          <p:nvPr/>
        </p:nvSpPr>
        <p:spPr>
          <a:xfrm>
            <a:off x="7132320" y="3200400"/>
            <a:ext cx="5059375" cy="3657600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0" y="2373421"/>
            <a:ext cx="12191695" cy="83099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《</a:t>
            </a:r>
            <a:r>
              <a:rPr sz="5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生成式人工智能</a:t>
            </a:r>
            <a:r>
              <a:rPr lang="zh-CN" altLang="en-US" sz="5400" b="1" dirty="0">
                <a:solidFill>
                  <a:srgbClr val="FFFFFF"/>
                </a:solidFill>
                <a:latin typeface="Microsoft YaHei"/>
                <a:ea typeface="Microsoft YaHei"/>
              </a:rPr>
              <a:t>与科研素养</a:t>
            </a:r>
            <a:r>
              <a:rPr sz="5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38328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Microsoft YaHei"/>
                <a:ea typeface="Microsoft YaHei"/>
              </a:rPr>
              <a:t>第 6 章   大模型赋能学术研究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57784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扬州大学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ight Arrow 2"/>
          <p:cNvSpPr/>
          <p:nvPr/>
        </p:nvSpPr>
        <p:spPr>
          <a:xfrm>
            <a:off x="7814381" y="1759144"/>
            <a:ext cx="4106732" cy="4674736"/>
          </a:xfrm>
          <a:prstGeom prst="rightArrow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3657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400" b="1" i="0">
                <a:solidFill>
                  <a:srgbClr val="333333"/>
                </a:solidFill>
                <a:latin typeface="Microsoft YaHei"/>
                <a:ea typeface="Microsoft YaHei"/>
              </a:rPr>
              <a:t>目录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3200400" cy="35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48640" y="2103120"/>
            <a:ext cx="96012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2103120"/>
            <a:ext cx="9601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6.1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600200" y="2103120"/>
            <a:ext cx="594360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783080" y="2103120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66CC"/>
                </a:solidFill>
                <a:latin typeface="Microsoft YaHei"/>
                <a:ea typeface="Microsoft YaHei"/>
              </a:rPr>
              <a:t>AI 辅助选题与问题凝练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816352"/>
            <a:ext cx="96012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" y="2816352"/>
            <a:ext cx="9601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6.2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00200" y="2816352"/>
            <a:ext cx="594360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783080" y="2816352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66CC"/>
                </a:solidFill>
                <a:latin typeface="Microsoft YaHei"/>
                <a:ea typeface="Microsoft YaHei"/>
              </a:rPr>
              <a:t>AI 辅助文献检索与阅读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529584"/>
            <a:ext cx="96012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3529584"/>
            <a:ext cx="9601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6.3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00200" y="3529584"/>
            <a:ext cx="594360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783080" y="3529584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66CC"/>
                </a:solidFill>
                <a:latin typeface="Microsoft YaHei"/>
                <a:ea typeface="Microsoft YaHei"/>
              </a:rPr>
              <a:t>AI 辅助研究框架搭建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242816"/>
            <a:ext cx="96012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4242816"/>
            <a:ext cx="9601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6.4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00200" y="4242816"/>
            <a:ext cx="594360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783080" y="4242816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66CC"/>
                </a:solidFill>
                <a:latin typeface="Microsoft YaHei"/>
                <a:ea typeface="Microsoft YaHei"/>
              </a:rPr>
              <a:t>AI 辅助研究方案设计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956048"/>
            <a:ext cx="96012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4956048"/>
            <a:ext cx="9601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6.5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00200" y="4956048"/>
            <a:ext cx="594360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783080" y="4956048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66CC"/>
                </a:solidFill>
                <a:latin typeface="Microsoft YaHei"/>
                <a:ea typeface="Microsoft YaHei"/>
              </a:rPr>
              <a:t>AI 辅助论文写作与表达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669280"/>
            <a:ext cx="96012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8640" y="5669280"/>
            <a:ext cx="9601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6.6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600200" y="5669280"/>
            <a:ext cx="594360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783080" y="5669280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>
                <a:solidFill>
                  <a:srgbClr val="0066CC"/>
                </a:solidFill>
                <a:latin typeface="Microsoft YaHei"/>
                <a:ea typeface="Microsoft YaHei"/>
              </a:rPr>
              <a:t>AI 辅助论文修改与投稿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导言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学术研究是一个完整过程，而非只是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写论文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005840"/>
            <a:ext cx="11247120" cy="7315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156156"/>
            <a:ext cx="11247120" cy="43088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8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赋能科研全流程：从模糊想法到学术成果</a:t>
            </a:r>
            <a:endParaRPr sz="28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1124712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000" b="1" i="0" dirty="0">
                <a:solidFill>
                  <a:srgbClr val="004CA0"/>
                </a:solidFill>
                <a:latin typeface="Microsoft YaHei"/>
                <a:ea typeface="Microsoft YaHei"/>
              </a:rPr>
              <a:t>AI </a:t>
            </a:r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不替代学术判断与独立思考，但在信息获取</a:t>
            </a:r>
            <a:r>
              <a:rPr sz="20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思路梳理</a:t>
            </a:r>
            <a:r>
              <a:rPr sz="20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结构搭建</a:t>
            </a:r>
            <a:r>
              <a:rPr sz="20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· </a:t>
            </a:r>
            <a:r>
              <a:rPr sz="20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表达完善上发挥关键辅助</a:t>
            </a:r>
            <a:endParaRPr sz="20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57200" y="2514600"/>
            <a:ext cx="3606698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200" y="2514600"/>
            <a:ext cx="914400" cy="13716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2514600"/>
            <a:ext cx="9144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  <a:ea typeface="Arial"/>
              </a:rPr>
              <a:t>6.1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720227"/>
            <a:ext cx="2417978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选题凝练</a:t>
            </a:r>
            <a:endParaRPr sz="22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508760" y="3172968"/>
            <a:ext cx="2417978" cy="25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模糊想法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可研究题目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292498" y="2514600"/>
            <a:ext cx="3606698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92498" y="2514600"/>
            <a:ext cx="914400" cy="13716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92498" y="2514600"/>
            <a:ext cx="9144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  <a:ea typeface="Arial"/>
              </a:rPr>
              <a:t>6.2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4058" y="2720227"/>
            <a:ext cx="2417978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文献检索</a:t>
            </a:r>
            <a:endParaRPr sz="22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344058" y="3172968"/>
            <a:ext cx="2417978" cy="25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检索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筛选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结构化阅读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127796" y="2514600"/>
            <a:ext cx="3606698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127796" y="2514600"/>
            <a:ext cx="914400" cy="1371600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27796" y="2514600"/>
            <a:ext cx="9144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  <a:ea typeface="Arial"/>
              </a:rPr>
              <a:t>6.3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9356" y="2720227"/>
            <a:ext cx="2417978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F58020"/>
                </a:solidFill>
                <a:latin typeface="Microsoft YaHei"/>
                <a:ea typeface="Microsoft YaHei"/>
              </a:rPr>
              <a:t>框架搭建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9356" y="3172968"/>
            <a:ext cx="2417978" cy="25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脉络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观点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综述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切入点</a:t>
            </a:r>
            <a:endParaRPr sz="16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57200" y="4114800"/>
            <a:ext cx="3606698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57200" y="4114800"/>
            <a:ext cx="914400" cy="13716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4114800"/>
            <a:ext cx="9144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  <a:ea typeface="Arial"/>
              </a:rPr>
              <a:t>6.4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08760" y="4320427"/>
            <a:ext cx="2417978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2E8B57"/>
                </a:solidFill>
                <a:latin typeface="Microsoft YaHei"/>
                <a:ea typeface="Microsoft YaHei"/>
              </a:rPr>
              <a:t>方案设计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8760" y="4773168"/>
            <a:ext cx="2417978" cy="25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思路 · 方法 · 流程 · 可行性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92498" y="4114800"/>
            <a:ext cx="3606698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6A3D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4292498" y="4114800"/>
            <a:ext cx="914400" cy="1371600"/>
          </a:xfrm>
          <a:prstGeom prst="rect">
            <a:avLst/>
          </a:prstGeom>
          <a:solidFill>
            <a:srgbClr val="6A3D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292498" y="4114800"/>
            <a:ext cx="9144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  <a:ea typeface="Arial"/>
              </a:rPr>
              <a:t>6.5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44058" y="4320427"/>
            <a:ext cx="2417978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6A3D9A"/>
                </a:solidFill>
                <a:latin typeface="Microsoft YaHei"/>
                <a:ea typeface="Microsoft YaHei"/>
              </a:rPr>
              <a:t>论文写作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4058" y="4773168"/>
            <a:ext cx="2417978" cy="25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结构 · 初稿 · 表达 · 摘要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27796" y="4114800"/>
            <a:ext cx="3606698" cy="1371600"/>
          </a:xfrm>
          <a:prstGeom prst="rect">
            <a:avLst/>
          </a:prstGeom>
          <a:solidFill>
            <a:srgbClr val="FFFFFF"/>
          </a:solidFill>
          <a:ln w="1905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8127796" y="4114800"/>
            <a:ext cx="914400" cy="13716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127796" y="4114800"/>
            <a:ext cx="914400" cy="1371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  <a:ea typeface="Arial"/>
              </a:rPr>
              <a:t>6.6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79356" y="4320427"/>
            <a:ext cx="2417978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0066CC"/>
                </a:solidFill>
                <a:latin typeface="Microsoft YaHei"/>
                <a:ea typeface="Microsoft YaHei"/>
              </a:rPr>
              <a:t>修改投稿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79356" y="4773168"/>
            <a:ext cx="2417978" cy="25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结构 · 表达 · 审稿 · 回复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5989320"/>
            <a:ext cx="11247120" cy="65836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7200" y="6149227"/>
            <a:ext cx="1124712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贯穿案例：研究生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小扬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"，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从一句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我想研究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AI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教育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出发，一步步形成规范的学术成果</a:t>
            </a:r>
            <a:endParaRPr sz="22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案例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研究生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小扬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的成长线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532120" cy="566928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150358"/>
            <a:ext cx="55321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起点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："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我想研究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 AI 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教育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"（</a:t>
            </a:r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模糊</a:t>
            </a:r>
            <a:r>
              <a:rPr sz="2400" b="1" i="0" dirty="0">
                <a:solidFill>
                  <a:srgbClr val="004CA0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9632" y="1051560"/>
            <a:ext cx="5532120" cy="566928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199632" y="1150358"/>
            <a:ext cx="553212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终点：一篇规范的学术论文（清晰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2" name="Chevron 11"/>
          <p:cNvSpPr/>
          <p:nvPr/>
        </p:nvSpPr>
        <p:spPr>
          <a:xfrm>
            <a:off x="411480" y="2286000"/>
            <a:ext cx="2210257" cy="1143000"/>
          </a:xfrm>
          <a:prstGeom prst="chevron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2453378"/>
            <a:ext cx="1753057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924740"/>
            <a:ext cx="1753057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Microsoft YaHei"/>
                <a:ea typeface="Microsoft YaHei"/>
              </a:rPr>
              <a:t>模糊想法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1208" y="3593592"/>
            <a:ext cx="1871929" cy="1280160"/>
          </a:xfrm>
          <a:prstGeom prst="rect">
            <a:avLst/>
          </a:prstGeom>
          <a:solidFill>
            <a:srgbClr val="F4F7FB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76072" y="4095885"/>
            <a:ext cx="1762201" cy="29386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我想研究</a:t>
            </a: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教育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7" name="Chevron 16"/>
          <p:cNvSpPr/>
          <p:nvPr/>
        </p:nvSpPr>
        <p:spPr>
          <a:xfrm>
            <a:off x="2329129" y="2286000"/>
            <a:ext cx="2210257" cy="1143000"/>
          </a:xfrm>
          <a:prstGeom prst="chevron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420569" y="2453378"/>
            <a:ext cx="1753057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0569" y="2924740"/>
            <a:ext cx="1753057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Microsoft YaHei"/>
                <a:ea typeface="Microsoft YaHei"/>
              </a:rPr>
              <a:t>清晰选题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38857" y="3593592"/>
            <a:ext cx="1871929" cy="1280160"/>
          </a:xfrm>
          <a:prstGeom prst="rect">
            <a:avLst/>
          </a:prstGeom>
          <a:solidFill>
            <a:srgbClr val="F4F7FB"/>
          </a:solidFill>
          <a:ln w="1587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493721" y="3936610"/>
            <a:ext cx="1762201" cy="6124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对批判性思维的影响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2" name="Chevron 21"/>
          <p:cNvSpPr/>
          <p:nvPr/>
        </p:nvSpPr>
        <p:spPr>
          <a:xfrm>
            <a:off x="4246778" y="2286000"/>
            <a:ext cx="2210257" cy="1143000"/>
          </a:xfrm>
          <a:prstGeom prst="chevron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38218" y="2453378"/>
            <a:ext cx="1753057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38218" y="2924740"/>
            <a:ext cx="1753057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Microsoft YaHei"/>
                <a:ea typeface="Microsoft YaHei"/>
              </a:rPr>
              <a:t>文献地基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56506" y="3593592"/>
            <a:ext cx="1871929" cy="1280160"/>
          </a:xfrm>
          <a:prstGeom prst="rect">
            <a:avLst/>
          </a:prstGeom>
          <a:solidFill>
            <a:srgbClr val="F4F7FB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11370" y="3936610"/>
            <a:ext cx="1762201" cy="6124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检索·筛选·精读核心文献</a:t>
            </a:r>
            <a:endParaRPr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7" name="Chevron 26"/>
          <p:cNvSpPr/>
          <p:nvPr/>
        </p:nvSpPr>
        <p:spPr>
          <a:xfrm>
            <a:off x="6164427" y="2286000"/>
            <a:ext cx="2210257" cy="1143000"/>
          </a:xfrm>
          <a:prstGeom prst="chevron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55867" y="2453378"/>
            <a:ext cx="1753057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55867" y="2924740"/>
            <a:ext cx="1753057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Microsoft YaHei"/>
                <a:ea typeface="Microsoft YaHei"/>
              </a:rPr>
              <a:t>研究框架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4155" y="3593592"/>
            <a:ext cx="1871929" cy="1280160"/>
          </a:xfrm>
          <a:prstGeom prst="rect">
            <a:avLst/>
          </a:prstGeom>
          <a:solidFill>
            <a:srgbClr val="F4F7FB"/>
          </a:solidFill>
          <a:ln w="1587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29019" y="3936610"/>
            <a:ext cx="1762201" cy="6124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脉络·观点·综述·切入点</a:t>
            </a:r>
          </a:p>
        </p:txBody>
      </p:sp>
      <p:sp>
        <p:nvSpPr>
          <p:cNvPr id="32" name="Chevron 31"/>
          <p:cNvSpPr/>
          <p:nvPr/>
        </p:nvSpPr>
        <p:spPr>
          <a:xfrm>
            <a:off x="8082076" y="2286000"/>
            <a:ext cx="2210257" cy="1143000"/>
          </a:xfrm>
          <a:prstGeom prst="chevron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173516" y="2453378"/>
            <a:ext cx="1753057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  <a:ea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73516" y="2924740"/>
            <a:ext cx="1753057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Microsoft YaHei"/>
                <a:ea typeface="Microsoft YaHei"/>
              </a:rPr>
              <a:t>研究方案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91804" y="3593592"/>
            <a:ext cx="1871929" cy="1280160"/>
          </a:xfrm>
          <a:prstGeom prst="rect">
            <a:avLst/>
          </a:prstGeom>
          <a:solidFill>
            <a:srgbClr val="F4F7FB"/>
          </a:solidFill>
          <a:ln w="1587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246668" y="3936610"/>
            <a:ext cx="1762201" cy="6124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思路·方法·流程·可行性</a:t>
            </a:r>
          </a:p>
        </p:txBody>
      </p:sp>
      <p:sp>
        <p:nvSpPr>
          <p:cNvPr id="37" name="Chevron 36"/>
          <p:cNvSpPr/>
          <p:nvPr/>
        </p:nvSpPr>
        <p:spPr>
          <a:xfrm>
            <a:off x="9999725" y="2286000"/>
            <a:ext cx="2210257" cy="1143000"/>
          </a:xfrm>
          <a:prstGeom prst="chevron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0091165" y="2453378"/>
            <a:ext cx="1753057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Arial"/>
                <a:ea typeface="Arial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91165" y="2924740"/>
            <a:ext cx="1753057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1" i="0">
                <a:solidFill>
                  <a:srgbClr val="FFFFFF"/>
                </a:solidFill>
                <a:latin typeface="Microsoft YaHei"/>
                <a:ea typeface="Microsoft YaHei"/>
              </a:rPr>
              <a:t>论文成果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9453" y="3593592"/>
            <a:ext cx="1871929" cy="1280160"/>
          </a:xfrm>
          <a:prstGeom prst="rect">
            <a:avLst/>
          </a:prstGeom>
          <a:solidFill>
            <a:srgbClr val="F4F7FB"/>
          </a:solidFill>
          <a:ln w="15875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164317" y="3936610"/>
            <a:ext cx="1762201" cy="6124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b="0" i="0">
                <a:solidFill>
                  <a:srgbClr val="333333"/>
                </a:solidFill>
                <a:latin typeface="Microsoft YaHei"/>
                <a:ea typeface="Microsoft YaHei"/>
              </a:rPr>
              <a:t>写作·表达·修改·投稿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586984"/>
            <a:ext cx="11247120" cy="713232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66344" y="5561552"/>
            <a:ext cx="11247120" cy="73866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的价值：帮研究者更快看清方向、组织结构、打磨表达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——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而非替代研究判断与学术责任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6.1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0" y="2732442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sz="36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辅助研究的选题与问题凝练</a:t>
            </a:r>
            <a:endParaRPr sz="36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023360"/>
            <a:ext cx="6797040" cy="7612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学术研究往往不是从清晰问题开始，而是从模糊兴趣出发。AI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帮你把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方向太大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逐步凝练为具体、可研究的论文题目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辅助选题与问题凝练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95934" y="1138586"/>
            <a:ext cx="112471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四步选题凝练</a:t>
            </a:r>
            <a:r>
              <a:rPr sz="28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· </a:t>
            </a:r>
            <a:r>
              <a:rPr sz="28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从一句</a:t>
            </a:r>
            <a:r>
              <a:rPr sz="28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8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我想研究</a:t>
            </a:r>
            <a:r>
              <a:rPr sz="28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AI </a:t>
            </a:r>
            <a:r>
              <a:rPr sz="28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教育</a:t>
            </a:r>
            <a:r>
              <a:rPr sz="28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 </a:t>
            </a:r>
            <a:r>
              <a:rPr sz="28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出发</a:t>
            </a:r>
            <a:endParaRPr sz="28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" y="2103120"/>
            <a:ext cx="2737027" cy="6858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2103120"/>
            <a:ext cx="273702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88920"/>
            <a:ext cx="2737027" cy="242316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0624" y="3061454"/>
            <a:ext cx="2627299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了解领域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75488" y="3675888"/>
            <a:ext cx="2517571" cy="6966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建立领域地图，聚焦生成式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辅助学习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084499" y="2788920"/>
            <a:ext cx="164592" cy="2423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004CA0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30803" y="2103120"/>
            <a:ext cx="2737027" cy="6858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30803" y="2103120"/>
            <a:ext cx="273702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30803" y="2788920"/>
            <a:ext cx="2737027" cy="242316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285667" y="3061454"/>
            <a:ext cx="2627299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发现空白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340531" y="3675888"/>
            <a:ext cx="2517571" cy="6966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0" i="0">
                <a:solidFill>
                  <a:srgbClr val="333333"/>
                </a:solidFill>
                <a:latin typeface="Microsoft YaHei"/>
                <a:ea typeface="Microsoft YaHei"/>
              </a:rPr>
              <a:t>识别热点与空白，关注思维/批判性能力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9543" y="2788920"/>
            <a:ext cx="164592" cy="2423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004CA0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5847" y="2103120"/>
            <a:ext cx="2737027" cy="6858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095847" y="2103120"/>
            <a:ext cx="273702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5847" y="2788920"/>
            <a:ext cx="2737027" cy="242316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150711" y="3061454"/>
            <a:ext cx="2627299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拆解问题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205575" y="3675888"/>
            <a:ext cx="2517571" cy="6966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0" i="0">
                <a:solidFill>
                  <a:srgbClr val="333333"/>
                </a:solidFill>
                <a:latin typeface="Microsoft YaHei"/>
                <a:ea typeface="Microsoft YaHei"/>
              </a:rPr>
              <a:t>明确研究变量、限定对象、提出具体问题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14587" y="2788920"/>
            <a:ext cx="164592" cy="2423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004CA0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0891" y="2103120"/>
            <a:ext cx="2737027" cy="6858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60891" y="2103120"/>
            <a:ext cx="273702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60891" y="2788920"/>
            <a:ext cx="2737027" cy="242316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015755" y="3061454"/>
            <a:ext cx="2627299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004CA0"/>
                </a:solidFill>
                <a:latin typeface="Microsoft YaHei"/>
                <a:ea typeface="Microsoft YaHei"/>
              </a:rPr>
              <a:t>评估优化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70619" y="3675888"/>
            <a:ext cx="2517571" cy="6966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0" i="0">
                <a:solidFill>
                  <a:srgbClr val="333333"/>
                </a:solidFill>
                <a:latin typeface="Microsoft YaHei"/>
                <a:ea typeface="Microsoft YaHei"/>
              </a:rPr>
              <a:t>四维度判断价值，形成论文题目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3979" y="5440680"/>
            <a:ext cx="11475720" cy="9144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15390" y="5479913"/>
            <a:ext cx="10972800" cy="83593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关键：建立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把模糊想法转化为清晰、可研究学术问题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的能力，比记住某一个具体选题更重要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6.1.1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辅助选题与问题凝练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28099" y="973896"/>
            <a:ext cx="954039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第一步：先建立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领域地图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"，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而非急于查论文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1709928"/>
            <a:ext cx="3764280" cy="4042508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为何先做：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直接查论文易被海量信息淹没，先用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建立全局认知框架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认知四要素：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领域定义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主要分支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核心问题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基本方法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小扬的收获</a:t>
            </a: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教育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并非单一问题，聚焦到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生成式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辅助学习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分支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关键心法：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目标是建立领域地图，而不是立刻确定题目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622085" y="5831664"/>
            <a:ext cx="652241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图6-1 </a:t>
            </a:r>
            <a:r>
              <a:rPr sz="1600" b="0" dirty="0" err="1">
                <a:latin typeface="Microsoft YaHei"/>
                <a:ea typeface="Microsoft YaHei"/>
              </a:rPr>
              <a:t>利用大模型快速了解研究领域</a:t>
            </a:r>
            <a:endParaRPr sz="1600" b="0" dirty="0">
              <a:latin typeface="Microsoft YaHei"/>
              <a:ea typeface="Microsoft YaHei"/>
            </a:endParaRP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6DAFA647-54E8-568A-9440-6DE86C6EC863}"/>
              </a:ext>
            </a:extLst>
          </p:cNvPr>
          <p:cNvGrpSpPr/>
          <p:nvPr/>
        </p:nvGrpSpPr>
        <p:grpSpPr>
          <a:xfrm>
            <a:off x="4622085" y="1613488"/>
            <a:ext cx="7066995" cy="4042507"/>
            <a:chOff x="3539" y="1837"/>
            <a:chExt cx="8600" cy="6344"/>
          </a:xfrm>
        </p:grpSpPr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B6E9F573-847B-D3FB-C6A5-F424B104802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277" y="2219"/>
              <a:ext cx="862" cy="1391"/>
            </a:xfrm>
            <a:prstGeom prst="rect">
              <a:avLst/>
            </a:prstGeom>
          </p:spPr>
        </p:pic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05D02CD7-A3AE-E29B-289D-CC632D5C9A69}"/>
                </a:ext>
              </a:extLst>
            </p:cNvPr>
            <p:cNvSpPr/>
            <p:nvPr/>
          </p:nvSpPr>
          <p:spPr>
            <a:xfrm>
              <a:off x="3539" y="1837"/>
              <a:ext cx="7383" cy="2176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请用学术视角介绍“人工智能教育应用”这一研究领域，包括：领域定义、主要研究方向、核心问题、常见研究方法和当前发展趋势。请用结构化方式表达，适合研究生入门。</a:t>
              </a:r>
            </a:p>
          </p:txBody>
        </p:sp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D5247532-0078-5B3D-0811-1582848A59F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40" y="4436"/>
              <a:ext cx="844" cy="1392"/>
            </a:xfrm>
            <a:prstGeom prst="rect">
              <a:avLst/>
            </a:prstGeom>
          </p:spPr>
        </p:pic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0117308C-D6DB-3AF4-272D-E47C6F11CFD1}"/>
                </a:ext>
              </a:extLst>
            </p:cNvPr>
            <p:cNvSpPr/>
            <p:nvPr/>
          </p:nvSpPr>
          <p:spPr>
            <a:xfrm>
              <a:off x="4682" y="4236"/>
              <a:ext cx="6288" cy="3945"/>
            </a:xfrm>
            <a:prstGeom prst="roundRect">
              <a:avLst/>
            </a:prstGeom>
          </p:spPr>
          <p:style>
            <a:lnRef idx="2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“人工智能教育应用是指利用人工智能技术支持教学、学习与教育管理的研究领域。主要研究方向包括：智能辅导系统、学习分析、自适应学习系统、生成式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辅助学习等。核心问题包括：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是否能提升学习效果、如何实现个性化学习、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对教师角色的影响等。常见方法包括实验研究、问卷调查、学习行为数据分析等”</a:t>
              </a:r>
              <a:endParaRPr lang="zh-CN" altLang="zh-CN" sz="1600" dirty="0">
                <a:latin typeface="宋体" pitchFamily="2" charset="-122"/>
                <a:ea typeface="宋体" pitchFamily="2" charset="-122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6.1.2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辅助选题与问题凝练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第二步：从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大家在做什么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走向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我可以做什么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6248" y="1329452"/>
            <a:ext cx="9600304" cy="169519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000" b="1" dirty="0">
                <a:solidFill>
                  <a:srgbClr val="F58020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热点：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告诉你领域当前的关注焦点与主流方向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000" b="1" dirty="0">
                <a:solidFill>
                  <a:srgbClr val="2E8B57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2E8B57"/>
                </a:solidFill>
                <a:latin typeface="Microsoft YaHei"/>
                <a:ea typeface="Microsoft YaHei"/>
              </a:rPr>
              <a:t>空白：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提示尚未充分研究、值得切入的问题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小扬的发现</a:t>
            </a: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是否会影响学生的思考能力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这一问题尚未被充分研究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意义：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从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热门方向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走向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潜在问题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找到真正的切入缝隙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456108" y="6249329"/>
            <a:ext cx="6982609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图6-2 </a:t>
            </a:r>
            <a:r>
              <a:rPr sz="1600" b="0" dirty="0" err="1">
                <a:latin typeface="Microsoft YaHei"/>
                <a:ea typeface="Microsoft YaHei"/>
              </a:rPr>
              <a:t>利用大模型识别研究热点与潜在空白</a:t>
            </a:r>
            <a:endParaRPr sz="1600" b="0" dirty="0">
              <a:latin typeface="Microsoft YaHei"/>
              <a:ea typeface="Microsoft YaHei"/>
            </a:endParaRP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D4D42771-36B6-40B7-118F-CA04C59A9DDF}"/>
              </a:ext>
            </a:extLst>
          </p:cNvPr>
          <p:cNvGrpSpPr/>
          <p:nvPr/>
        </p:nvGrpSpPr>
        <p:grpSpPr>
          <a:xfrm>
            <a:off x="1828855" y="3119718"/>
            <a:ext cx="8457697" cy="2901272"/>
            <a:chOff x="3540" y="2181"/>
            <a:chExt cx="8599" cy="5916"/>
          </a:xfrm>
        </p:grpSpPr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22C425B9-7307-479B-5671-8F3AC470117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277" y="2181"/>
              <a:ext cx="862" cy="1832"/>
            </a:xfrm>
            <a:prstGeom prst="rect">
              <a:avLst/>
            </a:prstGeom>
          </p:spPr>
        </p:pic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E8361615-93A0-3DE4-2E4E-9542BE78ADD6}"/>
                </a:ext>
              </a:extLst>
            </p:cNvPr>
            <p:cNvSpPr/>
            <p:nvPr/>
          </p:nvSpPr>
          <p:spPr>
            <a:xfrm>
              <a:off x="3541" y="2181"/>
              <a:ext cx="7381" cy="1832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请总结近5年“生成式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辅助学习”领域的主要研究热点，并指出当前研究中仍然存在的不足或潜在空白。请分别列出热点与空白，并进行简要说明。</a:t>
              </a:r>
            </a:p>
          </p:txBody>
        </p:sp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34D6395B-B2A8-468E-0A65-A8BBF0F79B1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40" y="4437"/>
              <a:ext cx="844" cy="1833"/>
            </a:xfrm>
            <a:prstGeom prst="rect">
              <a:avLst/>
            </a:prstGeom>
          </p:spPr>
        </p:pic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D6E0D1DF-DA5F-32D4-E911-B2602371E6B7}"/>
                </a:ext>
              </a:extLst>
            </p:cNvPr>
            <p:cNvSpPr/>
            <p:nvPr/>
          </p:nvSpPr>
          <p:spPr>
            <a:xfrm>
              <a:off x="4682" y="4236"/>
              <a:ext cx="6288" cy="3861"/>
            </a:xfrm>
            <a:prstGeom prst="roundRect">
              <a:avLst/>
            </a:prstGeom>
          </p:spPr>
          <p:style>
            <a:lnRef idx="2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研究热点包括：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生成式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辅助写作、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即时答疑、个性化学习支持、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在课程中的应用</a:t>
              </a: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潜在研究空白包括：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学生使用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过程中认知参与程度研究不足、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是否削弱批判性思维缺乏实证研究、不同学科中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效果差异缺乏比较、长期使用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的学习影响尚不明确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6.1.3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辅助选题与问题凝练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第三步：明确变量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限定对象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提出具体问题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913382" y="6148510"/>
            <a:ext cx="5615787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dirty="0">
                <a:latin typeface="Microsoft YaHei"/>
                <a:ea typeface="Microsoft YaHei"/>
              </a:rPr>
              <a:t>图6-3 </a:t>
            </a:r>
            <a:r>
              <a:rPr sz="1600" b="0" i="0" dirty="0" err="1">
                <a:latin typeface="Microsoft YaHei"/>
                <a:ea typeface="Microsoft YaHei"/>
              </a:rPr>
              <a:t>利用大模型拆解研究变量与研究问题</a:t>
            </a:r>
            <a:endParaRPr sz="1600" b="0" i="0" dirty="0">
              <a:latin typeface="Microsoft YaHei"/>
              <a:ea typeface="Microsoft YaHei"/>
            </a:endParaRPr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C1352300-2417-789B-83DE-BB6D4B4BB37E}"/>
              </a:ext>
            </a:extLst>
          </p:cNvPr>
          <p:cNvGrpSpPr/>
          <p:nvPr/>
        </p:nvGrpSpPr>
        <p:grpSpPr>
          <a:xfrm>
            <a:off x="2632176" y="1664483"/>
            <a:ext cx="7289970" cy="4086799"/>
            <a:chOff x="3729" y="1167"/>
            <a:chExt cx="8055" cy="7750"/>
          </a:xfrm>
        </p:grpSpPr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E54B5F79-10CE-25F4-95A6-BCC26D69B4E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922" y="1726"/>
              <a:ext cx="862" cy="1883"/>
            </a:xfrm>
            <a:prstGeom prst="rect">
              <a:avLst/>
            </a:prstGeom>
          </p:spPr>
        </p:pic>
        <p:sp>
          <p:nvSpPr>
            <p:cNvPr id="19" name="矩形: 圆角 18">
              <a:extLst>
                <a:ext uri="{FF2B5EF4-FFF2-40B4-BE49-F238E27FC236}">
                  <a16:creationId xmlns:a16="http://schemas.microsoft.com/office/drawing/2014/main" id="{24658976-8F1A-0521-82BF-05802FB36DE0}"/>
                </a:ext>
              </a:extLst>
            </p:cNvPr>
            <p:cNvSpPr/>
            <p:nvPr/>
          </p:nvSpPr>
          <p:spPr>
            <a:xfrm>
              <a:off x="3730" y="1167"/>
              <a:ext cx="7192" cy="2846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我的研究方向是“生成式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对大学生学习的影响”。请帮我：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1.拆解可能涉及的研究变量（自变量与因变量）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2.提出3-5个具体可研究的问题（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Research Questions）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要求问题具体、可测量、适合论文研究。</a:t>
              </a:r>
            </a:p>
          </p:txBody>
        </p:sp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FC02EB9E-2621-8881-CD95-9250690E84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729" y="4764"/>
              <a:ext cx="844" cy="1883"/>
            </a:xfrm>
            <a:prstGeom prst="rect">
              <a:avLst/>
            </a:prstGeom>
          </p:spPr>
        </p:pic>
        <p:sp>
          <p:nvSpPr>
            <p:cNvPr id="21" name="矩形: 圆角 20">
              <a:extLst>
                <a:ext uri="{FF2B5EF4-FFF2-40B4-BE49-F238E27FC236}">
                  <a16:creationId xmlns:a16="http://schemas.microsoft.com/office/drawing/2014/main" id="{8255346C-DE06-AE8C-8762-33517323113D}"/>
                </a:ext>
              </a:extLst>
            </p:cNvPr>
            <p:cNvSpPr/>
            <p:nvPr/>
          </p:nvSpPr>
          <p:spPr>
            <a:xfrm>
              <a:off x="4573" y="4323"/>
              <a:ext cx="6288" cy="4594"/>
            </a:xfrm>
            <a:prstGeom prst="roundRect">
              <a:avLst/>
            </a:prstGeom>
          </p:spPr>
          <p:style>
            <a:lnRef idx="2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变量包括：</a:t>
              </a:r>
            </a:p>
            <a:p>
              <a:pPr algn="just"/>
              <a:r>
                <a:rPr lang="en-US" altLang="en-US" sz="1600" dirty="0">
                  <a:latin typeface="宋体" pitchFamily="2" charset="-122"/>
                  <a:ea typeface="宋体" pitchFamily="2" charset="-122"/>
                </a:rPr>
                <a:t>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自变量：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使用频率、使用方式</a:t>
              </a:r>
            </a:p>
            <a:p>
              <a:pPr algn="just"/>
              <a:r>
                <a:rPr lang="en-US" altLang="en-US" sz="1600" dirty="0">
                  <a:latin typeface="宋体" pitchFamily="2" charset="-122"/>
                  <a:ea typeface="宋体" pitchFamily="2" charset="-122"/>
                </a:rPr>
                <a:t>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因变量：学习成绩、学习效率、批判性思维能力</a:t>
              </a: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研究问题包括：</a:t>
              </a:r>
            </a:p>
            <a:p>
              <a:pPr algn="just"/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    1.AI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使用频率是否影响学习成绩</a:t>
              </a:r>
            </a:p>
            <a:p>
              <a:pPr algn="just"/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    2.AI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辅助学习是否改变学生的学习策略</a:t>
              </a:r>
            </a:p>
            <a:p>
              <a:pPr algn="just"/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    3.AI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使用是否影响批判性思维能力</a:t>
              </a:r>
            </a:p>
            <a:p>
              <a:pPr algn="just"/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    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4.不同使用方式对学习效果是否存在差异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C3821-DD68-5AA9-292B-94E5D1C73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E657589-626A-896C-3F82-ABA458C250E9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0B32D3B9-F317-0D5A-6645-BF0A6D607C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E91C225-4F25-B0B0-EFB3-10C5C1D1CAF3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389853-044F-0280-71E1-E3822AF24244}"/>
              </a:ext>
            </a:extLst>
          </p:cNvPr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6.1.3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C1638B6-5E2D-12D9-9E1F-29043DD37323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776CC6-328A-736C-1E1C-F818B6FC7921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辅助选题与问题凝练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E52BC7-5EF8-CDEE-46BC-AA8ADA191351}"/>
              </a:ext>
            </a:extLst>
          </p:cNvPr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第三步：明确变量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限定对象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提出具体问题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CCF9A4-9FEE-77BF-89D9-8D417DD8DC20}"/>
              </a:ext>
            </a:extLst>
          </p:cNvPr>
          <p:cNvSpPr txBox="1"/>
          <p:nvPr/>
        </p:nvSpPr>
        <p:spPr>
          <a:xfrm>
            <a:off x="2832699" y="5359717"/>
            <a:ext cx="5615787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dirty="0">
                <a:latin typeface="Microsoft YaHei"/>
                <a:ea typeface="Microsoft YaHei"/>
              </a:rPr>
              <a:t>图6-4 </a:t>
            </a:r>
            <a:r>
              <a:rPr sz="1600" b="0" i="0" dirty="0" err="1">
                <a:latin typeface="Microsoft YaHei"/>
                <a:ea typeface="Microsoft YaHei"/>
              </a:rPr>
              <a:t>生成硕士论文的研究问题</a:t>
            </a:r>
            <a:endParaRPr sz="1600" b="0" i="0" dirty="0">
              <a:latin typeface="Microsoft YaHei"/>
              <a:ea typeface="Microsoft YaHei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B797E09-BDE4-FAD6-B174-E753D6D586F4}"/>
              </a:ext>
            </a:extLst>
          </p:cNvPr>
          <p:cNvSpPr/>
          <p:nvPr/>
        </p:nvSpPr>
        <p:spPr>
          <a:xfrm>
            <a:off x="365760" y="5983233"/>
            <a:ext cx="1147572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A6C69F7-A837-47D8-930E-F133F6C96C6A}"/>
              </a:ext>
            </a:extLst>
          </p:cNvPr>
          <p:cNvSpPr txBox="1"/>
          <p:nvPr/>
        </p:nvSpPr>
        <p:spPr>
          <a:xfrm>
            <a:off x="520848" y="6087658"/>
            <a:ext cx="11544749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从主题走向问题，从模糊走向具体：小扬最终锁定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生成式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AI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对大学生批判性思维的影响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"。</a:t>
            </a: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1331E419-4B42-DC67-88E4-26CF30BE98BE}"/>
              </a:ext>
            </a:extLst>
          </p:cNvPr>
          <p:cNvGrpSpPr/>
          <p:nvPr/>
        </p:nvGrpSpPr>
        <p:grpSpPr>
          <a:xfrm>
            <a:off x="2452781" y="2079812"/>
            <a:ext cx="7793878" cy="2665424"/>
            <a:chOff x="3540" y="2238"/>
            <a:chExt cx="8292" cy="3498"/>
          </a:xfrm>
        </p:grpSpPr>
        <p:pic>
          <p:nvPicPr>
            <p:cNvPr id="22" name="图片 21">
              <a:extLst>
                <a:ext uri="{FF2B5EF4-FFF2-40B4-BE49-F238E27FC236}">
                  <a16:creationId xmlns:a16="http://schemas.microsoft.com/office/drawing/2014/main" id="{9B126C9B-0692-012C-765F-D58AF1D455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970" y="2238"/>
              <a:ext cx="862" cy="1109"/>
            </a:xfrm>
            <a:prstGeom prst="rect">
              <a:avLst/>
            </a:prstGeom>
          </p:spPr>
        </p:pic>
        <p:sp>
          <p:nvSpPr>
            <p:cNvPr id="23" name="矩形: 圆角 22">
              <a:extLst>
                <a:ext uri="{FF2B5EF4-FFF2-40B4-BE49-F238E27FC236}">
                  <a16:creationId xmlns:a16="http://schemas.microsoft.com/office/drawing/2014/main" id="{D52279C8-26CD-DA8E-29D5-B66A8029506E}"/>
                </a:ext>
              </a:extLst>
            </p:cNvPr>
            <p:cNvSpPr/>
            <p:nvPr/>
          </p:nvSpPr>
          <p:spPr>
            <a:xfrm>
              <a:off x="3541" y="2238"/>
              <a:ext cx="7381" cy="1109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请从上述问题中选出一个最适合作为硕士论文的研究问题，并说明理由。</a:t>
              </a:r>
            </a:p>
          </p:txBody>
        </p:sp>
        <p:pic>
          <p:nvPicPr>
            <p:cNvPr id="24" name="图片 23">
              <a:extLst>
                <a:ext uri="{FF2B5EF4-FFF2-40B4-BE49-F238E27FC236}">
                  <a16:creationId xmlns:a16="http://schemas.microsoft.com/office/drawing/2014/main" id="{BF93E844-FDBB-13B4-93A5-FF90ABBFBC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40" y="3821"/>
              <a:ext cx="844" cy="1109"/>
            </a:xfrm>
            <a:prstGeom prst="rect">
              <a:avLst/>
            </a:prstGeom>
          </p:spPr>
        </p:pic>
        <p:sp>
          <p:nvSpPr>
            <p:cNvPr id="25" name="矩形: 圆角 24">
              <a:extLst>
                <a:ext uri="{FF2B5EF4-FFF2-40B4-BE49-F238E27FC236}">
                  <a16:creationId xmlns:a16="http://schemas.microsoft.com/office/drawing/2014/main" id="{FB52E7DC-03C9-13F5-680C-CCD5C3F5D574}"/>
                </a:ext>
              </a:extLst>
            </p:cNvPr>
            <p:cNvSpPr/>
            <p:nvPr/>
          </p:nvSpPr>
          <p:spPr>
            <a:xfrm>
              <a:off x="4493" y="3821"/>
              <a:ext cx="6477" cy="1915"/>
            </a:xfrm>
            <a:prstGeom prst="roundRect">
              <a:avLst/>
            </a:prstGeom>
          </p:spPr>
          <p:style>
            <a:lnRef idx="2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推荐问题：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“生成式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辅助学习对大学生批判性思维能力的影响”，因为变量明确、具有研究价值且可通过实验或问卷进行测量。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141283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6.1.4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辅助选题与问题凝练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234440" y="900092"/>
            <a:ext cx="9573409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第四步：四个维度判断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值不值得做、能不能完成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3076" y="1331901"/>
            <a:ext cx="8070448" cy="169519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理论价值：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能否补充或推进已有理论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000" b="1" dirty="0">
                <a:solidFill>
                  <a:srgbClr val="2E8B57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2E8B57"/>
                </a:solidFill>
                <a:latin typeface="Microsoft YaHei"/>
                <a:ea typeface="Microsoft YaHei"/>
              </a:rPr>
              <a:t>实践价值：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能否回应真实的教学与学习需求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000" b="1" dirty="0">
                <a:solidFill>
                  <a:srgbClr val="F58020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创新性：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视角、方法或结论是否有新意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000" b="1" dirty="0">
                <a:solidFill>
                  <a:srgbClr val="6A3D9A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6A3D9A"/>
                </a:solidFill>
                <a:latin typeface="Microsoft YaHei"/>
                <a:ea typeface="Microsoft YaHei"/>
              </a:rPr>
              <a:t>可行性：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样本、数据、时间是否支撑落地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781300" y="6274103"/>
            <a:ext cx="559308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图6-5 </a:t>
            </a:r>
            <a:r>
              <a:rPr sz="1600" b="0" dirty="0" err="1">
                <a:latin typeface="Microsoft YaHei"/>
                <a:ea typeface="Microsoft YaHei"/>
              </a:rPr>
              <a:t>研究问题评估与优化示意图</a:t>
            </a:r>
            <a:endParaRPr sz="1600" b="0" dirty="0">
              <a:latin typeface="Microsoft YaHei"/>
              <a:ea typeface="Microsoft YaHei"/>
            </a:endParaRP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317558D1-AF36-DD0C-F308-D29D03A65CC6}"/>
              </a:ext>
            </a:extLst>
          </p:cNvPr>
          <p:cNvGrpSpPr/>
          <p:nvPr/>
        </p:nvGrpSpPr>
        <p:grpSpPr>
          <a:xfrm>
            <a:off x="1782858" y="3170258"/>
            <a:ext cx="8626284" cy="3012519"/>
            <a:chOff x="3540" y="1471"/>
            <a:chExt cx="8244" cy="5988"/>
          </a:xfrm>
        </p:grpSpPr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E86AE8E3-5EF1-13C7-0488-A4E97CBADBC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922" y="2091"/>
              <a:ext cx="862" cy="1923"/>
            </a:xfrm>
            <a:prstGeom prst="rect">
              <a:avLst/>
            </a:prstGeom>
          </p:spPr>
        </p:pic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6EBC12F0-D675-8D31-527C-C52DBFE32401}"/>
                </a:ext>
              </a:extLst>
            </p:cNvPr>
            <p:cNvSpPr/>
            <p:nvPr/>
          </p:nvSpPr>
          <p:spPr>
            <a:xfrm>
              <a:off x="3541" y="1471"/>
              <a:ext cx="7381" cy="2542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请从以下四个方面评估这个研究问题：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“生成式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辅助学习对大学生批判性思维能力的影响”1.理论价值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 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2.实践价值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 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3.创新性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 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4.可行性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并指出可能存在的问题及改进建议。</a:t>
              </a:r>
            </a:p>
          </p:txBody>
        </p:sp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FC476B1D-F65C-F837-787D-B413A9F10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40" y="4436"/>
              <a:ext cx="844" cy="1692"/>
            </a:xfrm>
            <a:prstGeom prst="rect">
              <a:avLst/>
            </a:prstGeom>
          </p:spPr>
        </p:pic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C4190929-2A4F-74CC-55BB-0A5CFF206596}"/>
                </a:ext>
              </a:extLst>
            </p:cNvPr>
            <p:cNvSpPr/>
            <p:nvPr/>
          </p:nvSpPr>
          <p:spPr>
            <a:xfrm>
              <a:off x="4655" y="4192"/>
              <a:ext cx="6266" cy="3267"/>
            </a:xfrm>
            <a:prstGeom prst="roundRect">
              <a:avLst/>
            </a:prstGeom>
          </p:spPr>
          <p:style>
            <a:lnRef idx="2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理论价值：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有助于拓展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教育与认知发展研究</a:t>
              </a: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实践价值：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为教学设计提供参考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创新性：结合生成式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与思维能力，具有前沿性</a:t>
              </a: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可行性：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可通过实验或问卷收集数据</a:t>
              </a:r>
              <a:endParaRPr lang="en-US" altLang="zh-CN" sz="1600" dirty="0">
                <a:latin typeface="宋体" pitchFamily="2" charset="-122"/>
                <a:ea typeface="宋体" pitchFamily="2" charset="-122"/>
              </a:endParaRP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建议：进一步明确“批判性思维”的测量方式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6.1.5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辅助选题与问题凝练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528943" y="886968"/>
            <a:ext cx="6453692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高级用法：不止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缩小题目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"，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更要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拓宽视角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1" y="1935631"/>
            <a:ext cx="3987648" cy="3303844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教育学：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AI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如何改变学习过程与教学方式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心理学：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认知负荷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自我调节学习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思维参与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计算机科学：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生成式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机制与提示词交互逻辑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伦理学：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技术依赖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学术诚信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人机协作边界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pic>
        <p:nvPicPr>
          <p:cNvPr id="11" name="Picture 10" descr="imag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0823" y="1400778"/>
            <a:ext cx="6452057" cy="43032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54484" y="5751281"/>
            <a:ext cx="652241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图6-6 </a:t>
            </a:r>
            <a:r>
              <a:rPr sz="1600" b="0" dirty="0" err="1">
                <a:latin typeface="Microsoft YaHei"/>
                <a:ea typeface="Microsoft YaHei"/>
              </a:rPr>
              <a:t>交叉学科研究问题生成提示示意图</a:t>
            </a:r>
            <a:endParaRPr sz="1600" b="0" dirty="0"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65760" y="6053328"/>
            <a:ext cx="1147572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6147830"/>
            <a:ext cx="11018520" cy="3779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许多有创新潜力的选题，往往不在某一学科内部，而在不同学科的交汇处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6.2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98567" y="2546604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sz="36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辅助文献检索与文献阅读</a:t>
            </a:r>
            <a:endParaRPr sz="36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023360"/>
            <a:ext cx="6766560" cy="11613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一个题目能否成立，取决于扎实的文献基础。AI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帮你构建检索策略、筛选核心文献、结构化提炼内容，降低进入文献世界的门槛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辅助文献检索与阅读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 dirty="0">
                <a:solidFill>
                  <a:srgbClr val="0066CC"/>
                </a:solidFill>
                <a:latin typeface="Microsoft YaHei"/>
                <a:ea typeface="Microsoft YaHei"/>
              </a:rPr>
              <a:t>从 "</a:t>
            </a:r>
            <a:r>
              <a:rPr sz="28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有方向</a:t>
            </a:r>
            <a:r>
              <a:rPr sz="28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 到 "</a:t>
            </a:r>
            <a:r>
              <a:rPr sz="28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进入研究</a:t>
            </a:r>
            <a:r>
              <a:rPr sz="28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"：</a:t>
            </a:r>
            <a:r>
              <a:rPr sz="28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必须迈过文献这道门槛</a:t>
            </a:r>
            <a:endParaRPr sz="28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11480" y="1600200"/>
            <a:ext cx="3667658" cy="36576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11480" y="1600200"/>
            <a:ext cx="3667658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698998"/>
            <a:ext cx="3393338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① 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怎么检索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2258568"/>
            <a:ext cx="3301898" cy="1149408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把模糊主题拆成可检索的学术概念，构建可组合的关键词检索网络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62018" y="1600200"/>
            <a:ext cx="3667658" cy="3657600"/>
          </a:xfrm>
          <a:prstGeom prst="rect">
            <a:avLst/>
          </a:prstGeom>
          <a:solidFill>
            <a:srgbClr val="FFFFFF"/>
          </a:solidFill>
          <a:ln w="22225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62018" y="1600200"/>
            <a:ext cx="3667658" cy="56692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99178" y="1698998"/>
            <a:ext cx="3393338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②  读哪些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4898" y="2258568"/>
            <a:ext cx="3301898" cy="1187880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从几十、上百篇文献中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，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筛选真正值得优先阅读的核心文献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2556" y="1600200"/>
            <a:ext cx="3667658" cy="3657600"/>
          </a:xfrm>
          <a:prstGeom prst="rect">
            <a:avLst/>
          </a:prstGeom>
          <a:solidFill>
            <a:srgbClr val="FFFFFF"/>
          </a:solidFill>
          <a:ln w="22225">
            <a:solidFill>
              <a:srgbClr val="F58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12556" y="1600200"/>
            <a:ext cx="3667658" cy="566928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49716" y="1698998"/>
            <a:ext cx="3393338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③  讲了什么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5436" y="2258568"/>
            <a:ext cx="3301898" cy="1187880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把论文内容结构化提炼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，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转化为可服务写作的研究资源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1305" y="5725037"/>
            <a:ext cx="11368735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79" y="5836174"/>
            <a:ext cx="11109961" cy="34644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传统方法依赖导师与数据库经验；AI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在前期高效辅助，但不能替代真实阅读与学术判断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6.2.1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辅助文献检索与阅读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07085" y="118300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本质：把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自然语言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转化为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学术检索语言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1068" y="2046458"/>
            <a:ext cx="10389557" cy="3497102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常见误区：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直接拿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"AI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教育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""ChatGPT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写作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当检索词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——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太口语、范围过宽</a:t>
            </a:r>
            <a:endParaRPr lang="en-US"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四步加工：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概念提炼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关键词扩展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中英文对照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组合建议</a:t>
            </a:r>
            <a:endParaRPr lang="en-US"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拆解维度：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同义词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近义词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上位词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下位词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英文表达</a:t>
            </a:r>
            <a:endParaRPr lang="en-US"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endParaRPr sz="22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2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2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迁移落地：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知网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2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万方</a:t>
            </a:r>
            <a:r>
              <a:rPr sz="2200" b="0" dirty="0">
                <a:solidFill>
                  <a:srgbClr val="333333"/>
                </a:solidFill>
                <a:latin typeface="Microsoft YaHei"/>
                <a:ea typeface="Microsoft YaHei"/>
              </a:rPr>
              <a:t> / Web of Science / Scopus / ERIC / Google Scholar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E9313A-2762-3861-159F-87A999329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5D037EF-E623-C488-792D-42A1B5D350B6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C75B6AE4-3A11-0B7C-59C5-C9BCC67D63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0EDC31A0-6A18-1B77-410B-98C6F23D1999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AD4DD8-6BF0-3979-7E5E-E7A131C7BEAC}"/>
              </a:ext>
            </a:extLst>
          </p:cNvPr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6.2.1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E6C0B04-0483-7648-562B-725DEF702CC2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B761AF-FF32-B1BE-F7F2-66461A296AEB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辅助文献检索与阅读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190A087-CEDF-833F-3D04-C3FFB6340604}"/>
              </a:ext>
            </a:extLst>
          </p:cNvPr>
          <p:cNvSpPr txBox="1"/>
          <p:nvPr/>
        </p:nvSpPr>
        <p:spPr>
          <a:xfrm>
            <a:off x="502920" y="932688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本质：把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自然语言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转化为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学术检索语言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D44DB7-4827-7A26-A287-1AB69654E24D}"/>
              </a:ext>
            </a:extLst>
          </p:cNvPr>
          <p:cNvSpPr txBox="1"/>
          <p:nvPr/>
        </p:nvSpPr>
        <p:spPr>
          <a:xfrm>
            <a:off x="2711343" y="5911419"/>
            <a:ext cx="652241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图6-7 </a:t>
            </a:r>
            <a:r>
              <a:rPr sz="1600" b="0" dirty="0" err="1">
                <a:latin typeface="Microsoft YaHei"/>
                <a:ea typeface="Microsoft YaHei"/>
              </a:rPr>
              <a:t>学术文献检索任务提示示意图和回答</a:t>
            </a:r>
            <a:endParaRPr sz="1600" b="0" dirty="0">
              <a:latin typeface="Microsoft YaHei"/>
              <a:ea typeface="Microsoft YaHei"/>
            </a:endParaRP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8F963FEF-1792-C368-2E06-C600B5AEF175}"/>
              </a:ext>
            </a:extLst>
          </p:cNvPr>
          <p:cNvGrpSpPr/>
          <p:nvPr/>
        </p:nvGrpSpPr>
        <p:grpSpPr>
          <a:xfrm>
            <a:off x="975733" y="1542177"/>
            <a:ext cx="10745551" cy="4123406"/>
            <a:chOff x="3541" y="1958"/>
            <a:chExt cx="8221" cy="5112"/>
          </a:xfrm>
        </p:grpSpPr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89C10490-77B8-52A9-FB0E-A91A60B90A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989" y="2302"/>
              <a:ext cx="773" cy="1086"/>
            </a:xfrm>
            <a:prstGeom prst="rect">
              <a:avLst/>
            </a:prstGeom>
          </p:spPr>
        </p:pic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BCA9EE1A-3396-97A2-61DC-69853C137679}"/>
                </a:ext>
              </a:extLst>
            </p:cNvPr>
            <p:cNvSpPr/>
            <p:nvPr/>
          </p:nvSpPr>
          <p:spPr>
            <a:xfrm>
              <a:off x="3541" y="1958"/>
              <a:ext cx="7381" cy="2010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charset="0"/>
                  <a:ea typeface="宋体" charset="0"/>
                  <a:cs typeface="宋体" charset="0"/>
                  <a:sym typeface="+mn-ea"/>
                </a:rPr>
                <a:t>我想检索与“生成式人工智能辅助大学生写作学习”相关的学术文献。请帮我完成以下任务：</a:t>
              </a:r>
              <a:endParaRPr lang="zh-CN" altLang="en-US" sz="1600" dirty="0">
                <a:latin typeface="宋体" charset="0"/>
                <a:ea typeface="宋体" charset="0"/>
                <a:cs typeface="宋体" charset="0"/>
              </a:endParaRPr>
            </a:p>
            <a:p>
              <a:pPr algn="just"/>
              <a:r>
                <a:rPr lang="en-US" altLang="zh-CN" sz="1600" dirty="0">
                  <a:latin typeface="宋体" charset="0"/>
                  <a:ea typeface="宋体" charset="0"/>
                  <a:cs typeface="宋体" charset="0"/>
                  <a:sym typeface="+mn-ea"/>
                </a:rPr>
                <a:t>1 </a:t>
              </a:r>
              <a:r>
                <a:rPr lang="zh-CN" altLang="en-US" sz="1600" dirty="0">
                  <a:latin typeface="宋体" charset="0"/>
                  <a:ea typeface="宋体" charset="0"/>
                  <a:cs typeface="宋体" charset="0"/>
                  <a:sym typeface="+mn-ea"/>
                </a:rPr>
                <a:t>提炼这一主题中的核心概念；</a:t>
              </a:r>
              <a:endParaRPr lang="zh-CN" altLang="en-US" sz="1600" dirty="0">
                <a:latin typeface="宋体" charset="0"/>
                <a:ea typeface="宋体" charset="0"/>
                <a:cs typeface="宋体" charset="0"/>
              </a:endParaRPr>
            </a:p>
            <a:p>
              <a:pPr algn="just"/>
              <a:r>
                <a:rPr lang="en-US" altLang="zh-CN" sz="1600" dirty="0">
                  <a:latin typeface="宋体" charset="0"/>
                  <a:ea typeface="宋体" charset="0"/>
                  <a:cs typeface="宋体" charset="0"/>
                  <a:sym typeface="+mn-ea"/>
                </a:rPr>
                <a:t>2 </a:t>
              </a:r>
              <a:r>
                <a:rPr lang="zh-CN" altLang="en-US" sz="1600" dirty="0">
                  <a:latin typeface="宋体" charset="0"/>
                  <a:ea typeface="宋体" charset="0"/>
                  <a:cs typeface="宋体" charset="0"/>
                  <a:sym typeface="+mn-ea"/>
                </a:rPr>
                <a:t>为每个核心概念分别列出常见中文关键词、英文关键词、近义表达；</a:t>
              </a:r>
              <a:endParaRPr lang="zh-CN" altLang="en-US" sz="1600" dirty="0">
                <a:latin typeface="宋体" charset="0"/>
                <a:ea typeface="宋体" charset="0"/>
                <a:cs typeface="宋体" charset="0"/>
              </a:endParaRPr>
            </a:p>
            <a:p>
              <a:pPr algn="just"/>
              <a:r>
                <a:rPr lang="en-US" altLang="zh-CN" sz="1600" dirty="0">
                  <a:latin typeface="宋体" charset="0"/>
                  <a:ea typeface="宋体" charset="0"/>
                  <a:cs typeface="宋体" charset="0"/>
                  <a:sym typeface="+mn-ea"/>
                </a:rPr>
                <a:t>3 </a:t>
              </a:r>
              <a:r>
                <a:rPr lang="zh-CN" altLang="en-US" sz="1600" dirty="0">
                  <a:latin typeface="宋体" charset="0"/>
                  <a:ea typeface="宋体" charset="0"/>
                  <a:cs typeface="宋体" charset="0"/>
                  <a:sym typeface="+mn-ea"/>
                </a:rPr>
                <a:t>给出适合在中文数据库和英文数据库中使用的关键词组合建议；</a:t>
              </a:r>
              <a:endParaRPr lang="zh-CN" altLang="en-US" sz="1600" dirty="0">
                <a:latin typeface="宋体" charset="0"/>
                <a:ea typeface="宋体" charset="0"/>
                <a:cs typeface="宋体" charset="0"/>
              </a:endParaRPr>
            </a:p>
            <a:p>
              <a:pPr algn="just"/>
              <a:r>
                <a:rPr lang="en-US" altLang="zh-CN" sz="1600" dirty="0">
                  <a:latin typeface="宋体" charset="0"/>
                  <a:ea typeface="宋体" charset="0"/>
                  <a:cs typeface="宋体" charset="0"/>
                  <a:sym typeface="+mn-ea"/>
                </a:rPr>
                <a:t>4 </a:t>
              </a:r>
              <a:r>
                <a:rPr lang="zh-CN" altLang="en-US" sz="1600" dirty="0">
                  <a:latin typeface="宋体" charset="0"/>
                  <a:ea typeface="宋体" charset="0"/>
                  <a:cs typeface="宋体" charset="0"/>
                  <a:sym typeface="+mn-ea"/>
                </a:rPr>
                <a:t>尽量使用学术研究中常见的正式表达，而不是口语表达。</a:t>
              </a:r>
              <a:endParaRPr lang="zh-CN" altLang="en-US" sz="1600" dirty="0">
                <a:latin typeface="宋体" charset="0"/>
                <a:ea typeface="宋体" charset="0"/>
                <a:cs typeface="宋体" charset="0"/>
              </a:endParaRPr>
            </a:p>
          </p:txBody>
        </p:sp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E7BE4178-C8E2-9876-3E96-13FF6AA24FE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97" y="4436"/>
              <a:ext cx="787" cy="1206"/>
            </a:xfrm>
            <a:prstGeom prst="rect">
              <a:avLst/>
            </a:prstGeom>
          </p:spPr>
        </p:pic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6FBBFF93-FE3B-6421-6EF8-F40C6E406678}"/>
                </a:ext>
              </a:extLst>
            </p:cNvPr>
            <p:cNvSpPr/>
            <p:nvPr/>
          </p:nvSpPr>
          <p:spPr>
            <a:xfrm>
              <a:off x="4656" y="4192"/>
              <a:ext cx="6266" cy="2878"/>
            </a:xfrm>
            <a:prstGeom prst="roundRect">
              <a:avLst/>
            </a:prstGeom>
          </p:spPr>
          <p:style>
            <a:lnRef idx="2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核心概念包括三类：</a:t>
              </a: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第一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，生成式人工智能，可使用“生成式人工智能、大语言模型、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AIGC”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等中文关键词，对应英文表达如 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generative AI、large language model、LLM，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也可结合 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ChatGPT 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等相关表达；</a:t>
              </a: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第二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，大学生，可使用“大学生、本科生、高校学生”等中文关键词，对应英文表达如 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university students、college students、undergraduate students；</a:t>
              </a: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第三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，写作学习，可使用“学术写作、写作学习、写作能力、论文写作”等中文关键词，对应英文表达如 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academic writing、writing learning、writing performance、writing support。</a:t>
              </a:r>
              <a:endParaRPr lang="zh-CN" altLang="en-US" sz="1600" dirty="0">
                <a:latin typeface="宋体" pitchFamily="2" charset="-122"/>
                <a:ea typeface="宋体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215042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6.2.1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辅助文献检索与阅读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关键词不是固定的，而是随研究目的不断调整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1643134"/>
            <a:ext cx="3145715" cy="4411840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了解概况：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先用较宽的关键词组合，快速建立全局认知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2E8B57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2E8B57"/>
                </a:solidFill>
                <a:latin typeface="Microsoft YaHei"/>
                <a:ea typeface="Microsoft YaHei"/>
              </a:rPr>
              <a:t>锁定高相关：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逐步收缩条件，提高检索精准度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F58020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把握国际趋势：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优先使用英文关键词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国际数据库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6A3D9A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6A3D9A"/>
                </a:solidFill>
                <a:latin typeface="Microsoft YaHei"/>
                <a:ea typeface="Microsoft YaHei"/>
              </a:rPr>
              <a:t>心法：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高质量检索，是在不断试错与优化中逼近目标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855285" y="6156308"/>
            <a:ext cx="652241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图6-8 </a:t>
            </a:r>
            <a:r>
              <a:rPr sz="1600" b="0" dirty="0" err="1">
                <a:latin typeface="Microsoft YaHei"/>
                <a:ea typeface="Microsoft YaHei"/>
              </a:rPr>
              <a:t>不同层次文献检索策略示意图</a:t>
            </a:r>
            <a:endParaRPr sz="1600" b="0" dirty="0">
              <a:latin typeface="Microsoft YaHei"/>
              <a:ea typeface="Microsoft YaHei"/>
            </a:endParaRP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B34C10F7-964C-A42A-A444-9D8827C52E99}"/>
              </a:ext>
            </a:extLst>
          </p:cNvPr>
          <p:cNvGrpSpPr/>
          <p:nvPr/>
        </p:nvGrpSpPr>
        <p:grpSpPr>
          <a:xfrm>
            <a:off x="3779234" y="1583052"/>
            <a:ext cx="8170863" cy="4411840"/>
            <a:chOff x="3539" y="1170"/>
            <a:chExt cx="8071" cy="6915"/>
          </a:xfrm>
        </p:grpSpPr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4B5513D9-B72E-47E6-FF08-8927CDF401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833" y="1583"/>
              <a:ext cx="777" cy="1352"/>
            </a:xfrm>
            <a:prstGeom prst="rect">
              <a:avLst/>
            </a:prstGeom>
          </p:spPr>
        </p:pic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8235E03B-AB4B-A5FB-44E9-71DEE42B6B92}"/>
                </a:ext>
              </a:extLst>
            </p:cNvPr>
            <p:cNvSpPr/>
            <p:nvPr/>
          </p:nvSpPr>
          <p:spPr>
            <a:xfrm>
              <a:off x="3539" y="1170"/>
              <a:ext cx="7267" cy="2440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请根据“生成式人工智能辅助大学生写作学习”这一主题，为我设计三组不同层次的文献检索式：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1.用于快速了解领域的宽泛检索式；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2.用于筛选高相关文献的聚焦检索式；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3.用于查找国外核心研究的英文检索式。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请分别说明每组检索式适合什么目的。</a:t>
              </a:r>
            </a:p>
          </p:txBody>
        </p:sp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3090DCF1-9F43-E5D1-BF3A-2997FF6741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39" y="3777"/>
              <a:ext cx="844" cy="1479"/>
            </a:xfrm>
            <a:prstGeom prst="rect">
              <a:avLst/>
            </a:prstGeom>
          </p:spPr>
        </p:pic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9906E062-8B32-6FFF-DAF9-9C2D1AAE743F}"/>
                </a:ext>
              </a:extLst>
            </p:cNvPr>
            <p:cNvSpPr/>
            <p:nvPr/>
          </p:nvSpPr>
          <p:spPr>
            <a:xfrm>
              <a:off x="4477" y="3863"/>
              <a:ext cx="6491" cy="4222"/>
            </a:xfrm>
            <a:prstGeom prst="roundRect">
              <a:avLst/>
            </a:prstGeom>
          </p:spPr>
          <p:style>
            <a:lnRef idx="2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宽泛检索式：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“人工智能” 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AND “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教育”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适用目的：快速了解大领域，获得背景性文献与综述性研究</a:t>
              </a: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聚焦检索式：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“生成式人工智能” 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AND “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大学生” 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AND “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学术写作”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适用目的：锁定与研究主题直接相关的实证研究和案例研究</a:t>
              </a: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英文核心检索式：</a:t>
              </a:r>
            </a:p>
            <a:p>
              <a:pPr algn="just"/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“generative AI” AND “higher education” AND “academic writing”</a:t>
              </a: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适用目的：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查找国际期刊中关于生成式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与大学写作的前沿研究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6.2.2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辅助文献检索与阅读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核心文献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≠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最新或被引最高，而是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最该先读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的那几篇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1495044"/>
            <a:ext cx="11247120" cy="169519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奠基性：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确立领域基本概念与理论基础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代表性：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方法、对象或结论具有典型意义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影响力：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被后续研究频繁引用，影响领域发展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高相关：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直接支撑你的选题、综述或研究设计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6103953"/>
            <a:ext cx="11183112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图6-9 </a:t>
            </a:r>
            <a:r>
              <a:rPr sz="1600" b="0" dirty="0" err="1">
                <a:latin typeface="Microsoft YaHei"/>
                <a:ea typeface="Microsoft YaHei"/>
              </a:rPr>
              <a:t>核心文献筛选任务提示示意图</a:t>
            </a:r>
            <a:endParaRPr sz="1600" b="0" dirty="0">
              <a:latin typeface="Microsoft YaHei"/>
              <a:ea typeface="Microsoft YaHei"/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DB9F5078-9FD5-CAA0-FA9D-10B41C50B6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611" y="3383267"/>
            <a:ext cx="10968985" cy="25420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6.2.2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辅助文献检索与阅读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建立判断标准，而非机械按检索结果排序下载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4360" y="1537025"/>
            <a:ext cx="3959711" cy="4213901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主题相关：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是否直接涉及生成式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AI、写作学习与认知参与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dirty="0">
                <a:solidFill>
                  <a:srgbClr val="004CA0"/>
                </a:solidFill>
                <a:latin typeface="Microsoft YaHei"/>
                <a:ea typeface="Microsoft YaHei"/>
              </a:rPr>
              <a:t>▶ </a:t>
            </a:r>
            <a:r>
              <a:rPr b="1" dirty="0" err="1">
                <a:solidFill>
                  <a:srgbClr val="004CA0"/>
                </a:solidFill>
                <a:latin typeface="Microsoft YaHei"/>
                <a:ea typeface="Microsoft YaHei"/>
              </a:rPr>
              <a:t>概念理论：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是否提供关键概念或理论模型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dirty="0">
                <a:solidFill>
                  <a:srgbClr val="2E8B57"/>
                </a:solidFill>
                <a:latin typeface="Microsoft YaHei"/>
                <a:ea typeface="Microsoft YaHei"/>
              </a:rPr>
              <a:t>▶ </a:t>
            </a:r>
            <a:r>
              <a:rPr b="1" dirty="0" err="1">
                <a:solidFill>
                  <a:srgbClr val="2E8B57"/>
                </a:solidFill>
                <a:latin typeface="Microsoft YaHei"/>
                <a:ea typeface="Microsoft YaHei"/>
              </a:rPr>
              <a:t>方法借鉴：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研究方法是否具有参考价值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dirty="0">
                <a:solidFill>
                  <a:srgbClr val="F58020"/>
                </a:solidFill>
                <a:latin typeface="Microsoft YaHei"/>
                <a:ea typeface="Microsoft YaHei"/>
              </a:rPr>
              <a:t>▶ </a:t>
            </a:r>
            <a:r>
              <a:rPr b="1" dirty="0" err="1">
                <a:solidFill>
                  <a:srgbClr val="F58020"/>
                </a:solidFill>
                <a:latin typeface="Microsoft YaHei"/>
                <a:ea typeface="Microsoft YaHei"/>
              </a:rPr>
              <a:t>学术质量：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发表期刊或会议的学术层次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dirty="0">
                <a:solidFill>
                  <a:srgbClr val="6A3D9A"/>
                </a:solidFill>
                <a:latin typeface="Microsoft YaHei"/>
                <a:ea typeface="Microsoft YaHei"/>
              </a:rPr>
              <a:t>▶ </a:t>
            </a:r>
            <a:r>
              <a:rPr b="1" dirty="0" err="1">
                <a:solidFill>
                  <a:srgbClr val="6A3D9A"/>
                </a:solidFill>
                <a:latin typeface="Microsoft YaHei"/>
                <a:ea typeface="Microsoft YaHei"/>
              </a:rPr>
              <a:t>领域影响：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被引情况与领域影响力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dirty="0">
                <a:solidFill>
                  <a:srgbClr val="C0392B"/>
                </a:solidFill>
                <a:latin typeface="Microsoft YaHei"/>
                <a:ea typeface="Microsoft YaHei"/>
              </a:rPr>
              <a:t>▶ </a:t>
            </a:r>
            <a:r>
              <a:rPr b="1" dirty="0" err="1">
                <a:solidFill>
                  <a:srgbClr val="C0392B"/>
                </a:solidFill>
                <a:latin typeface="Microsoft YaHei"/>
                <a:ea typeface="Microsoft YaHei"/>
              </a:rPr>
              <a:t>新问题：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是否回应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进入教育后的新议题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303520" y="5696712"/>
            <a:ext cx="652241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图6-10 </a:t>
            </a:r>
            <a:r>
              <a:rPr sz="1600" b="0" dirty="0" err="1">
                <a:latin typeface="Microsoft YaHei"/>
                <a:ea typeface="Microsoft YaHei"/>
              </a:rPr>
              <a:t>核心文献判断标准生成提示示意图</a:t>
            </a:r>
            <a:endParaRPr sz="1600" b="0" dirty="0"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65760" y="6053328"/>
            <a:ext cx="1147572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6163572"/>
            <a:ext cx="11018520" cy="34644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辅助初筛、分类、排序，但精读哪几篇，仍应由研究者结合自身研究问题决定</a:t>
            </a:r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2B473B13-42FA-D5C7-C5CD-4278CEA966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0207" y="1356899"/>
            <a:ext cx="6418885" cy="4284933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6.2.3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辅助文献检索与阅读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从一篇论文中提取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结构化信息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"，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而非摘抄原文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65760" y="1623846"/>
            <a:ext cx="3802828" cy="4042508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十个维度：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背景·问题·理论·对象·方法·数据·结论·创新·局限·启发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用法：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给出摘要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引言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方法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结果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结论，让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生成结构化阅读笔记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二次检查：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是否准确反映原文？是否遗漏关键变量？是否有原文未支持的推断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？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警惕：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AI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可能把相关误作因果，把谨慎结论概括得过于绝对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227625" y="5668669"/>
            <a:ext cx="652241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图6-11 </a:t>
            </a:r>
            <a:r>
              <a:rPr sz="1600" b="0" dirty="0" err="1">
                <a:latin typeface="Microsoft YaHei"/>
                <a:ea typeface="Microsoft YaHei"/>
              </a:rPr>
              <a:t>单篇论文结构化阅读任务提示示意图</a:t>
            </a:r>
            <a:endParaRPr sz="1600" b="0" dirty="0"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65760" y="6053328"/>
            <a:ext cx="1147572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6147830"/>
            <a:ext cx="11018520" cy="3779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笔记只是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初步提炼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"，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涉及方法、数据与结论时必须回到原文核对</a:t>
            </a:r>
            <a:r>
              <a:rPr sz="15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5" name="图片 14" descr="new4---13">
            <a:extLst>
              <a:ext uri="{FF2B5EF4-FFF2-40B4-BE49-F238E27FC236}">
                <a16:creationId xmlns:a16="http://schemas.microsoft.com/office/drawing/2014/main" id="{E1D6A40A-5E3D-03CF-0B83-BEBA9B2A95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6101" y="1448145"/>
            <a:ext cx="6671827" cy="421856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274320"/>
            <a:ext cx="914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</a:rPr>
              <a:t>6.2.3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AI 辅助文献检索与阅读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900" b="1" i="0">
                <a:solidFill>
                  <a:srgbClr val="0066CC"/>
                </a:solidFill>
                <a:latin typeface="Microsoft YaHei"/>
                <a:ea typeface="Microsoft YaHei"/>
              </a:rPr>
              <a:t>从 "读一篇" 到 "比较一组"：把单篇成果整合为 "文献群" 理解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87953" y="6103954"/>
            <a:ext cx="5615787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dirty="0">
                <a:latin typeface="Microsoft YaHei"/>
                <a:ea typeface="Microsoft YaHei"/>
              </a:rPr>
              <a:t>图6-12 </a:t>
            </a:r>
            <a:r>
              <a:rPr sz="1600" b="0" i="0" dirty="0" err="1">
                <a:latin typeface="Microsoft YaHei"/>
                <a:ea typeface="Microsoft YaHei"/>
              </a:rPr>
              <a:t>多篇文献比较阅读任务提示示意图</a:t>
            </a:r>
            <a:endParaRPr sz="1600" b="0" i="0" dirty="0">
              <a:latin typeface="Microsoft YaHei"/>
              <a:ea typeface="Microsoft YaHei"/>
            </a:endParaRPr>
          </a:p>
        </p:txBody>
      </p:sp>
      <p:pic>
        <p:nvPicPr>
          <p:cNvPr id="19" name="图片 18" descr="new money--14">
            <a:extLst>
              <a:ext uri="{FF2B5EF4-FFF2-40B4-BE49-F238E27FC236}">
                <a16:creationId xmlns:a16="http://schemas.microsoft.com/office/drawing/2014/main" id="{A26A1B52-C22C-2BE3-DE2D-E900CDBB77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9764" y="1463040"/>
            <a:ext cx="7193431" cy="4439938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FD091-D17F-4308-E89E-D1BD13C49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7E304E2-EA6B-43AB-C143-C4AFC1F9C0A5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EB3D3FC3-B638-E425-4D6C-E2E7FA4B5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5C946B8-0D49-5C3E-3295-ACC7ABC9A209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436203-2322-69AD-5CDC-FFAB39806590}"/>
              </a:ext>
            </a:extLst>
          </p:cNvPr>
          <p:cNvSpPr txBox="1"/>
          <p:nvPr/>
        </p:nvSpPr>
        <p:spPr>
          <a:xfrm>
            <a:off x="27432" y="274320"/>
            <a:ext cx="914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</a:rPr>
              <a:t>6.2.3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636C6E-1DAF-4B5B-CC8D-6D11555EE0F8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9519AF-C5AC-A00E-6779-D1221C541B3C}"/>
              </a:ext>
            </a:extLst>
          </p:cNvPr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AI 辅助文献检索与阅读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CC95A0-240C-C623-D32D-433AAF4E6F1D}"/>
              </a:ext>
            </a:extLst>
          </p:cNvPr>
          <p:cNvSpPr txBox="1"/>
          <p:nvPr/>
        </p:nvSpPr>
        <p:spPr>
          <a:xfrm>
            <a:off x="3036641" y="5563267"/>
            <a:ext cx="5615787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dirty="0">
                <a:latin typeface="Microsoft YaHei"/>
                <a:ea typeface="Microsoft YaHei"/>
              </a:rPr>
              <a:t>图6-13 </a:t>
            </a:r>
            <a:r>
              <a:rPr sz="1600" b="0" i="0" dirty="0" err="1">
                <a:latin typeface="Microsoft YaHei"/>
                <a:ea typeface="Microsoft YaHei"/>
              </a:rPr>
              <a:t>研究局限与启发提炼任务提示示意图</a:t>
            </a:r>
            <a:endParaRPr sz="1600" b="0" i="0" dirty="0">
              <a:latin typeface="Microsoft YaHei"/>
              <a:ea typeface="Microsoft YaHei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631C49A-E4AF-56C1-6522-45FF0E19943D}"/>
              </a:ext>
            </a:extLst>
          </p:cNvPr>
          <p:cNvSpPr/>
          <p:nvPr/>
        </p:nvSpPr>
        <p:spPr>
          <a:xfrm>
            <a:off x="365760" y="6035040"/>
            <a:ext cx="1147572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1B864C-AF45-73BC-C215-E7E9DFF6A998}"/>
              </a:ext>
            </a:extLst>
          </p:cNvPr>
          <p:cNvSpPr txBox="1"/>
          <p:nvPr/>
        </p:nvSpPr>
        <p:spPr>
          <a:xfrm>
            <a:off x="638287" y="6124694"/>
            <a:ext cx="111099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研究不足往往正是新研究的生长点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—— 从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理解文献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走向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评价文献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"。</a:t>
            </a:r>
          </a:p>
        </p:txBody>
      </p:sp>
      <p:pic>
        <p:nvPicPr>
          <p:cNvPr id="17" name="图片 16" descr="new4--15">
            <a:extLst>
              <a:ext uri="{FF2B5EF4-FFF2-40B4-BE49-F238E27FC236}">
                <a16:creationId xmlns:a16="http://schemas.microsoft.com/office/drawing/2014/main" id="{B297A2EC-7FD9-85FE-F1E8-462CBB9ACC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8572" y="1048512"/>
            <a:ext cx="6618535" cy="441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6619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辅助文献检索与阅读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小结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三步把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文献海洋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变成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研究资源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103120"/>
            <a:ext cx="3692042" cy="6858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2103120"/>
            <a:ext cx="3692042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88920"/>
            <a:ext cx="3692042" cy="242316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0624" y="3061454"/>
            <a:ext cx="3582314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建立检索路径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75488" y="3675888"/>
            <a:ext cx="3472586" cy="3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0" i="0">
                <a:solidFill>
                  <a:srgbClr val="333333"/>
                </a:solidFill>
                <a:latin typeface="Microsoft YaHei"/>
                <a:ea typeface="Microsoft YaHei"/>
              </a:rPr>
              <a:t>自然语言 → 学术检索语言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39514" y="2788920"/>
            <a:ext cx="164592" cy="2423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004CA0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85818" y="2103120"/>
            <a:ext cx="3692042" cy="6858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185818" y="2103120"/>
            <a:ext cx="3692042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85818" y="2788920"/>
            <a:ext cx="3692042" cy="242316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40682" y="3061454"/>
            <a:ext cx="3582314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004CA0"/>
                </a:solidFill>
                <a:latin typeface="Microsoft YaHei"/>
                <a:ea typeface="Microsoft YaHei"/>
              </a:rPr>
              <a:t>筛选核心文献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5546" y="3675888"/>
            <a:ext cx="3472586" cy="3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0" i="0">
                <a:solidFill>
                  <a:srgbClr val="333333"/>
                </a:solidFill>
                <a:latin typeface="Microsoft YaHei"/>
                <a:ea typeface="Microsoft YaHei"/>
              </a:rPr>
              <a:t>建立标准，定优先阅读顺序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9572" y="2788920"/>
            <a:ext cx="164592" cy="2423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004CA0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05876" y="2103120"/>
            <a:ext cx="3692042" cy="6858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05876" y="2103120"/>
            <a:ext cx="3692042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5876" y="2788920"/>
            <a:ext cx="3692042" cy="242316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60740" y="3061454"/>
            <a:ext cx="3582314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004CA0"/>
                </a:solidFill>
                <a:latin typeface="Microsoft YaHei"/>
                <a:ea typeface="Microsoft YaHei"/>
              </a:rPr>
              <a:t>结构化提炼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15604" y="3675888"/>
            <a:ext cx="3472586" cy="3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0" i="0">
                <a:solidFill>
                  <a:srgbClr val="333333"/>
                </a:solidFill>
                <a:latin typeface="Microsoft YaHei"/>
                <a:ea typeface="Microsoft YaHei"/>
              </a:rPr>
              <a:t>把论文内容转化为研究资源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669280"/>
            <a:ext cx="11475720" cy="9144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0572" y="5940075"/>
            <a:ext cx="11300908" cy="3334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学术规范四红线：不臆造文献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不把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AI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摘要当原文引用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引用必回原文核查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对 AI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结论保持批判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6.3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98567" y="2598320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sz="36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辅助研究框架搭建</a:t>
            </a:r>
            <a:endParaRPr sz="36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965551" y="4023360"/>
            <a:ext cx="6860690" cy="7612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文献看了不少，思路却像一团乱线。研究框架搭建，就是厘清脉络、归纳观点、组织综述，并明确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我的研究站在哪里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辅助研究框架搭建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90575" y="1068062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研究框架搭建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回答一个核心问题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："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我的研究站在哪里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？"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103120"/>
            <a:ext cx="2737027" cy="6858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2103120"/>
            <a:ext cx="273702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88920"/>
            <a:ext cx="2737027" cy="242316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0624" y="3061454"/>
            <a:ext cx="2627299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004CA0"/>
                </a:solidFill>
                <a:latin typeface="Microsoft YaHei"/>
                <a:ea typeface="Microsoft YaHei"/>
              </a:rPr>
              <a:t>梳理脉络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3675888"/>
            <a:ext cx="2517571" cy="3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领域如何形成与演进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084499" y="2788920"/>
            <a:ext cx="164592" cy="2423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004CA0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30803" y="2103120"/>
            <a:ext cx="2737027" cy="6858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30803" y="2103120"/>
            <a:ext cx="273702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30803" y="2788920"/>
            <a:ext cx="2737027" cy="242316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285667" y="3061454"/>
            <a:ext cx="2627299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004CA0"/>
                </a:solidFill>
                <a:latin typeface="Microsoft YaHei"/>
                <a:ea typeface="Microsoft YaHei"/>
              </a:rPr>
              <a:t>归纳观点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40531" y="3675888"/>
            <a:ext cx="2517571" cy="3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0" i="0">
                <a:solidFill>
                  <a:srgbClr val="333333"/>
                </a:solidFill>
                <a:latin typeface="Microsoft YaHei"/>
                <a:ea typeface="Microsoft YaHei"/>
              </a:rPr>
              <a:t>已有研究的主要立场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9543" y="2788920"/>
            <a:ext cx="164592" cy="2423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004CA0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5847" y="2103120"/>
            <a:ext cx="2737027" cy="6858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095847" y="2103120"/>
            <a:ext cx="273702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5847" y="2788920"/>
            <a:ext cx="2737027" cy="242316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150711" y="3061454"/>
            <a:ext cx="2627299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004CA0"/>
                </a:solidFill>
                <a:latin typeface="Microsoft YaHei"/>
                <a:ea typeface="Microsoft YaHei"/>
              </a:rPr>
              <a:t>搭建综述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05575" y="3675888"/>
            <a:ext cx="2517571" cy="3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0" i="0">
                <a:solidFill>
                  <a:srgbClr val="333333"/>
                </a:solidFill>
                <a:latin typeface="Microsoft YaHei"/>
                <a:ea typeface="Microsoft YaHei"/>
              </a:rPr>
              <a:t>组织成有逻辑的框架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14587" y="2788920"/>
            <a:ext cx="164592" cy="2423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004CA0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0891" y="2103120"/>
            <a:ext cx="2737027" cy="6858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60891" y="2103120"/>
            <a:ext cx="273702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60891" y="2788920"/>
            <a:ext cx="2737027" cy="242316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015755" y="3061454"/>
            <a:ext cx="2627299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004CA0"/>
                </a:solidFill>
                <a:latin typeface="Microsoft YaHei"/>
                <a:ea typeface="Microsoft YaHei"/>
              </a:rPr>
              <a:t>形成切入点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70619" y="3675888"/>
            <a:ext cx="2517571" cy="3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0" i="0">
                <a:solidFill>
                  <a:srgbClr val="333333"/>
                </a:solidFill>
                <a:latin typeface="Microsoft YaHei"/>
                <a:ea typeface="Microsoft YaHei"/>
              </a:rPr>
              <a:t>找到自己的研究位置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5669280"/>
            <a:ext cx="11475720" cy="9144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5926425"/>
            <a:ext cx="10972800" cy="4001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研究框架搭建，是后续研究设计与论文写作的支点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5EB66-E0B2-154D-B8D2-0AC40A3B9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F3C7EEC-622C-AAB7-2D48-1474277BEED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24353BC8-A578-AE98-A834-0A96038FE3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87C138E-7919-EE6B-DE2A-6CA0818F5262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AAE1C1-2A2C-00AF-4616-14585ACE7B2A}"/>
              </a:ext>
            </a:extLst>
          </p:cNvPr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6.3.1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7C49B37-35E8-E168-45A5-25519B03F796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720317-1CB5-8643-654C-67AE2484CD08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辅助研究框架搭建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DDB25C-8AE3-BF25-2297-368423115423}"/>
              </a:ext>
            </a:extLst>
          </p:cNvPr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梳理研究脉络：按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阶段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—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背景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—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问题演变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—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新变化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组织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0136CF-356E-83B4-96DC-22BF7A91259F}"/>
              </a:ext>
            </a:extLst>
          </p:cNvPr>
          <p:cNvSpPr txBox="1"/>
          <p:nvPr/>
        </p:nvSpPr>
        <p:spPr>
          <a:xfrm>
            <a:off x="3173653" y="5730338"/>
            <a:ext cx="5615787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dirty="0">
                <a:latin typeface="Microsoft YaHei"/>
                <a:ea typeface="Microsoft YaHei"/>
              </a:rPr>
              <a:t>图6-14 </a:t>
            </a:r>
            <a:r>
              <a:rPr sz="1600" b="0" i="0" dirty="0" err="1">
                <a:latin typeface="Microsoft YaHei"/>
                <a:ea typeface="Microsoft YaHei"/>
              </a:rPr>
              <a:t>人工智能辅助写作学习发展脉络（提示</a:t>
            </a:r>
            <a:r>
              <a:rPr sz="1600" b="0" i="0" dirty="0">
                <a:latin typeface="Microsoft YaHei"/>
                <a:ea typeface="Microsoft YaHei"/>
              </a:rPr>
              <a:t>）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D53FCE3-F2AC-B65E-7826-C202774E7E0A}"/>
              </a:ext>
            </a:extLst>
          </p:cNvPr>
          <p:cNvSpPr/>
          <p:nvPr/>
        </p:nvSpPr>
        <p:spPr>
          <a:xfrm>
            <a:off x="365760" y="6035040"/>
            <a:ext cx="1147572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999D9D-EEBB-BD0B-D879-25778179E48E}"/>
              </a:ext>
            </a:extLst>
          </p:cNvPr>
          <p:cNvSpPr txBox="1"/>
          <p:nvPr/>
        </p:nvSpPr>
        <p:spPr>
          <a:xfrm>
            <a:off x="548640" y="6124694"/>
            <a:ext cx="1110996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看清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从哪里来、往哪里去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"，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才能判断研究要接续哪条线索、回应哪种新变化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226B997A-B5A3-710E-2A8A-C8FF7414A35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0917" y="1670566"/>
            <a:ext cx="5899911" cy="3932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44714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6.3.1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辅助研究框架搭建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022751" y="6021672"/>
            <a:ext cx="5615787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dirty="0">
                <a:latin typeface="Microsoft YaHei"/>
                <a:ea typeface="Microsoft YaHei"/>
              </a:rPr>
              <a:t>图6-15 </a:t>
            </a:r>
            <a:r>
              <a:rPr sz="1600" b="0" i="0" dirty="0" err="1">
                <a:latin typeface="Microsoft YaHei"/>
                <a:ea typeface="Microsoft YaHei"/>
              </a:rPr>
              <a:t>人工智能辅助写作学习的发展脉络（输出</a:t>
            </a:r>
            <a:r>
              <a:rPr sz="1600" b="0" i="0" dirty="0">
                <a:latin typeface="Microsoft YaHei"/>
                <a:ea typeface="Microsoft YaHei"/>
              </a:rPr>
              <a:t>）</a:t>
            </a:r>
          </a:p>
        </p:txBody>
      </p:sp>
      <p:pic>
        <p:nvPicPr>
          <p:cNvPr id="17" name="图片 16" descr="4----15">
            <a:extLst>
              <a:ext uri="{FF2B5EF4-FFF2-40B4-BE49-F238E27FC236}">
                <a16:creationId xmlns:a16="http://schemas.microsoft.com/office/drawing/2014/main" id="{0287EA02-E595-65DC-B399-72010D9FA9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3670" y="983653"/>
            <a:ext cx="7331318" cy="4890694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6.3.1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辅助研究框架搭建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在脉络之上，进一步把握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正在向哪些方向发展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664" y="1773393"/>
            <a:ext cx="3302454" cy="4008717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提问方式：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不泛问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介绍历史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而引导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AI 按 "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阶段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—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趋势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—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新变化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组织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趋势的意义：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判断研究位置的基础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——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知道领域正往哪里去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成果形态：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得到可直接写进综述的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发展脉络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+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发展趋势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框架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认知升级：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从被动阅读，转向主动理解领域的形成逻辑与演变方向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774059" y="5925312"/>
            <a:ext cx="652241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图6-16 </a:t>
            </a:r>
            <a:r>
              <a:rPr sz="1600" b="0" dirty="0" err="1">
                <a:latin typeface="Microsoft YaHei"/>
                <a:ea typeface="Microsoft YaHei"/>
              </a:rPr>
              <a:t>生成式</a:t>
            </a:r>
            <a:r>
              <a:rPr sz="1600" b="0" dirty="0">
                <a:latin typeface="Microsoft YaHei"/>
                <a:ea typeface="Microsoft YaHei"/>
              </a:rPr>
              <a:t> AI </a:t>
            </a:r>
            <a:r>
              <a:rPr sz="1600" b="0" dirty="0" err="1">
                <a:latin typeface="Microsoft YaHei"/>
                <a:ea typeface="Microsoft YaHei"/>
              </a:rPr>
              <a:t>辅助大学写作学习的发展趋势概括示意图</a:t>
            </a:r>
            <a:endParaRPr sz="1600" b="0" dirty="0">
              <a:latin typeface="Microsoft YaHei"/>
              <a:ea typeface="Microsoft YaHei"/>
            </a:endParaRP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094EB990-5C23-D703-EA7A-BCAF5F85017F}"/>
              </a:ext>
            </a:extLst>
          </p:cNvPr>
          <p:cNvGrpSpPr/>
          <p:nvPr/>
        </p:nvGrpSpPr>
        <p:grpSpPr>
          <a:xfrm>
            <a:off x="4285129" y="1817476"/>
            <a:ext cx="7403951" cy="3730458"/>
            <a:chOff x="3540" y="2322"/>
            <a:chExt cx="8128" cy="5263"/>
          </a:xfrm>
        </p:grpSpPr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3EC4C621-54B4-F546-AEA8-6BAD87C8C6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806" y="2553"/>
              <a:ext cx="862" cy="1057"/>
            </a:xfrm>
            <a:prstGeom prst="rect">
              <a:avLst/>
            </a:prstGeom>
          </p:spPr>
        </p:pic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B731C29D-D52A-CEBA-81C8-5C23EDE440B7}"/>
                </a:ext>
              </a:extLst>
            </p:cNvPr>
            <p:cNvSpPr/>
            <p:nvPr/>
          </p:nvSpPr>
          <p:spPr>
            <a:xfrm>
              <a:off x="3541" y="2322"/>
              <a:ext cx="7265" cy="1288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请在上述发展脉络基础上，进一步概括“生成式人工智能辅助大学写作学习”当前的主要发展趋势。请从研究对象、研究问题、研究方法和研究关注点四个维度进行总结。</a:t>
              </a:r>
            </a:p>
          </p:txBody>
        </p:sp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2EB96E49-513B-90DD-F321-96E15CA6F9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40" y="4159"/>
              <a:ext cx="844" cy="1102"/>
            </a:xfrm>
            <a:prstGeom prst="rect">
              <a:avLst/>
            </a:prstGeom>
          </p:spPr>
        </p:pic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9AA5FC24-E736-1E84-D779-78E0586BA3FA}"/>
                </a:ext>
              </a:extLst>
            </p:cNvPr>
            <p:cNvSpPr/>
            <p:nvPr/>
          </p:nvSpPr>
          <p:spPr>
            <a:xfrm>
              <a:off x="4384" y="3814"/>
              <a:ext cx="6422" cy="3771"/>
            </a:xfrm>
            <a:prstGeom prst="roundRect">
              <a:avLst/>
            </a:prstGeom>
          </p:spPr>
          <p:style>
            <a:lnRef idx="2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当前发展趋势主要表现在以下几个方面。</a:t>
              </a: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在研究对象上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：逐渐从一般学生扩展到不同学科、不同学习阶段和不同写作任务类型。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在研究问题上，从关注写作结果质量，逐步转向关注学习过程、认知参与、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依赖和人机协同。</a:t>
              </a: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在研究方法上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：除了问卷和实验外，越来越多研究开始结合学习分析、日志数据、访谈和混合研究方法。</a:t>
              </a: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在研究关注点上：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除了效率与效果问题，伦理、公平、原创性和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素养培养正在成为新的重点。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6.3.2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辅助研究框架搭建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从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论文层面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上升到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观点层面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"，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综述才有分析性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1854534"/>
            <a:ext cx="3333974" cy="3303844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2E8B57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2E8B57"/>
                </a:solidFill>
                <a:latin typeface="Microsoft YaHei"/>
                <a:ea typeface="Microsoft YaHei"/>
              </a:rPr>
              <a:t>促进论：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AI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显著提升写作效率与表达质量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C0392B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C0392B"/>
                </a:solidFill>
                <a:latin typeface="Microsoft YaHei"/>
                <a:ea typeface="Microsoft YaHei"/>
              </a:rPr>
              <a:t>风险论：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学生过度依赖，削弱自主思考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F58020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条件论：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关键在使用方式与接受度，需具备条件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6A3D9A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6A3D9A"/>
                </a:solidFill>
                <a:latin typeface="Microsoft YaHei"/>
                <a:ea typeface="Microsoft YaHei"/>
              </a:rPr>
              <a:t>治理论：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不止问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有没有效果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更问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效果是否健康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3689" y="5663917"/>
            <a:ext cx="652241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图6-18 </a:t>
            </a:r>
            <a:r>
              <a:rPr sz="1600" b="0" dirty="0" err="1">
                <a:latin typeface="Microsoft YaHei"/>
                <a:ea typeface="Microsoft YaHei"/>
              </a:rPr>
              <a:t>主要研究观点归纳</a:t>
            </a:r>
            <a:endParaRPr sz="1600" b="0" dirty="0"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65760" y="6053328"/>
            <a:ext cx="1147572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6147830"/>
            <a:ext cx="11018520" cy="3779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在已有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观点版图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之间找到更细致的位置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——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你的研究不是凭空提出问题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E27CC3E1-082D-8F78-C75A-875AF8FED5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3689" y="1367414"/>
            <a:ext cx="6670829" cy="415331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6.3.3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辅助研究框架搭建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6012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综述的关键不在引用多少篇，而在是否有能引出自己研究的框架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096598" y="6164568"/>
            <a:ext cx="5615787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 i="0" dirty="0">
                <a:latin typeface="Microsoft YaHei"/>
                <a:ea typeface="Microsoft YaHei"/>
              </a:rPr>
              <a:t>图6-20 </a:t>
            </a:r>
            <a:r>
              <a:rPr sz="1600" b="0" i="0" dirty="0" err="1">
                <a:latin typeface="Microsoft YaHei"/>
                <a:ea typeface="Microsoft YaHei"/>
              </a:rPr>
              <a:t>文献综述写作框架设计任务示意图</a:t>
            </a:r>
            <a:endParaRPr sz="1600" b="0" i="0" dirty="0">
              <a:latin typeface="Microsoft YaHei"/>
              <a:ea typeface="Microsoft YaHei"/>
            </a:endParaRPr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FEEE3C63-F62A-2774-C659-DB0F46BC87D1}"/>
              </a:ext>
            </a:extLst>
          </p:cNvPr>
          <p:cNvGrpSpPr/>
          <p:nvPr/>
        </p:nvGrpSpPr>
        <p:grpSpPr>
          <a:xfrm>
            <a:off x="867449" y="1515008"/>
            <a:ext cx="10949419" cy="4481065"/>
            <a:chOff x="3542" y="2196"/>
            <a:chExt cx="9857" cy="4071"/>
          </a:xfrm>
        </p:grpSpPr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35E46225-764C-7D9B-7E81-6519337B390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685" y="2384"/>
              <a:ext cx="714" cy="683"/>
            </a:xfrm>
            <a:prstGeom prst="rect">
              <a:avLst/>
            </a:prstGeom>
          </p:spPr>
        </p:pic>
        <p:sp>
          <p:nvSpPr>
            <p:cNvPr id="19" name="矩形: 圆角 18">
              <a:extLst>
                <a:ext uri="{FF2B5EF4-FFF2-40B4-BE49-F238E27FC236}">
                  <a16:creationId xmlns:a16="http://schemas.microsoft.com/office/drawing/2014/main" id="{DB0DC8BD-E659-914B-AFD8-5C896DD38AD4}"/>
                </a:ext>
              </a:extLst>
            </p:cNvPr>
            <p:cNvSpPr/>
            <p:nvPr/>
          </p:nvSpPr>
          <p:spPr>
            <a:xfrm>
              <a:off x="3542" y="2196"/>
              <a:ext cx="9069" cy="970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我准备写一篇关于“生成式人工智能辅助大学生写作学习”的文献综述。请基于以下目标，为我设计一个适合硕士论文的文献综述写作框架：1. 能体现该领域的发展脉络；2. 能归纳已有研究的主要观点；3. 能呈现常见研究方法与不足；4. 最终能够自然引出我的研究问题。请给出分层标题，并简要说明每一部分应写什么内容。</a:t>
              </a:r>
            </a:p>
          </p:txBody>
        </p:sp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E9B3E652-781E-0F4F-8518-C90E60479C4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42" y="3423"/>
              <a:ext cx="842" cy="757"/>
            </a:xfrm>
            <a:prstGeom prst="rect">
              <a:avLst/>
            </a:prstGeom>
          </p:spPr>
        </p:pic>
        <p:sp>
          <p:nvSpPr>
            <p:cNvPr id="21" name="矩形: 圆角 14">
              <a:extLst>
                <a:ext uri="{FF2B5EF4-FFF2-40B4-BE49-F238E27FC236}">
                  <a16:creationId xmlns:a16="http://schemas.microsoft.com/office/drawing/2014/main" id="{A48D65F2-BD23-BD61-456B-FAF4DCEA5B07}"/>
                </a:ext>
              </a:extLst>
            </p:cNvPr>
            <p:cNvSpPr/>
            <p:nvPr/>
          </p:nvSpPr>
          <p:spPr>
            <a:xfrm>
              <a:off x="4384" y="3291"/>
              <a:ext cx="8374" cy="2976"/>
            </a:xfrm>
            <a:prstGeom prst="roundRect">
              <a:avLst/>
            </a:prstGeom>
          </p:spPr>
          <p:style>
            <a:lnRef idx="2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生成式人工智能进入教育写作场景的背景：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介绍生成式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的发展及其进入高等教育写作学习场景的现实背景，说明研究意义。</a:t>
              </a: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人工智能辅助写作学习研究的发展脉络：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回顾从计算机辅助写作、智能写作支持到生成式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辅助写作的发展过程，说明研究问题的演变。</a:t>
              </a:r>
              <a:endParaRPr lang="en-US" altLang="zh-CN" sz="1600" dirty="0">
                <a:latin typeface="宋体" pitchFamily="2" charset="-122"/>
                <a:ea typeface="宋体" pitchFamily="2" charset="-122"/>
              </a:endParaRP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生成式人工智能辅助大学生写作学习的主要研究观点：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提升写作效率与表达质量、可能削弱独立思考与原创性、作用取决于使用方式与教学设计、带来伦理与治理挑战</a:t>
              </a:r>
              <a:endParaRPr lang="en-US" altLang="zh-CN" sz="1600" dirty="0">
                <a:latin typeface="宋体" pitchFamily="2" charset="-122"/>
                <a:ea typeface="宋体" pitchFamily="2" charset="-122"/>
              </a:endParaRP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已有研究的常见方法与研究对象：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总结问卷研究、实验研究、访谈研究、混合研究等方法，以及研究对象多集中于大学生、特定课程情境等特点。</a:t>
              </a:r>
              <a:endParaRPr lang="en-US" altLang="zh-CN" sz="1600" dirty="0">
                <a:latin typeface="宋体" pitchFamily="2" charset="-122"/>
                <a:ea typeface="宋体" pitchFamily="2" charset="-122"/>
              </a:endParaRP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已有研究的主要不足：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如研究周期较短、更多关注结果而非过程、对不同学科差异关注不足、对认知机制探讨不够。</a:t>
              </a:r>
              <a:endParaRPr lang="en-US" altLang="zh-CN" sz="1600" dirty="0">
                <a:latin typeface="宋体" pitchFamily="2" charset="-122"/>
                <a:ea typeface="宋体" pitchFamily="2" charset="-122"/>
              </a:endParaRP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文献综述总结与本研究切入点：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在总结已有研究的基础上，指出当前研究尚未充分回答的问题，并自然引出本研究的关注焦点。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E5D705-A79B-EFC4-806F-79E6ED71BE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825C164-CD4A-CA3B-2A19-59BF1AD0C94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>
            <a:extLst>
              <a:ext uri="{FF2B5EF4-FFF2-40B4-BE49-F238E27FC236}">
                <a16:creationId xmlns:a16="http://schemas.microsoft.com/office/drawing/2014/main" id="{D4B4E201-5509-223A-C294-8ABCD3673E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6D91A76-1ADE-F82C-E316-E9E160FB40C2}"/>
              </a:ext>
            </a:extLst>
          </p:cNvPr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FFF37C-7CEA-A216-BC27-D311452E7714}"/>
              </a:ext>
            </a:extLst>
          </p:cNvPr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6.3.3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090832D-37D1-F2B4-ABFE-108FECF53D07}"/>
              </a:ext>
            </a:extLst>
          </p:cNvPr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F1F0A9-CDCE-1EF2-5998-EB7AA59F6E36}"/>
              </a:ext>
            </a:extLst>
          </p:cNvPr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辅助研究框架搭建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617303E-EA9F-F56D-8A52-FBB1E6976FD0}"/>
              </a:ext>
            </a:extLst>
          </p:cNvPr>
          <p:cNvSpPr txBox="1"/>
          <p:nvPr/>
        </p:nvSpPr>
        <p:spPr>
          <a:xfrm>
            <a:off x="3014661" y="5253196"/>
            <a:ext cx="5615787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b="0" i="0" dirty="0">
                <a:latin typeface="Microsoft YaHei"/>
                <a:ea typeface="Microsoft YaHei"/>
              </a:rPr>
              <a:t>图6-21 </a:t>
            </a:r>
            <a:r>
              <a:rPr b="0" i="0" dirty="0" err="1">
                <a:latin typeface="Microsoft YaHei"/>
                <a:ea typeface="Microsoft YaHei"/>
              </a:rPr>
              <a:t>文献综述组织方式比较与推荐方案</a:t>
            </a:r>
            <a:endParaRPr b="0" i="0" dirty="0">
              <a:latin typeface="Microsoft YaHei"/>
              <a:ea typeface="Microsoft YaHei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338F916-1389-E2F9-3237-E035CE77FC7C}"/>
              </a:ext>
            </a:extLst>
          </p:cNvPr>
          <p:cNvSpPr/>
          <p:nvPr/>
        </p:nvSpPr>
        <p:spPr>
          <a:xfrm>
            <a:off x="357987" y="5828832"/>
            <a:ext cx="11475720" cy="5486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E567DD8-6E39-D129-7034-4DF948AC1956}"/>
              </a:ext>
            </a:extLst>
          </p:cNvPr>
          <p:cNvSpPr txBox="1"/>
          <p:nvPr/>
        </p:nvSpPr>
        <p:spPr>
          <a:xfrm>
            <a:off x="548640" y="5949263"/>
            <a:ext cx="11109960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综述四功能：梳理脉络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归纳观点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呈现不足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引出研究；组织方式可按时间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/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主题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/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理论方法</a:t>
            </a:r>
            <a:r>
              <a:rPr sz="15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65E08B5C-4315-265B-EC70-8AC4EBFA74AB}"/>
              </a:ext>
            </a:extLst>
          </p:cNvPr>
          <p:cNvGrpSpPr/>
          <p:nvPr/>
        </p:nvGrpSpPr>
        <p:grpSpPr>
          <a:xfrm>
            <a:off x="1739112" y="1453814"/>
            <a:ext cx="8942070" cy="3360158"/>
            <a:chOff x="3540" y="2549"/>
            <a:chExt cx="9932" cy="4190"/>
          </a:xfrm>
        </p:grpSpPr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6DF25A0D-DE7B-2FC8-8912-2339D69F594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610" y="2642"/>
              <a:ext cx="862" cy="995"/>
            </a:xfrm>
            <a:prstGeom prst="rect">
              <a:avLst/>
            </a:prstGeom>
          </p:spPr>
        </p:pic>
        <p:sp>
          <p:nvSpPr>
            <p:cNvPr id="19" name="矩形: 圆角 18">
              <a:extLst>
                <a:ext uri="{FF2B5EF4-FFF2-40B4-BE49-F238E27FC236}">
                  <a16:creationId xmlns:a16="http://schemas.microsoft.com/office/drawing/2014/main" id="{91E4E1D1-2F5A-B303-6ADB-7CEECAB73A84}"/>
                </a:ext>
              </a:extLst>
            </p:cNvPr>
            <p:cNvSpPr/>
            <p:nvPr/>
          </p:nvSpPr>
          <p:spPr>
            <a:xfrm>
              <a:off x="3541" y="2549"/>
              <a:ext cx="9069" cy="1515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对于“生成式人工智能辅助大学生写作学习”这一主题，文献综述更适合采用哪一种组织方式：按时间脉络、按研究主题、按理论视角，还是按研究方法？请分别说明优缺点，并给出推荐方案。</a:t>
              </a:r>
            </a:p>
          </p:txBody>
        </p:sp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6DEF088E-667C-F903-27B9-400088F43F0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40" y="4436"/>
              <a:ext cx="844" cy="995"/>
            </a:xfrm>
            <a:prstGeom prst="rect">
              <a:avLst/>
            </a:prstGeom>
          </p:spPr>
        </p:pic>
        <p:sp>
          <p:nvSpPr>
            <p:cNvPr id="21" name="矩形: 圆角 20">
              <a:extLst>
                <a:ext uri="{FF2B5EF4-FFF2-40B4-BE49-F238E27FC236}">
                  <a16:creationId xmlns:a16="http://schemas.microsoft.com/office/drawing/2014/main" id="{B319BBA7-8925-EF92-8162-C050C87255F6}"/>
                </a:ext>
              </a:extLst>
            </p:cNvPr>
            <p:cNvSpPr/>
            <p:nvPr/>
          </p:nvSpPr>
          <p:spPr>
            <a:xfrm>
              <a:off x="4384" y="4222"/>
              <a:ext cx="8374" cy="2517"/>
            </a:xfrm>
            <a:prstGeom prst="roundRect">
              <a:avLst/>
            </a:prstGeom>
          </p:spPr>
          <p:style>
            <a:lnRef idx="2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按时间脉络写的优点是能呈现研究发展的历史过程，但容易使留在阶段和发展面貌，按研究主题写的优点是更便于归纳观点和问题，适合突出已有研究的主要争论，按理论视角写适合理论基础较强、不同解释路径明显的主题，但要求研究者对理论掌握较深，按研究方法写有助于总结证据类型与方法局限，但不一定充分呈现问题本身，对于该主题，推荐采用“主题为主、脉络为辅”的方式：先简要交代发展过程，再按主要研究观点组织综述内容。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7260074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6.3.4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辅助研究框架搭建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72287" y="879597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在已有版图中，找到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有价值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可操作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·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显个人判断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的位置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1537936"/>
            <a:ext cx="2276139" cy="4111309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群体</a:t>
            </a: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/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情境被忽略：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研究对象过于集中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dirty="0">
                <a:solidFill>
                  <a:srgbClr val="004CA0"/>
                </a:solidFill>
                <a:latin typeface="Microsoft YaHei"/>
                <a:ea typeface="Microsoft YaHei"/>
              </a:rPr>
              <a:t>▶ </a:t>
            </a:r>
            <a:r>
              <a:rPr b="1" dirty="0" err="1">
                <a:solidFill>
                  <a:srgbClr val="004CA0"/>
                </a:solidFill>
                <a:latin typeface="Microsoft YaHei"/>
                <a:ea typeface="Microsoft YaHei"/>
              </a:rPr>
              <a:t>结论不一致：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已有研究存在分歧，需要进一步澄清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dirty="0">
                <a:solidFill>
                  <a:srgbClr val="2E8B57"/>
                </a:solidFill>
                <a:latin typeface="Microsoft YaHei"/>
                <a:ea typeface="Microsoft YaHei"/>
              </a:rPr>
              <a:t>▶ </a:t>
            </a:r>
            <a:r>
              <a:rPr b="1" dirty="0" err="1">
                <a:solidFill>
                  <a:srgbClr val="2E8B57"/>
                </a:solidFill>
                <a:latin typeface="Microsoft YaHei"/>
                <a:ea typeface="Microsoft YaHei"/>
              </a:rPr>
              <a:t>重结果轻过程：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缺乏对过程的分析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dirty="0">
                <a:solidFill>
                  <a:srgbClr val="F58020"/>
                </a:solidFill>
                <a:latin typeface="Microsoft YaHei"/>
                <a:ea typeface="Microsoft YaHei"/>
              </a:rPr>
              <a:t>▶ </a:t>
            </a:r>
            <a:r>
              <a:rPr b="1" dirty="0" err="1">
                <a:solidFill>
                  <a:srgbClr val="F58020"/>
                </a:solidFill>
                <a:latin typeface="Microsoft YaHei"/>
                <a:ea typeface="Microsoft YaHei"/>
              </a:rPr>
              <a:t>方法单一：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新方法可能带来新发现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dirty="0">
                <a:solidFill>
                  <a:srgbClr val="6A3D9A"/>
                </a:solidFill>
                <a:latin typeface="Microsoft YaHei"/>
                <a:ea typeface="Microsoft YaHei"/>
              </a:rPr>
              <a:t>▶ </a:t>
            </a:r>
            <a:r>
              <a:rPr b="1" dirty="0" err="1">
                <a:solidFill>
                  <a:srgbClr val="6A3D9A"/>
                </a:solidFill>
                <a:latin typeface="Microsoft YaHei"/>
                <a:ea typeface="Microsoft YaHei"/>
              </a:rPr>
              <a:t>新技术</a:t>
            </a:r>
            <a:r>
              <a:rPr b="1" dirty="0">
                <a:solidFill>
                  <a:srgbClr val="6A3D9A"/>
                </a:solidFill>
                <a:latin typeface="Microsoft YaHei"/>
                <a:ea typeface="Microsoft YaHei"/>
              </a:rPr>
              <a:t>/</a:t>
            </a:r>
            <a:r>
              <a:rPr b="1" dirty="0" err="1">
                <a:solidFill>
                  <a:srgbClr val="6A3D9A"/>
                </a:solidFill>
                <a:latin typeface="Microsoft YaHei"/>
                <a:ea typeface="Microsoft YaHei"/>
              </a:rPr>
              <a:t>场景：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需要重新检验原有结论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281403" y="6336792"/>
            <a:ext cx="652241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图6-22 </a:t>
            </a:r>
            <a:r>
              <a:rPr sz="1600" b="0" dirty="0" err="1">
                <a:latin typeface="Microsoft YaHei"/>
                <a:ea typeface="Microsoft YaHei"/>
              </a:rPr>
              <a:t>生成式</a:t>
            </a:r>
            <a:r>
              <a:rPr sz="1600" b="0" dirty="0">
                <a:latin typeface="Microsoft YaHei"/>
                <a:ea typeface="Microsoft YaHei"/>
              </a:rPr>
              <a:t> AI </a:t>
            </a:r>
            <a:r>
              <a:rPr sz="1600" b="0" dirty="0" err="1">
                <a:latin typeface="Microsoft YaHei"/>
                <a:ea typeface="Microsoft YaHei"/>
              </a:rPr>
              <a:t>辅助大学写作学习的研究切入点示意图</a:t>
            </a:r>
            <a:endParaRPr sz="1600" b="0" dirty="0">
              <a:latin typeface="Microsoft YaHei"/>
              <a:ea typeface="Microsoft YaHei"/>
            </a:endParaRPr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B4CA0FC2-1D4A-A171-13BD-EF1F0F4E674A}"/>
              </a:ext>
            </a:extLst>
          </p:cNvPr>
          <p:cNvGrpSpPr/>
          <p:nvPr/>
        </p:nvGrpSpPr>
        <p:grpSpPr>
          <a:xfrm>
            <a:off x="3112636" y="1351286"/>
            <a:ext cx="8745482" cy="4843612"/>
            <a:chOff x="3540" y="1922"/>
            <a:chExt cx="9932" cy="6504"/>
          </a:xfrm>
        </p:grpSpPr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265B15D9-0084-122D-AD13-DFAC0F27F4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610" y="2333"/>
              <a:ext cx="862" cy="1066"/>
            </a:xfrm>
            <a:prstGeom prst="rect">
              <a:avLst/>
            </a:prstGeom>
          </p:spPr>
        </p:pic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58C6B438-95BB-A6A0-E0D8-1F414DA111AE}"/>
                </a:ext>
              </a:extLst>
            </p:cNvPr>
            <p:cNvSpPr/>
            <p:nvPr/>
          </p:nvSpPr>
          <p:spPr>
            <a:xfrm>
              <a:off x="3541" y="1922"/>
              <a:ext cx="9069" cy="2142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基于“生成式人工智能辅助大学生写作学习”这一领域已有研究，请帮我寻找几个可能的研究切入点。要求：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1.切入点要建立在已有研究不足的基础上；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2.每个切入点说明它关注的核心问题是什么；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3.说明它相对于已有研究的新意在哪里；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4.尽量适合硕士论文规模，不要过大。</a:t>
              </a:r>
            </a:p>
          </p:txBody>
        </p:sp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1CC5E2ED-CBA7-7A3F-D433-6C00C15AC3B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40" y="4436"/>
              <a:ext cx="844" cy="1066"/>
            </a:xfrm>
            <a:prstGeom prst="rect">
              <a:avLst/>
            </a:prstGeom>
          </p:spPr>
        </p:pic>
        <p:sp>
          <p:nvSpPr>
            <p:cNvPr id="19" name="矩形: 圆角 18">
              <a:extLst>
                <a:ext uri="{FF2B5EF4-FFF2-40B4-BE49-F238E27FC236}">
                  <a16:creationId xmlns:a16="http://schemas.microsoft.com/office/drawing/2014/main" id="{EBA1E5C3-A161-5A5F-41EE-420224CCEC17}"/>
                </a:ext>
              </a:extLst>
            </p:cNvPr>
            <p:cNvSpPr/>
            <p:nvPr/>
          </p:nvSpPr>
          <p:spPr>
            <a:xfrm>
              <a:off x="4384" y="4236"/>
              <a:ext cx="8374" cy="4190"/>
            </a:xfrm>
            <a:prstGeom prst="roundRect">
              <a:avLst/>
            </a:prstGeom>
          </p:spPr>
          <p:style>
            <a:lnRef idx="2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切入点一：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关注生成式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辅助写作中的认知参与过程。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核心问题：学生在使用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辅助写作时，是在深化思考，还是在减少独立构思？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新意：已有研究多关注写作结果，较少分析使用过程中的认知投入。</a:t>
              </a: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切入点二：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比较不同学科背景学生使用生成式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写作的差异。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核心问题：文科、理工科学生在写作任务中使用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的方式和效果是否不同？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新意：已有研究对象多为混合样本，学科差异研究不足。</a:t>
              </a: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切入点三：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考察教师指导方式对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辅助写作效果的影响。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核心问题：在不同教学设计下，生成式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对学生写作学习的作用是否不同？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新意：已有研究较多关注学生个体使用，较少纳入教学干预因素。</a:t>
              </a:r>
            </a:p>
            <a:p>
              <a:pPr algn="just"/>
              <a:r>
                <a:rPr lang="zh-CN" altLang="en-US" sz="1600" b="1" dirty="0">
                  <a:latin typeface="宋体" pitchFamily="2" charset="-122"/>
                  <a:ea typeface="宋体" pitchFamily="2" charset="-122"/>
                </a:rPr>
                <a:t>切入点四：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研究生成式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使用与学术诚信认知之间的关系。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核心问题：学生如何界定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辅助与学术不端的边界？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新意：将工具使用问题与规范认知问题结合起来。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6.4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07127" y="2742478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sz="36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辅助研究方案设计</a:t>
            </a:r>
            <a:endParaRPr sz="36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023360"/>
            <a:ext cx="6553047" cy="11613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题目再好，也要回答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究竟怎么研究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"。AI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帮你把零散模糊的想法，转化为可操作、可实施、可写进开题报告的研究方案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辅助研究方案设计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5760" y="998234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把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研究意图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转化为可执行、可写进开题报告的研究设计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" y="2103120"/>
            <a:ext cx="2737027" cy="6858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2103120"/>
            <a:ext cx="273702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  <a:ea typeface="Arial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788920"/>
            <a:ext cx="2737027" cy="242316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20624" y="3061454"/>
            <a:ext cx="2627299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构思思路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75488" y="3675888"/>
            <a:ext cx="2517571" cy="6966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问题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—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对象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—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路径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—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结果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084499" y="2788920"/>
            <a:ext cx="164592" cy="2423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004CA0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30803" y="2103120"/>
            <a:ext cx="2737027" cy="6858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30803" y="2103120"/>
            <a:ext cx="273702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  <a:ea typeface="Arial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30803" y="2788920"/>
            <a:ext cx="2737027" cy="242316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285667" y="3061454"/>
            <a:ext cx="2627299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选择方法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340531" y="3675888"/>
            <a:ext cx="2517571" cy="6966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问卷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实验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访谈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混合</a:t>
            </a:r>
            <a:endParaRPr sz="2000" b="0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949543" y="2788920"/>
            <a:ext cx="164592" cy="2423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004CA0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5847" y="2103120"/>
            <a:ext cx="2737027" cy="6858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095847" y="2103120"/>
            <a:ext cx="273702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  <a:ea typeface="Arial"/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5847" y="2788920"/>
            <a:ext cx="2737027" cy="2423160"/>
          </a:xfrm>
          <a:prstGeom prst="rect">
            <a:avLst/>
          </a:prstGeom>
          <a:solidFill>
            <a:srgbClr val="E6F2FC"/>
          </a:solidFill>
          <a:ln w="12700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150711" y="3061454"/>
            <a:ext cx="2627299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设计流程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205575" y="3675888"/>
            <a:ext cx="2517571" cy="3334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0" i="0">
                <a:solidFill>
                  <a:srgbClr val="333333"/>
                </a:solidFill>
                <a:latin typeface="Microsoft YaHei"/>
                <a:ea typeface="Microsoft YaHei"/>
              </a:rPr>
              <a:t>拆成可执行步骤链条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14587" y="2788920"/>
            <a:ext cx="164592" cy="24231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200" b="1" i="0">
                <a:solidFill>
                  <a:srgbClr val="004CA0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0891" y="2103120"/>
            <a:ext cx="2737027" cy="6858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60891" y="2103120"/>
            <a:ext cx="2737027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Arial"/>
                <a:ea typeface="Arial"/>
              </a:rPr>
              <a:t>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60891" y="2788920"/>
            <a:ext cx="2737027" cy="2423160"/>
          </a:xfrm>
          <a:prstGeom prst="rect">
            <a:avLst/>
          </a:prstGeom>
          <a:solidFill>
            <a:srgbClr val="E6F2FC"/>
          </a:solidFill>
          <a:ln w="12700">
            <a:solidFill>
              <a:srgbClr val="004C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015755" y="3061454"/>
            <a:ext cx="2627299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>
                <a:solidFill>
                  <a:srgbClr val="004CA0"/>
                </a:solidFill>
                <a:latin typeface="Microsoft YaHei"/>
                <a:ea typeface="Microsoft YaHei"/>
              </a:rPr>
              <a:t>检查可行性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70619" y="3675888"/>
            <a:ext cx="2517571" cy="6966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0" i="0">
                <a:solidFill>
                  <a:srgbClr val="333333"/>
                </a:solidFill>
                <a:latin typeface="Microsoft YaHei"/>
                <a:ea typeface="Microsoft YaHei"/>
              </a:rPr>
              <a:t>对象 / 数据 / 能力 / 时间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5669280"/>
            <a:ext cx="11475720" cy="9144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5926425"/>
            <a:ext cx="10972800" cy="4001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不替研究者决定方案，而是帮助把零散模糊的想法转化为有结构的研究设计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274320"/>
            <a:ext cx="914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</a:rPr>
              <a:t>6.4.1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icrosoft YaHei"/>
                <a:ea typeface="Microsoft YaHei"/>
              </a:rPr>
              <a:t>AI 辅助研究方案设计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0520" y="885182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先想清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从什么角度进入、用什么逻辑串联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"，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而非急于定方法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1659170"/>
            <a:ext cx="2849880" cy="4673514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研究思路</a:t>
            </a: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 = 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对 "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问题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—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对象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—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路径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—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结果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关系的整体设想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五个基础问题：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核心问题？观察谁？关注什么变量？如何取证？最终说明什么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？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▶ AI 当 "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思路生成器</a:t>
            </a: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"：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把一个问题展开成几种可能的研究路径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b="1" dirty="0" err="1">
                <a:solidFill>
                  <a:srgbClr val="0066CC"/>
                </a:solidFill>
                <a:latin typeface="Microsoft YaHei"/>
                <a:ea typeface="Microsoft YaHei"/>
              </a:rPr>
              <a:t>小扬的选择：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以课程论文为情境，比较不同</a:t>
            </a:r>
            <a:r>
              <a:rPr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使用方式下的认知参与变化，并结合访谈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378245" y="6004331"/>
            <a:ext cx="652241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图6-24 </a:t>
            </a:r>
            <a:r>
              <a:rPr sz="1600" b="0" dirty="0" err="1">
                <a:latin typeface="Microsoft YaHei"/>
                <a:ea typeface="Microsoft YaHei"/>
              </a:rPr>
              <a:t>生成式</a:t>
            </a:r>
            <a:r>
              <a:rPr sz="1600" b="0" dirty="0">
                <a:latin typeface="Microsoft YaHei"/>
                <a:ea typeface="Microsoft YaHei"/>
              </a:rPr>
              <a:t> AI </a:t>
            </a:r>
            <a:r>
              <a:rPr sz="1600" b="0" dirty="0" err="1">
                <a:latin typeface="Microsoft YaHei"/>
                <a:ea typeface="Microsoft YaHei"/>
              </a:rPr>
              <a:t>辅助写作认知参与研究思路设计示意图</a:t>
            </a:r>
            <a:endParaRPr sz="1600" b="0" dirty="0">
              <a:latin typeface="Microsoft YaHei"/>
              <a:ea typeface="Microsoft YaHei"/>
            </a:endParaRP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F7F5626B-5B01-1343-1632-504F777DC6E1}"/>
              </a:ext>
            </a:extLst>
          </p:cNvPr>
          <p:cNvGrpSpPr/>
          <p:nvPr/>
        </p:nvGrpSpPr>
        <p:grpSpPr>
          <a:xfrm>
            <a:off x="3690115" y="1876858"/>
            <a:ext cx="8002900" cy="3783965"/>
            <a:chOff x="3447" y="1828"/>
            <a:chExt cx="10025" cy="4718"/>
          </a:xfrm>
        </p:grpSpPr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F85EEB7C-9D85-33B0-C757-14729FF75CB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610" y="2102"/>
              <a:ext cx="862" cy="852"/>
            </a:xfrm>
            <a:prstGeom prst="rect">
              <a:avLst/>
            </a:prstGeom>
          </p:spPr>
        </p:pic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5CA15808-64E6-E684-723F-DFA0226DBCC8}"/>
                </a:ext>
              </a:extLst>
            </p:cNvPr>
            <p:cNvSpPr/>
            <p:nvPr/>
          </p:nvSpPr>
          <p:spPr>
            <a:xfrm>
              <a:off x="3539" y="1828"/>
              <a:ext cx="9071" cy="2608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我的研究问题是：“生成式人工智能辅助大学生写作时，学生的认知参与是否发生变化？”请帮我构思几种不同的研究思路。要求分别说明：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1.每种思路的核心关注点；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2.适合观察的研究对象；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3.大致可采用的研究方法；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4.各自的优点与局限。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请以硕士论文开题设计的角度回答。</a:t>
              </a:r>
            </a:p>
          </p:txBody>
        </p:sp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092951C5-A30D-3809-DFCB-DBE89B25F0C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447" y="4651"/>
              <a:ext cx="862" cy="851"/>
            </a:xfrm>
            <a:prstGeom prst="rect">
              <a:avLst/>
            </a:prstGeom>
          </p:spPr>
        </p:pic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AEE8239E-0885-E3BB-29A5-363CEDD8D823}"/>
                </a:ext>
              </a:extLst>
            </p:cNvPr>
            <p:cNvSpPr/>
            <p:nvPr/>
          </p:nvSpPr>
          <p:spPr>
            <a:xfrm>
              <a:off x="4309" y="4651"/>
              <a:ext cx="8300" cy="1895"/>
            </a:xfrm>
            <a:prstGeom prst="roundRect">
              <a:avLst/>
            </a:prstGeom>
          </p:spPr>
          <p:style>
            <a:lnRef idx="2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一种思路是比较使用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与不使用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时学生写作表现和思考过程的差异，适合做实验研究；另一种思路是关注学生在真实课程写作任务中如何使用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AI，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通过访谈和过程记录分析其认知参与变化；还有一种思路是调查学生不同使用方式与认知参与感之间的关系，更适合问卷研究。</a:t>
              </a:r>
            </a:p>
          </p:txBody>
        </p:sp>
      </p:grp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6.4.2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辅助研究方案设计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方法，是研究问题与研究证据之间的桥梁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96336" y="1272156"/>
            <a:ext cx="3145715" cy="4781172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问卷调查：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适合了解总体关系与分布，规模大、效率高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4CA0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4CA0"/>
                </a:solidFill>
                <a:latin typeface="Microsoft YaHei"/>
                <a:ea typeface="Microsoft YaHei"/>
              </a:rPr>
              <a:t>实验研究：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适合验证因果，但未必能揭示真实思考过程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2E8B57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2E8B57"/>
                </a:solidFill>
                <a:latin typeface="Microsoft YaHei"/>
                <a:ea typeface="Microsoft YaHei"/>
              </a:rPr>
              <a:t>访谈研究：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适合深入理解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为什么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挖掘过程与原因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F58020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混合研究：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先问卷看总体关系，再访谈析思考变化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←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小扬之选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957227" y="5653135"/>
            <a:ext cx="652241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图6-25 </a:t>
            </a:r>
            <a:r>
              <a:rPr sz="1600" b="0" dirty="0" err="1">
                <a:latin typeface="Microsoft YaHei"/>
                <a:ea typeface="Microsoft YaHei"/>
              </a:rPr>
              <a:t>生成式</a:t>
            </a:r>
            <a:r>
              <a:rPr sz="1600" b="0" dirty="0">
                <a:latin typeface="Microsoft YaHei"/>
                <a:ea typeface="Microsoft YaHei"/>
              </a:rPr>
              <a:t> AI </a:t>
            </a:r>
            <a:r>
              <a:rPr sz="1600" b="0" dirty="0" err="1">
                <a:latin typeface="Microsoft YaHei"/>
                <a:ea typeface="Microsoft YaHei"/>
              </a:rPr>
              <a:t>使用方式与认知参与研究方法匹配示意图</a:t>
            </a:r>
            <a:endParaRPr sz="1600" b="0" dirty="0"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65760" y="6053328"/>
            <a:ext cx="1147572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634266" y="6147830"/>
            <a:ext cx="9499887" cy="3779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方法选择不是为了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看起来规范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"，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而要与研究问题真正贴合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  <a:endParaRPr sz="15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618C072B-28D6-BFEC-1A6B-B34D721AB366}"/>
              </a:ext>
            </a:extLst>
          </p:cNvPr>
          <p:cNvGrpSpPr/>
          <p:nvPr/>
        </p:nvGrpSpPr>
        <p:grpSpPr>
          <a:xfrm>
            <a:off x="3846749" y="1633156"/>
            <a:ext cx="7979186" cy="3866007"/>
            <a:chOff x="3540" y="1731"/>
            <a:chExt cx="9931" cy="5016"/>
          </a:xfrm>
        </p:grpSpPr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81B74E2F-49AB-CA37-4C45-6BF08390E03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609" y="2024"/>
              <a:ext cx="862" cy="994"/>
            </a:xfrm>
            <a:prstGeom prst="rect">
              <a:avLst/>
            </a:prstGeom>
          </p:spPr>
        </p:pic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963C6A39-125F-79F1-0F21-C7A2BBF615FA}"/>
                </a:ext>
              </a:extLst>
            </p:cNvPr>
            <p:cNvSpPr/>
            <p:nvPr/>
          </p:nvSpPr>
          <p:spPr>
            <a:xfrm>
              <a:off x="3541" y="1731"/>
              <a:ext cx="9069" cy="2705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我的研究问题是：“在大学课程论文写作中，不同生成式人工智能使用方式是否会影响学生的认知参与水平？”请从研究方法匹配的角度分析：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1.适合采用哪些研究方法；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2.每种方法分别能够回答什么问题；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3.哪种方法更适合作为硕士论文的主要方法；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4.如果采用混合研究，应如何组合。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请给出简明、实用的建议。</a:t>
              </a:r>
            </a:p>
          </p:txBody>
        </p:sp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F247B13F-634B-744E-3370-653302A70E2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40" y="4558"/>
              <a:ext cx="844" cy="994"/>
            </a:xfrm>
            <a:prstGeom prst="rect">
              <a:avLst/>
            </a:prstGeom>
          </p:spPr>
        </p:pic>
        <p:sp>
          <p:nvSpPr>
            <p:cNvPr id="19" name="矩形: 圆角 18">
              <a:extLst>
                <a:ext uri="{FF2B5EF4-FFF2-40B4-BE49-F238E27FC236}">
                  <a16:creationId xmlns:a16="http://schemas.microsoft.com/office/drawing/2014/main" id="{E603089F-616E-F6C3-6102-D1BE6CB9CFAD}"/>
                </a:ext>
              </a:extLst>
            </p:cNvPr>
            <p:cNvSpPr/>
            <p:nvPr/>
          </p:nvSpPr>
          <p:spPr>
            <a:xfrm>
              <a:off x="4477" y="4651"/>
              <a:ext cx="8133" cy="2096"/>
            </a:xfrm>
            <a:prstGeom prst="roundRect">
              <a:avLst/>
            </a:prstGeom>
          </p:spPr>
          <p:style>
            <a:lnRef idx="2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如果重点关注变量之间的关系，可以采用问卷调查；如果希望直接比较不同条件下的变化，更适合实验研究；如果想深入理解学生的真实体验与思考过程，访谈法更合适；如果既想获得总体趋势，又想解释背后的原因，则混合研究更有优势。基于小周的研究目标，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可能会建议采用“问卷调查+半结构化访谈”或“小规模实验+访谈”的方式</a:t>
              </a:r>
            </a:p>
          </p:txBody>
        </p:sp>
      </p:grp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6.4.3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辅助研究方案设计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把抽象方案，分解为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每一步都服务于问题回答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的可执行链条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1605343"/>
            <a:ext cx="3459480" cy="4781172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常见困境</a:t>
            </a: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：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说得清做什么，却说不清怎么做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 ——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方案停在概念层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AI 当 "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流程梳理助手</a:t>
            </a: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"：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把方案展开为清晰步骤，并提醒易忽视环节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完整链条：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问题提出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工具设计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数据收集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数据分析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结果呈现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心法：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不是步骤越多越好，而是顺序合理、关键环节不遗漏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22109" y="5921905"/>
            <a:ext cx="652241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图6-26 </a:t>
            </a:r>
            <a:r>
              <a:rPr sz="1600" b="0" dirty="0" err="1">
                <a:latin typeface="Microsoft YaHei"/>
                <a:ea typeface="Microsoft YaHei"/>
              </a:rPr>
              <a:t>研究流程与实施步骤示意图</a:t>
            </a:r>
            <a:endParaRPr sz="1600" b="0" dirty="0">
              <a:latin typeface="Microsoft YaHei"/>
              <a:ea typeface="Microsoft YaHei"/>
            </a:endParaRP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1BAAC61D-5C0B-A449-5DDB-D558DE2ED6E6}"/>
              </a:ext>
            </a:extLst>
          </p:cNvPr>
          <p:cNvGrpSpPr/>
          <p:nvPr/>
        </p:nvGrpSpPr>
        <p:grpSpPr>
          <a:xfrm>
            <a:off x="4271085" y="1825370"/>
            <a:ext cx="7417995" cy="3625999"/>
            <a:chOff x="3540" y="2208"/>
            <a:chExt cx="9932" cy="4296"/>
          </a:xfrm>
        </p:grpSpPr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0D39FB72-5A56-C732-7C37-477E331C54B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610" y="2758"/>
              <a:ext cx="862" cy="852"/>
            </a:xfrm>
            <a:prstGeom prst="rect">
              <a:avLst/>
            </a:prstGeom>
          </p:spPr>
        </p:pic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B5A7FDE5-24A1-3607-37E0-864485BA0BE5}"/>
                </a:ext>
              </a:extLst>
            </p:cNvPr>
            <p:cNvSpPr/>
            <p:nvPr/>
          </p:nvSpPr>
          <p:spPr>
            <a:xfrm>
              <a:off x="3541" y="2208"/>
              <a:ext cx="9069" cy="2227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请根据以下研究设想，帮我设计一份较完整的研究流程与实施步骤：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研究主题：生成式人工智能使用方式对大学生写作认知参与的影响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研究方法：问卷调查 + 半结构化访谈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研究对象：本科生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请按照“前期准备—数据收集—数据分析—结果呈现”的顺序展开，并说明每一步大致要做什么。</a:t>
              </a:r>
            </a:p>
          </p:txBody>
        </p:sp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A3C6C1B4-BEA0-1DEF-9DDA-70A9B6D4DC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40" y="4770"/>
              <a:ext cx="844" cy="717"/>
            </a:xfrm>
            <a:prstGeom prst="rect">
              <a:avLst/>
            </a:prstGeom>
          </p:spPr>
        </p:pic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9C323384-0332-D3E6-E7B8-905152D1DA89}"/>
                </a:ext>
              </a:extLst>
            </p:cNvPr>
            <p:cNvSpPr/>
            <p:nvPr/>
          </p:nvSpPr>
          <p:spPr>
            <a:xfrm>
              <a:off x="4384" y="4651"/>
              <a:ext cx="8225" cy="1853"/>
            </a:xfrm>
            <a:prstGeom prst="roundRect">
              <a:avLst/>
            </a:prstGeom>
          </p:spPr>
          <p:style>
            <a:lnRef idx="2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前期准备阶段包括明确变量、设计问卷、制定访谈提纲、进行预测试；数据收集阶段包括发放问卷、筛选样本、开展访谈；数据分析阶段包括描述性统计、相关分析、整理访谈文本、进行主题归纳；结果呈现阶段包括汇总定量与定性发现、比较不同使用方式的差异，并讨论其教育意义。</a:t>
              </a:r>
            </a:p>
          </p:txBody>
        </p:sp>
      </p:grp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274320"/>
            <a:ext cx="914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Microsoft YaHei"/>
                <a:ea typeface="Microsoft YaHei"/>
              </a:rPr>
              <a:t>6.4.4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"/>
            <a:ext cx="8686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2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辅助研究方案设计</a:t>
            </a:r>
            <a:endParaRPr sz="22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一个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看起来完整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的方案，不一定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适合自己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895327"/>
            <a:ext cx="2957456" cy="3303844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研究对象：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目标群体能否真正接触到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？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2E8B57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2E8B57"/>
                </a:solidFill>
                <a:latin typeface="Microsoft YaHei"/>
                <a:ea typeface="Microsoft YaHei"/>
              </a:rPr>
              <a:t>数据来源：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数据是否真的能收集到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？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F58020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分析能力：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自己的方法与分析能力是否匹配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？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6A3D9A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6A3D9A"/>
                </a:solidFill>
                <a:latin typeface="Microsoft YaHei"/>
                <a:ea typeface="Microsoft YaHei"/>
              </a:rPr>
              <a:t>时间安排：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在现实研究周期内是否做得完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60837" y="5620976"/>
            <a:ext cx="652241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图6-27 </a:t>
            </a:r>
            <a:r>
              <a:rPr sz="1600" b="0" dirty="0" err="1">
                <a:latin typeface="Microsoft YaHei"/>
                <a:ea typeface="Microsoft YaHei"/>
              </a:rPr>
              <a:t>研究方案可行性评估示意图</a:t>
            </a:r>
            <a:endParaRPr sz="1600" b="0" dirty="0">
              <a:latin typeface="Microsoft YaHei"/>
              <a:ea typeface="Microsoft YaHe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65760" y="6053328"/>
            <a:ext cx="11475720" cy="56692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4360" y="6117864"/>
            <a:ext cx="11247120" cy="78418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当 "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预审者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提前发现风险；小扬据此收缩范围到一门具体课程的课程论文写作</a:t>
            </a:r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18E4A2F3-3A25-84EC-3C35-A8492A2FF365}"/>
              </a:ext>
            </a:extLst>
          </p:cNvPr>
          <p:cNvGrpSpPr/>
          <p:nvPr/>
        </p:nvGrpSpPr>
        <p:grpSpPr>
          <a:xfrm>
            <a:off x="3889764" y="1563886"/>
            <a:ext cx="7872543" cy="3870960"/>
            <a:chOff x="3422" y="1400"/>
            <a:chExt cx="10050" cy="5363"/>
          </a:xfrm>
        </p:grpSpPr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193F20F5-E2B2-DEA3-0805-F499E52AA7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610" y="1544"/>
              <a:ext cx="862" cy="1069"/>
            </a:xfrm>
            <a:prstGeom prst="rect">
              <a:avLst/>
            </a:prstGeom>
          </p:spPr>
        </p:pic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7E9E5543-742A-F148-5436-D9D159EC18E3}"/>
                </a:ext>
              </a:extLst>
            </p:cNvPr>
            <p:cNvSpPr/>
            <p:nvPr/>
          </p:nvSpPr>
          <p:spPr>
            <a:xfrm>
              <a:off x="3539" y="1400"/>
              <a:ext cx="9071" cy="3034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请从硕士论文实施的角度，评估以下研究方案的可行性，并指出潜在风险与改进建议：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研究主题：生成式人工智能使用方式对大学生写作认知参与的影响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研究方法：问卷调查 + 半结构化访谈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研究对象：本科生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研究情境：课程论文写作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请重点从样本获取、工具设计、时间安排、数据分析难度、研究伦理五个方面进行分析。</a:t>
              </a:r>
            </a:p>
          </p:txBody>
        </p:sp>
        <p:pic>
          <p:nvPicPr>
            <p:cNvPr id="18" name="图片 17">
              <a:extLst>
                <a:ext uri="{FF2B5EF4-FFF2-40B4-BE49-F238E27FC236}">
                  <a16:creationId xmlns:a16="http://schemas.microsoft.com/office/drawing/2014/main" id="{50C2ACCF-5A91-6F39-4149-73B7A3D3E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422" y="4518"/>
              <a:ext cx="962" cy="1069"/>
            </a:xfrm>
            <a:prstGeom prst="rect">
              <a:avLst/>
            </a:prstGeom>
          </p:spPr>
        </p:pic>
        <p:sp>
          <p:nvSpPr>
            <p:cNvPr id="19" name="矩形: 圆角 18">
              <a:extLst>
                <a:ext uri="{FF2B5EF4-FFF2-40B4-BE49-F238E27FC236}">
                  <a16:creationId xmlns:a16="http://schemas.microsoft.com/office/drawing/2014/main" id="{1793DC3B-EED2-D442-0995-DCA40B6E527C}"/>
                </a:ext>
              </a:extLst>
            </p:cNvPr>
            <p:cNvSpPr/>
            <p:nvPr/>
          </p:nvSpPr>
          <p:spPr>
            <a:xfrm>
              <a:off x="4384" y="4651"/>
              <a:ext cx="8227" cy="2112"/>
            </a:xfrm>
            <a:prstGeom prst="roundRect">
              <a:avLst/>
            </a:prstGeom>
          </p:spPr>
          <p:style>
            <a:lnRef idx="2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样本获取需要依赖课程或班级支持；问卷中的“认知参与”概念需要选择或改编合适量表；访谈提纲要避免过于宽泛；定量和定性数据结合分析对研究者能力提出更高要求；涉及学生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使用行为时，需要注意匿名和伦理说明。与此同时，</a:t>
              </a:r>
              <a:r>
                <a:rPr lang="en-US" altLang="zh-CN" sz="1600" dirty="0">
                  <a:latin typeface="宋体" pitchFamily="2" charset="-122"/>
                  <a:ea typeface="宋体" pitchFamily="2" charset="-122"/>
                </a:rPr>
                <a:t>AI</a:t>
              </a:r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也可能提出一些改进建议，例如缩小样本范围、聚焦单一课程场景、减少变量数量等。</a:t>
              </a: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6.5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4920" y="2560320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sz="36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辅助论文写作与学术表达</a:t>
            </a:r>
            <a:endParaRPr sz="36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023360"/>
            <a:ext cx="6766560" cy="11613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论文写作是另一场真正的挑战。AI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是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写作支持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而非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写作替代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" —— </a:t>
            </a: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帮你搭结构、起初稿、优化表达、打磨摘要与标题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6.5.1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辅助论文写作与表达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80060" y="890499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论文结构，是研究逻辑的书面呈现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56447" y="1350250"/>
            <a:ext cx="8764793" cy="1695199"/>
          </a:xfrm>
          <a:prstGeom prst="rect">
            <a:avLst/>
          </a:prstGeom>
          <a:noFill/>
        </p:spPr>
        <p:txBody>
          <a:bodyPr wrap="square" lIns="36000" tIns="36000" rIns="36000" bIns="36000" anchor="t">
            <a:spAutoFit/>
          </a:bodyPr>
          <a:lstStyle/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先搭骨架再写正文：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很多写作困难，源于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整篇骨架尚未建立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AI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擅长：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完成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从研究方案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论文目录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的转化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典型结构：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引言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文献综述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研究设计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结果分析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讨论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结论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2000"/>
              </a:lnSpc>
              <a:spcAft>
                <a:spcPts val="4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价值：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写作不再面对一张白纸，而进入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分模块推进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状态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86015" y="6032757"/>
            <a:ext cx="11183112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图6-28 </a:t>
            </a:r>
            <a:r>
              <a:rPr sz="1600" b="0" dirty="0" err="1">
                <a:latin typeface="Microsoft YaHei"/>
                <a:ea typeface="Microsoft YaHei"/>
              </a:rPr>
              <a:t>学术论文整体结构设计示意图</a:t>
            </a:r>
            <a:endParaRPr sz="1600" b="0" dirty="0">
              <a:latin typeface="Microsoft YaHei"/>
              <a:ea typeface="Microsoft YaHei"/>
            </a:endParaRP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17183477-6FCB-0C3E-D62C-BF0B0F567944}"/>
              </a:ext>
            </a:extLst>
          </p:cNvPr>
          <p:cNvGrpSpPr/>
          <p:nvPr/>
        </p:nvGrpSpPr>
        <p:grpSpPr>
          <a:xfrm>
            <a:off x="1528146" y="3135868"/>
            <a:ext cx="8789029" cy="2734580"/>
            <a:chOff x="3539" y="2757"/>
            <a:chExt cx="9933" cy="3484"/>
          </a:xfrm>
        </p:grpSpPr>
        <p:pic>
          <p:nvPicPr>
            <p:cNvPr id="14" name="图片 13">
              <a:extLst>
                <a:ext uri="{FF2B5EF4-FFF2-40B4-BE49-F238E27FC236}">
                  <a16:creationId xmlns:a16="http://schemas.microsoft.com/office/drawing/2014/main" id="{1BC06151-9754-1929-0A38-B37DA07CFF3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610" y="2757"/>
              <a:ext cx="862" cy="847"/>
            </a:xfrm>
            <a:prstGeom prst="rect">
              <a:avLst/>
            </a:prstGeom>
          </p:spPr>
        </p:pic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6E9F7BE4-4E37-0DB2-977D-7A15E912FBA1}"/>
                </a:ext>
              </a:extLst>
            </p:cNvPr>
            <p:cNvSpPr/>
            <p:nvPr/>
          </p:nvSpPr>
          <p:spPr>
            <a:xfrm>
              <a:off x="3539" y="2757"/>
              <a:ext cx="9071" cy="1678"/>
            </a:xfrm>
            <a:prstGeom prst="roundRect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请根据以下研究主题，帮我搭建一篇学术论文的整体结构：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主题：生成式人工智能使用方式对大学生写作认知参与的影响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方法：问卷调查 + 半结构化访谈</a:t>
              </a:r>
            </a:p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请给出适合中文学术论文的章节结构，并说明每一部分应写什么内容。</a:t>
              </a:r>
            </a:p>
          </p:txBody>
        </p:sp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763CB2CC-270B-1878-70BE-E577D53EBF2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40" y="4651"/>
              <a:ext cx="844" cy="847"/>
            </a:xfrm>
            <a:prstGeom prst="rect">
              <a:avLst/>
            </a:prstGeom>
          </p:spPr>
        </p:pic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C306B5E0-A0A0-CC11-FEAB-F731F9B0B8BE}"/>
                </a:ext>
              </a:extLst>
            </p:cNvPr>
            <p:cNvSpPr/>
            <p:nvPr/>
          </p:nvSpPr>
          <p:spPr>
            <a:xfrm>
              <a:off x="4384" y="4651"/>
              <a:ext cx="8225" cy="1590"/>
            </a:xfrm>
            <a:prstGeom prst="roundRect">
              <a:avLst/>
            </a:prstGeom>
          </p:spPr>
          <p:style>
            <a:lnRef idx="2">
              <a:schemeClr val="accent3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just"/>
              <a:r>
                <a:rPr lang="zh-CN" altLang="en-US" sz="1600" dirty="0">
                  <a:latin typeface="宋体" pitchFamily="2" charset="-122"/>
                  <a:ea typeface="宋体" pitchFamily="2" charset="-122"/>
                </a:rPr>
                <a:t>绪论、文献综述与理论基础、研究设计、研究结果、讨论与结论。并进一步说明绪论中应写研究背景与意义，文献综述中应回顾相关研究与概念，研究设计中应交代对象、工具和程序，结果部分呈现数据与发现，讨论部分解释结果、指出局限并提出建议。</a:t>
              </a:r>
            </a:p>
          </p:txBody>
        </p:sp>
      </p:grp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6.5.2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辅助论文写作与表达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最擅长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结构化内容重组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"，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而非无中生有地代写结论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1981032"/>
            <a:ext cx="3777424" cy="3673176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正确姿势：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先给出自己的材料与要点，再让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整理成学术段落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适用场景：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把零散的综述笔记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连贯的综述段落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降低起笔门槛：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从要点出发，生成初步文字框架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边界：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AI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适合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起草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不适合直接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定稿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 ——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需自己核对表述与逻辑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974811" y="6163577"/>
            <a:ext cx="652241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图6-29 </a:t>
            </a:r>
            <a:r>
              <a:rPr sz="1600" b="0" dirty="0" err="1">
                <a:latin typeface="Microsoft YaHei"/>
                <a:ea typeface="Microsoft YaHei"/>
              </a:rPr>
              <a:t>文献综述要点转化为学术表达任务示意图</a:t>
            </a:r>
            <a:endParaRPr sz="1600" b="0" dirty="0">
              <a:latin typeface="Microsoft YaHei"/>
              <a:ea typeface="Microsoft YaHei"/>
            </a:endParaRPr>
          </a:p>
        </p:txBody>
      </p:sp>
      <p:pic>
        <p:nvPicPr>
          <p:cNvPr id="13" name="图片 12" descr="image">
            <a:extLst>
              <a:ext uri="{FF2B5EF4-FFF2-40B4-BE49-F238E27FC236}">
                <a16:creationId xmlns:a16="http://schemas.microsoft.com/office/drawing/2014/main" id="{6A641594-A084-3BE5-A752-679DF9E220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4688" y="1457468"/>
            <a:ext cx="7022663" cy="4673772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6.5.3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辅助论文写作与表达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6731" y="966750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把 AI 当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语言编辑助手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"，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而非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思想提供者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0060" y="1858349"/>
            <a:ext cx="3888649" cy="4042508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常见问题：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口语化、松散化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——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我觉得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这个说明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挺重要的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F58020"/>
                </a:solidFill>
                <a:latin typeface="Microsoft YaHei"/>
                <a:ea typeface="Microsoft YaHei"/>
              </a:rPr>
              <a:t>✗ </a:t>
            </a:r>
            <a:r>
              <a:rPr sz="20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改写前：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很多学生用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之后写得更快了，但不一定思考得更深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2E8B57"/>
                </a:solidFill>
                <a:latin typeface="Microsoft YaHei"/>
                <a:ea typeface="Microsoft YaHei"/>
              </a:rPr>
              <a:t>✓ </a:t>
            </a:r>
            <a:r>
              <a:rPr sz="2000" b="1" dirty="0" err="1">
                <a:solidFill>
                  <a:srgbClr val="2E8B57"/>
                </a:solidFill>
                <a:latin typeface="Microsoft YaHei"/>
                <a:ea typeface="Microsoft YaHei"/>
              </a:rPr>
              <a:t>改写后：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已有研究表明，生成式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的使用在一定程度上提升了写作效率，但其是否促进更深层次的认知参与，仍有待检验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原则：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内容判断仍要牢牢掌握在自己手中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124226" y="6103953"/>
            <a:ext cx="652241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图6-30 </a:t>
            </a:r>
            <a:r>
              <a:rPr sz="1600" b="0" dirty="0" err="1">
                <a:latin typeface="Microsoft YaHei"/>
                <a:ea typeface="Microsoft YaHei"/>
              </a:rPr>
              <a:t>学术表达改写任务提示示意图</a:t>
            </a:r>
            <a:endParaRPr sz="1600" b="0" dirty="0">
              <a:latin typeface="Microsoft YaHei"/>
              <a:ea typeface="Microsoft YaHei"/>
            </a:endParaRPr>
          </a:p>
        </p:txBody>
      </p:sp>
      <p:pic>
        <p:nvPicPr>
          <p:cNvPr id="13" name="图片 12" descr="image">
            <a:extLst>
              <a:ext uri="{FF2B5EF4-FFF2-40B4-BE49-F238E27FC236}">
                <a16:creationId xmlns:a16="http://schemas.microsoft.com/office/drawing/2014/main" id="{94985F31-C98A-8FE6-6FB8-948955A08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8464" y="1459642"/>
            <a:ext cx="6863476" cy="4576324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6.5.4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辅助论文写作与表达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篇幅虽短，却最考验表达：标题要聚焦，摘要要完整且凝练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1709928"/>
            <a:ext cx="3493140" cy="4042508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标题：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准确概括研究核心，避免过于空泛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2E8B57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2E8B57"/>
                </a:solidFill>
                <a:latin typeface="Microsoft YaHei"/>
                <a:ea typeface="Microsoft YaHei"/>
              </a:rPr>
              <a:t>摘要：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研究目的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方法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主要结果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研究意义，四要素齐全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F58020"/>
                </a:solidFill>
                <a:latin typeface="Microsoft YaHei"/>
                <a:ea typeface="Microsoft YaHei"/>
              </a:rPr>
              <a:t>▶ AI </a:t>
            </a:r>
            <a:r>
              <a:rPr sz="2000" b="1" dirty="0" err="1">
                <a:solidFill>
                  <a:srgbClr val="F58020"/>
                </a:solidFill>
                <a:latin typeface="Microsoft YaHei"/>
                <a:ea typeface="Microsoft YaHei"/>
              </a:rPr>
              <a:t>角色</a:t>
            </a:r>
            <a:r>
              <a:rPr sz="2000" b="1" dirty="0">
                <a:solidFill>
                  <a:srgbClr val="F58020"/>
                </a:solidFill>
                <a:latin typeface="Microsoft YaHei"/>
                <a:ea typeface="Microsoft YaHei"/>
              </a:rPr>
              <a:t>：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多版本生成与比较优化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 ——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给信息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生成多版本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比较选择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收获：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学会什么样的标题更聚焦、什么样的摘要更完整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832670" y="6118523"/>
            <a:ext cx="652241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图6-31 </a:t>
            </a:r>
            <a:r>
              <a:rPr sz="1600" b="0" dirty="0" err="1">
                <a:latin typeface="Microsoft YaHei"/>
                <a:ea typeface="Microsoft YaHei"/>
              </a:rPr>
              <a:t>学术论文标题与摘要生成任务示意图</a:t>
            </a:r>
            <a:endParaRPr sz="1600" b="0" dirty="0">
              <a:latin typeface="Microsoft YaHei"/>
              <a:ea typeface="Microsoft YaHei"/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34DFCCA6-19EA-A8C7-1A96-60AADF1BB07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8676" y="1309249"/>
            <a:ext cx="7190404" cy="4793988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91440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0" b="1" i="0">
                <a:solidFill>
                  <a:srgbClr val="FFFFFF"/>
                </a:solidFill>
                <a:latin typeface="Arial"/>
                <a:ea typeface="Arial"/>
              </a:rPr>
              <a:t>6.6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98567" y="2487880"/>
            <a:ext cx="66751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sz="36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辅助论文修改与投稿准备</a:t>
            </a:r>
            <a:endParaRPr sz="36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840480"/>
            <a:ext cx="13716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023360"/>
            <a:ext cx="6766560" cy="76123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写完初稿不等于结束。成熟的学术写作在反复修改中完成：检查结构逻辑、纠正表达、模拟审稿、得体回复意见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6.6.1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辅助论文修改与投稿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论文最常见的问题，往往不是语言，而是结构与逻辑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72549" y="1673199"/>
            <a:ext cx="3414656" cy="4411840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典型病症：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背景铺陈过长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综述与问题衔接不紧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结果与讨论混杂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结论超出数据支持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作者盲区：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太熟悉自己的思路，反而看不出问题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AI 当 "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整体审稿助手</a:t>
            </a: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"：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从结构、章节衔接与论证逻辑检查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用法：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输入提纲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章节摘要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部分正文，让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AI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指出结构与推进问题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866791" y="6154816"/>
            <a:ext cx="652241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图6-32 </a:t>
            </a:r>
            <a:r>
              <a:rPr sz="1600" b="0" dirty="0" err="1">
                <a:latin typeface="Microsoft YaHei"/>
                <a:ea typeface="Microsoft YaHei"/>
              </a:rPr>
              <a:t>学术论文结构审阅任务提示示意图</a:t>
            </a:r>
            <a:endParaRPr sz="1600" b="0" dirty="0">
              <a:latin typeface="Microsoft YaHei"/>
              <a:ea typeface="Microsoft YaHei"/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000243E3-7290-A77B-2370-3521A679C89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9052" y="1439180"/>
            <a:ext cx="6960796" cy="4639827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6.6.2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辅助论文修改与投稿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定稿前的精修：逐段、逐节检查表达的规范性与清晰度</a:t>
            </a:r>
            <a:endParaRPr sz="2400" b="1" i="0" dirty="0">
              <a:solidFill>
                <a:srgbClr val="0066CC"/>
              </a:solidFill>
              <a:latin typeface="Microsoft YaHei"/>
              <a:ea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83602" y="1899363"/>
            <a:ext cx="3558092" cy="3673176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常见问题：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语句不通顺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概念使用不一致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重复表述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措辞不准确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难点：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非语言学专业的研究生，往往难以一次性自行发现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AI 当 "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文本校对助手</a:t>
            </a: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"：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逐段检查表达的规范与清晰度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适用阶段：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尤其适合论文定稿前的精修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679360" y="5977436"/>
            <a:ext cx="652241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图6-33 </a:t>
            </a:r>
            <a:r>
              <a:rPr sz="1600" b="0" dirty="0" err="1">
                <a:latin typeface="Microsoft YaHei"/>
                <a:ea typeface="Microsoft YaHei"/>
              </a:rPr>
              <a:t>学术论文表达问题检查任务示意图</a:t>
            </a:r>
            <a:endParaRPr sz="1600" b="0" dirty="0">
              <a:latin typeface="Microsoft YaHei"/>
              <a:ea typeface="Microsoft YaHei"/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B359022A-BE99-0300-3086-BA401E46AD9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7719" y="1420455"/>
            <a:ext cx="6645699" cy="4430811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6.6.3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辅助论文修改与投稿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86378" y="1001777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投稿前，先借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AI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做一次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模拟审稿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385" y="1709928"/>
            <a:ext cx="3513268" cy="4411840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为何需要：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仅靠作者与导师视角不够，需提前设想外部审稿可能的质疑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AI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扮演审稿人：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从选题意义、方法设计、结果解释、学术贡献提问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常能暴露：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变量界定不清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样本说明过简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讨论未充分回应文献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价值：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把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自己觉得很顺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暴露成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读者未必能顺着理解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44635" y="6060038"/>
            <a:ext cx="652241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图6-34 </a:t>
            </a:r>
            <a:r>
              <a:rPr sz="1600" b="0" dirty="0" err="1">
                <a:latin typeface="Microsoft YaHei"/>
                <a:ea typeface="Microsoft YaHei"/>
              </a:rPr>
              <a:t>学术论文审稿意见生成任务示意图</a:t>
            </a:r>
            <a:endParaRPr sz="1600" b="0" dirty="0">
              <a:latin typeface="Microsoft YaHei"/>
              <a:ea typeface="Microsoft YaHei"/>
            </a:endParaRP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DA7A00CA-3979-7F3C-F8C1-7D1D86211A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4038" y="1652787"/>
            <a:ext cx="6522415" cy="4347953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6.6.4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辅助论文修改与投稿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112471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AI 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帮你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表达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"，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但不能替你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 "</a:t>
            </a:r>
            <a:r>
              <a:rPr sz="2400" b="1" i="0" dirty="0" err="1">
                <a:solidFill>
                  <a:srgbClr val="0066CC"/>
                </a:solidFill>
                <a:latin typeface="Microsoft YaHei"/>
                <a:ea typeface="Microsoft YaHei"/>
              </a:rPr>
              <a:t>判断态度</a:t>
            </a:r>
            <a:r>
              <a:rPr sz="2400" b="1" i="0" dirty="0">
                <a:solidFill>
                  <a:srgbClr val="0066CC"/>
                </a:solidFill>
                <a:latin typeface="Microsoft YaHei"/>
                <a:ea typeface="Microsoft YaHei"/>
              </a:rPr>
              <a:t>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6472" y="1495511"/>
            <a:ext cx="3271221" cy="4781172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难点：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不是不会改，而是不知如何得体、清晰、有针对性地回复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AI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协助：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整理回复思路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优化措辞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·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使回应更有逻辑且礼貌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前提：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研究者真正理解问题，并决定接受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部分接受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/ 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解释不改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2000" b="1" dirty="0">
                <a:solidFill>
                  <a:srgbClr val="0066CC"/>
                </a:solidFill>
                <a:latin typeface="Microsoft YaHei"/>
                <a:ea typeface="Microsoft YaHei"/>
              </a:rPr>
              <a:t>▶ </a:t>
            </a:r>
            <a:r>
              <a:rPr sz="2000" b="1" dirty="0" err="1">
                <a:solidFill>
                  <a:srgbClr val="0066CC"/>
                </a:solidFill>
                <a:latin typeface="Microsoft YaHei"/>
                <a:ea typeface="Microsoft YaHei"/>
              </a:rPr>
              <a:t>示例：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针对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 "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测量工具说明不足</a:t>
            </a:r>
            <a:r>
              <a:rPr sz="2000" b="0" dirty="0">
                <a:solidFill>
                  <a:srgbClr val="333333"/>
                </a:solidFill>
                <a:latin typeface="Microsoft YaHei"/>
                <a:ea typeface="Microsoft YaHei"/>
              </a:rPr>
              <a:t>"，</a:t>
            </a:r>
            <a:r>
              <a:rPr sz="20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补充来源、维度、信效度与匹配关系</a:t>
            </a:r>
            <a:endParaRPr sz="20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729778" y="6214513"/>
            <a:ext cx="6522415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0" dirty="0">
                <a:latin typeface="Microsoft YaHei"/>
                <a:ea typeface="Microsoft YaHei"/>
              </a:rPr>
              <a:t>图6-35 </a:t>
            </a:r>
            <a:r>
              <a:rPr sz="1600" b="0" dirty="0" err="1">
                <a:latin typeface="Microsoft YaHei"/>
                <a:ea typeface="Microsoft YaHei"/>
              </a:rPr>
              <a:t>学术论文审稿意见回应任务示意图</a:t>
            </a:r>
            <a:endParaRPr sz="1600" b="0" dirty="0">
              <a:latin typeface="Microsoft YaHei"/>
              <a:ea typeface="Microsoft YaHei"/>
            </a:endParaRP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86C44FC1-AB8B-3DD1-A8D2-81AF45D1C6D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4164" y="1507595"/>
            <a:ext cx="6957508" cy="4638338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389120" y="0"/>
            <a:ext cx="109728" cy="6858000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828800"/>
            <a:ext cx="3657600" cy="2286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5000" b="1" dirty="0">
                <a:solidFill>
                  <a:srgbClr val="FFFFFF"/>
                </a:solidFill>
                <a:latin typeface="Arial"/>
                <a:ea typeface="Arial"/>
              </a:rPr>
              <a:t>6</a:t>
            </a:r>
            <a:r>
              <a:rPr sz="15000" b="1" i="0" dirty="0">
                <a:solidFill>
                  <a:srgbClr val="FFFFFF"/>
                </a:solidFill>
                <a:latin typeface="Arial"/>
                <a:ea typeface="Arial"/>
              </a:rPr>
              <a:t>.</a:t>
            </a:r>
            <a:r>
              <a:rPr lang="en-US" sz="15000" b="1" i="0" dirty="0">
                <a:solidFill>
                  <a:srgbClr val="FFFFFF"/>
                </a:solidFill>
                <a:latin typeface="Arial"/>
                <a:ea typeface="Arial"/>
              </a:rPr>
              <a:t>7</a:t>
            </a:r>
            <a:endParaRPr sz="15000" b="1" i="0" dirty="0">
              <a:solidFill>
                <a:srgbClr val="FFFFFF"/>
              </a:solidFill>
              <a:latin typeface="Arial"/>
              <a:ea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74920" y="2674172"/>
            <a:ext cx="66751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本章实训</a:t>
            </a:r>
            <a:endParaRPr sz="3400" b="1" i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29200" y="3931920"/>
            <a:ext cx="1463040" cy="4572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0" y="4114800"/>
            <a:ext cx="6766560" cy="7719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32000"/>
              </a:lnSpc>
            </a:pPr>
            <a:r>
              <a:rPr lang="en-US"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AI</a:t>
            </a:r>
            <a:r>
              <a:rPr lang="zh-CN" altLang="en-US"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辅助文献快速解析 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lang="en-US"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AI</a:t>
            </a:r>
            <a:r>
              <a:rPr lang="zh-CN" altLang="en-US"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辅助选题与研究设计 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→ </a:t>
            </a:r>
            <a:r>
              <a:rPr lang="en-US"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AI</a:t>
            </a:r>
            <a:r>
              <a:rPr lang="zh-CN" altLang="en-US"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辅助交叉学科研究设计</a:t>
            </a:r>
            <a:r>
              <a:rPr sz="20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pic>
        <p:nvPicPr>
          <p:cNvPr id="10" name="Picture 9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74320"/>
            <a:ext cx="960120" cy="50292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7432" y="341114"/>
            <a:ext cx="9144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altLang="zh-CN" sz="2400" b="1">
                <a:solidFill>
                  <a:srgbClr val="FFFFFF"/>
                </a:solidFill>
                <a:latin typeface="Microsoft YaHei"/>
                <a:ea typeface="Microsoft YaHei"/>
              </a:rPr>
              <a:t>6</a:t>
            </a:r>
            <a:r>
              <a:rPr sz="2400" b="1" i="0">
                <a:solidFill>
                  <a:srgbClr val="FFFFFF"/>
                </a:solidFill>
                <a:latin typeface="Microsoft YaHei"/>
                <a:ea typeface="Microsoft YaHei"/>
              </a:rPr>
              <a:t>.</a:t>
            </a:r>
            <a:r>
              <a:rPr lang="en-US" altLang="zh-CN" sz="2400" b="1" i="0">
                <a:solidFill>
                  <a:srgbClr val="FFFFFF"/>
                </a:solidFill>
                <a:latin typeface="Microsoft YaHei"/>
                <a:ea typeface="Microsoft YaHei"/>
              </a:rPr>
              <a:t>7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60120" y="274320"/>
            <a:ext cx="9052560" cy="502920"/>
          </a:xfrm>
          <a:prstGeom prst="rect">
            <a:avLst/>
          </a:prstGeom>
          <a:solidFill>
            <a:srgbClr val="3A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34440" y="341114"/>
            <a:ext cx="86868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4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本章实训</a:t>
            </a:r>
            <a:endParaRPr sz="24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5760" y="930902"/>
            <a:ext cx="11430000" cy="3693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三个递进演练：</a:t>
            </a:r>
            <a:r>
              <a:rPr lang="en-US" sz="2400" b="1" i="0" dirty="0" err="1">
                <a:solidFill>
                  <a:srgbClr val="004CA0"/>
                </a:solidFill>
                <a:latin typeface="Microsoft YaHei"/>
                <a:ea typeface="Microsoft YaHei"/>
              </a:rPr>
              <a:t>AI辅助科研训练与规范应用</a:t>
            </a:r>
            <a:endParaRPr sz="2400" b="1" i="0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7200" y="1709928"/>
            <a:ext cx="3686252" cy="480695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1709928"/>
            <a:ext cx="3686252" cy="683656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57199" y="1709928"/>
            <a:ext cx="111583" cy="480695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79" y="1874533"/>
            <a:ext cx="3360803" cy="3077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演练一</a:t>
            </a:r>
            <a:r>
              <a:rPr lang="zh-CN" altLang="en-US"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lang="en-US"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</a:t>
            </a:r>
            <a:r>
              <a:rPr lang="zh-CN" altLang="en-US"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辅助文献快速解析 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13231" y="2591786"/>
            <a:ext cx="3286415" cy="3285570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lang="zh-CN" altLang="en-US" b="0" dirty="0">
                <a:solidFill>
                  <a:srgbClr val="333333"/>
                </a:solidFill>
                <a:latin typeface="Microsoft YaHei"/>
                <a:ea typeface="Microsoft YaHei"/>
              </a:rPr>
              <a:t>利用 </a:t>
            </a:r>
            <a:r>
              <a:rPr lang="en-US" b="0" dirty="0">
                <a:solidFill>
                  <a:srgbClr val="333333"/>
                </a:solidFill>
                <a:latin typeface="Microsoft YaHei"/>
                <a:ea typeface="Microsoft YaHei"/>
              </a:rPr>
              <a:t>DeepSeek、</a:t>
            </a:r>
            <a:r>
              <a:rPr lang="zh-CN" altLang="en-US" b="0" dirty="0">
                <a:solidFill>
                  <a:srgbClr val="333333"/>
                </a:solidFill>
                <a:latin typeface="Microsoft YaHei"/>
                <a:ea typeface="Microsoft YaHei"/>
              </a:rPr>
              <a:t>千问等工具，对 </a:t>
            </a:r>
            <a:r>
              <a:rPr lang="en-US" altLang="zh-CN" b="0" dirty="0">
                <a:solidFill>
                  <a:srgbClr val="333333"/>
                </a:solidFill>
                <a:latin typeface="Microsoft YaHei"/>
                <a:ea typeface="Microsoft YaHei"/>
              </a:rPr>
              <a:t>10 </a:t>
            </a:r>
            <a:r>
              <a:rPr lang="zh-CN" altLang="en-US" b="0" dirty="0">
                <a:solidFill>
                  <a:srgbClr val="333333"/>
                </a:solidFill>
                <a:latin typeface="Microsoft YaHei"/>
                <a:ea typeface="Microsoft YaHei"/>
              </a:rPr>
              <a:t>篇相关文献进行快速解析，提取研究背景与问题、方法路线、核心结论与创新点，研究局限与未来方向。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lang="zh-CN" altLang="en-US" b="1" dirty="0">
                <a:solidFill>
                  <a:srgbClr val="C0392B"/>
                </a:solidFill>
                <a:latin typeface="Microsoft YaHei"/>
                <a:ea typeface="Microsoft YaHei"/>
              </a:rPr>
              <a:t>输出“</a:t>
            </a:r>
            <a:r>
              <a:rPr lang="en-US" altLang="zh-CN" b="1" dirty="0">
                <a:solidFill>
                  <a:srgbClr val="C0392B"/>
                </a:solidFill>
                <a:latin typeface="Microsoft YaHei"/>
                <a:ea typeface="Microsoft YaHei"/>
              </a:rPr>
              <a:t>10</a:t>
            </a:r>
            <a:r>
              <a:rPr lang="zh-CN" altLang="en-US" b="1" dirty="0">
                <a:solidFill>
                  <a:srgbClr val="C0392B"/>
                </a:solidFill>
                <a:latin typeface="Microsoft YaHei"/>
                <a:ea typeface="Microsoft YaHei"/>
              </a:rPr>
              <a:t>篇文献速读表”与≥</a:t>
            </a:r>
            <a:r>
              <a:rPr lang="en-US" altLang="zh-CN" b="1" dirty="0">
                <a:solidFill>
                  <a:srgbClr val="C0392B"/>
                </a:solidFill>
                <a:latin typeface="Microsoft YaHei"/>
                <a:ea typeface="Microsoft YaHei"/>
              </a:rPr>
              <a:t>500</a:t>
            </a:r>
            <a:r>
              <a:rPr lang="zh-CN" altLang="en-US" b="1" dirty="0">
                <a:solidFill>
                  <a:srgbClr val="C0392B"/>
                </a:solidFill>
                <a:latin typeface="Microsoft YaHei"/>
                <a:ea typeface="Microsoft YaHei"/>
              </a:rPr>
              <a:t>字综述。</a:t>
            </a:r>
            <a:endParaRPr b="1" dirty="0">
              <a:solidFill>
                <a:srgbClr val="C0392B"/>
              </a:solidFill>
              <a:latin typeface="Microsoft YaHei"/>
              <a:ea typeface="Microsoft YaHei"/>
            </a:endParaRP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lang="zh-CN" altLang="en-US" b="1" dirty="0">
                <a:solidFill>
                  <a:srgbClr val="004CA0"/>
                </a:solidFill>
                <a:latin typeface="Microsoft YaHei"/>
                <a:ea typeface="Microsoft YaHei"/>
              </a:rPr>
              <a:t>提炼至少</a:t>
            </a:r>
            <a:r>
              <a:rPr lang="en-US" altLang="zh-CN" b="1" dirty="0">
                <a:solidFill>
                  <a:srgbClr val="004CA0"/>
                </a:solidFill>
                <a:latin typeface="Microsoft YaHei"/>
                <a:ea typeface="Microsoft YaHei"/>
              </a:rPr>
              <a:t>3</a:t>
            </a:r>
            <a:r>
              <a:rPr lang="zh-CN" altLang="en-US" b="1" dirty="0">
                <a:solidFill>
                  <a:srgbClr val="004CA0"/>
                </a:solidFill>
                <a:latin typeface="Microsoft YaHei"/>
                <a:ea typeface="Microsoft YaHei"/>
              </a:rPr>
              <a:t>个研究空白或改进方向。</a:t>
            </a:r>
            <a:endParaRPr b="1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283354" y="1709928"/>
            <a:ext cx="3686252" cy="480695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283354" y="1709928"/>
            <a:ext cx="3686252" cy="683656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83353" y="1709928"/>
            <a:ext cx="111583" cy="4806958"/>
          </a:xfrm>
          <a:prstGeom prst="rect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66233" y="1746530"/>
            <a:ext cx="3360803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演练二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　</a:t>
            </a:r>
            <a:r>
              <a:rPr lang="en-US" altLang="zh-CN"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</a:t>
            </a:r>
            <a:r>
              <a:rPr lang="zh-CN" altLang="en-US"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辅助选题与研究设计 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539385" y="2650036"/>
            <a:ext cx="3221325" cy="2939322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lang="zh-CN" altLang="en-US" b="0" dirty="0">
                <a:solidFill>
                  <a:srgbClr val="333333"/>
                </a:solidFill>
                <a:latin typeface="Microsoft YaHei"/>
                <a:ea typeface="Microsoft YaHei"/>
              </a:rPr>
              <a:t>从模糊研究想法出发，借助 </a:t>
            </a:r>
            <a:r>
              <a:rPr lang="en-US" b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lang="zh-CN" altLang="en-US" b="0" dirty="0">
                <a:solidFill>
                  <a:srgbClr val="333333"/>
                </a:solidFill>
                <a:latin typeface="Microsoft YaHei"/>
                <a:ea typeface="Microsoft YaHei"/>
              </a:rPr>
              <a:t>完成研究方向细化、研究问题定义、创新点提炼与研究方案初步设计。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lang="zh-CN" altLang="en-US" b="1" dirty="0">
                <a:solidFill>
                  <a:srgbClr val="C0392B"/>
                </a:solidFill>
                <a:latin typeface="Microsoft YaHei"/>
                <a:ea typeface="Microsoft YaHei"/>
              </a:rPr>
              <a:t>形成</a:t>
            </a:r>
            <a:r>
              <a:rPr lang="en-US" altLang="zh-CN" b="1" dirty="0">
                <a:solidFill>
                  <a:srgbClr val="C0392B"/>
                </a:solidFill>
                <a:latin typeface="Microsoft YaHei"/>
                <a:ea typeface="Microsoft YaHei"/>
              </a:rPr>
              <a:t>1</a:t>
            </a:r>
            <a:r>
              <a:rPr lang="zh-CN" altLang="en-US" b="1" dirty="0">
                <a:solidFill>
                  <a:srgbClr val="C0392B"/>
                </a:solidFill>
                <a:latin typeface="Microsoft YaHei"/>
                <a:ea typeface="Microsoft YaHei"/>
              </a:rPr>
              <a:t>个明确研究题目与研究设计方案。</a:t>
            </a:r>
            <a:endParaRPr b="1" dirty="0">
              <a:solidFill>
                <a:srgbClr val="C0392B"/>
              </a:solidFill>
              <a:latin typeface="Microsoft YaHei"/>
              <a:ea typeface="Microsoft YaHei"/>
            </a:endParaRP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lang="zh-CN" altLang="en-US" b="1" dirty="0">
                <a:solidFill>
                  <a:srgbClr val="004CA0"/>
                </a:solidFill>
                <a:latin typeface="Microsoft YaHei"/>
                <a:ea typeface="Microsoft YaHei"/>
              </a:rPr>
              <a:t>说明背景、方法、数据、预期结果及创新性。</a:t>
            </a:r>
            <a:endParaRPr b="1" dirty="0">
              <a:solidFill>
                <a:srgbClr val="004CA0"/>
              </a:solidFill>
              <a:latin typeface="Microsoft YaHei"/>
              <a:ea typeface="Microsoft YaHei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109508" y="1709928"/>
            <a:ext cx="3686252" cy="4806958"/>
          </a:xfrm>
          <a:prstGeom prst="rect">
            <a:avLst/>
          </a:prstGeom>
          <a:solidFill>
            <a:srgbClr val="FFFFFF"/>
          </a:solidFill>
          <a:ln w="12700">
            <a:solidFill>
              <a:srgbClr val="D9DFE6"/>
            </a:solidFill>
          </a:ln>
          <a:effectLst>
            <a:outerShdw blurRad="45720" dist="36576" dir="5400000" rotWithShape="0">
              <a:srgbClr val="808080">
                <a:alpha val="5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109508" y="1709928"/>
            <a:ext cx="3686252" cy="683656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109507" y="1709928"/>
            <a:ext cx="111583" cy="4806958"/>
          </a:xfrm>
          <a:prstGeom prst="rect">
            <a:avLst/>
          </a:prstGeom>
          <a:solidFill>
            <a:srgbClr val="F58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92387" y="1746530"/>
            <a:ext cx="3360803" cy="61555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演练三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　</a:t>
            </a:r>
            <a:r>
              <a:rPr lang="en-US"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</a:t>
            </a:r>
            <a:r>
              <a:rPr lang="zh-CN" altLang="en-US"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辅助交叉学科研究设计 </a:t>
            </a:r>
            <a:endParaRPr sz="2000" b="1" i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360967" y="2511923"/>
            <a:ext cx="3221325" cy="3285570"/>
          </a:xfrm>
          <a:prstGeom prst="rect">
            <a:avLst/>
          </a:prstGeom>
          <a:noFill/>
        </p:spPr>
        <p:txBody>
          <a:bodyPr wrap="square" lIns="36000" tIns="36000" rIns="36000" bIns="3600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lang="zh-CN" altLang="en-US" b="0" dirty="0">
                <a:solidFill>
                  <a:srgbClr val="333333"/>
                </a:solidFill>
                <a:latin typeface="Microsoft YaHei"/>
                <a:ea typeface="Microsoft YaHei"/>
              </a:rPr>
              <a:t>围绕交叉主题，从多学科视角展开分析，并对 </a:t>
            </a:r>
            <a:r>
              <a:rPr lang="en-US" b="0" dirty="0">
                <a:solidFill>
                  <a:srgbClr val="333333"/>
                </a:solidFill>
                <a:latin typeface="Microsoft YaHei"/>
                <a:ea typeface="Microsoft YaHei"/>
              </a:rPr>
              <a:t>AI </a:t>
            </a:r>
            <a:r>
              <a:rPr lang="zh-CN" altLang="en-US" b="0" dirty="0">
                <a:solidFill>
                  <a:srgbClr val="333333"/>
                </a:solidFill>
                <a:latin typeface="Microsoft YaHei"/>
                <a:ea typeface="Microsoft YaHei"/>
              </a:rPr>
              <a:t>生成内容进行事实、概念、逻辑、文献与规范性核查。</a:t>
            </a:r>
            <a:endParaRPr b="0" dirty="0">
              <a:solidFill>
                <a:srgbClr val="333333"/>
              </a:solidFill>
              <a:latin typeface="Microsoft YaHei"/>
              <a:ea typeface="Microsoft YaHei"/>
            </a:endParaRP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lang="zh-CN" altLang="en-US" b="1" dirty="0">
                <a:solidFill>
                  <a:srgbClr val="C0392B"/>
                </a:solidFill>
                <a:latin typeface="Microsoft YaHei"/>
                <a:ea typeface="Microsoft YaHei"/>
              </a:rPr>
              <a:t>提交“多学科视角分析表”和“</a:t>
            </a:r>
            <a:r>
              <a:rPr lang="en-US" b="1" dirty="0">
                <a:solidFill>
                  <a:srgbClr val="C0392B"/>
                </a:solidFill>
                <a:latin typeface="Microsoft YaHei"/>
                <a:ea typeface="Microsoft YaHei"/>
              </a:rPr>
              <a:t>AI</a:t>
            </a:r>
            <a:r>
              <a:rPr lang="zh-CN" altLang="en-US" b="1" dirty="0">
                <a:solidFill>
                  <a:srgbClr val="C0392B"/>
                </a:solidFill>
                <a:latin typeface="Microsoft YaHei"/>
                <a:ea typeface="Microsoft YaHei"/>
              </a:rPr>
              <a:t>输出质量检查表”。</a:t>
            </a:r>
            <a:endParaRPr b="1" dirty="0">
              <a:solidFill>
                <a:srgbClr val="C0392B"/>
              </a:solidFill>
              <a:latin typeface="Microsoft YaHei"/>
              <a:ea typeface="Microsoft YaHei"/>
            </a:endParaRPr>
          </a:p>
          <a:p>
            <a:pPr>
              <a:lnSpc>
                <a:spcPct val="125000"/>
              </a:lnSpc>
              <a:spcAft>
                <a:spcPts val="500"/>
              </a:spcAft>
            </a:pPr>
            <a:r>
              <a:rPr lang="zh-CN" altLang="en-US" b="1" dirty="0">
                <a:solidFill>
                  <a:srgbClr val="004CA0"/>
                </a:solidFill>
                <a:latin typeface="Microsoft YaHei"/>
                <a:ea typeface="Microsoft YaHei"/>
              </a:rPr>
              <a:t>提出≥</a:t>
            </a:r>
            <a:r>
              <a:rPr lang="en-US" altLang="zh-CN" b="1" dirty="0">
                <a:solidFill>
                  <a:srgbClr val="004CA0"/>
                </a:solidFill>
                <a:latin typeface="Microsoft YaHei"/>
                <a:ea typeface="Microsoft YaHei"/>
              </a:rPr>
              <a:t>5</a:t>
            </a:r>
            <a:r>
              <a:rPr lang="zh-CN" altLang="en-US" b="1" dirty="0">
                <a:solidFill>
                  <a:srgbClr val="004CA0"/>
                </a:solidFill>
                <a:latin typeface="Microsoft YaHei"/>
                <a:ea typeface="Microsoft YaHei"/>
              </a:rPr>
              <a:t>个研究问题，确定</a:t>
            </a:r>
            <a:r>
              <a:rPr lang="en-US" altLang="zh-CN" b="1" dirty="0">
                <a:solidFill>
                  <a:srgbClr val="004CA0"/>
                </a:solidFill>
                <a:latin typeface="Microsoft YaHei"/>
                <a:ea typeface="Microsoft YaHei"/>
              </a:rPr>
              <a:t>1</a:t>
            </a:r>
            <a:r>
              <a:rPr lang="zh-CN" altLang="en-US" b="1" dirty="0">
                <a:solidFill>
                  <a:srgbClr val="004CA0"/>
                </a:solidFill>
                <a:latin typeface="Microsoft YaHei"/>
                <a:ea typeface="Microsoft YaHei"/>
              </a:rPr>
              <a:t>个题目，形成修改稿与</a:t>
            </a:r>
            <a:r>
              <a:rPr lang="en-US" b="1" dirty="0">
                <a:solidFill>
                  <a:srgbClr val="004CA0"/>
                </a:solidFill>
                <a:latin typeface="Microsoft YaHei"/>
                <a:ea typeface="Microsoft YaHei"/>
              </a:rPr>
              <a:t>AI</a:t>
            </a:r>
            <a:r>
              <a:rPr lang="zh-CN" altLang="en-US" b="1" dirty="0">
                <a:solidFill>
                  <a:srgbClr val="004CA0"/>
                </a:solidFill>
                <a:latin typeface="Microsoft YaHei"/>
                <a:ea typeface="Microsoft YaHei"/>
              </a:rPr>
              <a:t>使用反思。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yzu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7175" y="246888"/>
            <a:ext cx="1691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2004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5000" b="1" i="0">
                <a:solidFill>
                  <a:srgbClr val="0066CC"/>
                </a:solidFill>
                <a:latin typeface="Microsoft YaHei"/>
                <a:ea typeface="Microsoft YaHei"/>
              </a:rPr>
              <a:t>本章小结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2847" y="1170432"/>
            <a:ext cx="2286000" cy="3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508760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6.1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1508760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25880" y="1581912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4CA0"/>
                </a:solidFill>
                <a:latin typeface="Microsoft YaHei"/>
                <a:ea typeface="Microsoft YaHei"/>
              </a:rPr>
              <a:t>选题凝练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965960"/>
            <a:ext cx="4343400" cy="5142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了解领域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发现空白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拆解问题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评估优化，把模糊想法变成可研究的题目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61888" y="1508760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61888" y="1508760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6.2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39128" y="1508760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922008" y="1581912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4CA0"/>
                </a:solidFill>
                <a:latin typeface="Microsoft YaHei"/>
                <a:ea typeface="Microsoft YaHei"/>
              </a:rPr>
              <a:t>文献检索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2008" y="1965960"/>
            <a:ext cx="4343400" cy="5142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关键词学术化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筛选核心文献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 → </a:t>
            </a:r>
            <a:r>
              <a:rPr sz="1600" b="0" i="0" dirty="0" err="1">
                <a:solidFill>
                  <a:srgbClr val="333333"/>
                </a:solidFill>
                <a:latin typeface="Microsoft YaHei"/>
                <a:ea typeface="Microsoft YaHei"/>
              </a:rPr>
              <a:t>结构化提炼，把文献海洋变成研究资源</a:t>
            </a:r>
            <a:r>
              <a:rPr sz="1600" b="0" i="0" dirty="0">
                <a:solidFill>
                  <a:srgbClr val="333333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852928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5760" y="2852928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6.3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2852928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325880" y="2926080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4CA0"/>
                </a:solidFill>
                <a:latin typeface="Microsoft YaHei"/>
                <a:ea typeface="Microsoft YaHei"/>
              </a:rPr>
              <a:t>框架搭建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310128"/>
            <a:ext cx="4343400" cy="5142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梳理脉络 · 归纳观点 · 搭建综述 · 形成切入点，回答 "我的研究站在哪里"。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61888" y="2852928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61888" y="2852928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6.4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39128" y="2852928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922008" y="2926080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4CA0"/>
                </a:solidFill>
                <a:latin typeface="Microsoft YaHei"/>
                <a:ea typeface="Microsoft YaHei"/>
              </a:rPr>
              <a:t>方案设计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22008" y="3310128"/>
            <a:ext cx="4343400" cy="5142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构思思路 → 选择方法 → 设计流程 → 检查可行性，把意图落到可执行方案。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197096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" y="4197096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6.5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4197096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325880" y="4270248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4CA0"/>
                </a:solidFill>
                <a:latin typeface="Microsoft YaHei"/>
                <a:ea typeface="Microsoft YaHei"/>
              </a:rPr>
              <a:t>论文写作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4654296"/>
            <a:ext cx="4343400" cy="5142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搭结构 → 起初稿 → 优化表达 → 打磨摘要标题，把研究写成规范学术文本。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61888" y="4197096"/>
            <a:ext cx="777240" cy="123444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961888" y="4197096"/>
            <a:ext cx="777240" cy="12344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icrosoft YaHei"/>
                <a:ea typeface="Microsoft YaHei"/>
              </a:rPr>
              <a:t>6.6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39128" y="4197096"/>
            <a:ext cx="4709160" cy="1234440"/>
          </a:xfrm>
          <a:prstGeom prst="rect">
            <a:avLst/>
          </a:prstGeom>
          <a:solidFill>
            <a:srgbClr val="E6F2FC"/>
          </a:solidFill>
          <a:ln w="9525">
            <a:solidFill>
              <a:srgbClr val="0066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922008" y="4270248"/>
            <a:ext cx="43434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04CA0"/>
                </a:solidFill>
                <a:latin typeface="Microsoft YaHei"/>
                <a:ea typeface="Microsoft YaHei"/>
              </a:rPr>
              <a:t>修改投稿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22008" y="4654296"/>
            <a:ext cx="4343400" cy="5142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0">
                <a:solidFill>
                  <a:srgbClr val="333333"/>
                </a:solidFill>
                <a:latin typeface="Microsoft YaHei"/>
                <a:ea typeface="Microsoft YaHei"/>
              </a:rPr>
              <a:t>查结构逻辑 → 纠表达 → 模拟审稿 → 回复意见，把初稿磨成成熟成果。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7987" y="5687568"/>
            <a:ext cx="11475720" cy="749808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40867" y="5750823"/>
            <a:ext cx="11109960" cy="6535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AI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的价值不在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"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替研究者完成研究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"，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而在帮研究者更高效地看清方向、组织结构、打磨表达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 —— </a:t>
            </a:r>
            <a:r>
              <a:rPr sz="2000" b="1" i="0" dirty="0" err="1">
                <a:solidFill>
                  <a:srgbClr val="FFFFFF"/>
                </a:solidFill>
                <a:latin typeface="Microsoft YaHei"/>
                <a:ea typeface="Microsoft YaHei"/>
              </a:rPr>
              <a:t>学术判断与责任始终属于研究者本人</a:t>
            </a:r>
            <a:r>
              <a:rPr sz="2000" b="1" i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Parallelogram 3"/>
          <p:cNvSpPr/>
          <p:nvPr/>
        </p:nvSpPr>
        <p:spPr>
          <a:xfrm>
            <a:off x="0" y="4114800"/>
            <a:ext cx="6858000" cy="2743200"/>
          </a:xfrm>
          <a:prstGeom prst="parallelogram">
            <a:avLst/>
          </a:prstGeom>
          <a:solidFill>
            <a:srgbClr val="004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0" y="2286000"/>
            <a:ext cx="12191695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0" b="1" i="0">
                <a:solidFill>
                  <a:srgbClr val="FFFFFF"/>
                </a:solidFill>
                <a:latin typeface="Arial"/>
                <a:ea typeface="Arial"/>
              </a:rPr>
              <a:t>THANKS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114800"/>
            <a:ext cx="1219169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800" b="0" i="0">
                <a:solidFill>
                  <a:srgbClr val="E6F2FC"/>
                </a:solidFill>
                <a:latin typeface="Microsoft YaHei"/>
                <a:ea typeface="Microsoft YaHei"/>
              </a:rPr>
              <a:t>感 谢 聆 听 ， 欢 迎 提 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85216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 i="0">
                <a:solidFill>
                  <a:srgbClr val="E6F2FC"/>
                </a:solidFill>
                <a:latin typeface="Microsoft YaHei"/>
                <a:ea typeface="Microsoft YaHei"/>
              </a:rPr>
              <a:t>扬州大学  ·  第 6 章  ·  大模型赋能学术研究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</TotalTime>
  <Words>4813</Words>
  <Application>Microsoft Macintosh PowerPoint</Application>
  <PresentationFormat>宽屏</PresentationFormat>
  <Paragraphs>563</Paragraphs>
  <Slides>52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52</vt:i4>
      </vt:variant>
    </vt:vector>
  </HeadingPairs>
  <TitlesOfParts>
    <vt:vector size="57" baseType="lpstr">
      <vt:lpstr>宋体</vt:lpstr>
      <vt:lpstr>Microsoft YaHei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Microsoft Office User</cp:lastModifiedBy>
  <cp:revision>5</cp:revision>
  <dcterms:created xsi:type="dcterms:W3CDTF">2013-01-27T09:14:16Z</dcterms:created>
  <dcterms:modified xsi:type="dcterms:W3CDTF">2026-09-05T01:18:01Z</dcterms:modified>
  <cp:category/>
</cp:coreProperties>
</file>