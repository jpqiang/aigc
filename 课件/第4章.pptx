
<file path=[Content_Types].xml><?xml version="1.0" encoding="utf-8"?>
<Types xmlns="http://schemas.openxmlformats.org/package/2006/content-types">
  <Default Extension="jpeg" ContentType="image/jpeg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8" r:id="rId13"/>
    <p:sldId id="267" r:id="rId14"/>
    <p:sldId id="289" r:id="rId15"/>
    <p:sldId id="268" r:id="rId16"/>
    <p:sldId id="269" r:id="rId17"/>
    <p:sldId id="290" r:id="rId18"/>
    <p:sldId id="270" r:id="rId19"/>
    <p:sldId id="271" r:id="rId20"/>
    <p:sldId id="272" r:id="rId21"/>
    <p:sldId id="291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7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 snapToObjects="1">
      <p:cViewPr varScale="1">
        <p:scale>
          <a:sx n="85" d="100"/>
          <a:sy n="85" d="100"/>
        </p:scale>
        <p:origin x="8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microsoft.com/office/2007/relationships/media" Target="../media/media1.mp3"/><Relationship Id="rId7" Type="http://schemas.openxmlformats.org/officeDocument/2006/relationships/image" Target="../media/image1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1.mp3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505" y="0"/>
            <a:ext cx="4876495" cy="3567953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691413" y="3285564"/>
            <a:ext cx="4500282" cy="3572436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4 章   多模态大模型的原理与实践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19565" y="1051560"/>
            <a:ext cx="3824200" cy="5715000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51460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514600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514600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多模态大模型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6440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26440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3264408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3264408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图像理解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1421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01421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4014216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4014216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图像生成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6402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7640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764024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4764024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音视频大模型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1383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51383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513832"/>
            <a:ext cx="56692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5513832"/>
            <a:ext cx="5486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本章实训（含音视频演示）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当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长出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眼睛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耳朵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</a:t>
            </a:r>
            <a:r>
              <a:rPr sz="26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(LMM)  ·  </a:t>
            </a:r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真实科学世界从不只由文字构成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统一的跨模态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语义空间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语言模型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视觉编码器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音频编码器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697480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</a:t>
            </a:r>
            <a:endParaRPr sz="26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直视图表数据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29000" y="2697480"/>
            <a:ext cx="2697480" cy="73152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画图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6616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扩散模型显影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309360" y="2697480"/>
            <a:ext cx="2697480" cy="7315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高保真语音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学术播客化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189720" y="2697480"/>
            <a:ext cx="2697480" cy="7315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9720" y="2697480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视频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429000"/>
            <a:ext cx="2697480" cy="1645920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3907668"/>
            <a:ext cx="2423160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动态机理演示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5808226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93464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目标：从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静态图文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动态视听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把枯燥成果转化为引人入胜的视听体验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606039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当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扩展出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与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听觉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其运作逻辑与应用代价发生了根本转变。剖析进化原理、算力成本与质量轨迹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从 LLM 到 LMM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的进化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7561" y="960120"/>
            <a:ext cx="6583680" cy="545250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核心：建立统一的跨模态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语义空间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LMM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并非简单拼接多个模型，而是为语言模型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配备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视觉编码器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音频编码器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它们像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翻译官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把像素分布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声波波形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大模型能理解的统一特征向量（内部语言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dirty="0">
                <a:solidFill>
                  <a:srgbClr val="F58020"/>
                </a:solidFill>
                <a:latin typeface="Microsoft YaHei"/>
                <a:ea typeface="Microsoft YaHei"/>
              </a:rPr>
              <a:t>LLM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只懂文字的学者，输入输出都困在纯文本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dirty="0">
                <a:solidFill>
                  <a:srgbClr val="0066CC"/>
                </a:solidFill>
                <a:latin typeface="Microsoft YaHei"/>
                <a:ea typeface="Microsoft YaHei"/>
              </a:rPr>
              <a:t>LMM</a:t>
            </a:r>
            <a:r>
              <a:rPr sz="18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不同模态接入同一智能中枢，跨模态深度理解</a:t>
            </a:r>
            <a:endParaRPr sz="19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描述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vs 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直视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折线图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✗ 用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LLM：手动读出每个数据点喂文字，繁琐易错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且模型感知不到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剧烈拐点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的视觉冲击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✓ 用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LMM：直接上传图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 +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异常趋势说明什么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？"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立刻捕捉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60℃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处异常，判断误操作或相变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5468" y="4739678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4-1  LLM 与 LMM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的架构对比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5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B33EC0C4-76E3-5085-8EC3-910C31EC412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6" t="5083" b="-1"/>
          <a:stretch>
            <a:fillRect/>
          </a:stretch>
        </p:blipFill>
        <p:spPr bwMode="auto">
          <a:xfrm>
            <a:off x="5898776" y="1237129"/>
            <a:ext cx="6034350" cy="319944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直视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数据分析工作流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5626" y="948387"/>
            <a:ext cx="9609268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无需把二维图表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降维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成一维文字描述，图像直接跨越语言沟壑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为 AI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提供极其丰富、密集且未经语言转换折损的原生上下文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126480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4-2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直视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折线图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一图胜千言，立刻捕捉异常波动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6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6C34A4C-44CB-5508-1AD8-77EF58A04F5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62"/>
          <a:stretch/>
        </p:blipFill>
        <p:spPr bwMode="auto">
          <a:xfrm>
            <a:off x="1970703" y="1869687"/>
            <a:ext cx="8041977" cy="393675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LLM 与 LMM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的应用特征对比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4-1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大语言模型与多模态大模型的应用特征对比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37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37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58287" y="1554480"/>
            <a:ext cx="4114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8287" y="1644134"/>
            <a:ext cx="4114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大语言模型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3087" y="1554480"/>
            <a:ext cx="4754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73087" y="164413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多模态大模型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LMM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372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088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处理模态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58287" y="210312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95447" y="233785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纯文本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73087" y="210312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10247" y="233785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音频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372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088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计算逻辑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58287" y="288036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95447" y="311509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逐词回归预测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73087" y="288036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10247" y="311509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跨模态编码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372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088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生成速度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758287" y="365760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95447" y="389233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秒级，实时流式响应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873087" y="365760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10247" y="38923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数十秒至数分钟，阶梯上升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6372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088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算力成本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758287" y="4434840"/>
            <a:ext cx="4114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5447" y="466957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极低（按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73087" y="4434840"/>
            <a:ext cx="47548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10247" y="466957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高（按张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按秒计费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3727" y="521208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0887" y="5446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适用任务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758287" y="5212080"/>
            <a:ext cx="411480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95447" y="5446811"/>
            <a:ext cx="3840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推理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翻译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873087" y="5212080"/>
            <a:ext cx="475488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10247" y="544681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图表解析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学术配图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演示视频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跨模态提示词的效率与成本阶梯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4-2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主流大模型各模态生成的平均时间与成本预估参考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847" y="1554480"/>
            <a:ext cx="16459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0847" y="1644134"/>
            <a:ext cx="1645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生成模态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2676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676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底层生成机制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15887" y="1554480"/>
            <a:ext cx="2651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5887" y="1644134"/>
            <a:ext cx="2651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平均耗时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067647" y="1554480"/>
            <a:ext cx="27432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67647" y="1644134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成本量级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847" y="2103120"/>
            <a:ext cx="16459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007" y="236071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26767" y="2103120"/>
            <a:ext cx="43891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163927" y="23607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逐词回归预测（高度优化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7" y="2103120"/>
            <a:ext cx="265176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3047" y="236071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秒级（流式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7647" y="2103120"/>
            <a:ext cx="274320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4807" y="236071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万次约几元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847" y="2926080"/>
            <a:ext cx="16459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8007" y="318367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26767" y="2926080"/>
            <a:ext cx="4389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63927" y="31836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合成连续物理声波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415887" y="2926080"/>
            <a:ext cx="2651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53047" y="318367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067647" y="2926080"/>
            <a:ext cx="2743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04807" y="318367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中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按秒计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847" y="3749040"/>
            <a:ext cx="16459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8007" y="400663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26767" y="3749040"/>
            <a:ext cx="438912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63927" y="40066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扩散模型全局像素去噪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15887" y="3749040"/>
            <a:ext cx="265176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53047" y="400663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10 - 60 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67647" y="3749040"/>
            <a:ext cx="2743200" cy="82296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04807" y="4006632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较高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按张计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847" y="4572000"/>
            <a:ext cx="16459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18007" y="4829591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026767" y="4572000"/>
            <a:ext cx="43891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163927" y="482959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逐帧高清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多帧时序连贯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6415887" y="4572000"/>
            <a:ext cx="2651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53047" y="4829591"/>
            <a:ext cx="2377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数十秒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-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数分钟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067647" y="4572000"/>
            <a:ext cx="2743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04807" y="4829591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极高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算力黑洞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722213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策略转变：图像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/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视频试错成本高昂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先用文本模型当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草稿本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打磨描述性提示词，提升一次通过率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多模态技术的发展轨迹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从玩具到生产力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88540"/>
            <a:ext cx="11420139" cy="535196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2022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年前后：早期模型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=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创意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玩具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能出惊艳画面，但充满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视觉伪影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与逻辑硬伤，难以胜任严苛的科研可视化与学术展示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现代模型：正式迈入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生产力工具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视觉生成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克服两大痛点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结构性失真：六根手指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扭曲关节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断裂直线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修正物理透视与解剖结构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字符乱码：连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"Happy Birthday"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都拼错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具备强大排版与字符渲染能力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视频：背景闪烁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帧间突变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实现高度时空连贯性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听觉生成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—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告别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机械味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"：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TTS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扁平僵硬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现代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理解语境，学术停顿处换气、关键结论加重语气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自然程度在很多盲测中已让人无法分辨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与真人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价值：低成本制作学术海报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流程图，把论文转化为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学术播客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或科普短视频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52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图像理解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聚焦多模态交互的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利用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的视觉感知能力，突破文字描述瓶颈，从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费力解释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到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突破文字描述的瓶颈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1016" y="969981"/>
            <a:ext cx="10969968" cy="512831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科研表达困境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许多概念高度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空间化、结构化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（多级实验装置、多重反馈分支流程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强行用纯文字描述拓扑连线、层级关系，撰写痛苦耗时，模型还易在文字迷宫中丢失重点、产生幻觉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视觉输入彻底打破局限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图像直接作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瞬间提供丰富、密集、未经语言折损的原生上下文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案例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白板草图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连笔潦草、身体还挡住了术语缩写的废稿照片，上传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梳理算法逻辑框架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模型识别模块边界、连线指向，还能推断出被遮挡的专业词汇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✦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提示工程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广义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视觉工程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善用镜头建立高密度上下文锚点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966F5-AA10-8136-9646-E9E89245D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00FD32-3385-D524-E7EE-82EED620927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7ABE754A-0E35-7E86-10A9-250712BF0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CAE94E0-5859-83C1-14BE-5B4323CED517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BE81F-C444-9F69-29E9-F77E1C0C975D}"/>
              </a:ext>
            </a:extLst>
          </p:cNvPr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F4F1-4217-B8B5-0F45-02C62E2D434B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06CF9-D4A5-1248-99E0-6706BB2D66BD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突破文字描述的瓶颈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4677C1-CBF6-89A8-F087-C46BF44A057E}"/>
              </a:ext>
            </a:extLst>
          </p:cNvPr>
          <p:cNvSpPr txBox="1"/>
          <p:nvPr/>
        </p:nvSpPr>
        <p:spPr>
          <a:xfrm>
            <a:off x="2987120" y="5890894"/>
            <a:ext cx="610168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4-3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视觉输入突破文本瓶颈：白板草图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算法逻辑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E1B58-9AB5-4802-3B9B-D049963D74C1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11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37AA98B-6460-6087-6148-BA8AD11B2003}"/>
              </a:ext>
            </a:extLst>
          </p:cNvPr>
          <p:cNvGrpSpPr/>
          <p:nvPr/>
        </p:nvGrpSpPr>
        <p:grpSpPr>
          <a:xfrm>
            <a:off x="1088587" y="1013191"/>
            <a:ext cx="10632998" cy="8190573"/>
            <a:chOff x="1370743" y="759409"/>
            <a:chExt cx="10268418" cy="7879400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49106B5D-2C1D-3AF5-2FDE-99E22D0066BA}"/>
                </a:ext>
              </a:extLst>
            </p:cNvPr>
            <p:cNvSpPr txBox="1">
              <a:spLocks/>
            </p:cNvSpPr>
            <p:nvPr/>
          </p:nvSpPr>
          <p:spPr>
            <a:xfrm>
              <a:off x="6457561" y="3098268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4D042C5-3F7A-CADF-E666-66AC9BFB93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9674" y="759409"/>
              <a:ext cx="547307" cy="540868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DE2A8FB-19B7-CEA1-B9C1-9E1862A9DD1D}"/>
                </a:ext>
              </a:extLst>
            </p:cNvPr>
            <p:cNvSpPr/>
            <p:nvPr/>
          </p:nvSpPr>
          <p:spPr>
            <a:xfrm>
              <a:off x="1967496" y="791307"/>
              <a:ext cx="8026337" cy="508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“帮我梳理这个算法的逻辑框架，给出结构化输出。”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9EAA0CB4-ED48-24F7-4B47-B738686B66FA}"/>
                </a:ext>
              </a:extLst>
            </p:cNvPr>
            <p:cNvSpPr/>
            <p:nvPr/>
          </p:nvSpPr>
          <p:spPr>
            <a:xfrm>
              <a:off x="1967496" y="3428999"/>
              <a:ext cx="8026337" cy="1528573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“该算法遵循‘输入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处理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理解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—</a:t>
              </a:r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输出’的基本逻辑流程。</a:t>
              </a:r>
              <a:endPara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输入阶段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：首先接收用户输入的自然语言文本，作为整个处理流程的起点。</a:t>
              </a: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处理阶段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：对输入文本进行预处理，包括文本清洗、规范化等操作，以消除噪声并统一数据格式。</a:t>
              </a:r>
            </a:p>
            <a:p>
              <a:pPr algn="just"/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理解阶段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：</a:t>
              </a:r>
              <a:r>
                <a:rPr lang="en-US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C7C8DFD-277E-F539-C3F5-C87B75D1B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0743" y="3429000"/>
              <a:ext cx="536007" cy="523685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40D71FC7-8E74-42A4-18F6-7AD9558FB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92167" y="1456013"/>
              <a:ext cx="1608969" cy="18593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572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视觉理解的典型场景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0112" y="930879"/>
            <a:ext cx="10454335" cy="520782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能力进化：图像分类（认标签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）→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视觉推理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（结合常识做逻辑处理与计算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场景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复杂单据与非结构化表格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算力计费流水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试剂采购明细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截屏发送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列出算力租赁费用明细并计算占总费用比例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→ OCR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理解复杂表头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自动数学计算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场景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手写手稿与历史档案数字化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连笔实验参数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古老手写信件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极高识别容错率，墨迹模糊、潦草、带涂改也能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顺藤摸瓜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还原语义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能力边界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粗粒度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视觉感知</a:t>
            </a:r>
            <a:endParaRPr sz="2400" b="1" dirty="0">
              <a:solidFill>
                <a:srgbClr val="F5802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像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透过轻微模糊的透镜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看世界：大象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猫秒辨，但哈士奇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vs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阿拉斯加、相近车型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易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高度自信地出错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高精度鉴定任务必须人工双重核对，勿盲信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62CE-105C-1EB1-4734-ED838D46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0DB22675-EE84-2CC4-5518-ED47F7673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85F0592-0740-B1EF-CDDE-4E0005AA13DA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7FEE61-5639-EB53-2D4F-F15ABC42C638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C1F2C9-FB09-B3AF-DF50-B22BDDDF12D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6DC48-D4AD-3E8E-6A5C-9D30EF83AB33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视觉理解的典型场景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41B66D-2B8F-7B6F-CBE6-C0E016DAD356}"/>
              </a:ext>
            </a:extLst>
          </p:cNvPr>
          <p:cNvSpPr txBox="1"/>
          <p:nvPr/>
        </p:nvSpPr>
        <p:spPr>
          <a:xfrm>
            <a:off x="3111649" y="6058801"/>
            <a:ext cx="561100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4-4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多模态大模型在手写科研笔记数字化中的应用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FA20D-C1E6-9EA9-9877-C1687B90338A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12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C3E729-4C4D-8494-0C80-A6FCF4E68077}"/>
              </a:ext>
            </a:extLst>
          </p:cNvPr>
          <p:cNvGrpSpPr/>
          <p:nvPr/>
        </p:nvGrpSpPr>
        <p:grpSpPr>
          <a:xfrm>
            <a:off x="1049282" y="1136643"/>
            <a:ext cx="9538035" cy="4583850"/>
            <a:chOff x="1286786" y="504371"/>
            <a:chExt cx="9115492" cy="4369035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29DF1651-0782-7628-1D34-8076E7C7B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54971" y="504371"/>
              <a:ext cx="547307" cy="540868"/>
            </a:xfrm>
            <a:prstGeom prst="rect">
              <a:avLst/>
            </a:prstGeom>
          </p:spPr>
        </p:pic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E420A6B-3308-0EED-36DF-96A7FD671439}"/>
                </a:ext>
              </a:extLst>
            </p:cNvPr>
            <p:cNvSpPr/>
            <p:nvPr/>
          </p:nvSpPr>
          <p:spPr>
            <a:xfrm>
              <a:off x="1822793" y="536269"/>
              <a:ext cx="8026337" cy="508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“帮我梳理并提取实验内容，给我结构化的输出。”</a:t>
              </a: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95F37A0-54C1-B9CD-0104-DFD6AE0C73C5}"/>
                </a:ext>
              </a:extLst>
            </p:cNvPr>
            <p:cNvSpPr/>
            <p:nvPr/>
          </p:nvSpPr>
          <p:spPr>
            <a:xfrm>
              <a:off x="1822793" y="3034372"/>
              <a:ext cx="8026337" cy="1839034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实验目的：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本实验旨在研究温度对催化反应性能的影响，分析不同温度条件下催化剂活性的变化规律。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实验方法：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实验采用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0.50 g 催化剂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，在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氮气保护条件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下分别设置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300 ℃、350 ℃和 450 ℃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等不同反应温度，加入浓度为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0.20 mol/L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的反应底物进行反应，并每隔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10 min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取样，利用气相色谱（GC）进行分析。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实验结果：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8697D471-43DB-AF16-CF5C-0B0099C8D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11868" y="1077137"/>
              <a:ext cx="1337262" cy="1807137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A1DD87A0-FA62-5B16-57B8-48CC85146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86786" y="3034371"/>
              <a:ext cx="536007" cy="5236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9550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粗粒度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视觉感知与相似物混淆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92152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视觉感知机制类似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透过轻微模糊的透镜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全局特征独特时识别精彩，但细节相似时丢失关键局部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产生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高度自信的错误判断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写入正式报告前务必人工核查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126480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4-5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多模态大模型的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粗粒度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视觉感知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面对极相似物易丢失局部细节、自信出错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13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CCC6A61-01BE-57A9-9025-31B128107A2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632" y="1881645"/>
            <a:ext cx="8331543" cy="41597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多图协同与复杂上下文归纳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142" y="987911"/>
            <a:ext cx="10828469" cy="52077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真实科研：信息高度碎片化，分布在多个视觉载体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理论在白板、待办在便利贴、数据在打印图表</a:t>
            </a:r>
            <a:r>
              <a:rPr lang="zh-CN" altLang="en-US" sz="220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单张照片无法涵盖全貌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多图输入与协同分析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不是孤立识别每张图，而是在统一语义空间中建立多图内在逻辑关联：分辨主干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分支，把视觉碎片无缝拼接成完整严密的上下文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案例：拍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3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张会议照片（架构白板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便利贴墙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批注折线图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）→ "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总结研究框架，生成分工与时间节点的行动计划表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" → </a:t>
            </a:r>
            <a:r>
              <a:rPr sz="2200" b="1" dirty="0" err="1">
                <a:solidFill>
                  <a:srgbClr val="0066CC"/>
                </a:solidFill>
                <a:latin typeface="Consolas"/>
                <a:ea typeface="Consolas"/>
              </a:rPr>
              <a:t>输出结构化会议纪要</a:t>
            </a:r>
            <a:r>
              <a:rPr sz="2200" b="1" dirty="0">
                <a:solidFill>
                  <a:srgbClr val="0066CC"/>
                </a:solidFill>
                <a:latin typeface="Consolas"/>
                <a:ea typeface="Consolas"/>
              </a:rPr>
              <a:t>。</a:t>
            </a:r>
            <a:endParaRPr sz="1600" b="1" dirty="0">
              <a:solidFill>
                <a:srgbClr val="0066CC"/>
              </a:solidFill>
              <a:latin typeface="Consolas"/>
              <a:ea typeface="Consolas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三个最佳实践</a:t>
            </a:r>
            <a:r>
              <a:rPr sz="22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① 为图片建立明确索引（"图1架构/图2分工/图3数据"）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强制规范输出格式（Markdown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大纲，便于流转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保持人工复核底线（防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张冠李戴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的幻觉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13597-AA61-912C-D2AD-13BB6D5AC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A1342D-54F7-DE15-75AD-A949533FEB6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F964A439-8036-AD77-92F4-126574AF4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CB615FF-8956-E366-EDF7-633321AFC2C1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79F739-4C0D-5481-6072-5D8662CB20AE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4.2.3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708E7E-E557-50E5-FD63-CAA2A6A00865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0764A6-9986-709E-9177-FE35CF75FBB5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多图协同与复杂上下文归纳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7E13A7-8500-8E8D-EDA6-4A73657A58E1}"/>
              </a:ext>
            </a:extLst>
          </p:cNvPr>
          <p:cNvSpPr txBox="1"/>
          <p:nvPr/>
        </p:nvSpPr>
        <p:spPr>
          <a:xfrm>
            <a:off x="2458255" y="6178948"/>
            <a:ext cx="65499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4-6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多图协同：碎片化会议现场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结构化行动计划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6982BB-F582-C4B8-B26B-51E25025421D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14 / 31</a:t>
            </a: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A25466D-60B9-F3C6-1A9C-7BF18AF5C874}"/>
              </a:ext>
            </a:extLst>
          </p:cNvPr>
          <p:cNvGrpSpPr/>
          <p:nvPr/>
        </p:nvGrpSpPr>
        <p:grpSpPr>
          <a:xfrm>
            <a:off x="426018" y="1069848"/>
            <a:ext cx="10444809" cy="6985291"/>
            <a:chOff x="1411941" y="349750"/>
            <a:chExt cx="10647449" cy="6096154"/>
          </a:xfrm>
        </p:grpSpPr>
        <p:sp>
          <p:nvSpPr>
            <p:cNvPr id="13" name="内容占位符 5">
              <a:extLst>
                <a:ext uri="{FF2B5EF4-FFF2-40B4-BE49-F238E27FC236}">
                  <a16:creationId xmlns:a16="http://schemas.microsoft.com/office/drawing/2014/main" id="{53893EF0-51EA-4EEA-C180-44F4B6D48004}"/>
                </a:ext>
              </a:extLst>
            </p:cNvPr>
            <p:cNvSpPr txBox="1">
              <a:spLocks/>
            </p:cNvSpPr>
            <p:nvPr/>
          </p:nvSpPr>
          <p:spPr>
            <a:xfrm>
              <a:off x="1411941" y="905363"/>
              <a:ext cx="5181600" cy="554054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altLang="zh-CN"/>
                <a:t> </a:t>
              </a:r>
              <a:endParaRPr lang="zh-CN" altLang="en-US" dirty="0"/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0AE0BA60-2407-EAE6-7963-0FF1E9E4C182}"/>
                </a:ext>
              </a:extLst>
            </p:cNvPr>
            <p:cNvSpPr/>
            <p:nvPr/>
          </p:nvSpPr>
          <p:spPr>
            <a:xfrm>
              <a:off x="2324463" y="2421556"/>
              <a:ext cx="9154492" cy="2085275"/>
            </a:xfrm>
            <a:prstGeom prst="roundRect">
              <a:avLst/>
            </a:prstGeom>
            <a:noFill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“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会议主题：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本次会议围绕“智能客服系统升级”项目展开，重点讨论项目整体规划、阶段性进展及后续实施安排。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项目目标：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提升用户体验，优化智能客服系统的响应速度、功能完整性与智能化水平，进一步增强系统服务能力和用户满意度。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核心模块：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 项目建设涵盖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用户体验、功能模块、技术架构与数据分析</a:t>
              </a:r>
              <a:r>
                <a:rPr lang="zh-CN" altLang="zh-CN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四大方向，通过多模块协同推进系统升级与能力提升。</a:t>
              </a:r>
            </a:p>
            <a:p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  </a:t>
              </a:r>
              <a:r>
                <a:rPr lang="zh-CN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当前进展：</a:t>
              </a:r>
              <a:r>
                <a:rPr lang="en-US" altLang="zh-CN" sz="1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……</a:t>
              </a:r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”</a:t>
              </a:r>
              <a:endParaRPr lang="zh-CN" altLang="zh-CN" sz="16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ED8A3ACE-6845-B214-D551-70B2970F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6385" y="2782370"/>
              <a:ext cx="536007" cy="52368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2817B87-1E66-88FE-A2B1-C46C2CE0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9625" y="964627"/>
              <a:ext cx="1715601" cy="13729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984CE4E-023F-07DE-4BFA-E1D254F67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47292" y="964628"/>
              <a:ext cx="1715601" cy="1372970"/>
            </a:xfrm>
            <a:prstGeom prst="rect">
              <a:avLst/>
            </a:prstGeom>
          </p:spPr>
        </p:pic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105F36E-FD82-B82E-9F56-BC9414444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34959" y="964628"/>
              <a:ext cx="1830626" cy="1372970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4FC05BE0-A502-A7D2-9B2F-E8D2637A0B59}"/>
                </a:ext>
              </a:extLst>
            </p:cNvPr>
            <p:cNvSpPr/>
            <p:nvPr/>
          </p:nvSpPr>
          <p:spPr>
            <a:xfrm>
              <a:off x="2324463" y="349750"/>
              <a:ext cx="9154492" cy="547813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“帮我绘制一份排版整洁的数字文档。文档包含两个部分：‘会议摘要’和一个规整的‘行动计划’表格。”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6536D91E-7C23-BD6F-4878-5FB1A843F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512083" y="349750"/>
              <a:ext cx="547307" cy="5408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5339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468878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图像生成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转向多模态的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剖析图像大模型独特的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显影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机制，梳理高命中率的视觉提示词撰写范式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15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交互体验的转变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4-3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文本与图像大模型在用户操作体验上的核心差异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656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656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2112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112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文本大模型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82736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2736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656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372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生成方式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621127" y="210312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58287" y="23378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逐词线性生成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27367" y="210312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64527" y="23378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全局同步演进（一次性显影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56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372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中断控制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621127" y="288036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58287" y="31150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可随时喊停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27367" y="288036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64527" y="311509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不可中断（中途停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噪点废图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56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372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局部迭代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21127" y="365760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8287" y="38923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可任意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修修补补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7367" y="365760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64527" y="38923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牵一发动全身（蝴蝶效应重绘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56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372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体验类比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21127" y="443484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58287" y="46695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透明、可控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27367" y="443484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64527" y="4669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开盲盒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拍立得显影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26567" y="521208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3727" y="54468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策略要求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621127" y="521208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58287" y="544681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边写边改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827367" y="521208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64527" y="544681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思考前置（回车前构建完整画面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16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扩散模型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破坏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中学习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创造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90113"/>
            <a:ext cx="11178092" cy="53499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当前图像生成领域的绝对王者：扩散模型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①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前向扩散（训练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学习破坏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向清晰照片反复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撒沙子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（加随机噪点）几十上百次→ 直到变成雪花屏般的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纯噪声图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默默观察亿万张图被破坏的全程，学会 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噪声如何掩盖特征</a:t>
            </a:r>
            <a:r>
              <a:rPr lang="en-US" altLang="zh-CN"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②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反向扩散（生成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执行创造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起点不是白纸，而是一张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纯噪声图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你的提示词充当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引路灯</a:t>
            </a:r>
            <a:r>
              <a:rPr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"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，AI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如雕塑家在混沌中分辨轮廓，反向去噪、逐步剥离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沙子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收敛为清晰图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两大实操启示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中途强停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=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雪花废图（沙子没清完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随机种子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(Seed)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同提示词每次结果也不同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必须用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精准、结构化提示词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强制收敛去噪路径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DA44-03B7-E44B-E27D-2B0BD242C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3BF846-1C71-525A-F484-22C7626937D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B82A862-0AF7-BF28-4D45-54BFFB101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411B742-501B-43DB-FC21-C1D00F385A84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F0118A-6FB0-DB53-D0EE-32EE968B1823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FDF3CD-7070-90A2-42F0-A7FA9A552EC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9D484E-CD4B-8D2D-43A9-8B9FC639F97D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扩散模型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破坏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中学习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创造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D45C3-3002-7E07-C43C-159E4E87D471}"/>
              </a:ext>
            </a:extLst>
          </p:cNvPr>
          <p:cNvSpPr txBox="1"/>
          <p:nvPr/>
        </p:nvSpPr>
        <p:spPr>
          <a:xfrm>
            <a:off x="3133295" y="6169521"/>
            <a:ext cx="579555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4-7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扩散模型的反向去噪过程（以生成小狗为例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F98FF-6C31-E00D-76EA-AD620E2CF384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17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11BAA30-45CF-8890-3B40-26987C68BD0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52"/>
          <a:stretch/>
        </p:blipFill>
        <p:spPr bwMode="auto">
          <a:xfrm>
            <a:off x="960120" y="862322"/>
            <a:ext cx="9871675" cy="518304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3873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图像提示词的撰写范式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4-4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结构化图像提示词的撰写公式与生活范例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3891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389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1880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1880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范例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21945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383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主体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3891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38357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画面的灵魂（给材质、颜色、形态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8807" y="2103120"/>
            <a:ext cx="49377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55967" y="2383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白色陶瓷马克杯，装满树叶拉花的热拿铁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127" y="2971800"/>
            <a:ext cx="2194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2522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环境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2971800"/>
            <a:ext cx="4389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25225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决定空间感与叙事背景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918807" y="2971800"/>
            <a:ext cx="4937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055967" y="32522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复古红砖公寓内部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清晨宁静的绿茵草坪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35127" y="3840480"/>
            <a:ext cx="21945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1209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情绪</a:t>
            </a:r>
            <a:r>
              <a:rPr sz="2000" b="1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840480"/>
            <a:ext cx="43891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12093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影响色彩分布与明暗对比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918807" y="3840480"/>
            <a:ext cx="493776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55967" y="41209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温馨恬静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充满活力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冷峻深邃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5127" y="4709160"/>
            <a:ext cx="2194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2287" y="498961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视觉修饰词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529687" y="4709160"/>
            <a:ext cx="4389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666847" y="4989611"/>
            <a:ext cx="4114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滤镜引擎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提升专业质感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918807" y="4709160"/>
            <a:ext cx="4937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55967" y="498961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写实摄影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黄金时刻光影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35mm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镜头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7200" y="5646096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高质量提示词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高度结构化的标签清单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有序堆叠视觉要素；复杂口语长句反而是干扰模型的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噪音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18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普通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结构化专业提示词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生成质量对比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6655" y="1438233"/>
            <a:ext cx="3235363" cy="430610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左：日常口语指令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右：套用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主体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修饰词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结构化专业指令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你不再是向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许愿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而是像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摄影指导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美术导演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一样精准下达视觉指令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6885" y="5953571"/>
            <a:ext cx="916193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4-8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仅增加环境细节、镜头语言与光影词汇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从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平庸简笔画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到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商业级摄影大片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19 / 31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E19E89E-1326-1EF3-E0AC-CC39BA9E93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7842" y="903459"/>
            <a:ext cx="7575709" cy="5051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借助文本大模型优化图像提示词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以 AI 治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4-5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借助文本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多模态模型优化图像生成提示词的实操路径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1828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1828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路径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56692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56692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操作方式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3320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33207" y="1644134"/>
            <a:ext cx="4023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核心收益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18288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4064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代笔法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163927" y="2103120"/>
            <a:ext cx="56692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01087" y="2252543"/>
            <a:ext cx="539496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角色扮演：让文本模型当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科学插画师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写英文提示词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833207" y="2103120"/>
            <a:ext cx="40233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70367" y="24064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跨越词汇障碍，期刊封面级构图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35127" y="30175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3208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逆向解构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163927" y="3017520"/>
            <a:ext cx="56692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01087" y="3166943"/>
            <a:ext cx="539496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喂图：上传心仪配图，让模型反推可复刻的提示词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833207" y="301752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0367" y="33208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扩充视觉词典，复刻顶尖审美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35127" y="3931920"/>
            <a:ext cx="18288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2352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迭代闭环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163927" y="3931920"/>
            <a:ext cx="56692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01087" y="4235231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观察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对话微调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再生成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33207" y="3931920"/>
            <a:ext cx="40233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70367" y="408134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精准掌握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提示词变量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画面效果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447" y="5532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从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只会向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许愿的新手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 →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能精准驾驭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画笔的导演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20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4.3.5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生成图像的常见瑕疵与修复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4-6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图像生成缺陷分类与实操修复指南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缺陷类型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5720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44134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典型表现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101687" y="1554480"/>
            <a:ext cx="47548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01687" y="1644134"/>
            <a:ext cx="4754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可控化修复手段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35127" y="2103120"/>
            <a:ext cx="21945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287" y="24064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结构违背物理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5720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4064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六指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齿轮不咬合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自行车链条断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101687" y="2103120"/>
            <a:ext cx="47548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38847" y="24064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控制网络（线稿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骨骼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深度图约束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5127" y="3017520"/>
            <a:ext cx="21945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2287" y="3320832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文本渲染乱码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017520"/>
            <a:ext cx="4572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208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海报文字拼写错位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外星乱码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01687" y="3017520"/>
            <a:ext cx="47548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38847" y="33208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局部重绘（涂抹错误区针对性修复</a:t>
            </a:r>
            <a:r>
              <a:rPr sz="15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127" y="3931920"/>
            <a:ext cx="219456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287" y="42352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跨图连贯失效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3931920"/>
            <a:ext cx="457200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235231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角色服饰、道具在帧间突变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101687" y="3931920"/>
            <a:ext cx="4754880" cy="91440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38847" y="4235231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种子值固定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角色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风格参考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277088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成熟创作流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先生成底图，再精细干预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"；AI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图是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视觉草图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发表前必经人眼二次校对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21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1460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音视频大模型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让死板的图表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动起来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用逼真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语音生动解说理论。打破平面图文限制，把科研成果转化为视听体验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22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语音合成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TTS vs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现代语音大模型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表 4-7  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传统语音合成与现代语音大模型的学术应用对比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6567" y="1554480"/>
            <a:ext cx="21945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6567" y="1644134"/>
            <a:ext cx="21945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21127" y="1554480"/>
            <a:ext cx="42062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21127" y="1644134"/>
            <a:ext cx="42062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TTS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27367" y="1554480"/>
            <a:ext cx="49377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27367" y="1644134"/>
            <a:ext cx="49377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现代语音大模型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6567" y="210312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3727" y="233785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音质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621127" y="210312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58287" y="233785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扁平、僵硬，浓重机械味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27367" y="210312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64527" y="233785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录音室级高保真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6567" y="288036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3727" y="311509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情感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621127" y="288036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58287" y="311509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无起伏，长听易疲劳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827367" y="288036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64527" y="311509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精准模拟情感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呼吸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换气气口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26567" y="3657600"/>
            <a:ext cx="21945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3727" y="389233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声音克隆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21127" y="3657600"/>
            <a:ext cx="420624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8287" y="389233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需录音棚数十小时语料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827367" y="3657600"/>
            <a:ext cx="4937760" cy="7772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64527" y="389233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几秒样本即可克隆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26567" y="4434840"/>
            <a:ext cx="21945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3727" y="4669571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学术应用</a:t>
            </a:r>
            <a:endParaRPr sz="2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21127" y="4434840"/>
            <a:ext cx="4206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58287" y="4669571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短促导航语音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827367" y="4434840"/>
            <a:ext cx="49377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64527" y="4669571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学术播客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有声论文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23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语音合成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现场演示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69281" y="827001"/>
            <a:ext cx="5778327" cy="551778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现代语音大模型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彻底告别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机器味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  <a:endParaRPr sz="22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录音室级高保真，模拟呼吸、换气、情感起伏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零样本声音克隆：几秒样本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专属数字声音分身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标杆模型：ElevenLabs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OpenAI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高级语音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      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ChatTTS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通义</a:t>
            </a:r>
            <a:r>
              <a:rPr sz="2000" b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004CA0"/>
                </a:solidFill>
                <a:latin typeface="Microsoft YaHei"/>
                <a:ea typeface="Microsoft YaHei"/>
              </a:rPr>
              <a:t>CosyVoice</a:t>
            </a:r>
            <a:endParaRPr sz="2000" b="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700" b="0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两大学术应用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①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学术演讲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文本驱动替换错字段落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②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播客化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长篇原稿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学术有声读物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现场示范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· AI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纪录片解说《光合作用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 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神经语音（zh-CN-YunjianNeural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换气、停顿自然，几乎听不出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"AI 味" 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点击右侧聆听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narration.mp3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230488" y="1552187"/>
            <a:ext cx="5778327" cy="32358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02680" y="5258800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🔊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真实纪录片解说员音色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高保真神经语音《光合作用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24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为科学引入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时间维度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902246"/>
            <a:ext cx="10810539" cy="542705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真实科学世界高度动态</a:t>
            </a:r>
            <a:endParaRPr sz="2400" b="1" dirty="0">
              <a:solidFill>
                <a:srgbClr val="0066CC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细胞分裂、数据流转、液滴混合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……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过去只能用几张静态图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生硬箭头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强行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解释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最实用路径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图生视频</a:t>
            </a: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先用图像模型生成结构精准的概念图作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起始帧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，再下达运动指令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（"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数据流沿节点依次推进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"）→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赋予静态配图以生命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  <a:endParaRPr sz="16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降维打击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" </a:t>
            </a: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的传播力</a:t>
            </a:r>
            <a:r>
              <a:rPr sz="2400" b="1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顶会演讲：10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秒概念动画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&gt;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十几张密集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PPT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科普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答辩：消除专业壁垒，提升说服力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•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Maya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Blender，论文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动态演示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红线：只作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 "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概念演示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"，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不能替代基于公式的科学仿真（有物理幻觉</a:t>
            </a: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80473-554E-5BDA-42AE-3A7A0C4B5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00DAFD-EF28-EDDC-082C-99C9B5BF9B3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484C429E-4019-A9CC-F424-B5024E47B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E7C238-39EB-807F-A3A6-E1E7CC76CD7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399B9F-B33F-0C5D-AC0B-5E70C20C2D5A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FEA0EB-9FDB-8439-B94E-F30238B8255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DBD26-B098-1EB1-857D-C82A0E3FD38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视频生成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为科学引入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时间维度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pic>
        <p:nvPicPr>
          <p:cNvPr id="9" name="pho_av.mp4">
            <a:hlinkClick r:id="" action="ppaction://media"/>
            <a:extLst>
              <a:ext uri="{FF2B5EF4-FFF2-40B4-BE49-F238E27FC236}">
                <a16:creationId xmlns:a16="http://schemas.microsoft.com/office/drawing/2014/main" id="{F8E6EE38-202A-F95B-EDBB-6FACE60F85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13654" y="798379"/>
            <a:ext cx="9052560" cy="50952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0574AB3-85E3-20BE-0844-55DE717C2E56}"/>
              </a:ext>
            </a:extLst>
          </p:cNvPr>
          <p:cNvSpPr txBox="1"/>
          <p:nvPr/>
        </p:nvSpPr>
        <p:spPr>
          <a:xfrm>
            <a:off x="2223906" y="6323409"/>
            <a:ext cx="774388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🎬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高端示范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原创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3D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概念动画：阳光粒子飞入叶片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/ O₂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气泡上升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+ AI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解说</a:t>
            </a:r>
            <a:endParaRPr sz="1600" b="0" i="1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ADAFE-EC09-5932-B5D4-25223AE63987}"/>
              </a:ext>
            </a:extLst>
          </p:cNvPr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25 / 31</a:t>
            </a:r>
          </a:p>
        </p:txBody>
      </p:sp>
    </p:spTree>
    <p:extLst>
      <p:ext uri="{BB962C8B-B14F-4D97-AF65-F5344CB8AC3E}">
        <p14:creationId xmlns:p14="http://schemas.microsoft.com/office/powerpoint/2010/main" val="409549688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静态学术成果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动态视频的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工作流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287" y="5892521"/>
            <a:ext cx="106511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4-9 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文本生成图像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叠加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图像生成视频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的组合拳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零门槛把论文变生动演示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26 / 31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71D9A69-6386-9B60-6CB0-232F05BA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80" y="803545"/>
            <a:ext cx="8971279" cy="488775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4.5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559772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40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7947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977639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综合运用看图、画图、配音、生成视频能力，把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植物的光合作用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从零做成一段带语音解说的科普短片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27 / 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实训四步法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画图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视频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137160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演练二（画图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用四维结构化公式生成放大叶片吸收金色阳光粒子的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3D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概念插画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演练三（视频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阳光粒子飞入叶片，边缘氧气气泡上升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演练四（配音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）：写 50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字解说词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纪录片解说员音色高保真音频</a:t>
            </a: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9" name="Picture 8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278" y="2314804"/>
            <a:ext cx="6791815" cy="37046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-1" y="6037719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图 4-10 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植物光合作用原理图（演练一：上传给视觉大模型，提炼通俗讲解思路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28 / 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成果展示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光合作用科普短片（AI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全流程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269748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看图解析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36392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960120"/>
            <a:ext cx="2697480" cy="50292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73552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画概念图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52744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960120"/>
            <a:ext cx="269748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9904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图生视频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9096" y="960120"/>
            <a:ext cx="14630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960120"/>
            <a:ext cx="2697480" cy="50292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06256" y="102691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配音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ho_av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57200" y="1783080"/>
            <a:ext cx="6583680" cy="3703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6603" y="5608858"/>
            <a:ext cx="700143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🎬 成片：3D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概念动画（阳光粒子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+ O₂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气泡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真实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解说（点击播放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pic>
        <p:nvPicPr>
          <p:cNvPr id="21" name="narration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269480" y="1783080"/>
            <a:ext cx="457200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69480" y="438912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🔊 </a:t>
            </a:r>
            <a:r>
              <a:rPr sz="1600" b="0" i="1" dirty="0" err="1">
                <a:solidFill>
                  <a:srgbClr val="333333"/>
                </a:solidFill>
                <a:latin typeface="Microsoft YaHei"/>
                <a:ea typeface="Microsoft YaHei"/>
              </a:rPr>
              <a:t>单独配音轨（点击播放</a:t>
            </a:r>
            <a:r>
              <a:rPr sz="1600" b="0" i="1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4754879"/>
            <a:ext cx="4572000" cy="1707959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45374" y="4773533"/>
            <a:ext cx="4496105" cy="174335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✦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全流程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 "以 AI 治 AI"：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四维结构化提示词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3D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神经语音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Maya /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Blender，零门槛把论文变科普片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29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audi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66543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多模态大模型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2086383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统一跨模态语义空间；生成成本阶梯（文本→音频→图像→视频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）；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听觉质量飞跃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图像理解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204907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一图胜千言突破文字瓶颈；单据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手写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多图协同；警惕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粗粒度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相似物混淆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图像生成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38115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扩散模型加噪→去噪显影；主体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场景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氛围+修饰词公式；以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治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优化；控制网络修瑕疵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音视频大模型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92629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零样本语音克隆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无痕修音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播客化；图生视频引入时间维度；警惕物理幻觉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4.5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本章实训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716978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光合作用全流程：看图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画图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图生视频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配音，静态图文转动态视听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082528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978390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会写字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会看、会画、会说、会演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—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多模态时代的科研叙事力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>
                <a:solidFill>
                  <a:srgbClr val="999999"/>
                </a:solidFill>
                <a:latin typeface="Arial"/>
              </a:rPr>
              <a:t>30 / 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670612"/>
            <a:ext cx="5692588" cy="2187387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4 章  ·  多模态大模型的原理与实践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2116</Words>
  <Application>Microsoft Macintosh PowerPoint</Application>
  <PresentationFormat>宽屏</PresentationFormat>
  <Paragraphs>408</Paragraphs>
  <Slides>36</Slides>
  <Notes>0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宋体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3</cp:revision>
  <dcterms:created xsi:type="dcterms:W3CDTF">2013-01-27T09:14:16Z</dcterms:created>
  <dcterms:modified xsi:type="dcterms:W3CDTF">2026-09-05T01:19:39Z</dcterms:modified>
  <cp:category/>
</cp:coreProperties>
</file>