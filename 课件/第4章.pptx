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8" r:id="rId13"/>
    <p:sldId id="267" r:id="rId14"/>
    <p:sldId id="289" r:id="rId15"/>
    <p:sldId id="268" r:id="rId16"/>
    <p:sldId id="269" r:id="rId17"/>
    <p:sldId id="290" r:id="rId18"/>
    <p:sldId id="270" r:id="rId19"/>
    <p:sldId id="271" r:id="rId20"/>
    <p:sldId id="272" r:id="rId21"/>
    <p:sldId id="291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7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7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1.mp3"/><Relationship Id="rId7" Type="http://schemas.openxmlformats.org/officeDocument/2006/relationships/image" Target="../media/image15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.mp3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15505" y="0"/>
            <a:ext cx="4876495" cy="3567953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691413" y="3285564"/>
            <a:ext cx="4500282" cy="3572436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7342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《</a:t>
            </a:r>
            <a:r>
              <a:rPr sz="5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生成式人工智能</a:t>
            </a: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与科研素养</a:t>
            </a:r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Microsoft YaHei"/>
                <a:ea typeface="Microsoft YaHei"/>
              </a:rPr>
              <a:t>第 4 章   多模态大模型的原理与实践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扬州大学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7919565" y="1051560"/>
            <a:ext cx="3824200" cy="5715000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333333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200400" cy="35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514600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514600"/>
            <a:ext cx="56692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514600"/>
            <a:ext cx="5486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多模态大模型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64408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264408"/>
            <a:ext cx="56692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3264408"/>
            <a:ext cx="5486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图像理解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14216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1421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4014216"/>
            <a:ext cx="56692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4014216"/>
            <a:ext cx="5486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图像生成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64024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76402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764024"/>
            <a:ext cx="56692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764024"/>
            <a:ext cx="5486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音视频大模型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13832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51383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5513832"/>
            <a:ext cx="56692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37360" y="5513832"/>
            <a:ext cx="5486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066CC"/>
                </a:solidFill>
                <a:latin typeface="Microsoft YaHei"/>
                <a:ea typeface="Microsoft YaHei"/>
              </a:rPr>
              <a:t>本章实训（含音视频演示）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多模态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模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型与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研信息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多模态大模</a:t>
            </a:r>
            <a:r>
              <a:rPr sz="26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型可结合文字、图像</a:t>
            </a:r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、音频等信息完成任务。</a:t>
            </a:r>
            <a:endParaRPr sz="26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不同模态通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过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编码与对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齐等方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式参与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处理，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具体结构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因模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型而异。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2697480" cy="7315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看图</a:t>
            </a:r>
            <a:endParaRPr sz="26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2697480" cy="1645920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907668"/>
            <a:ext cx="2423160" cy="734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读取图中信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息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
核对图表数据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29000" y="2697480"/>
            <a:ext cx="2697480" cy="73152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269748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画图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3429000"/>
            <a:ext cx="2697480" cy="1645920"/>
          </a:xfrm>
          <a:prstGeom prst="rect">
            <a:avLst/>
          </a:prstGeom>
          <a:solidFill>
            <a:srgbClr val="E6F2FC"/>
          </a:solidFill>
          <a:ln w="12700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907668"/>
            <a:ext cx="2423160" cy="734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了解生成机制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描述画面要求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09360" y="2697480"/>
            <a:ext cx="2697480" cy="73152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69748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配音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429000"/>
            <a:ext cx="2697480" cy="1645920"/>
          </a:xfrm>
          <a:prstGeom prst="rect">
            <a:avLst/>
          </a:prstGeom>
          <a:solidFill>
            <a:srgbClr val="E6F2FC"/>
          </a:solidFill>
          <a:ln w="12700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07668"/>
            <a:ext cx="2423160" cy="734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语音合成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辅助讲解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89720" y="2697480"/>
            <a:ext cx="2697480" cy="7315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269748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</a:rPr>
              <a:t>视频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429000"/>
            <a:ext cx="2697480" cy="1645920"/>
          </a:xfrm>
          <a:prstGeom prst="rect">
            <a:avLst/>
          </a:prstGeom>
          <a:solidFill>
            <a:srgbClr val="E6F2F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3907668"/>
            <a:ext cx="2423160" cy="734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图生视频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动态机理演示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7200" y="5808226"/>
            <a:ext cx="11247120" cy="640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934646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绍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图像理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解与视听内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容生成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，以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及科研使用中的核验要求。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606039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多模态大模型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多模态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扩展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了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可处理的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息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类型。本节介绍基本结构、生成成本与常见质量问题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从语言模型到多模态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7561" y="960120"/>
            <a:ext cx="6583680" cy="545250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核心：建立统一的跨模态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语义空间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"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一种常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见方式是在语言模型基础上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接入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视觉、音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频等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编码模块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将图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像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或声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音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转化为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特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征表示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再与文本信息结合处理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dirty="0">
                <a:latin typeface="Microsoft YaHei"/>
                <a:ea typeface="Microsoft YaHei"/>
              </a:rPr>
              <a:t>纯文</a:t>
            </a:r>
            <a:r>
              <a:rPr sz="1800" dirty="0">
                <a:latin typeface="Microsoft YaHei"/>
                <a:ea typeface="Microsoft YaHei"/>
              </a:rPr>
              <a:t>本模</a:t>
            </a:r>
            <a:r>
              <a:rPr dirty="0" err="1">
                <a:latin typeface="Microsoft YaHei"/>
                <a:ea typeface="Microsoft YaHei"/>
              </a:rPr>
              <a:t>型主要处理文字及其结构。</a:t>
            </a:r>
            <a:endParaRPr sz="1800" dirty="0"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900" b="1" dirty="0">
                <a:solidFill>
                  <a:srgbClr val="0066CC"/>
                </a:solidFill>
                <a:latin typeface="Microsoft YaHei"/>
                <a:ea typeface="Microsoft YaHei"/>
              </a:rPr>
              <a:t>多模态</a:t>
            </a:r>
            <a:r>
              <a:rPr sz="1800" b="0" dirty="0">
                <a:solidFill>
                  <a:srgbClr val="333333"/>
                </a:solidFill>
                <a:latin typeface="Microsoft YaHei"/>
                <a:ea typeface="Microsoft YaHei"/>
              </a:rPr>
              <a:t>模型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可结合多种信息，但能力随模型而异。</a:t>
            </a:r>
            <a:endParaRPr sz="19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折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线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图分析的两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种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输入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方式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文字输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入：需说明数据点、坐标和趋势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复杂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图表可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能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需要较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长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描述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图像输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入：可上传图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表，并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提出具体问题</a:t>
            </a: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模型可辅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助定位异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常，原因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仍需结合数据与实验核查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5468" y="4739678"/>
            <a:ext cx="4572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4-1  LLM 与 LMM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的架构对比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5 / 36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33EC0C4-76E3-5085-8EC3-910C31EC41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6" t="5083" b="-1"/>
          <a:stretch>
            <a:fillRect/>
          </a:stretch>
        </p:blipFill>
        <p:spPr bwMode="auto">
          <a:xfrm>
            <a:off x="5898776" y="1237129"/>
            <a:ext cx="6034350" cy="31994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通过图像输入分析图表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5626" y="948387"/>
            <a:ext cx="9609268" cy="972821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图像能直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接呈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现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结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构和趋势，减少转述负担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分析时仍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需核对坐标、图例、数值和实验背景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126480"/>
            <a:ext cx="1219169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2  多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模态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型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识别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折线图中的异常变化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6 / 36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6C34A4C-44CB-5508-1AD8-77EF58A04F5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62"/>
          <a:stretch/>
        </p:blipFill>
        <p:spPr bwMode="auto">
          <a:xfrm>
            <a:off x="1970703" y="1869687"/>
            <a:ext cx="8041977" cy="393675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LLM 与 LMM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的应用特征对比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4-1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大语言模型与多模态大模型的应用特征对比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3727" y="1554480"/>
            <a:ext cx="21945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3727" y="1644134"/>
            <a:ext cx="2194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58287" y="1554480"/>
            <a:ext cx="411480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58287" y="1644134"/>
            <a:ext cx="4114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大语言模型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3087" y="1554480"/>
            <a:ext cx="47548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73087" y="1644134"/>
            <a:ext cx="4754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多模态大模型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LMM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727" y="210312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0887" y="233785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处理模态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58287" y="2103120"/>
            <a:ext cx="411480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5447" y="2337851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纯文本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73087" y="2103120"/>
            <a:ext cx="475488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10247" y="233785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文本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图像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音频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视频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3727" y="288036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887" y="311509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计算逻辑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58287" y="28803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5447" y="3115091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通常逐词元生成文本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873087" y="288036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0247" y="311509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跨模态编码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与生成，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依具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体架构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而定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3727" y="365760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0887" y="389233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生成速度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58287" y="3657600"/>
            <a:ext cx="411480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95447" y="3892331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随任务和模型而变化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73087" y="3657600"/>
            <a:ext cx="475488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10247" y="389233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受模态、长度与分辨率影响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3727" y="44348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0887" y="466957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算力成本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758287" y="44348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95447" y="4669571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与模型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及输入输出量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有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73087" y="4434840"/>
            <a:ext cx="4754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10247" y="466957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与模态、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质量和服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务计费有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3727" y="521208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0887" y="54468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适用任务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758287" y="5212080"/>
            <a:ext cx="411480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95447" y="5446811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写作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推理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翻译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873087" y="5212080"/>
            <a:ext cx="475488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10247" y="544681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图表解析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学术配图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演示视频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不同模态的时间与成本因素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4-2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不同模态的生成特点（具体耗时和价格以服务为准）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0847" y="1554480"/>
            <a:ext cx="16459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0847" y="1644134"/>
            <a:ext cx="16459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生成模态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26767" y="1554480"/>
            <a:ext cx="43891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6767" y="164413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底层生成机制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15887" y="1554480"/>
            <a:ext cx="26517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5887" y="1644134"/>
            <a:ext cx="26517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耗时特点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67647" y="1554480"/>
            <a:ext cx="274320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67647" y="1644134"/>
            <a:ext cx="2743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成本因素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80847" y="2103120"/>
            <a:ext cx="164592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007" y="236071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文本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26767" y="2103120"/>
            <a:ext cx="438912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63927" y="236071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逐词元生成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2103120"/>
            <a:ext cx="265176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3047" y="236071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通常可流式输</a:t>
            </a:r>
            <a:r>
              <a:rPr sz="15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7647" y="2103120"/>
            <a:ext cx="274320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04807" y="2360711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型与词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元数量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0847" y="292608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8007" y="318367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音频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026767" y="2926080"/>
            <a:ext cx="4389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63927" y="318367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生成音频表示并合成声音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15887" y="2926080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3047" y="318367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随音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频时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长变化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067647" y="292608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04807" y="3183671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时长与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音质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80847" y="3749040"/>
            <a:ext cx="164592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8007" y="400663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图像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026767" y="3749040"/>
            <a:ext cx="438912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63927" y="400663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扩散等图像生成方法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15887" y="3749040"/>
            <a:ext cx="265176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53047" y="400663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随分辨率和步骤变化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67647" y="3749040"/>
            <a:ext cx="2743200" cy="82296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04807" y="4006632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尺寸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、质量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与张数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0847" y="4572000"/>
            <a:ext cx="16459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8007" y="4829591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视频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026767" y="4572000"/>
            <a:ext cx="4389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63927" y="482959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生成具有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时序关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系的视频内容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415887" y="4572000"/>
            <a:ext cx="2651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3047" y="4829591"/>
            <a:ext cx="2377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随时长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和分辨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率变化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9067647" y="4572000"/>
            <a:ext cx="2743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04807" y="4829591"/>
            <a:ext cx="24688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时长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、分辨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率与质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722213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生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成前明确画面内容和用途，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可减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少反复试错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。复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杂需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求可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先整理成清晰的文字说明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4.1.3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多模态生成的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进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展与局限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" y="888540"/>
            <a:ext cx="11420139" cy="535196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早期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模型的常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见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问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题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画面可能具有创意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但细节、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结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构和逻辑错误较多，正式使用前需要修改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后续模型在部分任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务上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有所改善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图像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和视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频生成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 人体结构、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线条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和透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视有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所改善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但仍可能失真。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 文字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生成与排版能力有所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提升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拼写仍需核对。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帧间一致性有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所改善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，动作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和物理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关系仍可能出错。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语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音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生成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 停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顿、重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音和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语调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以更自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然，效果取决于文本与设置。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专业术语、数字读法及情绪表达仍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需试听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可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辅助制作海报、配音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和科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普视频，不能替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代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真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实科研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数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据与证据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5260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图像理解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图像输入可帮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助模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型处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理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空间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关系、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图表和手写材料。本节讨论适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用场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景及识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别结果的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检查方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法。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图像输入对文字描述的补充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016" y="969981"/>
            <a:ext cx="10969968" cy="5128318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科研表达困境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实验装置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和流程图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包含空间位置、连线与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级关系。只用文字描述容易遗漏细节，也可能增加理解难度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图像可以补充这些信息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上传清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晰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图片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并说明需要识别或比较的内容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案例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 ·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白板草图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上传白板照片，请模型整理模块与连线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。对遮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挡、模糊或无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法辨认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的部分，应标记待确认，不能当作已知内容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图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像与简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洁说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明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结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合使用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，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通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常更便于明确任务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66F5-AA10-8136-9646-E9E89245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00FD32-3385-D524-E7EE-82EED620927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7ABE754A-0E35-7E86-10A9-250712BF0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CAE94E0-5859-83C1-14BE-5B4323CED517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4BE81F-C444-9F69-29E9-F77E1C0C975D}"/>
              </a:ext>
            </a:extLst>
          </p:cNvPr>
          <p:cNvSpPr txBox="1"/>
          <p:nvPr/>
        </p:nvSpPr>
        <p:spPr>
          <a:xfrm>
            <a:off x="45720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4.2.1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B2F4F1-4217-B8B5-0F45-02C62E2D434B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06CF9-D4A5-1248-99E0-6706BB2D66BD}"/>
              </a:ext>
            </a:extLst>
          </p:cNvPr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图像输入对文字描述的补充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677C1-CBF6-89A8-F087-C46BF44A057E}"/>
              </a:ext>
            </a:extLst>
          </p:cNvPr>
          <p:cNvSpPr txBox="1"/>
          <p:nvPr/>
        </p:nvSpPr>
        <p:spPr>
          <a:xfrm>
            <a:off x="2987120" y="5890894"/>
            <a:ext cx="610168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4-3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视觉输入突破文本瓶颈：白板草图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算法逻辑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BE1B58-9AB5-4802-3B9B-D049963D74C1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12 / 36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37AA98B-6460-6087-6148-BA8AD11B2003}"/>
              </a:ext>
            </a:extLst>
          </p:cNvPr>
          <p:cNvGrpSpPr/>
          <p:nvPr/>
        </p:nvGrpSpPr>
        <p:grpSpPr>
          <a:xfrm>
            <a:off x="1088587" y="1013191"/>
            <a:ext cx="10632998" cy="8190573"/>
            <a:chOff x="1370743" y="759409"/>
            <a:chExt cx="10268418" cy="7879400"/>
          </a:xfrm>
        </p:grpSpPr>
        <p:sp>
          <p:nvSpPr>
            <p:cNvPr id="13" name="内容占位符 5">
              <a:extLst>
                <a:ext uri="{FF2B5EF4-FFF2-40B4-BE49-F238E27FC236}">
                  <a16:creationId xmlns:a16="http://schemas.microsoft.com/office/drawing/2014/main" id="{49106B5D-2C1D-3AF5-2FDE-99E22D0066BA}"/>
                </a:ext>
              </a:extLst>
            </p:cNvPr>
            <p:cNvSpPr txBox="1">
              <a:spLocks/>
            </p:cNvSpPr>
            <p:nvPr/>
          </p:nvSpPr>
          <p:spPr>
            <a:xfrm>
              <a:off x="6457561" y="3098268"/>
              <a:ext cx="5181600" cy="55405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CN"/>
                <a:t> </a:t>
              </a:r>
              <a:endParaRPr lang="zh-CN" altLang="en-US" dirty="0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F4D042C5-3F7A-CADF-E666-66AC9BFB9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99674" y="759409"/>
              <a:ext cx="547307" cy="540868"/>
            </a:xfrm>
            <a:prstGeom prst="rect">
              <a:avLst/>
            </a:prstGeom>
          </p:spPr>
        </p:pic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BDE2A8FB-19B7-CEA1-B9C1-9E1862A9DD1D}"/>
                </a:ext>
              </a:extLst>
            </p:cNvPr>
            <p:cNvSpPr/>
            <p:nvPr/>
          </p:nvSpPr>
          <p:spPr>
            <a:xfrm>
              <a:off x="1967496" y="791307"/>
              <a:ext cx="8026337" cy="50897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“帮我梳理这个算法的逻辑框架，给出结构化输出。”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9EAA0CB4-ED48-24F7-4B47-B738686B66FA}"/>
                </a:ext>
              </a:extLst>
            </p:cNvPr>
            <p:cNvSpPr/>
            <p:nvPr/>
          </p:nvSpPr>
          <p:spPr>
            <a:xfrm>
              <a:off x="1967496" y="3428999"/>
              <a:ext cx="8026337" cy="1528573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“该算法遵循‘输入</a:t>
              </a:r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处理</a:t>
              </a:r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理解</a:t>
              </a:r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—</a:t>
              </a:r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输出’的基本逻辑流程。</a:t>
              </a:r>
              <a:endPara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输入阶段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：首先接收用户输入的自然语言文本，作为整个处理流程的起点。</a:t>
              </a:r>
            </a:p>
            <a:p>
              <a:pPr algn="just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处理阶段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：对输入文本进行预处理，包括文本清洗、规范化等操作，以消除噪声并统一数据格式。</a:t>
              </a:r>
            </a:p>
            <a:p>
              <a:pPr algn="just"/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理解阶段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4C7C8DFD-277E-F539-C3F5-C87B75D1B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0743" y="3429000"/>
              <a:ext cx="536007" cy="523685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40D71FC7-8E74-42A4-18F6-7AD9558FB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92167" y="1456013"/>
              <a:ext cx="1608969" cy="18593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572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图像理解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典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型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0112" y="930879"/>
            <a:ext cx="10454335" cy="484106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模型可辅助识别图中元素、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整理信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息和比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较关系，复杂推断仍需验证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场景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①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复杂单据与非结构化表格</a:t>
            </a: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上传单据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后，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可先提取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字段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，再用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计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算工具汇总费用。核对表头、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金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额和单位，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避免识别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错误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传入计算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场景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②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手写手稿与历史档案数字化</a:t>
            </a: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可辅助转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录手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写记录，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对模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糊、涂改和难辨文字保留标记，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并与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原件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逐项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核对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能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力边界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：细节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识别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可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能出错</a:t>
            </a:r>
            <a:endParaRPr sz="2400" b="1" dirty="0">
              <a:solidFill>
                <a:srgbClr val="F5802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相似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物体、细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小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文字或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精密图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表容易被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误读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200" dirty="0" err="1">
                <a:latin typeface="Microsoft YaHei"/>
                <a:ea typeface="Microsoft YaHei"/>
              </a:rPr>
              <a:t>专业鉴定</a:t>
            </a:r>
            <a:r>
              <a:rPr sz="2200" dirty="0">
                <a:latin typeface="Microsoft YaHei"/>
                <a:ea typeface="Microsoft YaHei"/>
              </a:rPr>
              <a:t>和关</a:t>
            </a:r>
            <a:r>
              <a:rPr sz="2200" dirty="0" err="1">
                <a:latin typeface="Microsoft YaHei"/>
                <a:ea typeface="Microsoft YaHei"/>
              </a:rPr>
              <a:t>键数值应</a:t>
            </a:r>
            <a:r>
              <a:rPr sz="2200" dirty="0">
                <a:latin typeface="Microsoft YaHei"/>
                <a:ea typeface="Microsoft YaHei"/>
              </a:rPr>
              <a:t>结合</a:t>
            </a:r>
            <a:r>
              <a:rPr sz="2200" dirty="0" err="1">
                <a:latin typeface="Microsoft YaHei"/>
                <a:ea typeface="Microsoft YaHei"/>
              </a:rPr>
              <a:t>原始数据与人工检查</a:t>
            </a:r>
            <a:r>
              <a:rPr sz="2200" dirty="0"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62CE-105C-1EB1-4734-ED838D46F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0DB22675-EE84-2CC4-5518-ED47F7673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5F0592-0740-B1EF-CDDE-4E0005AA13DA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FEE61-5639-EB53-2D4F-F15ABC42C638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4.2.2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1F2C9-FB09-B3AF-DF50-B22BDDDF12D7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6DC48-D4AD-3E8E-6A5C-9D30EF83AB33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图像理解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典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型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41B66D-2B8F-7B6F-CBE6-C0E016DAD356}"/>
              </a:ext>
            </a:extLst>
          </p:cNvPr>
          <p:cNvSpPr txBox="1"/>
          <p:nvPr/>
        </p:nvSpPr>
        <p:spPr>
          <a:xfrm>
            <a:off x="3111649" y="6058801"/>
            <a:ext cx="561100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4-4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多模态大模型在手写科研笔记数字化中的应用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FA20D-C1E6-9EA9-9877-C1687B90338A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14 / 36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0C3E729-4C4D-8494-0C80-A6FCF4E68077}"/>
              </a:ext>
            </a:extLst>
          </p:cNvPr>
          <p:cNvGrpSpPr/>
          <p:nvPr/>
        </p:nvGrpSpPr>
        <p:grpSpPr>
          <a:xfrm>
            <a:off x="1049282" y="1136643"/>
            <a:ext cx="9538035" cy="4583850"/>
            <a:chOff x="1286786" y="504371"/>
            <a:chExt cx="9115492" cy="4369035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29DF1651-0782-7628-1D34-8076E7C7B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54971" y="504371"/>
              <a:ext cx="547307" cy="540868"/>
            </a:xfrm>
            <a:prstGeom prst="rect">
              <a:avLst/>
            </a:prstGeom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E420A6B-3308-0EED-36DF-96A7FD671439}"/>
                </a:ext>
              </a:extLst>
            </p:cNvPr>
            <p:cNvSpPr/>
            <p:nvPr/>
          </p:nvSpPr>
          <p:spPr>
            <a:xfrm>
              <a:off x="1822793" y="536269"/>
              <a:ext cx="8026337" cy="508970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“帮我梳理并提取实验内容，给我结构化的输出。”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95F37A0-54C1-B9CD-0104-DFD6AE0C73C5}"/>
                </a:ext>
              </a:extLst>
            </p:cNvPr>
            <p:cNvSpPr/>
            <p:nvPr/>
          </p:nvSpPr>
          <p:spPr>
            <a:xfrm>
              <a:off x="1822793" y="3034372"/>
              <a:ext cx="8026337" cy="1839034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实验目的：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 本实验旨在研究温度对催化反应性能的影响，分析不同温度条件下催化剂活性的变化规律。</a:t>
              </a:r>
            </a:p>
            <a:p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实验方法：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 实验采用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0.50 g 催化剂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，在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氮气保护条件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下分别设置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300 ℃、350 ℃和 450 ℃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 等不同反应温度，加入浓度为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0.20 mol/L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 的反应底物进行反应，并每隔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10 min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 取样，利用气相色谱（GC）进行分析。</a:t>
              </a:r>
            </a:p>
            <a:p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实验结果：</a:t>
              </a:r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</a:p>
          </p:txBody>
        </p:sp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697D471-43DB-AF16-CF5C-0B0099C8D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1868" y="1077137"/>
              <a:ext cx="1337262" cy="1807137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A1DD87A0-FA62-5B16-57B8-48CC85146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6786" y="3034371"/>
              <a:ext cx="536007" cy="5236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9550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相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似物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体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与细节识别的局限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921525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dirty="0" err="1">
                <a:latin typeface="Microsoft YaHei"/>
                <a:ea typeface="Microsoft YaHei"/>
              </a:rPr>
              <a:t>模型可能忽</a:t>
            </a:r>
            <a:r>
              <a:rPr sz="2400" dirty="0">
                <a:latin typeface="Microsoft YaHei"/>
                <a:ea typeface="Microsoft YaHei"/>
              </a:rPr>
              <a:t>略</a:t>
            </a:r>
            <a:r>
              <a:rPr sz="2400" dirty="0" err="1">
                <a:latin typeface="Microsoft YaHei"/>
                <a:ea typeface="Microsoft YaHei"/>
              </a:rPr>
              <a:t>相似对象之间</a:t>
            </a:r>
            <a:r>
              <a:rPr sz="2400" dirty="0">
                <a:latin typeface="Microsoft YaHei"/>
                <a:ea typeface="Microsoft YaHei"/>
              </a:rPr>
              <a:t>的局</a:t>
            </a:r>
            <a:r>
              <a:rPr sz="2400" dirty="0" err="1">
                <a:latin typeface="Microsoft YaHei"/>
                <a:ea typeface="Microsoft YaHei"/>
              </a:rPr>
              <a:t>部差异。即使回答语气肯定，也应</a:t>
            </a:r>
            <a:r>
              <a:rPr sz="2400" dirty="0">
                <a:latin typeface="Microsoft YaHei"/>
                <a:ea typeface="Microsoft YaHei"/>
              </a:rPr>
              <a:t>核查</a:t>
            </a:r>
            <a:r>
              <a:rPr sz="2400" dirty="0" err="1">
                <a:latin typeface="Microsoft YaHei"/>
                <a:ea typeface="Microsoft YaHei"/>
              </a:rPr>
              <a:t>辨</a:t>
            </a:r>
            <a:r>
              <a:rPr sz="2400" dirty="0">
                <a:latin typeface="Microsoft YaHei"/>
                <a:ea typeface="Microsoft YaHei"/>
              </a:rPr>
              <a:t>认依</a:t>
            </a:r>
            <a:r>
              <a:rPr sz="2400" dirty="0" err="1">
                <a:latin typeface="Microsoft YaHei"/>
                <a:ea typeface="Microsoft YaHei"/>
              </a:rPr>
              <a:t>据，尤其是正</a:t>
            </a:r>
            <a:r>
              <a:rPr sz="2400" dirty="0">
                <a:latin typeface="Microsoft YaHei"/>
                <a:ea typeface="Microsoft YaHei"/>
              </a:rPr>
              <a:t>式</a:t>
            </a:r>
            <a:r>
              <a:rPr sz="2400" dirty="0" err="1">
                <a:latin typeface="Microsoft YaHei"/>
                <a:ea typeface="Microsoft YaHei"/>
              </a:rPr>
              <a:t>报告中的专业判断</a:t>
            </a:r>
            <a:r>
              <a:rPr sz="2400" dirty="0"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126480"/>
            <a:ext cx="1219169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-5 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相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似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对象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识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别可能出现的错误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15 / 36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CCC6A61-01BE-57A9-9025-31B128107A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632" y="1881645"/>
            <a:ext cx="8331543" cy="4159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多图协同与复杂上下文归纳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0142" y="987911"/>
            <a:ext cx="10828469" cy="520776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真实科研：信息高度碎片化，分布在多个视觉载体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理论在白板、待办在便利贴、数据在打印图表</a:t>
            </a:r>
            <a:r>
              <a:rPr lang="zh-CN" altLang="en-US" sz="220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单张照片无法涵盖全貌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多图输入与协同分析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多图分析可帮助整理图片之间的关系，但模型可能混淆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来源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，应为图片编号并核查对应信息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8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案例：拍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3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张会议照片（架构白板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便利贴墙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+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批注折线图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）→ "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总结研究框架，生成分工与时间节点的行动计划表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" → </a:t>
            </a:r>
            <a:r>
              <a:rPr sz="2200" b="1" dirty="0" err="1">
                <a:solidFill>
                  <a:srgbClr val="0066CC"/>
                </a:solidFill>
                <a:latin typeface="Consolas"/>
                <a:ea typeface="Consolas"/>
              </a:rPr>
              <a:t>输出结构化会议纪要</a:t>
            </a:r>
            <a:r>
              <a:rPr sz="2200" b="1" dirty="0">
                <a:solidFill>
                  <a:srgbClr val="0066CC"/>
                </a:solidFill>
                <a:latin typeface="Consolas"/>
                <a:ea typeface="Consolas"/>
              </a:rPr>
              <a:t>。</a:t>
            </a:r>
            <a:endParaRPr sz="1600" b="1" dirty="0">
              <a:solidFill>
                <a:srgbClr val="0066CC"/>
              </a:solidFill>
              <a:latin typeface="Consolas"/>
              <a:ea typeface="Consolas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三个使用建议</a:t>
            </a:r>
            <a:r>
              <a:rPr sz="22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① 为图片建立明确索引（"图1架构/图2分工/图3数据"）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指定表格或大纲格式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便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于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核对与编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辑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③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核查每条信息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对应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的图片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及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其含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13597-AA61-912C-D2AD-13BB6D5A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A1342D-54F7-DE15-75AD-A949533FEB6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F964A439-8036-AD77-92F4-126574AF4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B615FF-8956-E366-EDF7-633321AFC2C1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79F739-4C0D-5481-6072-5D8662CB20AE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4.2.3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08E7E-E557-50E5-FD63-CAA2A6A00865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764A6-9986-709E-9177-FE35CF75FBB5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多图协同与复杂上下文归纳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E13A7-8500-8E8D-EDA6-4A73657A58E1}"/>
              </a:ext>
            </a:extLst>
          </p:cNvPr>
          <p:cNvSpPr txBox="1"/>
          <p:nvPr/>
        </p:nvSpPr>
        <p:spPr>
          <a:xfrm>
            <a:off x="2458255" y="6178948"/>
            <a:ext cx="6549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4-6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多图协同：碎片化会议现场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结构化行动计划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982BB-F582-C4B8-B26B-51E25025421D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17 / 36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A25466D-60B9-F3C6-1A9C-7BF18AF5C874}"/>
              </a:ext>
            </a:extLst>
          </p:cNvPr>
          <p:cNvGrpSpPr/>
          <p:nvPr/>
        </p:nvGrpSpPr>
        <p:grpSpPr>
          <a:xfrm>
            <a:off x="426018" y="1069848"/>
            <a:ext cx="10444809" cy="6985291"/>
            <a:chOff x="1411941" y="349750"/>
            <a:chExt cx="10647449" cy="6096154"/>
          </a:xfrm>
        </p:grpSpPr>
        <p:sp>
          <p:nvSpPr>
            <p:cNvPr id="13" name="内容占位符 5">
              <a:extLst>
                <a:ext uri="{FF2B5EF4-FFF2-40B4-BE49-F238E27FC236}">
                  <a16:creationId xmlns:a16="http://schemas.microsoft.com/office/drawing/2014/main" id="{53893EF0-51EA-4EEA-C180-44F4B6D48004}"/>
                </a:ext>
              </a:extLst>
            </p:cNvPr>
            <p:cNvSpPr txBox="1">
              <a:spLocks/>
            </p:cNvSpPr>
            <p:nvPr/>
          </p:nvSpPr>
          <p:spPr>
            <a:xfrm>
              <a:off x="1411941" y="905363"/>
              <a:ext cx="5181600" cy="55405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CN"/>
                <a:t> </a:t>
              </a:r>
              <a:endParaRPr lang="zh-CN" altLang="en-US" dirty="0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AE0BA60-2407-EAE6-7963-0FF1E9E4C182}"/>
                </a:ext>
              </a:extLst>
            </p:cNvPr>
            <p:cNvSpPr/>
            <p:nvPr/>
          </p:nvSpPr>
          <p:spPr>
            <a:xfrm>
              <a:off x="2324463" y="2421556"/>
              <a:ext cx="9154492" cy="2085275"/>
            </a:xfrm>
            <a:prstGeom prst="roundRect">
              <a:avLst/>
            </a:prstGeom>
            <a:noFill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会议主题：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 本次会议围绕“智能客服系统升级”项目展开，重点讨论项目整体规划、阶段性进展及后续实施安排。</a:t>
              </a:r>
            </a:p>
            <a:p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项目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目标：改善系统响应速度和功能完整性，具体指标需在会议记录中确认。</a:t>
              </a:r>
            </a:p>
            <a:p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核心模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块：用户体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验、功能、技术架构和数据分析</a:t>
              </a:r>
              <a:r>
                <a:rPr lang="zh-CN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。各模块的任务与负责人应据记录填写。</a:t>
              </a:r>
            </a:p>
            <a:p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  </a:t>
              </a:r>
              <a:r>
                <a:rPr lang="zh-CN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当前进展：</a:t>
              </a:r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D8A3ACE-6845-B214-D551-70B2970FE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16385" y="2782370"/>
              <a:ext cx="536007" cy="523685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B2817B87-1E66-88FE-A2B1-C46C2CE0F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9625" y="964627"/>
              <a:ext cx="1715601" cy="137297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4984CE4E-023F-07DE-4BFA-E1D254F67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7292" y="964628"/>
              <a:ext cx="1715601" cy="1372970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105F36E-FD82-B82E-9F56-BC941444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4959" y="964628"/>
              <a:ext cx="1830626" cy="1372970"/>
            </a:xfrm>
            <a:prstGeom prst="rect">
              <a:avLst/>
            </a:prstGeom>
          </p:spPr>
        </p:pic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4FC05BE0-A502-A7D2-9B2F-E8D2637A0B59}"/>
                </a:ext>
              </a:extLst>
            </p:cNvPr>
            <p:cNvSpPr/>
            <p:nvPr/>
          </p:nvSpPr>
          <p:spPr>
            <a:xfrm>
              <a:off x="2324463" y="349750"/>
              <a:ext cx="9154492" cy="547813"/>
            </a:xfrm>
            <a:prstGeom prst="round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“帮我绘制一份排版整洁的数字文档。文档包含两个部分：‘会议摘要’和一个规整的‘行动计划’表格。”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536D91E-7C23-BD6F-4878-5FB1A843F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512083" y="349750"/>
              <a:ext cx="547307" cy="5408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5339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4.3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468878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图像生成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本节介绍图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像生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成的基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本机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制、提示词写法与常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见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错误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，帮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助将科研构想整理为可审查的视觉草稿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交互体验的转变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文本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vs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4-3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文本与图像大模型在用户操作体验上的核心差异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6567" y="1554480"/>
            <a:ext cx="21945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567" y="1644134"/>
            <a:ext cx="2194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21127" y="1554480"/>
            <a:ext cx="42062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1127" y="1644134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文本大模型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27367" y="1554480"/>
            <a:ext cx="49377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27367" y="1644134"/>
            <a:ext cx="49377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图像大模型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567" y="210312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3727" y="233785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生成方式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21127" y="2103120"/>
            <a:ext cx="42062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58287" y="233785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逐词线性生成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27367" y="2103120"/>
            <a:ext cx="49377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64527" y="233785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依模型逐步生成完整画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567" y="288036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3727" y="311509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中断控制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21127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58287" y="311509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可随时喊停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827367" y="288036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64527" y="311509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取消或预览方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式取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决于工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567" y="365760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3727" y="389233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局部迭代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21127" y="3657600"/>
            <a:ext cx="42062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58287" y="389233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指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定段落修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7367" y="3657600"/>
            <a:ext cx="49377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64527" y="389233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局部编辑也可能影响其他区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6567" y="44348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3727" y="466957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体验类比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621127" y="443484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58287" y="466957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可边生成边检查文字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27367" y="443484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64527" y="466957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通常需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要检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查完整图像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26567" y="521208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3727" y="54468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策略要求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621127" y="5212080"/>
            <a:ext cx="42062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58287" y="544681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边写边改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827367" y="5212080"/>
            <a:ext cx="49377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64527" y="544681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先说明构图与内容，再按结果修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扩散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模型的加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噪与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去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90113"/>
            <a:ext cx="11178092" cy="4583682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扩散模型是图像生成的重要方法之一。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① 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前向过程：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逐步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加入噪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声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按预设过</a:t>
            </a:r>
            <a:r>
              <a:rPr lang="en-US" altLang="zh-CN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程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向</a:t>
            </a:r>
            <a:r>
              <a:rPr lang="en-US" altLang="zh-CN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图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像或其特征表示加入噪声。</a:t>
            </a:r>
            <a:r>
              <a:rPr lang="en-US" altLang="zh-CN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训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练时，</a:t>
            </a:r>
            <a:r>
              <a:rPr lang="en-US" altLang="zh-CN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型学习预测噪声或恢</a:t>
            </a:r>
            <a:r>
              <a:rPr lang="en-US" altLang="zh-CN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复</a:t>
            </a:r>
            <a:r>
              <a:rPr lang="zh-CN" altLang="en-US"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相关信号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②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 生成过程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：逐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步去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噪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通常从随机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噪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声出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发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，在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提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示</a:t>
            </a:r>
            <a:r>
              <a:rPr sz="2200" dirty="0" err="1">
                <a:solidFill>
                  <a:srgbClr val="333333"/>
                </a:solidFill>
                <a:latin typeface="Microsoft YaHei"/>
                <a:ea typeface="Microsoft YaHei"/>
              </a:rPr>
              <a:t>词</a:t>
            </a:r>
            <a:r>
              <a:rPr sz="2200" dirty="0">
                <a:solidFill>
                  <a:srgbClr val="333333"/>
                </a:solidFill>
                <a:latin typeface="Microsoft YaHei"/>
                <a:ea typeface="Microsoft YaHei"/>
              </a:rPr>
              <a:t>等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条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件的引导下反复更新，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形成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图像。</a:t>
            </a: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与操作相关的两个因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素：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生成步骤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和工具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设置会影响速度与图像质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量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随机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种子和采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样设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置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会影响生成结果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清晰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的内容与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构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图要求有助于引导生成，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但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不能保证细节全部正确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DA44-03B7-E44B-E27D-2B0BD242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3BF846-1C71-525A-F484-22C7626937D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CB82A862-0AF7-BF28-4D45-54BFFB101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411B742-501B-43DB-FC21-C1D00F385A84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0118A-6FB0-DB53-D0EE-32EE968B1823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4.3.2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FDF3CD-7070-90A2-42F0-A7FA9A552EC4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D484E-CD4B-8D2D-43A9-8B9FC639F97D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扩散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模型的加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噪与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去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噪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8D45C3-3002-7E07-C43C-159E4E87D471}"/>
              </a:ext>
            </a:extLst>
          </p:cNvPr>
          <p:cNvSpPr txBox="1"/>
          <p:nvPr/>
        </p:nvSpPr>
        <p:spPr>
          <a:xfrm>
            <a:off x="3133295" y="6169521"/>
            <a:ext cx="579555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4-7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扩散模型的反向去噪过程（以生成小狗为例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F98FF-6C31-E00D-76EA-AD620E2CF384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21 / 36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BAA30-45CF-8890-3B40-26987C68BD0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2"/>
          <a:stretch/>
        </p:blipFill>
        <p:spPr bwMode="auto">
          <a:xfrm>
            <a:off x="960120" y="862322"/>
            <a:ext cx="9871675" cy="51830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03873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图像提示词的撰写范式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4-4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结构化图像提示词的撰写公式与生活范例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127" y="1554480"/>
            <a:ext cx="21945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27" y="1644134"/>
            <a:ext cx="2194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29687" y="1554480"/>
            <a:ext cx="438912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9687" y="1644134"/>
            <a:ext cx="4389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作用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18807" y="1554480"/>
            <a:ext cx="49377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18807" y="1644134"/>
            <a:ext cx="49377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范例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5127" y="2103120"/>
            <a:ext cx="219456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287" y="238357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主体</a:t>
            </a:r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角色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9687" y="2103120"/>
            <a:ext cx="43891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6847" y="238357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说明主体的形态、材质与颜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18807" y="2103120"/>
            <a:ext cx="493776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55967" y="238357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白色陶瓷马克杯，装满树叶拉花的热拿铁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5127" y="297180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287" y="325225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场景</a:t>
            </a:r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环境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29687" y="2971800"/>
            <a:ext cx="43891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6847" y="325225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决定空间感与叙事背景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18807" y="2971800"/>
            <a:ext cx="4937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5967" y="325225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复古红砖公寓内部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清晨宁静的绿茵草坪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35127" y="3840480"/>
            <a:ext cx="219456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287" y="412093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情绪</a:t>
            </a:r>
            <a:r>
              <a:rPr sz="2000" b="1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氛围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29687" y="3840480"/>
            <a:ext cx="438912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66847" y="412093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影响色彩分布与明暗对比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18807" y="3840480"/>
            <a:ext cx="4937760" cy="86868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55967" y="412093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温馨恬静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充满活力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冷峻深邃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35127" y="4709160"/>
            <a:ext cx="21945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2287" y="498961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视觉修饰词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529687" y="4709160"/>
            <a:ext cx="43891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66847" y="4989611"/>
            <a:ext cx="4114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说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明画面风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格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、镜头或光线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918807" y="4709160"/>
            <a:ext cx="49377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55967" y="498961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写实摄影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黄金时刻光影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35mm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镜头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5646096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可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按主体、场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景、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氛围和风格组织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提示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词，重点是清晰一致，避免相互冲突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的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要求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补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充画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面要求前后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的结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果对比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655" y="1438233"/>
            <a:ext cx="3235363" cy="430610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左：日常口语指令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右：套用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主体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场景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氛围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修饰词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结构化专业指令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lang="en-US"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说明具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体视觉要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有助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于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减少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模型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对画面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细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节的自行补充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6885" y="5953571"/>
            <a:ext cx="916193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8  环境、镜头与光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线描述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对生成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结果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的影响示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23 / 36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E19E89E-1326-1EF3-E0AC-CC39BA9E93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842" y="903459"/>
            <a:ext cx="7575709" cy="5051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4.3.4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借助模型完善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图像提示词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4-5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借助文本</a:t>
            </a:r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 /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多模态模型优化图像生成提示词的实操路径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127" y="1554480"/>
            <a:ext cx="182880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27" y="1644134"/>
            <a:ext cx="1828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路径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63927" y="1554480"/>
            <a:ext cx="56692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3927" y="1644134"/>
            <a:ext cx="56692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操作方式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33207" y="1554480"/>
            <a:ext cx="40233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33207" y="1644134"/>
            <a:ext cx="40233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核心收益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5127" y="2103120"/>
            <a:ext cx="182880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287" y="2406431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代笔法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63927" y="2103120"/>
            <a:ext cx="56692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1087" y="2252543"/>
            <a:ext cx="539496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角色扮演：让文本模型当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科学插画师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写英文提示词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33207" y="2103120"/>
            <a:ext cx="40233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0367" y="240643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辅助补充构图与视觉描述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5127" y="3017520"/>
            <a:ext cx="1828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287" y="3320831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逆向解构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63927" y="3017520"/>
            <a:ext cx="56692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01087" y="3166943"/>
            <a:ext cx="539496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上传有权使用的参考图，请模型描述视觉特点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33207" y="3017520"/>
            <a:ext cx="4023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70367" y="3320831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理解构图、色彩与风格要素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35127" y="3931920"/>
            <a:ext cx="182880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287" y="4235231"/>
            <a:ext cx="15544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迭代闭环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163927" y="3931920"/>
            <a:ext cx="56692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01087" y="4235231"/>
            <a:ext cx="53949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观察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对话微调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再生成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33207" y="3931920"/>
            <a:ext cx="40233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70367" y="4081343"/>
            <a:ext cx="37490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观察描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述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变化对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画面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的影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447" y="5532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生成后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逐项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核对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画面是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否符合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科研内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容和展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示要求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4.3.5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生成图像的常见瑕疵与修复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4-6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图像生成缺陷分类与实操修复指南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127" y="1554480"/>
            <a:ext cx="21945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27" y="1644134"/>
            <a:ext cx="2194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缺陷类型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29687" y="1554480"/>
            <a:ext cx="457200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29687" y="1644134"/>
            <a:ext cx="4572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典型表现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01687" y="1554480"/>
            <a:ext cx="475488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01687" y="1644134"/>
            <a:ext cx="47548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可控化修复手段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35127" y="2103120"/>
            <a:ext cx="21945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287" y="240643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结构违背物理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9687" y="2103120"/>
            <a:ext cx="457200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6847" y="240643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六指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齿轮不咬合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自行车链条断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101687" y="2103120"/>
            <a:ext cx="47548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8847" y="240643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控制网络（线稿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骨骼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深度图约束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127" y="3017520"/>
            <a:ext cx="21945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287" y="3320832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文本渲染乱码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529687" y="3017520"/>
            <a:ext cx="45720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6847" y="332083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海报文字拼写错位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外星乱码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01687" y="3017520"/>
            <a:ext cx="47548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8847" y="332083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局部重绘（涂抹错误区针对性修复</a:t>
            </a:r>
            <a:r>
              <a:rPr sz="15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127" y="3931920"/>
            <a:ext cx="219456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287" y="423523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跨图连贯失效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529687" y="3931920"/>
            <a:ext cx="457200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66847" y="4235231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角色服饰、道具在帧间突变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101687" y="3931920"/>
            <a:ext cx="4754880" cy="91440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38847" y="4235231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结合角色与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风格参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考，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检查跨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图一致性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" y="5277088"/>
            <a:ext cx="1124712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生成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图可作为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草稿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或展示素材。正式使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用前检查结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构、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文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字与来源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，不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能用来伪造实验图像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4.4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8567" y="2514600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音视频大模型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音视频生成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可辅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助讲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解动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态过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程和制作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科普材料。使用时需核对科学内容、术语读音与画面逻辑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语音合成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TTS vs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现代语音大模型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66CC"/>
                </a:solidFill>
                <a:latin typeface="Microsoft YaHei"/>
                <a:ea typeface="Microsoft YaHei"/>
              </a:rPr>
              <a:t>表 4-7   </a:t>
            </a:r>
            <a:r>
              <a:rPr sz="24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传统语音合成与现代语音大模型的学术应用对比</a:t>
            </a:r>
            <a:endParaRPr sz="24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6567" y="1554480"/>
            <a:ext cx="21945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6567" y="1644134"/>
            <a:ext cx="21945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对比维度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21127" y="1554480"/>
            <a:ext cx="420624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1127" y="1644134"/>
            <a:ext cx="420624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TTS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7367" y="1554480"/>
            <a:ext cx="4937760" cy="5486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27367" y="1644134"/>
            <a:ext cx="49377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现代语音大模型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567" y="210312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3727" y="233785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音质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21127" y="2103120"/>
            <a:ext cx="42062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58287" y="233785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不同技术和系统的自然度各异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827367" y="2103120"/>
            <a:ext cx="49377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64527" y="233785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可生成较自然的语音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6567" y="288036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3727" y="311509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情感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21127" y="288036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58287" y="311509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语调与韵律控制较有限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827367" y="288036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64527" y="311509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可调节重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音、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停顿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与部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分情绪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6567" y="3657600"/>
            <a:ext cx="21945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3727" y="389233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声音克隆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21127" y="3657600"/>
            <a:ext cx="420624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58287" y="389233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通常需要专门采集录音数据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27367" y="3657600"/>
            <a:ext cx="4937760" cy="777240"/>
          </a:xfrm>
          <a:prstGeom prst="rect">
            <a:avLst/>
          </a:prstGeom>
          <a:solidFill>
            <a:srgbClr val="E6F2FC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64527" y="389233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部分系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统支持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少量授权样本适配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26567" y="4434840"/>
            <a:ext cx="21945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3727" y="4669571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学术应用</a:t>
            </a:r>
            <a:endParaRPr sz="2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621127" y="4434840"/>
            <a:ext cx="4206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58287" y="4669571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短促导航语音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827367" y="4434840"/>
            <a:ext cx="4937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64527" y="4669571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论文讲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解、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配音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与音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频编辑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语音合成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现场演示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281" y="827001"/>
            <a:ext cx="6078765" cy="5918406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语音生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成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与试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听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检查</a:t>
            </a:r>
            <a:endParaRPr sz="22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可调节语速、停顿和语调，检查专业术语与数字读法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声音模仿或克隆应取得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授权，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并说明合成用途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相关工具示例：Eleve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nLabs、Cha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tTT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S、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004CA0"/>
                </a:solidFill>
                <a:latin typeface="Microsoft YaHei"/>
                <a:ea typeface="Microsoft YaHei"/>
              </a:rPr>
              <a:t>        通</a:t>
            </a:r>
            <a:r>
              <a:rPr sz="2000" b="0" dirty="0" err="1">
                <a:solidFill>
                  <a:srgbClr val="004CA0"/>
                </a:solidFill>
                <a:latin typeface="Microsoft YaHei"/>
                <a:ea typeface="Microsoft YaHei"/>
              </a:rPr>
              <a:t>义CosyVo</a:t>
            </a:r>
            <a:r>
              <a:rPr sz="2000" b="0" dirty="0">
                <a:solidFill>
                  <a:srgbClr val="004CA0"/>
                </a:solidFill>
                <a:latin typeface="Microsoft YaHei"/>
                <a:ea typeface="Microsoft YaHei"/>
              </a:rPr>
              <a:t>ice等</a:t>
            </a:r>
            <a:r>
              <a:rPr sz="2000" b="0" dirty="0" err="1">
                <a:solidFill>
                  <a:srgbClr val="004CA0"/>
                </a:solidFill>
                <a:latin typeface="Microsoft YaHei"/>
                <a:ea typeface="Microsoft YaHei"/>
              </a:rPr>
              <a:t>，功</a:t>
            </a:r>
            <a:r>
              <a:rPr sz="2000" b="0" dirty="0">
                <a:solidFill>
                  <a:srgbClr val="004CA0"/>
                </a:solidFill>
                <a:latin typeface="Microsoft YaHei"/>
                <a:ea typeface="Microsoft YaHei"/>
              </a:rPr>
              <a:t>能</a:t>
            </a:r>
            <a:r>
              <a:rPr sz="2000" b="0" dirty="0" err="1">
                <a:solidFill>
                  <a:srgbClr val="004CA0"/>
                </a:solidFill>
                <a:latin typeface="Microsoft YaHei"/>
                <a:ea typeface="Microsoft YaHei"/>
              </a:rPr>
              <a:t>与使用条件因产品而异</a:t>
            </a:r>
            <a:endParaRPr sz="2000" b="0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endParaRPr sz="1700" b="0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两大学术应用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①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演讲配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音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修改：依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据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文本修正录音片段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②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论文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播客化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"：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长篇原稿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学术有声读物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▶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现场示范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· AI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纪录片解说《光合作用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神经语音（zh-CN-YunjianN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eu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ral）示例，点击右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侧试听语速、停顿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与术语读音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narr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48046" y="1552187"/>
            <a:ext cx="5778327" cy="32358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02680" y="5258800"/>
            <a:ext cx="54864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🔊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 合成语音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示例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：《光合作用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28 / 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视频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与动态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概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念演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902246"/>
            <a:ext cx="10810539" cy="542705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真实科学世界高度动态</a:t>
            </a:r>
            <a:endParaRPr sz="2400" b="1" dirty="0">
              <a:solidFill>
                <a:srgbClr val="0066CC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细胞分裂、数据流转或液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滴混合包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含时间变化，动画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可作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为解释过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程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的辅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助材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料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sz="17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一种常见方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式：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图生视频</a:t>
            </a:r>
            <a:endParaRPr sz="2400" b="1" dirty="0">
              <a:solidFill>
                <a:srgbClr val="004CA0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先生成并核对概念图，再说明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希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望展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示的运动方式。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视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频完成后继续检查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结构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和动作是否合理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6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可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尝试的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展</a:t>
            </a:r>
            <a:r>
              <a:rPr sz="24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示用途</a:t>
            </a:r>
            <a:r>
              <a:rPr sz="2400" b="1" dirty="0">
                <a:solidFill>
                  <a:srgbClr val="004CA0"/>
                </a:solidFill>
                <a:latin typeface="Microsoft YaHei"/>
                <a:ea typeface="Microsoft YaHei"/>
              </a:rPr>
              <a:t>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学术汇报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：用短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动画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辅助说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明过程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科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普或答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辩：结合旁白解释专业内容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•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与已有图表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和演示材料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配合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使用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⚠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红线：只作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 "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概念演示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"， </a:t>
            </a:r>
            <a:r>
              <a:rPr sz="24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不能替代基于公式的科学仿真（有物理幻觉</a:t>
            </a:r>
            <a:r>
              <a:rPr sz="2400" b="1" dirty="0">
                <a:solidFill>
                  <a:srgbClr val="F58020"/>
                </a:solidFill>
                <a:latin typeface="Microsoft YaHei"/>
                <a:ea typeface="Microsoft YaHei"/>
              </a:rPr>
              <a:t>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0473-554E-5BDA-42AE-3A7A0C4B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00DAFD-EF28-EDDC-082C-99C9B5BF9B3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484C429E-4019-A9CC-F424-B5024E47B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E7C238-39EB-807F-A3A6-E1E7CC76CD7C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99B9F-B33F-0C5D-AC0B-5E70C20C2D5A}"/>
              </a:ext>
            </a:extLst>
          </p:cNvPr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4.4.2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FEA0EB-9FDB-8439-B94E-F30238B82556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DBD26-B098-1EB1-857D-C82A0E3FD381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视频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与动态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概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念演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示</a:t>
            </a:r>
          </a:p>
        </p:txBody>
      </p:sp>
      <p:pic>
        <p:nvPicPr>
          <p:cNvPr id="9" name="pho_av.mp4">
            <a:hlinkClick r:id="" action="ppaction://media"/>
            <a:extLst>
              <a:ext uri="{FF2B5EF4-FFF2-40B4-BE49-F238E27FC236}">
                <a16:creationId xmlns:a16="http://schemas.microsoft.com/office/drawing/2014/main" id="{F8E6EE38-202A-F95B-EDBB-6FACE60F85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13654" y="798379"/>
            <a:ext cx="9052560" cy="50952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574AB3-85E3-20BE-0844-55DE717C2E56}"/>
              </a:ext>
            </a:extLst>
          </p:cNvPr>
          <p:cNvSpPr txBox="1"/>
          <p:nvPr/>
        </p:nvSpPr>
        <p:spPr>
          <a:xfrm>
            <a:off x="2223906" y="6323409"/>
            <a:ext cx="774388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🎬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 概念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动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画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示例：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光照与氧气释放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的示意表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达，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非物理仿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真</a:t>
            </a:r>
            <a:endParaRPr sz="1600" b="0" i="1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1ADAFE-EC09-5932-B5D4-25223AE63987}"/>
              </a:ext>
            </a:extLst>
          </p:cNvPr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30 / 36</a:t>
            </a:r>
          </a:p>
        </p:txBody>
      </p:sp>
    </p:spTree>
    <p:extLst>
      <p:ext uri="{BB962C8B-B14F-4D97-AF65-F5344CB8AC3E}">
        <p14:creationId xmlns:p14="http://schemas.microsoft.com/office/powerpoint/2010/main" val="409549688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静态学术成果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动态视频的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工作流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287" y="5892521"/>
            <a:ext cx="106511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9  结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合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像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与视频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生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成制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作动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态演示的流程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31 / 36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71D9A69-6386-9B60-6CB0-232F05BA7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780" y="803545"/>
            <a:ext cx="8971279" cy="488775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91440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4.5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59772"/>
            <a:ext cx="6675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本章实训</a:t>
            </a:r>
            <a:endParaRPr sz="40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794760"/>
            <a:ext cx="13716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3977639"/>
            <a:ext cx="67665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综合运用看图、画图、配音、生成视频能力，把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"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植物的光合作用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"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从零做成一段带语音解说的科普短片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4.5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实训四步法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看图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画图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视频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配音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247120" cy="1371600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演练二：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根据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原理图生成叶片受光的概念插画，并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核对科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学含义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演练三：生成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光照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与氧气释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放的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示意动画，避免将比喻当作真实微观过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程；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演练四：编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写约50字解说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词，生成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语音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后检查术语与画面对应关系</a:t>
            </a: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9" name="Picture 8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278" y="2314804"/>
            <a:ext cx="6791815" cy="37046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1" y="6037719"/>
            <a:ext cx="1219169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图 4-10 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植物光合作用原理图（演练一：上传给视觉大模型，提炼通俗讲解思路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4.5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成果展示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光合作用科普短片（AI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全流程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269748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26914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看图解析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6392" y="960120"/>
            <a:ext cx="14630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960120"/>
            <a:ext cx="2697480" cy="50292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73552" y="1026914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画概念图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52744" y="960120"/>
            <a:ext cx="14630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960120"/>
            <a:ext cx="2697480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9904" y="1026914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图生视频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69096" y="960120"/>
            <a:ext cx="14630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004CA0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06256" y="960120"/>
            <a:ext cx="2697480" cy="50292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06256" y="1026914"/>
            <a:ext cx="2697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 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配音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pic>
        <p:nvPicPr>
          <p:cNvPr id="19" name="pho_av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7200" y="1783080"/>
            <a:ext cx="6583680" cy="3703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6603" y="5608858"/>
            <a:ext cx="700143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🎬 科普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演示：概念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动画与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合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成解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说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（点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击播放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pic>
        <p:nvPicPr>
          <p:cNvPr id="21" name="narration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269480" y="1783080"/>
            <a:ext cx="4572000" cy="2560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69480" y="4389120"/>
            <a:ext cx="4572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🔊 </a:t>
            </a:r>
            <a:r>
              <a:rPr sz="1600" b="0" i="1" dirty="0" err="1">
                <a:solidFill>
                  <a:srgbClr val="333333"/>
                </a:solidFill>
                <a:latin typeface="Microsoft YaHei"/>
                <a:ea typeface="Microsoft YaHei"/>
              </a:rPr>
              <a:t>单独配音轨（点击播放</a:t>
            </a:r>
            <a:r>
              <a:rPr sz="1600" b="0" i="1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4754879"/>
            <a:ext cx="4572000" cy="1707959"/>
          </a:xfrm>
          <a:prstGeom prst="rect">
            <a:avLst/>
          </a:prstGeom>
          <a:solidFill>
            <a:srgbClr val="E6F2FC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45374" y="4773533"/>
            <a:ext cx="4496105" cy="1743353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dirty="0">
                <a:solidFill>
                  <a:srgbClr val="004CA0"/>
                </a:solidFill>
                <a:latin typeface="Microsoft YaHei"/>
                <a:ea typeface="Microsoft YaHei"/>
              </a:rPr>
              <a:t>制作流程：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脚本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四维结构化提示词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3D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概念图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图生视频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神经语音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成片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需核查科学内容、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画面逻辑和配音，并标明AI生成素材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34 / 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00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200" b="1" i="0">
                <a:solidFill>
                  <a:srgbClr val="0066CC"/>
                </a:solidFill>
                <a:latin typeface="Microsoft YaHei"/>
                <a:ea typeface="Microsoft YaHei"/>
              </a:rPr>
              <a:t>本章小结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847" y="1188720"/>
            <a:ext cx="2286000" cy="3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666543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多模态大模型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25880" y="2086383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了解跨模态信息处理方式，以及生成耗时、成本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和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质量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的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影响因素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61888" y="1554480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39128" y="1554480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22008" y="1609344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图像理解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22008" y="2049070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用图像补充文字，整理单据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手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写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和多图信息，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核查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细节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、来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源与数值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295351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图像生成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381152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了解扩散方法，明确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主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体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与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构图要求，逐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步修改生成草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稿并检查错误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1888" y="2898648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39128" y="2898648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22008" y="2953512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音视频大模型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2008" y="3392629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利用授权语音与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视频工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具辅助讲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解，检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查术语和时序关系，区分概念演示与科学仿真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42816"/>
            <a:ext cx="777240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242816"/>
            <a:ext cx="777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4.5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4242816"/>
            <a:ext cx="4709160" cy="1234440"/>
          </a:xfrm>
          <a:prstGeom prst="rect">
            <a:avLst/>
          </a:prstGeom>
          <a:solidFill>
            <a:srgbClr val="E6F2FC"/>
          </a:solidFill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5880" y="4297680"/>
            <a:ext cx="4343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本章实训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25880" y="4716978"/>
            <a:ext cx="43434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光合作用全流程：看图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画图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图生视频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AI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配音，静态图文转动态视听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06440"/>
            <a:ext cx="11082528" cy="71323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5978390"/>
            <a:ext cx="114757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本章重点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：选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择合适的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表达形式，核查内容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准确性，保留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科研证据的真实性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91440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  <a:latin typeface="Arial"/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670612"/>
            <a:ext cx="5692588" cy="2187387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Microsoft YaHei"/>
                <a:ea typeface="Microsoft YaHei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E6F2FC"/>
                </a:solidFill>
                <a:latin typeface="Microsoft YaHei"/>
                <a:ea typeface="Microsoft YaHei"/>
              </a:rPr>
              <a:t>扬州大学  ·  第 4 章  ·  多模态大模型的原理与实践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1467</Words>
  <Application>Microsoft Office PowerPoint</Application>
  <PresentationFormat>宽屏</PresentationFormat>
  <Paragraphs>408</Paragraphs>
  <Slides>36</Slides>
  <Notes>0</Notes>
  <HiddenSlides>0</HiddenSlides>
  <MMClips>4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宋体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Windows 用户</cp:lastModifiedBy>
  <cp:revision>4</cp:revision>
  <dcterms:created xsi:type="dcterms:W3CDTF">2013-01-27T09:14:16Z</dcterms:created>
  <dcterms:modified xsi:type="dcterms:W3CDTF">2026-09-25T09:02:25Z</dcterms:modified>
  <cp:category/>
</cp:coreProperties>
</file>