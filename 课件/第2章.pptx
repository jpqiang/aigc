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52"/>
  </p:notesMasterIdLst>
  <p:sldIdLst>
    <p:sldId id="256" r:id="rId2"/>
    <p:sldId id="257" r:id="rId3"/>
    <p:sldId id="258" r:id="rId4"/>
    <p:sldId id="259" r:id="rId5"/>
    <p:sldId id="260" r:id="rId6"/>
    <p:sldId id="261" r:id="rId7"/>
    <p:sldId id="298" r:id="rId8"/>
    <p:sldId id="262" r:id="rId9"/>
    <p:sldId id="263" r:id="rId10"/>
    <p:sldId id="264" r:id="rId11"/>
    <p:sldId id="265" r:id="rId12"/>
    <p:sldId id="266" r:id="rId13"/>
    <p:sldId id="267" r:id="rId14"/>
    <p:sldId id="299" r:id="rId15"/>
    <p:sldId id="268" r:id="rId16"/>
    <p:sldId id="300" r:id="rId17"/>
    <p:sldId id="269" r:id="rId18"/>
    <p:sldId id="301" r:id="rId19"/>
    <p:sldId id="270" r:id="rId20"/>
    <p:sldId id="302" r:id="rId21"/>
    <p:sldId id="271" r:id="rId22"/>
    <p:sldId id="272" r:id="rId23"/>
    <p:sldId id="273" r:id="rId24"/>
    <p:sldId id="30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304" r:id="rId37"/>
    <p:sldId id="285" r:id="rId38"/>
    <p:sldId id="286" r:id="rId39"/>
    <p:sldId id="287" r:id="rId40"/>
    <p:sldId id="288" r:id="rId41"/>
    <p:sldId id="289" r:id="rId42"/>
    <p:sldId id="305" r:id="rId43"/>
    <p:sldId id="290" r:id="rId44"/>
    <p:sldId id="291" r:id="rId45"/>
    <p:sldId id="292" r:id="rId46"/>
    <p:sldId id="293" r:id="rId47"/>
    <p:sldId id="294" r:id="rId48"/>
    <p:sldId id="295" r:id="rId49"/>
    <p:sldId id="296" r:id="rId50"/>
    <p:sldId id="297" r:id="rId5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9545"/>
    <p:restoredTop sz="94697"/>
  </p:normalViewPr>
  <p:slideViewPr>
    <p:cSldViewPr snapToGrid="0" snapToObjects="1">
      <p:cViewPr varScale="1">
        <p:scale>
          <a:sx n="109" d="100"/>
          <a:sy n="109" d="100"/>
        </p:scale>
        <p:origin x="408" y="10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tableStyles" Target="tableStyle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C224384-9EF6-46EB-A4BC-26E15511CFE0}" type="datetimeFigureOut">
              <a:rPr lang="zh-CN" altLang="en-US" smtClean="0"/>
              <a:t>2026/9/25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8329198-9F17-4829-AD33-7719571A73F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9621659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8329198-9F17-4829-AD33-7719571A73F3}" type="slidenum">
              <a:rPr lang="zh-CN" altLang="en-US" smtClean="0"/>
              <a:t>43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7617828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9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image" Target="../media/image10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3" Type="http://schemas.openxmlformats.org/officeDocument/2006/relationships/image" Target="../media/image4.png"/><Relationship Id="rId7" Type="http://schemas.openxmlformats.org/officeDocument/2006/relationships/image" Target="../media/image1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png"/><Relationship Id="rId3" Type="http://schemas.openxmlformats.org/officeDocument/2006/relationships/image" Target="../media/image2.png"/><Relationship Id="rId7" Type="http://schemas.openxmlformats.org/officeDocument/2006/relationships/image" Target="../media/image20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3.png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2.png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6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Parallelogram 2"/>
          <p:cNvSpPr/>
          <p:nvPr/>
        </p:nvSpPr>
        <p:spPr>
          <a:xfrm>
            <a:off x="6562166" y="0"/>
            <a:ext cx="5629530" cy="3429000"/>
          </a:xfrm>
          <a:prstGeom prst="parallelogram">
            <a:avLst/>
          </a:prstGeom>
          <a:solidFill>
            <a:srgbClr val="004C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Parallelogram 3"/>
          <p:cNvSpPr/>
          <p:nvPr/>
        </p:nvSpPr>
        <p:spPr>
          <a:xfrm>
            <a:off x="6849036" y="2940424"/>
            <a:ext cx="5342660" cy="3917576"/>
          </a:xfrm>
          <a:prstGeom prst="parallelogram">
            <a:avLst/>
          </a:prstGeom>
          <a:solidFill>
            <a:srgbClr val="004C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0" y="2373421"/>
            <a:ext cx="12191695" cy="83099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5400" b="1" i="0" dirty="0">
                <a:solidFill>
                  <a:srgbClr val="FFFFFF"/>
                </a:solidFill>
                <a:latin typeface="Microsoft YaHei"/>
                <a:ea typeface="Microsoft YaHei"/>
              </a:rPr>
              <a:t>《</a:t>
            </a:r>
            <a:r>
              <a:rPr lang="zh-CN" altLang="en-US" sz="5400" b="1" dirty="0">
                <a:solidFill>
                  <a:srgbClr val="FFFFFF"/>
                </a:solidFill>
                <a:latin typeface="Microsoft YaHei"/>
                <a:ea typeface="Microsoft YaHei"/>
              </a:rPr>
              <a:t>生成式人工智能与科研素养</a:t>
            </a:r>
            <a:r>
              <a:rPr sz="5400" b="1" i="0" dirty="0">
                <a:solidFill>
                  <a:srgbClr val="FFFFFF"/>
                </a:solidFill>
                <a:latin typeface="Microsoft YaHei"/>
                <a:ea typeface="Microsoft YaHei"/>
              </a:rPr>
              <a:t>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0" y="3383280"/>
            <a:ext cx="12191695" cy="9144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Microsoft YaHei"/>
                <a:ea typeface="Microsoft YaHei"/>
              </a:rPr>
              <a:t>第 2 章   大模型的知识与检索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0" y="5122433"/>
            <a:ext cx="12191695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400" b="1" i="0" dirty="0" err="1">
                <a:solidFill>
                  <a:srgbClr val="FFFFFF"/>
                </a:solidFill>
                <a:latin typeface="Microsoft YaHei"/>
                <a:ea typeface="Microsoft YaHei"/>
              </a:rPr>
              <a:t>扬州大学</a:t>
            </a:r>
            <a:endParaRPr sz="2400" b="1" i="0" dirty="0">
              <a:solidFill>
                <a:srgbClr val="FFFFFF"/>
              </a:solidFill>
              <a:latin typeface="Microsoft YaHei"/>
              <a:ea typeface="Microsoft YaHe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ight Arrow 2"/>
          <p:cNvSpPr/>
          <p:nvPr/>
        </p:nvSpPr>
        <p:spPr>
          <a:xfrm>
            <a:off x="7904768" y="1645920"/>
            <a:ext cx="3738592" cy="4983438"/>
          </a:xfrm>
          <a:prstGeom prst="rightArrow">
            <a:avLst/>
          </a:prstGeom>
          <a:solidFill>
            <a:srgbClr val="006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742278"/>
            <a:ext cx="365760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5600" b="1" i="0" dirty="0" err="1">
                <a:solidFill>
                  <a:srgbClr val="333333"/>
                </a:solidFill>
                <a:latin typeface="Microsoft YaHei"/>
                <a:ea typeface="Microsoft YaHei"/>
              </a:rPr>
              <a:t>目录</a:t>
            </a:r>
            <a:endParaRPr sz="5600" b="1" i="0" dirty="0">
              <a:solidFill>
                <a:srgbClr val="333333"/>
              </a:solidFill>
              <a:latin typeface="Microsoft YaHei"/>
              <a:ea typeface="Microsoft YaHei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548640" y="1874519"/>
            <a:ext cx="3200400" cy="35000"/>
          </a:xfrm>
          <a:prstGeom prst="rect">
            <a:avLst/>
          </a:prstGeom>
          <a:solidFill>
            <a:srgbClr val="006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Picture 6" descr="yzu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17175" y="246888"/>
            <a:ext cx="1691640" cy="54864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548640" y="2468880"/>
            <a:ext cx="960120" cy="603504"/>
          </a:xfrm>
          <a:prstGeom prst="rect">
            <a:avLst/>
          </a:prstGeom>
          <a:solidFill>
            <a:srgbClr val="006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48640" y="2468880"/>
            <a:ext cx="960120" cy="60350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Microsoft YaHei"/>
                <a:ea typeface="Microsoft YaHei"/>
              </a:rPr>
              <a:t>2.1</a:t>
            </a:r>
          </a:p>
        </p:txBody>
      </p:sp>
      <p:sp>
        <p:nvSpPr>
          <p:cNvPr id="10" name="Rectangle 9"/>
          <p:cNvSpPr/>
          <p:nvPr/>
        </p:nvSpPr>
        <p:spPr>
          <a:xfrm>
            <a:off x="1600200" y="2468880"/>
            <a:ext cx="5394960" cy="603504"/>
          </a:xfrm>
          <a:prstGeom prst="rect">
            <a:avLst/>
          </a:prstGeom>
          <a:solidFill>
            <a:srgbClr val="FFFFFF"/>
          </a:solidFill>
          <a:ln w="19050">
            <a:solidFill>
              <a:srgbClr val="0066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737360" y="2468880"/>
            <a:ext cx="5257800" cy="60350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200" b="1" i="0" dirty="0">
                <a:solidFill>
                  <a:srgbClr val="0066CC"/>
                </a:solidFill>
                <a:latin typeface="Microsoft YaHei"/>
                <a:ea typeface="Microsoft YaHei"/>
              </a:rPr>
              <a:t>学会</a:t>
            </a:r>
            <a:r>
              <a:rPr sz="2200" b="1" i="0" dirty="0" err="1">
                <a:solidFill>
                  <a:srgbClr val="0066CC"/>
                </a:solidFill>
                <a:latin typeface="Microsoft YaHei"/>
                <a:ea typeface="Microsoft YaHei"/>
              </a:rPr>
              <a:t>向大模型有效提问</a:t>
            </a:r>
            <a:endParaRPr sz="2200" b="1" i="0" dirty="0">
              <a:solidFill>
                <a:srgbClr val="0066CC"/>
              </a:solidFill>
              <a:latin typeface="Microsoft YaHei"/>
              <a:ea typeface="Microsoft YaHei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548640" y="3145536"/>
            <a:ext cx="960120" cy="603504"/>
          </a:xfrm>
          <a:prstGeom prst="rect">
            <a:avLst/>
          </a:prstGeom>
          <a:solidFill>
            <a:srgbClr val="006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48640" y="3145536"/>
            <a:ext cx="960120" cy="60350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Microsoft YaHei"/>
                <a:ea typeface="Microsoft YaHei"/>
              </a:rPr>
              <a:t>2.2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600200" y="3145536"/>
            <a:ext cx="5394960" cy="603504"/>
          </a:xfrm>
          <a:prstGeom prst="rect">
            <a:avLst/>
          </a:prstGeom>
          <a:solidFill>
            <a:srgbClr val="FFFFFF"/>
          </a:solidFill>
          <a:ln w="19050">
            <a:solidFill>
              <a:srgbClr val="0066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737360" y="3145536"/>
            <a:ext cx="5257800" cy="60350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200" b="1" i="0">
                <a:solidFill>
                  <a:srgbClr val="0066CC"/>
                </a:solidFill>
                <a:latin typeface="Microsoft YaHei"/>
                <a:ea typeface="Microsoft YaHei"/>
              </a:rPr>
              <a:t>模型知识的来源与边界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8640" y="3822192"/>
            <a:ext cx="960120" cy="603504"/>
          </a:xfrm>
          <a:prstGeom prst="rect">
            <a:avLst/>
          </a:prstGeom>
          <a:solidFill>
            <a:srgbClr val="006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48640" y="3822192"/>
            <a:ext cx="960120" cy="60350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Microsoft YaHei"/>
                <a:ea typeface="Microsoft YaHei"/>
              </a:rPr>
              <a:t>2.3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600200" y="3822192"/>
            <a:ext cx="5394960" cy="603504"/>
          </a:xfrm>
          <a:prstGeom prst="rect">
            <a:avLst/>
          </a:prstGeom>
          <a:solidFill>
            <a:srgbClr val="FFFFFF"/>
          </a:solidFill>
          <a:ln w="19050">
            <a:solidFill>
              <a:srgbClr val="0066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1737360" y="3822192"/>
            <a:ext cx="5257800" cy="60350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200" b="1" i="0">
                <a:solidFill>
                  <a:srgbClr val="0066CC"/>
                </a:solidFill>
                <a:latin typeface="Microsoft YaHei"/>
                <a:ea typeface="Microsoft YaHei"/>
              </a:rPr>
              <a:t>联网查找最新信息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48640" y="4498848"/>
            <a:ext cx="960120" cy="603504"/>
          </a:xfrm>
          <a:prstGeom prst="rect">
            <a:avLst/>
          </a:prstGeom>
          <a:solidFill>
            <a:srgbClr val="006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548640" y="4498848"/>
            <a:ext cx="960120" cy="60350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Microsoft YaHei"/>
                <a:ea typeface="Microsoft YaHei"/>
              </a:rPr>
              <a:t>2.4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600200" y="4498848"/>
            <a:ext cx="5394960" cy="603504"/>
          </a:xfrm>
          <a:prstGeom prst="rect">
            <a:avLst/>
          </a:prstGeom>
          <a:solidFill>
            <a:srgbClr val="FFFFFF"/>
          </a:solidFill>
          <a:ln w="19050">
            <a:solidFill>
              <a:srgbClr val="0066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1737360" y="4498848"/>
            <a:ext cx="5257800" cy="60350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200" b="1" i="0">
                <a:solidFill>
                  <a:srgbClr val="0066CC"/>
                </a:solidFill>
                <a:latin typeface="Microsoft YaHei"/>
                <a:ea typeface="Microsoft YaHei"/>
              </a:rPr>
              <a:t>读取网页和本地资料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48640" y="5175504"/>
            <a:ext cx="960120" cy="603504"/>
          </a:xfrm>
          <a:prstGeom prst="rect">
            <a:avLst/>
          </a:prstGeom>
          <a:solidFill>
            <a:srgbClr val="006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548640" y="5175504"/>
            <a:ext cx="960120" cy="60350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Microsoft YaHei"/>
                <a:ea typeface="Microsoft YaHei"/>
              </a:rPr>
              <a:t>2.5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600200" y="5175504"/>
            <a:ext cx="5394960" cy="603504"/>
          </a:xfrm>
          <a:prstGeom prst="rect">
            <a:avLst/>
          </a:prstGeom>
          <a:solidFill>
            <a:srgbClr val="FFFFFF"/>
          </a:solidFill>
          <a:ln w="19050">
            <a:solidFill>
              <a:srgbClr val="0066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1737360" y="5175504"/>
            <a:ext cx="5257800" cy="60350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200" b="1" i="0">
                <a:solidFill>
                  <a:srgbClr val="0066CC"/>
                </a:solidFill>
                <a:latin typeface="Microsoft YaHei"/>
                <a:ea typeface="Microsoft YaHei"/>
              </a:rPr>
              <a:t>用深度研究完成复杂检索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48640" y="5852160"/>
            <a:ext cx="960120" cy="603504"/>
          </a:xfrm>
          <a:prstGeom prst="rect">
            <a:avLst/>
          </a:prstGeom>
          <a:solidFill>
            <a:srgbClr val="006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548640" y="5852160"/>
            <a:ext cx="960120" cy="60350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Microsoft YaHei"/>
                <a:ea typeface="Microsoft YaHei"/>
              </a:rPr>
              <a:t>2.6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600200" y="5852160"/>
            <a:ext cx="5394960" cy="603504"/>
          </a:xfrm>
          <a:prstGeom prst="rect">
            <a:avLst/>
          </a:prstGeom>
          <a:solidFill>
            <a:srgbClr val="FFFFFF"/>
          </a:solidFill>
          <a:ln w="19050">
            <a:solidFill>
              <a:srgbClr val="0066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1737360" y="5852160"/>
            <a:ext cx="5257800" cy="60350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200" b="1" i="0">
                <a:solidFill>
                  <a:srgbClr val="0066CC"/>
                </a:solidFill>
                <a:latin typeface="Microsoft YaHei"/>
                <a:ea typeface="Microsoft YaHei"/>
              </a:rPr>
              <a:t>本章实训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094415" y="6446520"/>
            <a:ext cx="914400" cy="320040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pPr algn="r"/>
            <a:r>
              <a:rPr sz="1100">
                <a:solidFill>
                  <a:srgbClr val="999999"/>
                </a:solidFill>
                <a:latin typeface="Arial"/>
              </a:rPr>
              <a:t>2 / 50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yzu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17175" y="246888"/>
            <a:ext cx="1691640" cy="54864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274320"/>
            <a:ext cx="960120" cy="502920"/>
          </a:xfrm>
          <a:prstGeom prst="rect">
            <a:avLst/>
          </a:prstGeom>
          <a:solidFill>
            <a:srgbClr val="006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" y="341114"/>
            <a:ext cx="914400" cy="3693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400" b="1" i="0" dirty="0" err="1">
                <a:solidFill>
                  <a:srgbClr val="FFFFFF"/>
                </a:solidFill>
                <a:latin typeface="Microsoft YaHei"/>
                <a:ea typeface="Microsoft YaHei"/>
              </a:rPr>
              <a:t>导言</a:t>
            </a:r>
            <a:endParaRPr sz="2400" b="1" i="0" dirty="0">
              <a:solidFill>
                <a:srgbClr val="FFFFFF"/>
              </a:solidFill>
              <a:latin typeface="Microsoft YaHei"/>
              <a:ea typeface="Microsoft YaHei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960120" y="274320"/>
            <a:ext cx="9052560" cy="502920"/>
          </a:xfrm>
          <a:prstGeom prst="rect">
            <a:avLst/>
          </a:prstGeom>
          <a:solidFill>
            <a:srgbClr val="3A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234440" y="341114"/>
            <a:ext cx="8686800" cy="3693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400" b="1" i="0" dirty="0" err="1">
                <a:solidFill>
                  <a:srgbClr val="FFFFFF"/>
                </a:solidFill>
                <a:latin typeface="Microsoft YaHei"/>
                <a:ea typeface="Microsoft YaHei"/>
              </a:rPr>
              <a:t>为什么要了解大模型的知识机制</a:t>
            </a:r>
            <a:r>
              <a:rPr sz="2400" b="1" i="0" dirty="0">
                <a:solidFill>
                  <a:srgbClr val="FFFFFF"/>
                </a:solidFill>
                <a:latin typeface="Microsoft YaHei"/>
                <a:ea typeface="Microsoft YaHei"/>
              </a:rPr>
              <a:t>？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005840"/>
            <a:ext cx="11247120" cy="777240"/>
          </a:xfrm>
          <a:prstGeom prst="rect">
            <a:avLst/>
          </a:prstGeom>
          <a:solidFill>
            <a:srgbClr val="006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57200" y="1005840"/>
            <a:ext cx="11247120" cy="7772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800" b="1" i="0" dirty="0" err="1">
                <a:solidFill>
                  <a:srgbClr val="FFFFFF"/>
                </a:solidFill>
                <a:latin typeface="Microsoft YaHei"/>
                <a:ea typeface="Microsoft YaHei"/>
              </a:rPr>
              <a:t>大语言模</a:t>
            </a:r>
            <a:r>
              <a:rPr sz="2800" b="1" i="0" dirty="0">
                <a:solidFill>
                  <a:srgbClr val="FFFFFF"/>
                </a:solidFill>
                <a:latin typeface="Microsoft YaHei"/>
                <a:ea typeface="Microsoft YaHei"/>
              </a:rPr>
              <a:t>型的回</a:t>
            </a:r>
            <a:r>
              <a:rPr sz="2800" b="1" i="0" dirty="0" err="1">
                <a:solidFill>
                  <a:srgbClr val="FFFFFF"/>
                </a:solidFill>
                <a:latin typeface="Microsoft YaHei"/>
                <a:ea typeface="Microsoft YaHei"/>
              </a:rPr>
              <a:t>答有知识边界，</a:t>
            </a:r>
            <a:endParaRPr sz="2800" b="1" i="0" dirty="0">
              <a:solidFill>
                <a:srgbClr val="FFFFFF"/>
              </a:solidFill>
              <a:latin typeface="Microsoft YaHei"/>
              <a:ea typeface="Microsoft YaHei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457200" y="1874519"/>
            <a:ext cx="11247120" cy="3693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400" b="1" i="0" dirty="0">
                <a:solidFill>
                  <a:srgbClr val="004CA0"/>
                </a:solidFill>
                <a:latin typeface="Microsoft YaHei"/>
                <a:ea typeface="Microsoft YaHei"/>
              </a:rPr>
              <a:t>也</a:t>
            </a:r>
            <a:r>
              <a:rPr sz="2400" b="1" i="0" dirty="0" err="1">
                <a:solidFill>
                  <a:srgbClr val="004CA0"/>
                </a:solidFill>
                <a:latin typeface="Microsoft YaHei"/>
                <a:ea typeface="Microsoft YaHei"/>
              </a:rPr>
              <a:t>受到训练数据、检索结果和生成机</a:t>
            </a:r>
            <a:r>
              <a:rPr sz="2400" b="1" i="0" dirty="0">
                <a:solidFill>
                  <a:srgbClr val="004CA0"/>
                </a:solidFill>
                <a:latin typeface="Microsoft YaHei"/>
                <a:ea typeface="Microsoft YaHei"/>
              </a:rPr>
              <a:t>制</a:t>
            </a:r>
            <a:r>
              <a:rPr sz="2400" b="1" i="0" dirty="0" err="1">
                <a:solidFill>
                  <a:srgbClr val="004CA0"/>
                </a:solidFill>
                <a:latin typeface="Microsoft YaHei"/>
                <a:ea typeface="Microsoft YaHei"/>
              </a:rPr>
              <a:t>的影响</a:t>
            </a:r>
            <a:r>
              <a:rPr sz="2400" b="1" i="0" dirty="0">
                <a:solidFill>
                  <a:srgbClr val="004CA0"/>
                </a:solidFill>
                <a:latin typeface="Microsoft YaHei"/>
                <a:ea typeface="Microsoft YaHei"/>
              </a:rPr>
              <a:t>。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2606040"/>
            <a:ext cx="5440680" cy="3383280"/>
          </a:xfrm>
          <a:prstGeom prst="rect">
            <a:avLst/>
          </a:prstGeom>
          <a:solidFill>
            <a:srgbClr val="FFFFFF"/>
          </a:solidFill>
          <a:ln w="25400">
            <a:solidFill>
              <a:srgbClr val="F580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457200" y="2606040"/>
            <a:ext cx="5440680" cy="502920"/>
          </a:xfrm>
          <a:prstGeom prst="rect">
            <a:avLst/>
          </a:prstGeom>
          <a:solidFill>
            <a:srgbClr val="F58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57200" y="2672834"/>
            <a:ext cx="5440680" cy="3693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400" b="1" i="0" dirty="0">
                <a:solidFill>
                  <a:srgbClr val="FFFFFF"/>
                </a:solidFill>
                <a:latin typeface="Microsoft YaHei"/>
                <a:ea typeface="Microsoft YaHei"/>
              </a:rPr>
              <a:t>常</a:t>
            </a:r>
            <a:r>
              <a:rPr sz="2400" b="1" i="0" dirty="0" err="1">
                <a:solidFill>
                  <a:srgbClr val="FFFFFF"/>
                </a:solidFill>
                <a:latin typeface="Microsoft YaHei"/>
                <a:ea typeface="Microsoft YaHei"/>
              </a:rPr>
              <a:t>见使</a:t>
            </a:r>
            <a:r>
              <a:rPr sz="2400" b="1" i="0" dirty="0">
                <a:solidFill>
                  <a:srgbClr val="FFFFFF"/>
                </a:solidFill>
                <a:latin typeface="Microsoft YaHei"/>
                <a:ea typeface="Microsoft YaHei"/>
              </a:rPr>
              <a:t>用</a:t>
            </a:r>
            <a:r>
              <a:rPr sz="2400" b="1" i="0" dirty="0" err="1">
                <a:solidFill>
                  <a:srgbClr val="FFFFFF"/>
                </a:solidFill>
                <a:latin typeface="Microsoft YaHei"/>
                <a:ea typeface="Microsoft YaHei"/>
              </a:rPr>
              <a:t>问题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3291840"/>
            <a:ext cx="4892040" cy="2637508"/>
          </a:xfrm>
          <a:prstGeom prst="rect">
            <a:avLst/>
          </a:prstGeom>
          <a:noFill/>
        </p:spPr>
        <p:txBody>
          <a:bodyPr wrap="square" lIns="36000" tIns="36000" rIns="36000" bIns="36000" anchor="t">
            <a:spAutoFit/>
          </a:bodyPr>
          <a:lstStyle/>
          <a:p>
            <a:pPr algn="l">
              <a:lnSpc>
                <a:spcPct val="140000"/>
              </a:lnSpc>
              <a:spcAft>
                <a:spcPts val="800"/>
              </a:spcAft>
            </a:pPr>
            <a:r>
              <a:rPr sz="2000" b="0" dirty="0">
                <a:solidFill>
                  <a:srgbClr val="333333"/>
                </a:solidFill>
                <a:latin typeface="Microsoft YaHei"/>
                <a:ea typeface="Microsoft YaHei"/>
              </a:rPr>
              <a:t>• </a:t>
            </a:r>
            <a:r>
              <a:rPr sz="2000" b="0" dirty="0">
                <a:latin typeface="Microsoft YaHei"/>
                <a:ea typeface="Microsoft YaHei"/>
              </a:rPr>
              <a:t>只输入简短问</a:t>
            </a:r>
            <a:r>
              <a:rPr sz="2000" b="0" dirty="0" err="1">
                <a:latin typeface="Microsoft YaHei"/>
                <a:ea typeface="Microsoft YaHei"/>
              </a:rPr>
              <a:t>题，缺</a:t>
            </a:r>
            <a:r>
              <a:rPr sz="2000" b="0" dirty="0">
                <a:latin typeface="Microsoft YaHei"/>
                <a:ea typeface="Microsoft YaHei"/>
              </a:rPr>
              <a:t>少任</a:t>
            </a:r>
            <a:r>
              <a:rPr sz="2000" b="0" dirty="0" err="1">
                <a:latin typeface="Microsoft YaHei"/>
                <a:ea typeface="Microsoft YaHei"/>
              </a:rPr>
              <a:t>务背景</a:t>
            </a:r>
            <a:endParaRPr sz="2000" b="0" dirty="0">
              <a:latin typeface="Microsoft YaHei"/>
              <a:ea typeface="Microsoft YaHei"/>
            </a:endParaRPr>
          </a:p>
          <a:p>
            <a:pPr algn="l">
              <a:lnSpc>
                <a:spcPct val="140000"/>
              </a:lnSpc>
              <a:spcAft>
                <a:spcPts val="800"/>
              </a:spcAft>
            </a:pPr>
            <a:r>
              <a:rPr sz="2000" b="0" dirty="0">
                <a:latin typeface="Microsoft YaHei"/>
                <a:ea typeface="Microsoft YaHei"/>
              </a:rPr>
              <a:t>• </a:t>
            </a:r>
            <a:r>
              <a:rPr sz="2000" b="0" dirty="0" err="1">
                <a:latin typeface="Microsoft YaHei"/>
                <a:ea typeface="Microsoft YaHei"/>
              </a:rPr>
              <a:t>未区分适用任务与能力局限</a:t>
            </a:r>
            <a:endParaRPr sz="2000" b="0" dirty="0">
              <a:latin typeface="Microsoft YaHei"/>
              <a:ea typeface="Microsoft YaHei"/>
            </a:endParaRPr>
          </a:p>
          <a:p>
            <a:pPr algn="l">
              <a:lnSpc>
                <a:spcPct val="140000"/>
              </a:lnSpc>
              <a:spcAft>
                <a:spcPts val="800"/>
              </a:spcAft>
            </a:pPr>
            <a:r>
              <a:rPr sz="2000" b="0" dirty="0">
                <a:latin typeface="Microsoft YaHei"/>
                <a:ea typeface="Microsoft YaHei"/>
              </a:rPr>
              <a:t>•</a:t>
            </a:r>
            <a:r>
              <a:rPr sz="2000" b="0" dirty="0" err="1">
                <a:latin typeface="Microsoft YaHei"/>
                <a:ea typeface="Microsoft YaHei"/>
              </a:rPr>
              <a:t> 未经</a:t>
            </a:r>
            <a:r>
              <a:rPr sz="2000" b="0" dirty="0">
                <a:latin typeface="Microsoft YaHei"/>
                <a:ea typeface="Microsoft YaHei"/>
              </a:rPr>
              <a:t>核验</a:t>
            </a:r>
            <a:r>
              <a:rPr sz="2000" b="0" dirty="0" err="1">
                <a:latin typeface="Microsoft YaHei"/>
                <a:ea typeface="Microsoft YaHei"/>
              </a:rPr>
              <a:t>就采</a:t>
            </a:r>
            <a:r>
              <a:rPr sz="2000" b="0" dirty="0">
                <a:latin typeface="Microsoft YaHei"/>
                <a:ea typeface="Microsoft YaHei"/>
              </a:rPr>
              <a:t>用模</a:t>
            </a:r>
            <a:r>
              <a:rPr sz="2000" b="1" dirty="0" err="1">
                <a:latin typeface="Microsoft YaHei"/>
                <a:ea typeface="Microsoft YaHei"/>
              </a:rPr>
              <a:t>型输</a:t>
            </a:r>
            <a:r>
              <a:rPr sz="2000" b="0" dirty="0" err="1">
                <a:latin typeface="Microsoft YaHei"/>
                <a:ea typeface="Microsoft YaHei"/>
              </a:rPr>
              <a:t>出</a:t>
            </a:r>
            <a:endParaRPr sz="2000" b="0" dirty="0">
              <a:latin typeface="Microsoft YaHei"/>
              <a:ea typeface="Microsoft YaHei"/>
            </a:endParaRPr>
          </a:p>
          <a:p>
            <a:pPr algn="l">
              <a:lnSpc>
                <a:spcPct val="140000"/>
              </a:lnSpc>
              <a:spcAft>
                <a:spcPts val="800"/>
              </a:spcAft>
            </a:pPr>
            <a:r>
              <a:rPr sz="2000" b="0" dirty="0">
                <a:latin typeface="Microsoft YaHei"/>
                <a:ea typeface="Microsoft YaHei"/>
              </a:rPr>
              <a:t>• </a:t>
            </a:r>
            <a:r>
              <a:rPr sz="2000" b="0" dirty="0" err="1">
                <a:latin typeface="Microsoft YaHei"/>
                <a:ea typeface="Microsoft YaHei"/>
              </a:rPr>
              <a:t>使用过时信息</a:t>
            </a:r>
            <a:r>
              <a:rPr sz="2000" b="0" dirty="0">
                <a:latin typeface="Microsoft YaHei"/>
                <a:ea typeface="Microsoft YaHei"/>
              </a:rPr>
              <a:t>或不存</a:t>
            </a:r>
            <a:r>
              <a:rPr sz="2000" b="0" dirty="0" err="1">
                <a:latin typeface="Microsoft YaHei"/>
                <a:ea typeface="Microsoft YaHei"/>
              </a:rPr>
              <a:t>在的文献</a:t>
            </a:r>
            <a:endParaRPr sz="2000" b="0" dirty="0">
              <a:latin typeface="Microsoft YaHei"/>
              <a:ea typeface="Microsoft YaHei"/>
            </a:endParaRPr>
          </a:p>
          <a:p>
            <a:pPr algn="l">
              <a:lnSpc>
                <a:spcPct val="140000"/>
              </a:lnSpc>
              <a:spcAft>
                <a:spcPts val="800"/>
              </a:spcAft>
            </a:pPr>
            <a:r>
              <a:rPr sz="2000" b="0" dirty="0">
                <a:latin typeface="Microsoft YaHei"/>
                <a:ea typeface="Microsoft YaHei"/>
              </a:rPr>
              <a:t>• </a:t>
            </a:r>
            <a:r>
              <a:rPr sz="2000" b="0" dirty="0" err="1">
                <a:latin typeface="Microsoft YaHei"/>
                <a:ea typeface="Microsoft YaHei"/>
              </a:rPr>
              <a:t>将敏感材料上传未经授权的平台</a:t>
            </a:r>
            <a:endParaRPr sz="2000" b="0" dirty="0">
              <a:latin typeface="Microsoft YaHei"/>
              <a:ea typeface="Microsoft YaHei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6080760" y="2606040"/>
            <a:ext cx="5440680" cy="3383280"/>
          </a:xfrm>
          <a:prstGeom prst="rect">
            <a:avLst/>
          </a:prstGeom>
          <a:solidFill>
            <a:srgbClr val="FFFFFF"/>
          </a:solidFill>
          <a:ln w="25400">
            <a:solidFill>
              <a:srgbClr val="0066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6080760" y="2606040"/>
            <a:ext cx="5440680" cy="502920"/>
          </a:xfrm>
          <a:prstGeom prst="rect">
            <a:avLst/>
          </a:prstGeom>
          <a:solidFill>
            <a:srgbClr val="006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080760" y="2672834"/>
            <a:ext cx="5440680" cy="3693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400" b="1" i="0" dirty="0">
                <a:solidFill>
                  <a:srgbClr val="FFFFFF"/>
                </a:solidFill>
                <a:latin typeface="Microsoft YaHei"/>
                <a:ea typeface="Microsoft YaHei"/>
              </a:rPr>
              <a:t>本章</a:t>
            </a:r>
            <a:r>
              <a:rPr sz="2400" b="1" i="0" dirty="0" err="1">
                <a:solidFill>
                  <a:srgbClr val="FFFFFF"/>
                </a:solidFill>
                <a:latin typeface="Microsoft YaHei"/>
                <a:ea typeface="Microsoft YaHei"/>
              </a:rPr>
              <a:t>学习目标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55080" y="3291840"/>
            <a:ext cx="4892040" cy="2637508"/>
          </a:xfrm>
          <a:prstGeom prst="rect">
            <a:avLst/>
          </a:prstGeom>
          <a:noFill/>
        </p:spPr>
        <p:txBody>
          <a:bodyPr wrap="square" lIns="36000" tIns="36000" rIns="36000" bIns="36000" anchor="t">
            <a:spAutoFit/>
          </a:bodyPr>
          <a:lstStyle/>
          <a:p>
            <a:pPr algn="l">
              <a:lnSpc>
                <a:spcPct val="140000"/>
              </a:lnSpc>
              <a:spcAft>
                <a:spcPts val="800"/>
              </a:spcAft>
            </a:pPr>
            <a:r>
              <a:rPr sz="2000" dirty="0">
                <a:latin typeface="Microsoft YaHei"/>
                <a:ea typeface="Microsoft YaHei"/>
              </a:rPr>
              <a:t>• </a:t>
            </a:r>
            <a:r>
              <a:rPr sz="2000" dirty="0" err="1">
                <a:latin typeface="Microsoft YaHei"/>
                <a:ea typeface="Microsoft YaHei"/>
              </a:rPr>
              <a:t>理解模型</a:t>
            </a:r>
            <a:r>
              <a:rPr sz="2000" dirty="0">
                <a:latin typeface="Microsoft YaHei"/>
                <a:ea typeface="Microsoft YaHei"/>
              </a:rPr>
              <a:t>知识的</a:t>
            </a:r>
            <a:r>
              <a:rPr sz="2000" dirty="0" err="1">
                <a:latin typeface="Microsoft YaHei"/>
                <a:ea typeface="Microsoft YaHei"/>
              </a:rPr>
              <a:t>来源与边界</a:t>
            </a:r>
            <a:endParaRPr sz="2000" dirty="0">
              <a:latin typeface="Microsoft YaHei"/>
              <a:ea typeface="Microsoft YaHei"/>
            </a:endParaRPr>
          </a:p>
          <a:p>
            <a:pPr algn="l">
              <a:lnSpc>
                <a:spcPct val="140000"/>
              </a:lnSpc>
              <a:spcAft>
                <a:spcPts val="800"/>
              </a:spcAft>
            </a:pPr>
            <a:r>
              <a:rPr sz="2000" dirty="0">
                <a:latin typeface="Microsoft YaHei"/>
                <a:ea typeface="Microsoft YaHei"/>
              </a:rPr>
              <a:t>• </a:t>
            </a:r>
            <a:r>
              <a:rPr sz="2000" dirty="0" err="1">
                <a:latin typeface="Microsoft YaHei"/>
                <a:ea typeface="Microsoft YaHei"/>
              </a:rPr>
              <a:t>用清晰的提示词说明科研需求</a:t>
            </a:r>
            <a:endParaRPr sz="2000" dirty="0">
              <a:latin typeface="Microsoft YaHei"/>
              <a:ea typeface="Microsoft YaHei"/>
            </a:endParaRPr>
          </a:p>
          <a:p>
            <a:pPr algn="l">
              <a:lnSpc>
                <a:spcPct val="140000"/>
              </a:lnSpc>
              <a:spcAft>
                <a:spcPts val="800"/>
              </a:spcAft>
            </a:pPr>
            <a:r>
              <a:rPr sz="2000" dirty="0">
                <a:latin typeface="Microsoft YaHei"/>
                <a:ea typeface="Microsoft YaHei"/>
              </a:rPr>
              <a:t>•</a:t>
            </a:r>
            <a:r>
              <a:rPr sz="2000" dirty="0" err="1">
                <a:latin typeface="Microsoft YaHei"/>
                <a:ea typeface="Microsoft YaHei"/>
              </a:rPr>
              <a:t> 核对来源</a:t>
            </a:r>
            <a:r>
              <a:rPr sz="2000" dirty="0">
                <a:latin typeface="Microsoft YaHei"/>
                <a:ea typeface="Microsoft YaHei"/>
              </a:rPr>
              <a:t>、日</a:t>
            </a:r>
            <a:r>
              <a:rPr sz="2000" dirty="0" err="1">
                <a:latin typeface="Microsoft YaHei"/>
                <a:ea typeface="Microsoft YaHei"/>
              </a:rPr>
              <a:t>期和证据</a:t>
            </a:r>
            <a:endParaRPr sz="2000" dirty="0">
              <a:latin typeface="Microsoft YaHei"/>
              <a:ea typeface="Microsoft YaHei"/>
            </a:endParaRPr>
          </a:p>
          <a:p>
            <a:pPr algn="l">
              <a:lnSpc>
                <a:spcPct val="140000"/>
              </a:lnSpc>
              <a:spcAft>
                <a:spcPts val="800"/>
              </a:spcAft>
            </a:pPr>
            <a:r>
              <a:rPr sz="2000" dirty="0">
                <a:latin typeface="Microsoft YaHei"/>
                <a:ea typeface="Microsoft YaHei"/>
              </a:rPr>
              <a:t>•</a:t>
            </a:r>
            <a:r>
              <a:rPr sz="2000" dirty="0" err="1">
                <a:latin typeface="Microsoft YaHei"/>
                <a:ea typeface="Microsoft YaHei"/>
              </a:rPr>
              <a:t> 根</a:t>
            </a:r>
            <a:r>
              <a:rPr sz="2000" dirty="0">
                <a:latin typeface="Microsoft YaHei"/>
                <a:ea typeface="Microsoft YaHei"/>
              </a:rPr>
              <a:t>据</a:t>
            </a:r>
            <a:r>
              <a:rPr sz="2000" dirty="0" err="1">
                <a:latin typeface="Microsoft YaHei"/>
                <a:ea typeface="Microsoft YaHei"/>
              </a:rPr>
              <a:t>任务选</a:t>
            </a:r>
            <a:r>
              <a:rPr sz="2000" dirty="0">
                <a:latin typeface="Microsoft YaHei"/>
                <a:ea typeface="Microsoft YaHei"/>
              </a:rPr>
              <a:t>择联</a:t>
            </a:r>
            <a:r>
              <a:rPr sz="2000" dirty="0" err="1">
                <a:latin typeface="Microsoft YaHei"/>
                <a:ea typeface="Microsoft YaHei"/>
              </a:rPr>
              <a:t>网检索</a:t>
            </a:r>
            <a:r>
              <a:rPr sz="2000" dirty="0">
                <a:latin typeface="Microsoft YaHei"/>
                <a:ea typeface="Microsoft YaHei"/>
              </a:rPr>
              <a:t>或</a:t>
            </a:r>
            <a:r>
              <a:rPr sz="2000" dirty="0" err="1">
                <a:latin typeface="Microsoft YaHei"/>
                <a:ea typeface="Microsoft YaHei"/>
              </a:rPr>
              <a:t>深度研究</a:t>
            </a:r>
            <a:endParaRPr sz="2000" dirty="0">
              <a:latin typeface="Microsoft YaHei"/>
              <a:ea typeface="Microsoft YaHei"/>
            </a:endParaRPr>
          </a:p>
          <a:p>
            <a:pPr algn="l">
              <a:lnSpc>
                <a:spcPct val="140000"/>
              </a:lnSpc>
              <a:spcAft>
                <a:spcPts val="800"/>
              </a:spcAft>
            </a:pPr>
            <a:r>
              <a:rPr sz="2000" dirty="0">
                <a:latin typeface="Microsoft YaHei"/>
                <a:ea typeface="Microsoft YaHei"/>
              </a:rPr>
              <a:t>• 结</a:t>
            </a:r>
            <a:r>
              <a:rPr sz="2000" dirty="0">
                <a:latin typeface="Arial"/>
                <a:ea typeface="Arial"/>
              </a:rPr>
              <a:t>合工具开展</a:t>
            </a:r>
            <a:r>
              <a:rPr sz="2000" dirty="0" err="1">
                <a:latin typeface="Microsoft YaHei"/>
                <a:ea typeface="Microsoft YaHei"/>
              </a:rPr>
              <a:t>调研，并核验结果</a:t>
            </a:r>
            <a:endParaRPr sz="2000" dirty="0">
              <a:latin typeface="Microsoft YaHei"/>
              <a:ea typeface="Microsoft YaHei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11094415" y="6446520"/>
            <a:ext cx="914400" cy="320040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pPr algn="r"/>
            <a:r>
              <a:rPr sz="1100">
                <a:solidFill>
                  <a:srgbClr val="999999"/>
                </a:solidFill>
                <a:latin typeface="Arial"/>
              </a:rPr>
              <a:t>3 / 50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389120" cy="6858000"/>
          </a:xfrm>
          <a:prstGeom prst="rect">
            <a:avLst/>
          </a:prstGeom>
          <a:solidFill>
            <a:srgbClr val="006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4389120" y="0"/>
            <a:ext cx="91440" cy="6858000"/>
          </a:xfrm>
          <a:prstGeom prst="rect">
            <a:avLst/>
          </a:prstGeom>
          <a:solidFill>
            <a:srgbClr val="004C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65760" y="1828800"/>
            <a:ext cx="3657600" cy="2286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6000" b="1" i="0">
                <a:solidFill>
                  <a:srgbClr val="FFFFFF"/>
                </a:solidFill>
                <a:latin typeface="Arial"/>
                <a:ea typeface="Arial"/>
              </a:rPr>
              <a:t>2.1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948517" y="2514600"/>
            <a:ext cx="640080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4200" b="1" i="0" dirty="0">
                <a:solidFill>
                  <a:srgbClr val="333333"/>
                </a:solidFill>
                <a:latin typeface="Microsoft YaHei"/>
                <a:ea typeface="Microsoft YaHei"/>
              </a:rPr>
              <a:t>学会</a:t>
            </a:r>
            <a:r>
              <a:rPr sz="4200" b="1" i="0" dirty="0" err="1">
                <a:solidFill>
                  <a:srgbClr val="333333"/>
                </a:solidFill>
                <a:latin typeface="Microsoft YaHei"/>
                <a:ea typeface="Microsoft YaHei"/>
              </a:rPr>
              <a:t>向大模型有效提问</a:t>
            </a:r>
            <a:endParaRPr sz="4200" b="1" i="0" dirty="0">
              <a:solidFill>
                <a:srgbClr val="333333"/>
              </a:solidFill>
              <a:latin typeface="Microsoft YaHei"/>
              <a:ea typeface="Microsoft YaHei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5029200" y="3657600"/>
            <a:ext cx="1371600" cy="38000"/>
          </a:xfrm>
          <a:prstGeom prst="rect">
            <a:avLst/>
          </a:prstGeom>
          <a:solidFill>
            <a:srgbClr val="006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029200" y="3840480"/>
            <a:ext cx="6766560" cy="61555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" b="0" i="0" dirty="0" err="1">
                <a:solidFill>
                  <a:srgbClr val="333333"/>
                </a:solidFill>
                <a:latin typeface="Microsoft YaHei"/>
                <a:ea typeface="Microsoft YaHei"/>
              </a:rPr>
              <a:t>说明任务背景和要求，通过多轮交流完善结果。本节介</a:t>
            </a:r>
            <a:r>
              <a:rPr sz="2000" b="0" i="0" dirty="0">
                <a:solidFill>
                  <a:srgbClr val="333333"/>
                </a:solidFill>
                <a:latin typeface="Microsoft YaHei"/>
                <a:ea typeface="Microsoft YaHei"/>
              </a:rPr>
              <a:t>绍提示词的基</a:t>
            </a:r>
            <a:r>
              <a:rPr sz="2000" b="0" i="0" dirty="0" err="1">
                <a:solidFill>
                  <a:srgbClr val="333333"/>
                </a:solidFill>
                <a:latin typeface="Microsoft YaHei"/>
                <a:ea typeface="Microsoft YaHei"/>
              </a:rPr>
              <a:t>本写</a:t>
            </a:r>
            <a:r>
              <a:rPr sz="2000" b="0" i="0" dirty="0">
                <a:solidFill>
                  <a:srgbClr val="333333"/>
                </a:solidFill>
                <a:latin typeface="Microsoft YaHei"/>
                <a:ea typeface="Microsoft YaHei"/>
              </a:rPr>
              <a:t>法及</a:t>
            </a:r>
            <a:r>
              <a:rPr sz="2000" b="0" i="0" dirty="0" err="1">
                <a:solidFill>
                  <a:srgbClr val="333333"/>
                </a:solidFill>
                <a:latin typeface="Microsoft YaHei"/>
                <a:ea typeface="Microsoft YaHei"/>
              </a:rPr>
              <a:t>其在科</a:t>
            </a:r>
            <a:r>
              <a:rPr sz="2000" b="0" i="0" dirty="0">
                <a:solidFill>
                  <a:srgbClr val="333333"/>
                </a:solidFill>
                <a:latin typeface="Microsoft YaHei"/>
                <a:ea typeface="Microsoft YaHei"/>
              </a:rPr>
              <a:t>研</a:t>
            </a:r>
            <a:r>
              <a:rPr sz="2000" b="0" i="0" dirty="0" err="1">
                <a:solidFill>
                  <a:srgbClr val="333333"/>
                </a:solidFill>
                <a:latin typeface="Microsoft YaHei"/>
                <a:ea typeface="Microsoft YaHei"/>
              </a:rPr>
              <a:t>中的应</a:t>
            </a:r>
            <a:r>
              <a:rPr sz="2000" b="0" i="0" dirty="0">
                <a:solidFill>
                  <a:srgbClr val="333333"/>
                </a:solidFill>
                <a:latin typeface="Microsoft YaHei"/>
                <a:ea typeface="Microsoft YaHei"/>
              </a:rPr>
              <a:t>用。</a:t>
            </a:r>
          </a:p>
        </p:txBody>
      </p:sp>
      <p:pic>
        <p:nvPicPr>
          <p:cNvPr id="10" name="Picture 9" descr="yzu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17175" y="246888"/>
            <a:ext cx="1691640" cy="54864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11094415" y="6446520"/>
            <a:ext cx="914400" cy="320040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pPr algn="r"/>
            <a:r>
              <a:rPr sz="1100">
                <a:solidFill>
                  <a:srgbClr val="999999"/>
                </a:solidFill>
                <a:latin typeface="Arial"/>
              </a:rPr>
              <a:t>4 / 50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yzu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17175" y="246888"/>
            <a:ext cx="1691640" cy="54864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274320"/>
            <a:ext cx="960120" cy="502920"/>
          </a:xfrm>
          <a:prstGeom prst="rect">
            <a:avLst/>
          </a:prstGeom>
          <a:solidFill>
            <a:srgbClr val="006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" y="341114"/>
            <a:ext cx="914400" cy="3693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400" b="1" i="0" dirty="0">
                <a:solidFill>
                  <a:srgbClr val="FFFFFF"/>
                </a:solidFill>
                <a:latin typeface="Microsoft YaHei"/>
                <a:ea typeface="Microsoft YaHei"/>
              </a:rPr>
              <a:t>2.1.1</a:t>
            </a:r>
          </a:p>
        </p:txBody>
      </p:sp>
      <p:sp>
        <p:nvSpPr>
          <p:cNvPr id="6" name="Rectangle 5"/>
          <p:cNvSpPr/>
          <p:nvPr/>
        </p:nvSpPr>
        <p:spPr>
          <a:xfrm>
            <a:off x="960120" y="274320"/>
            <a:ext cx="9052560" cy="502920"/>
          </a:xfrm>
          <a:prstGeom prst="rect">
            <a:avLst/>
          </a:prstGeom>
          <a:solidFill>
            <a:srgbClr val="3A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234440" y="341114"/>
            <a:ext cx="8686800" cy="3693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400" b="1" i="0" dirty="0" err="1">
                <a:solidFill>
                  <a:srgbClr val="FFFFFF"/>
                </a:solidFill>
                <a:latin typeface="Microsoft YaHei"/>
                <a:ea typeface="Microsoft YaHei"/>
              </a:rPr>
              <a:t>什么是提示词工程</a:t>
            </a:r>
            <a:r>
              <a:rPr sz="2400" b="1" i="0" dirty="0">
                <a:solidFill>
                  <a:srgbClr val="FFFFFF"/>
                </a:solidFill>
                <a:latin typeface="Microsoft YaHei"/>
                <a:ea typeface="Microsoft YaHei"/>
              </a:rPr>
              <a:t>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73250" y="1087777"/>
            <a:ext cx="11247120" cy="4351695"/>
          </a:xfrm>
          <a:prstGeom prst="rect">
            <a:avLst/>
          </a:prstGeom>
          <a:noFill/>
        </p:spPr>
        <p:txBody>
          <a:bodyPr wrap="square" lIns="36000" tIns="36000" rIns="36000" bIns="36000" anchor="t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2400" b="0" dirty="0" err="1">
                <a:solidFill>
                  <a:srgbClr val="333333"/>
                </a:solidFill>
                <a:latin typeface="Microsoft YaHei"/>
                <a:ea typeface="Microsoft YaHei"/>
              </a:rPr>
              <a:t>提示词工程是通过设计输入</a:t>
            </a:r>
            <a:r>
              <a:rPr sz="2400" b="0" dirty="0">
                <a:solidFill>
                  <a:srgbClr val="333333"/>
                </a:solidFill>
                <a:latin typeface="Microsoft YaHei"/>
                <a:ea typeface="Microsoft YaHei"/>
              </a:rPr>
              <a:t>，</a:t>
            </a:r>
            <a:r>
              <a:rPr sz="2400" dirty="0">
                <a:solidFill>
                  <a:srgbClr val="333333"/>
                </a:solidFill>
                <a:latin typeface="Microsoft YaHei"/>
                <a:ea typeface="Microsoft YaHei"/>
              </a:rPr>
              <a:t>引导模</a:t>
            </a:r>
            <a:r>
              <a:rPr sz="2400" dirty="0" err="1">
                <a:solidFill>
                  <a:srgbClr val="333333"/>
                </a:solidFill>
                <a:latin typeface="Microsoft YaHei"/>
                <a:ea typeface="Microsoft YaHei"/>
              </a:rPr>
              <a:t>型完成任务的方法</a:t>
            </a:r>
            <a:r>
              <a:rPr sz="2400" dirty="0">
                <a:solidFill>
                  <a:srgbClr val="333333"/>
                </a:solidFill>
                <a:latin typeface="Microsoft YaHei"/>
                <a:ea typeface="Microsoft YaHei"/>
              </a:rPr>
              <a:t>。</a:t>
            </a:r>
          </a:p>
          <a:p>
            <a:pPr algn="l">
              <a:lnSpc>
                <a:spcPct val="110000"/>
              </a:lnSpc>
              <a:spcAft>
                <a:spcPts val="300"/>
              </a:spcAft>
            </a:pPr>
            <a:endParaRPr sz="2200" b="0" dirty="0">
              <a:solidFill>
                <a:srgbClr val="333333"/>
              </a:solidFill>
              <a:latin typeface="Microsoft YaHei"/>
              <a:ea typeface="Microsoft YaHei"/>
            </a:endParaRPr>
          </a:p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2400" b="1" dirty="0" err="1">
                <a:solidFill>
                  <a:srgbClr val="004CA0"/>
                </a:solidFill>
                <a:latin typeface="Microsoft YaHei"/>
                <a:ea typeface="Microsoft YaHei"/>
              </a:rPr>
              <a:t>在科研中，提示词用于说明</a:t>
            </a:r>
            <a:r>
              <a:rPr sz="2400" b="1" dirty="0">
                <a:solidFill>
                  <a:srgbClr val="004CA0"/>
                </a:solidFill>
                <a:latin typeface="Microsoft YaHei"/>
                <a:ea typeface="Microsoft YaHei"/>
              </a:rPr>
              <a:t>：</a:t>
            </a:r>
          </a:p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2200" dirty="0">
                <a:latin typeface="Microsoft YaHei"/>
                <a:ea typeface="Microsoft YaHei"/>
              </a:rPr>
              <a:t>研究背景、</a:t>
            </a:r>
            <a:r>
              <a:rPr sz="2400" dirty="0" err="1">
                <a:latin typeface="Microsoft YaHei"/>
                <a:ea typeface="Microsoft YaHei"/>
              </a:rPr>
              <a:t>需要完成</a:t>
            </a:r>
            <a:r>
              <a:rPr sz="2400" dirty="0">
                <a:latin typeface="Microsoft YaHei"/>
                <a:ea typeface="Microsoft YaHei"/>
              </a:rPr>
              <a:t>的任务</a:t>
            </a:r>
            <a:r>
              <a:rPr sz="2400" dirty="0" err="1">
                <a:latin typeface="Microsoft YaHei"/>
                <a:ea typeface="Microsoft YaHei"/>
              </a:rPr>
              <a:t>，以及结果应</a:t>
            </a:r>
            <a:r>
              <a:rPr sz="2400" dirty="0">
                <a:latin typeface="Microsoft YaHei"/>
                <a:ea typeface="Microsoft YaHei"/>
              </a:rPr>
              <a:t>满</a:t>
            </a:r>
            <a:r>
              <a:rPr sz="2400" dirty="0" err="1">
                <a:latin typeface="Microsoft YaHei"/>
                <a:ea typeface="Microsoft YaHei"/>
              </a:rPr>
              <a:t>足的要求</a:t>
            </a:r>
            <a:r>
              <a:rPr sz="2400" dirty="0">
                <a:latin typeface="Microsoft YaHei"/>
                <a:ea typeface="Microsoft YaHei"/>
              </a:rPr>
              <a:t>。</a:t>
            </a:r>
          </a:p>
          <a:p>
            <a:pPr algn="l">
              <a:lnSpc>
                <a:spcPct val="110000"/>
              </a:lnSpc>
              <a:spcAft>
                <a:spcPts val="300"/>
              </a:spcAft>
            </a:pPr>
            <a:endParaRPr sz="2200" b="0" dirty="0">
              <a:solidFill>
                <a:srgbClr val="333333"/>
              </a:solidFill>
              <a:latin typeface="Microsoft YaHei"/>
              <a:ea typeface="Microsoft YaHei"/>
            </a:endParaRPr>
          </a:p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2400" dirty="0">
                <a:latin typeface="Microsoft YaHei"/>
                <a:ea typeface="Microsoft YaHei"/>
              </a:rPr>
              <a:t>• </a:t>
            </a:r>
            <a:r>
              <a:rPr sz="2400" dirty="0" err="1">
                <a:latin typeface="Microsoft YaHei"/>
                <a:ea typeface="Microsoft YaHei"/>
              </a:rPr>
              <a:t>背景充分</a:t>
            </a:r>
            <a:r>
              <a:rPr sz="2400" dirty="0">
                <a:latin typeface="Microsoft YaHei"/>
                <a:ea typeface="Microsoft YaHei"/>
              </a:rPr>
              <a:t>、目标</a:t>
            </a:r>
            <a:r>
              <a:rPr sz="2400" dirty="0" err="1">
                <a:latin typeface="Microsoft YaHei"/>
                <a:ea typeface="Microsoft YaHei"/>
              </a:rPr>
              <a:t>明确，通常有助于提高回答的针对性</a:t>
            </a:r>
            <a:r>
              <a:rPr sz="2400" dirty="0">
                <a:latin typeface="Microsoft YaHei"/>
                <a:ea typeface="Microsoft YaHei"/>
              </a:rPr>
              <a:t>。</a:t>
            </a:r>
          </a:p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2400" dirty="0">
                <a:latin typeface="Microsoft YaHei"/>
                <a:ea typeface="Microsoft YaHei"/>
              </a:rPr>
              <a:t>• </a:t>
            </a:r>
            <a:r>
              <a:rPr sz="2400" dirty="0" err="1">
                <a:latin typeface="Microsoft YaHei"/>
                <a:ea typeface="Microsoft YaHei"/>
              </a:rPr>
              <a:t>提问过于笼</a:t>
            </a:r>
            <a:r>
              <a:rPr sz="2400" dirty="0">
                <a:latin typeface="Microsoft YaHei"/>
                <a:ea typeface="Microsoft YaHei"/>
              </a:rPr>
              <a:t>统时，</a:t>
            </a:r>
            <a:r>
              <a:rPr sz="2400" dirty="0" err="1">
                <a:latin typeface="Microsoft YaHei"/>
                <a:ea typeface="Microsoft YaHei"/>
              </a:rPr>
              <a:t>回答可能缺少细节或偏离需求</a:t>
            </a:r>
            <a:r>
              <a:rPr sz="2400" dirty="0">
                <a:latin typeface="Microsoft YaHei"/>
                <a:ea typeface="Microsoft YaHei"/>
              </a:rPr>
              <a:t>。</a:t>
            </a:r>
          </a:p>
          <a:p>
            <a:pPr algn="l">
              <a:lnSpc>
                <a:spcPct val="110000"/>
              </a:lnSpc>
              <a:spcAft>
                <a:spcPts val="300"/>
              </a:spcAft>
            </a:pPr>
            <a:endParaRPr sz="2000" b="0" dirty="0">
              <a:solidFill>
                <a:srgbClr val="333333"/>
              </a:solidFill>
              <a:latin typeface="Microsoft YaHei"/>
              <a:ea typeface="Microsoft YaHei"/>
            </a:endParaRPr>
          </a:p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2400" b="1" dirty="0">
                <a:solidFill>
                  <a:srgbClr val="004CA0"/>
                </a:solidFill>
                <a:latin typeface="Microsoft YaHei"/>
                <a:ea typeface="Microsoft YaHei"/>
              </a:rPr>
              <a:t>同一</a:t>
            </a:r>
            <a:r>
              <a:rPr sz="2400" b="1" dirty="0" err="1">
                <a:solidFill>
                  <a:srgbClr val="004CA0"/>
                </a:solidFill>
                <a:latin typeface="Microsoft YaHei"/>
                <a:ea typeface="Microsoft YaHei"/>
              </a:rPr>
              <a:t>个模型</a:t>
            </a:r>
            <a:r>
              <a:rPr sz="2400" b="1" dirty="0">
                <a:solidFill>
                  <a:srgbClr val="004CA0"/>
                </a:solidFill>
                <a:latin typeface="Microsoft YaHei"/>
                <a:ea typeface="Microsoft YaHei"/>
              </a:rPr>
              <a:t>在</a:t>
            </a:r>
            <a:r>
              <a:rPr sz="2400" b="1" dirty="0" err="1">
                <a:solidFill>
                  <a:srgbClr val="004CA0"/>
                </a:solidFill>
                <a:latin typeface="Microsoft YaHei"/>
                <a:ea typeface="Microsoft YaHei"/>
              </a:rPr>
              <a:t>不同提示下，可能给出不同质量的回答</a:t>
            </a:r>
            <a:r>
              <a:rPr sz="2400" b="1" dirty="0">
                <a:solidFill>
                  <a:srgbClr val="004CA0"/>
                </a:solidFill>
                <a:latin typeface="Microsoft YaHei"/>
                <a:ea typeface="Microsoft YaHei"/>
              </a:rPr>
              <a:t>。</a:t>
            </a:r>
          </a:p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2400" b="1" dirty="0" err="1">
                <a:solidFill>
                  <a:srgbClr val="004CA0"/>
                </a:solidFill>
                <a:latin typeface="Microsoft YaHei"/>
                <a:ea typeface="Microsoft YaHei"/>
              </a:rPr>
              <a:t>提示词可以改善输出，但不能保证事</a:t>
            </a:r>
            <a:r>
              <a:rPr sz="2400" b="1" dirty="0">
                <a:solidFill>
                  <a:srgbClr val="004CA0"/>
                </a:solidFill>
                <a:latin typeface="Microsoft YaHei"/>
                <a:ea typeface="Microsoft YaHei"/>
              </a:rPr>
              <a:t>实与</a:t>
            </a:r>
            <a:r>
              <a:rPr sz="2400" b="1" dirty="0" err="1">
                <a:solidFill>
                  <a:srgbClr val="004CA0"/>
                </a:solidFill>
                <a:latin typeface="Microsoft YaHei"/>
                <a:ea typeface="Microsoft YaHei"/>
              </a:rPr>
              <a:t>推理正确</a:t>
            </a:r>
            <a:r>
              <a:rPr sz="2400" b="1" dirty="0">
                <a:solidFill>
                  <a:srgbClr val="004CA0"/>
                </a:solidFill>
                <a:latin typeface="Microsoft YaHei"/>
                <a:ea typeface="Microsoft YaHei"/>
              </a:rPr>
              <a:t>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94415" y="6446520"/>
            <a:ext cx="914400" cy="320040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pPr algn="r"/>
            <a:r>
              <a:rPr sz="1100">
                <a:solidFill>
                  <a:srgbClr val="999999"/>
                </a:solidFill>
                <a:latin typeface="Arial"/>
              </a:rPr>
              <a:t>5 / 50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yzu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17175" y="246888"/>
            <a:ext cx="1691640" cy="54864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274320"/>
            <a:ext cx="960120" cy="502920"/>
          </a:xfrm>
          <a:prstGeom prst="rect">
            <a:avLst/>
          </a:prstGeom>
          <a:solidFill>
            <a:srgbClr val="006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" y="341114"/>
            <a:ext cx="914400" cy="3693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400" b="1" i="0" dirty="0">
                <a:solidFill>
                  <a:srgbClr val="FFFFFF"/>
                </a:solidFill>
                <a:latin typeface="Microsoft YaHei"/>
                <a:ea typeface="Microsoft YaHei"/>
              </a:rPr>
              <a:t>2.1.1</a:t>
            </a:r>
          </a:p>
        </p:txBody>
      </p:sp>
      <p:sp>
        <p:nvSpPr>
          <p:cNvPr id="6" name="Rectangle 5"/>
          <p:cNvSpPr/>
          <p:nvPr/>
        </p:nvSpPr>
        <p:spPr>
          <a:xfrm>
            <a:off x="960120" y="274320"/>
            <a:ext cx="9052560" cy="502920"/>
          </a:xfrm>
          <a:prstGeom prst="rect">
            <a:avLst/>
          </a:prstGeom>
          <a:solidFill>
            <a:srgbClr val="3A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234440" y="341114"/>
            <a:ext cx="8686800" cy="3693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400" b="1" i="0" dirty="0">
                <a:solidFill>
                  <a:srgbClr val="FFFFFF"/>
                </a:solidFill>
                <a:latin typeface="Microsoft YaHei"/>
                <a:ea typeface="Microsoft YaHei"/>
              </a:rPr>
              <a:t>两</a:t>
            </a:r>
            <a:r>
              <a:rPr sz="2400" b="1" i="0" dirty="0" err="1">
                <a:solidFill>
                  <a:srgbClr val="FFFFFF"/>
                </a:solidFill>
                <a:latin typeface="Microsoft YaHei"/>
                <a:ea typeface="Microsoft YaHei"/>
              </a:rPr>
              <a:t>种</a:t>
            </a:r>
            <a:r>
              <a:rPr sz="2400" b="1" i="0" dirty="0">
                <a:solidFill>
                  <a:srgbClr val="FFFFFF"/>
                </a:solidFill>
                <a:latin typeface="Microsoft YaHei"/>
                <a:ea typeface="Microsoft YaHei"/>
              </a:rPr>
              <a:t>提问方式的</a:t>
            </a:r>
            <a:r>
              <a:rPr sz="2400" b="1" i="0" dirty="0" err="1">
                <a:solidFill>
                  <a:srgbClr val="FFFFFF"/>
                </a:solidFill>
                <a:latin typeface="Microsoft YaHei"/>
                <a:ea typeface="Microsoft YaHei"/>
              </a:rPr>
              <a:t>比较</a:t>
            </a:r>
            <a:endParaRPr sz="2400" b="1" i="0" dirty="0">
              <a:solidFill>
                <a:srgbClr val="FFFFFF"/>
              </a:solidFill>
              <a:latin typeface="Microsoft YaHei"/>
              <a:ea typeface="Microsoft YaHei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960119" y="1026459"/>
            <a:ext cx="7251551" cy="5359663"/>
          </a:xfrm>
          <a:prstGeom prst="rect">
            <a:avLst/>
          </a:prstGeom>
          <a:noFill/>
        </p:spPr>
        <p:txBody>
          <a:bodyPr wrap="square" lIns="36000" tIns="36000" rIns="36000" bIns="36000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2400" dirty="0" err="1">
                <a:latin typeface="Microsoft YaHei"/>
                <a:ea typeface="Microsoft YaHei"/>
              </a:rPr>
              <a:t>背景不足：只提</a:t>
            </a:r>
            <a:r>
              <a:rPr sz="2400" dirty="0">
                <a:latin typeface="Microsoft YaHei"/>
                <a:ea typeface="Microsoft YaHei"/>
              </a:rPr>
              <a:t>出</a:t>
            </a:r>
            <a:r>
              <a:rPr sz="2400" dirty="0" err="1">
                <a:latin typeface="Microsoft YaHei"/>
                <a:ea typeface="Microsoft YaHei"/>
              </a:rPr>
              <a:t>简</a:t>
            </a:r>
            <a:r>
              <a:rPr sz="2400" dirty="0">
                <a:latin typeface="Microsoft YaHei"/>
                <a:ea typeface="Microsoft YaHei"/>
              </a:rPr>
              <a:t>短、模</a:t>
            </a:r>
            <a:r>
              <a:rPr sz="2400" dirty="0" err="1">
                <a:latin typeface="Microsoft YaHei"/>
                <a:ea typeface="Microsoft YaHei"/>
              </a:rPr>
              <a:t>糊</a:t>
            </a:r>
            <a:r>
              <a:rPr sz="2400" dirty="0">
                <a:latin typeface="Microsoft YaHei"/>
                <a:ea typeface="Microsoft YaHei"/>
              </a:rPr>
              <a:t>的</a:t>
            </a:r>
            <a:r>
              <a:rPr sz="2400" dirty="0" err="1">
                <a:latin typeface="Microsoft YaHei"/>
                <a:ea typeface="Microsoft YaHei"/>
              </a:rPr>
              <a:t>要</a:t>
            </a:r>
            <a:r>
              <a:rPr sz="2400" dirty="0">
                <a:latin typeface="Microsoft YaHei"/>
                <a:ea typeface="Microsoft YaHei"/>
              </a:rPr>
              <a:t>求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2400" dirty="0">
                <a:latin typeface="Consolas"/>
                <a:ea typeface="Consolas"/>
              </a:rPr>
              <a:t>“</a:t>
            </a:r>
            <a:r>
              <a:rPr sz="2400" dirty="0" err="1">
                <a:latin typeface="Consolas"/>
                <a:ea typeface="Consolas"/>
              </a:rPr>
              <a:t>帮我找论文选题</a:t>
            </a:r>
            <a:r>
              <a:rPr sz="2400" dirty="0">
                <a:latin typeface="Consolas"/>
                <a:ea typeface="Consolas"/>
              </a:rPr>
              <a:t>”容</a:t>
            </a:r>
            <a:r>
              <a:rPr sz="2400" dirty="0">
                <a:latin typeface="Microsoft YaHei"/>
                <a:ea typeface="Microsoft YaHei"/>
              </a:rPr>
              <a:t>易</a:t>
            </a:r>
            <a:r>
              <a:rPr sz="2400" dirty="0" err="1">
                <a:latin typeface="Microsoft YaHei"/>
                <a:ea typeface="Microsoft YaHei"/>
              </a:rPr>
              <a:t>得到范围过</a:t>
            </a:r>
            <a:r>
              <a:rPr sz="2400" dirty="0">
                <a:latin typeface="Microsoft YaHei"/>
                <a:ea typeface="Microsoft YaHei"/>
              </a:rPr>
              <a:t>大的</a:t>
            </a:r>
            <a:r>
              <a:rPr sz="2400" dirty="0" err="1">
                <a:latin typeface="Microsoft YaHei"/>
                <a:ea typeface="Microsoft YaHei"/>
              </a:rPr>
              <a:t>建议</a:t>
            </a:r>
            <a:r>
              <a:rPr sz="2400" b="0" dirty="0">
                <a:solidFill>
                  <a:srgbClr val="333333"/>
                </a:solidFill>
                <a:latin typeface="Microsoft YaHei"/>
                <a:ea typeface="Microsoft YaHei"/>
              </a:rPr>
              <a:t>。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endParaRPr sz="1800" b="0" dirty="0">
              <a:solidFill>
                <a:srgbClr val="333333"/>
              </a:solidFill>
              <a:latin typeface="Microsoft YaHei"/>
              <a:ea typeface="Microsoft YaHei"/>
            </a:endParaRP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2600" b="1" dirty="0" err="1">
                <a:latin typeface="Microsoft YaHei"/>
                <a:ea typeface="Microsoft YaHei"/>
              </a:rPr>
              <a:t>背景</a:t>
            </a:r>
            <a:r>
              <a:rPr sz="2400" b="1" dirty="0" err="1">
                <a:latin typeface="Microsoft YaHei"/>
                <a:ea typeface="Microsoft YaHei"/>
              </a:rPr>
              <a:t>充分</a:t>
            </a:r>
            <a:r>
              <a:rPr sz="2400" dirty="0">
                <a:latin typeface="Microsoft YaHei"/>
                <a:ea typeface="Microsoft YaHei"/>
              </a:rPr>
              <a:t>：提</a:t>
            </a:r>
            <a:r>
              <a:rPr sz="2400" dirty="0" err="1">
                <a:latin typeface="Microsoft YaHei"/>
                <a:ea typeface="Microsoft YaHei"/>
              </a:rPr>
              <a:t>供相</a:t>
            </a:r>
            <a:r>
              <a:rPr sz="2400" dirty="0">
                <a:latin typeface="Microsoft YaHei"/>
                <a:ea typeface="Microsoft YaHei"/>
              </a:rPr>
              <a:t>关资料，并</a:t>
            </a:r>
            <a:r>
              <a:rPr sz="2400" dirty="0" err="1">
                <a:latin typeface="Microsoft YaHei"/>
                <a:ea typeface="Microsoft YaHei"/>
              </a:rPr>
              <a:t>说明评价标准</a:t>
            </a:r>
            <a:endParaRPr sz="2200" dirty="0">
              <a:latin typeface="Microsoft YaHei"/>
              <a:ea typeface="Microsoft YaHei"/>
            </a:endParaRP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2400" dirty="0">
                <a:latin typeface="Microsoft YaHei"/>
                <a:ea typeface="Microsoft YaHei"/>
              </a:rPr>
              <a:t>• </a:t>
            </a:r>
            <a:r>
              <a:rPr sz="2400" dirty="0" err="1">
                <a:latin typeface="Microsoft YaHei"/>
                <a:ea typeface="Microsoft YaHei"/>
              </a:rPr>
              <a:t>上传最新</a:t>
            </a:r>
            <a:r>
              <a:rPr sz="2400" dirty="0">
                <a:latin typeface="Microsoft YaHei"/>
                <a:ea typeface="Microsoft YaHei"/>
              </a:rPr>
              <a:t> PDF </a:t>
            </a:r>
            <a:r>
              <a:rPr sz="2400" dirty="0" err="1">
                <a:latin typeface="Microsoft YaHei"/>
                <a:ea typeface="Microsoft YaHei"/>
              </a:rPr>
              <a:t>文献</a:t>
            </a:r>
            <a:endParaRPr sz="2400" dirty="0">
              <a:latin typeface="Microsoft YaHei"/>
              <a:ea typeface="Microsoft YaHei"/>
            </a:endParaRP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2400" dirty="0">
                <a:latin typeface="Microsoft YaHei"/>
                <a:ea typeface="Microsoft YaHei"/>
              </a:rPr>
              <a:t>• </a:t>
            </a:r>
            <a:r>
              <a:rPr sz="2400" dirty="0" err="1">
                <a:latin typeface="Microsoft YaHei"/>
                <a:ea typeface="Microsoft YaHei"/>
              </a:rPr>
              <a:t>附带个人初步思路</a:t>
            </a:r>
            <a:endParaRPr sz="2400" dirty="0">
              <a:latin typeface="Microsoft YaHei"/>
              <a:ea typeface="Microsoft YaHei"/>
            </a:endParaRP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2400" dirty="0">
                <a:latin typeface="Microsoft YaHei"/>
                <a:ea typeface="Microsoft YaHei"/>
              </a:rPr>
              <a:t>•</a:t>
            </a:r>
            <a:r>
              <a:rPr sz="2400" dirty="0" err="1">
                <a:latin typeface="Microsoft YaHei"/>
                <a:ea typeface="Microsoft YaHei"/>
              </a:rPr>
              <a:t> 要求分析可</a:t>
            </a:r>
            <a:r>
              <a:rPr sz="2400" dirty="0">
                <a:latin typeface="Microsoft YaHei"/>
                <a:ea typeface="Microsoft YaHei"/>
              </a:rPr>
              <a:t>能的</a:t>
            </a:r>
            <a:r>
              <a:rPr sz="2400" dirty="0" err="1">
                <a:latin typeface="Microsoft YaHei"/>
                <a:ea typeface="Microsoft YaHei"/>
              </a:rPr>
              <a:t>研究</a:t>
            </a:r>
            <a:r>
              <a:rPr sz="2400" dirty="0">
                <a:latin typeface="Microsoft YaHei"/>
                <a:ea typeface="Microsoft YaHei"/>
              </a:rPr>
              <a:t>空白与实</a:t>
            </a:r>
            <a:r>
              <a:rPr sz="2400" dirty="0" err="1">
                <a:latin typeface="Microsoft YaHei"/>
                <a:ea typeface="Microsoft YaHei"/>
              </a:rPr>
              <a:t>施难</a:t>
            </a:r>
            <a:r>
              <a:rPr sz="2400" dirty="0">
                <a:latin typeface="Microsoft YaHei"/>
                <a:ea typeface="Microsoft YaHei"/>
              </a:rPr>
              <a:t>度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endParaRPr sz="1800" b="1" dirty="0">
              <a:solidFill>
                <a:srgbClr val="0066CC"/>
              </a:solidFill>
              <a:latin typeface="Microsoft YaHei"/>
              <a:ea typeface="Microsoft YaHei"/>
            </a:endParaRP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2400" dirty="0">
                <a:latin typeface="Microsoft YaHei"/>
                <a:ea typeface="Microsoft YaHei"/>
              </a:rPr>
              <a:t>这样可以帮助</a:t>
            </a:r>
            <a:r>
              <a:rPr sz="2400" dirty="0" err="1">
                <a:latin typeface="Microsoft YaHei"/>
                <a:ea typeface="Microsoft YaHei"/>
              </a:rPr>
              <a:t>模型</a:t>
            </a:r>
            <a:r>
              <a:rPr sz="2400" dirty="0">
                <a:latin typeface="Microsoft YaHei"/>
                <a:ea typeface="Microsoft YaHei"/>
              </a:rPr>
              <a:t>提</a:t>
            </a:r>
            <a:r>
              <a:rPr sz="2400" dirty="0" err="1">
                <a:latin typeface="Microsoft YaHei"/>
                <a:ea typeface="Microsoft YaHei"/>
              </a:rPr>
              <a:t>出更</a:t>
            </a:r>
            <a:r>
              <a:rPr sz="2400" dirty="0">
                <a:latin typeface="Microsoft YaHei"/>
                <a:ea typeface="Microsoft YaHei"/>
              </a:rPr>
              <a:t>具体</a:t>
            </a:r>
            <a:r>
              <a:rPr sz="2400" dirty="0" err="1">
                <a:latin typeface="Microsoft YaHei"/>
                <a:ea typeface="Microsoft YaHei"/>
              </a:rPr>
              <a:t>的建议</a:t>
            </a:r>
            <a:r>
              <a:rPr sz="2400" dirty="0">
                <a:latin typeface="Microsoft YaHei"/>
                <a:ea typeface="Microsoft YaHei"/>
              </a:rPr>
              <a:t>，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2400" dirty="0" err="1">
                <a:latin typeface="Microsoft YaHei"/>
                <a:ea typeface="Microsoft YaHei"/>
              </a:rPr>
              <a:t>供研究者在开题时进一步筛选和论证</a:t>
            </a:r>
            <a:r>
              <a:rPr sz="2400" dirty="0">
                <a:latin typeface="Microsoft YaHei"/>
                <a:ea typeface="Microsoft YaHei"/>
              </a:rPr>
              <a:t>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94415" y="6446520"/>
            <a:ext cx="914400" cy="320040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pPr algn="r"/>
            <a:r>
              <a:rPr sz="1100">
                <a:solidFill>
                  <a:srgbClr val="999999"/>
                </a:solidFill>
                <a:latin typeface="Arial"/>
              </a:rPr>
              <a:t>6 / 50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7D6E77-8299-DFE5-3707-1019CC69B2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yzu_logo.png">
            <a:extLst>
              <a:ext uri="{FF2B5EF4-FFF2-40B4-BE49-F238E27FC236}">
                <a16:creationId xmlns:a16="http://schemas.microsoft.com/office/drawing/2014/main" id="{B8E5792C-D2BB-3F95-D134-A3265AAB16D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17175" y="246888"/>
            <a:ext cx="1691640" cy="548640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93D43935-85B4-3072-B96E-F97D5BEAC782}"/>
              </a:ext>
            </a:extLst>
          </p:cNvPr>
          <p:cNvSpPr/>
          <p:nvPr/>
        </p:nvSpPr>
        <p:spPr>
          <a:xfrm>
            <a:off x="0" y="274320"/>
            <a:ext cx="960120" cy="502920"/>
          </a:xfrm>
          <a:prstGeom prst="rect">
            <a:avLst/>
          </a:prstGeom>
          <a:solidFill>
            <a:srgbClr val="006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1D62A95-2687-12AC-E0EE-0D962981789C}"/>
              </a:ext>
            </a:extLst>
          </p:cNvPr>
          <p:cNvSpPr txBox="1"/>
          <p:nvPr/>
        </p:nvSpPr>
        <p:spPr>
          <a:xfrm>
            <a:off x="45720" y="341114"/>
            <a:ext cx="914400" cy="3693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400" b="1" i="0" dirty="0">
                <a:solidFill>
                  <a:srgbClr val="FFFFFF"/>
                </a:solidFill>
                <a:latin typeface="Microsoft YaHei"/>
                <a:ea typeface="Microsoft YaHei"/>
              </a:rPr>
              <a:t>2.1.1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FF0BF3B-B170-1FFB-DC97-46A710468CF1}"/>
              </a:ext>
            </a:extLst>
          </p:cNvPr>
          <p:cNvSpPr/>
          <p:nvPr/>
        </p:nvSpPr>
        <p:spPr>
          <a:xfrm>
            <a:off x="960120" y="274320"/>
            <a:ext cx="9052560" cy="502920"/>
          </a:xfrm>
          <a:prstGeom prst="rect">
            <a:avLst/>
          </a:prstGeom>
          <a:solidFill>
            <a:srgbClr val="3A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D792BFA-7A54-DAD5-A285-DFB70546BA86}"/>
              </a:ext>
            </a:extLst>
          </p:cNvPr>
          <p:cNvSpPr txBox="1"/>
          <p:nvPr/>
        </p:nvSpPr>
        <p:spPr>
          <a:xfrm>
            <a:off x="1234440" y="341114"/>
            <a:ext cx="8686800" cy="3693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400" b="1" i="0" dirty="0">
                <a:solidFill>
                  <a:srgbClr val="FFFFFF"/>
                </a:solidFill>
                <a:latin typeface="Microsoft YaHei"/>
                <a:ea typeface="Microsoft YaHei"/>
              </a:rPr>
              <a:t>两</a:t>
            </a:r>
            <a:r>
              <a:rPr sz="2400" b="1" i="0" dirty="0" err="1">
                <a:solidFill>
                  <a:srgbClr val="FFFFFF"/>
                </a:solidFill>
                <a:latin typeface="Microsoft YaHei"/>
                <a:ea typeface="Microsoft YaHei"/>
              </a:rPr>
              <a:t>种</a:t>
            </a:r>
            <a:r>
              <a:rPr sz="2400" b="1" i="0" dirty="0">
                <a:solidFill>
                  <a:srgbClr val="FFFFFF"/>
                </a:solidFill>
                <a:latin typeface="Microsoft YaHei"/>
                <a:ea typeface="Microsoft YaHei"/>
              </a:rPr>
              <a:t>提问方式的</a:t>
            </a:r>
            <a:r>
              <a:rPr sz="2400" b="1" i="0" dirty="0" err="1">
                <a:solidFill>
                  <a:srgbClr val="FFFFFF"/>
                </a:solidFill>
                <a:latin typeface="Microsoft YaHei"/>
                <a:ea typeface="Microsoft YaHei"/>
              </a:rPr>
              <a:t>比较</a:t>
            </a:r>
            <a:endParaRPr sz="2400" b="1" i="0" dirty="0">
              <a:solidFill>
                <a:srgbClr val="FFFFFF"/>
              </a:solidFill>
              <a:latin typeface="Microsoft YaHei"/>
              <a:ea typeface="Microsoft YaHei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5C957F5-0017-0FFD-391B-8F8BA18F8796}"/>
              </a:ext>
            </a:extLst>
          </p:cNvPr>
          <p:cNvSpPr txBox="1"/>
          <p:nvPr/>
        </p:nvSpPr>
        <p:spPr>
          <a:xfrm>
            <a:off x="3603611" y="6475199"/>
            <a:ext cx="4297680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b="0" dirty="0">
                <a:solidFill>
                  <a:srgbClr val="333333"/>
                </a:solidFill>
                <a:latin typeface="Microsoft YaHei"/>
                <a:ea typeface="Microsoft YaHei"/>
              </a:rPr>
              <a:t>图 2-</a:t>
            </a:r>
            <a:r>
              <a:rPr b="0" dirty="0" err="1">
                <a:solidFill>
                  <a:srgbClr val="333333"/>
                </a:solidFill>
                <a:latin typeface="Microsoft YaHei"/>
                <a:ea typeface="Microsoft YaHei"/>
              </a:rPr>
              <a:t>1  复杂问</a:t>
            </a:r>
            <a:r>
              <a:rPr b="0" dirty="0">
                <a:solidFill>
                  <a:srgbClr val="333333"/>
                </a:solidFill>
                <a:latin typeface="Microsoft YaHei"/>
                <a:ea typeface="Microsoft YaHei"/>
              </a:rPr>
              <a:t>题</a:t>
            </a:r>
            <a:r>
              <a:rPr b="0" dirty="0" err="1">
                <a:solidFill>
                  <a:srgbClr val="333333"/>
                </a:solidFill>
                <a:latin typeface="Microsoft YaHei"/>
                <a:ea typeface="Microsoft YaHei"/>
              </a:rPr>
              <a:t>的</a:t>
            </a:r>
            <a:r>
              <a:rPr b="0" dirty="0">
                <a:solidFill>
                  <a:srgbClr val="333333"/>
                </a:solidFill>
                <a:latin typeface="Microsoft YaHei"/>
                <a:ea typeface="Microsoft YaHei"/>
              </a:rPr>
              <a:t>两种提问方</a:t>
            </a:r>
            <a:r>
              <a:rPr b="0" dirty="0" err="1">
                <a:solidFill>
                  <a:srgbClr val="333333"/>
                </a:solidFill>
                <a:latin typeface="Microsoft YaHei"/>
                <a:ea typeface="Microsoft YaHei"/>
              </a:rPr>
              <a:t>式</a:t>
            </a:r>
            <a:endParaRPr b="0" dirty="0">
              <a:solidFill>
                <a:srgbClr val="333333"/>
              </a:solidFill>
              <a:latin typeface="Microsoft YaHei"/>
              <a:ea typeface="Microsoft YaHei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9045954-6EB7-085C-6F6A-87B2179EFDEC}"/>
              </a:ext>
            </a:extLst>
          </p:cNvPr>
          <p:cNvSpPr txBox="1"/>
          <p:nvPr/>
        </p:nvSpPr>
        <p:spPr>
          <a:xfrm>
            <a:off x="11094415" y="6446520"/>
            <a:ext cx="914400" cy="320040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pPr algn="r"/>
            <a:r>
              <a:rPr sz="1100">
                <a:solidFill>
                  <a:srgbClr val="999999"/>
                </a:solidFill>
                <a:latin typeface="Arial"/>
              </a:rPr>
              <a:t>7 / 50</a:t>
            </a:r>
          </a:p>
        </p:txBody>
      </p:sp>
      <p:grpSp>
        <p:nvGrpSpPr>
          <p:cNvPr id="37" name="组合 36">
            <a:extLst>
              <a:ext uri="{FF2B5EF4-FFF2-40B4-BE49-F238E27FC236}">
                <a16:creationId xmlns:a16="http://schemas.microsoft.com/office/drawing/2014/main" id="{C472D58B-7339-4684-90C1-E2ED2EE50564}"/>
              </a:ext>
            </a:extLst>
          </p:cNvPr>
          <p:cNvGrpSpPr/>
          <p:nvPr/>
        </p:nvGrpSpPr>
        <p:grpSpPr>
          <a:xfrm>
            <a:off x="523170" y="878560"/>
            <a:ext cx="11145660" cy="5615879"/>
            <a:chOff x="523170" y="878560"/>
            <a:chExt cx="11145660" cy="5615879"/>
          </a:xfrm>
        </p:grpSpPr>
        <p:sp>
          <p:nvSpPr>
            <p:cNvPr id="38" name="矩形: 圆角 37">
              <a:extLst>
                <a:ext uri="{FF2B5EF4-FFF2-40B4-BE49-F238E27FC236}">
                  <a16:creationId xmlns:a16="http://schemas.microsoft.com/office/drawing/2014/main" id="{150ED184-84E6-445D-8B2C-76FAB413FA66}"/>
                </a:ext>
              </a:extLst>
            </p:cNvPr>
            <p:cNvSpPr/>
            <p:nvPr/>
          </p:nvSpPr>
          <p:spPr>
            <a:xfrm>
              <a:off x="762009" y="2032938"/>
              <a:ext cx="4626062" cy="568691"/>
            </a:xfrm>
            <a:prstGeom prst="roundRect">
              <a:avLst/>
            </a:prstGeom>
            <a:solidFill>
              <a:schemeClr val="bg1">
                <a:lumMod val="85000"/>
              </a:schemeClr>
            </a:solidFill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just"/>
              <a:r>
                <a:rPr lang="zh-CN" altLang="en-US" sz="1600" dirty="0">
                  <a:latin typeface="宋体" panose="02010600030101010101" pitchFamily="2" charset="-122"/>
                  <a:ea typeface="宋体" panose="02010600030101010101" pitchFamily="2" charset="-122"/>
                </a:rPr>
                <a:t>帮我拟几个关于人工智能的毕业论文题目。</a:t>
              </a:r>
              <a:endParaRPr lang="zh-CN" altLang="en-US" sz="1400" dirty="0"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39" name="矩形: 圆角 38">
              <a:extLst>
                <a:ext uri="{FF2B5EF4-FFF2-40B4-BE49-F238E27FC236}">
                  <a16:creationId xmlns:a16="http://schemas.microsoft.com/office/drawing/2014/main" id="{F125C209-845A-4E37-8ACD-A4AA9566003E}"/>
                </a:ext>
              </a:extLst>
            </p:cNvPr>
            <p:cNvSpPr/>
            <p:nvPr/>
          </p:nvSpPr>
          <p:spPr>
            <a:xfrm>
              <a:off x="6731888" y="2855087"/>
              <a:ext cx="4320000" cy="1318452"/>
            </a:xfrm>
            <a:prstGeom prst="roundRect">
              <a:avLst/>
            </a:prstGeom>
            <a:solidFill>
              <a:schemeClr val="bg1">
                <a:lumMod val="85000"/>
              </a:schemeClr>
            </a:solidFill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just"/>
              <a:r>
                <a:rPr lang="zh-CN" altLang="en-US" sz="1600" dirty="0">
                  <a:latin typeface="宋体" panose="02010600030101010101" pitchFamily="2" charset="-122"/>
                  <a:ea typeface="宋体" panose="02010600030101010101" pitchFamily="2" charset="-122"/>
                </a:rPr>
                <a:t>我正在构思毕业论文选题。请结合两篇综述和我的初步想法，提出三个与研究兴趣相关的切入点，说明文献依据与实施难度。对研究空白的判断请标注待核实之处。</a:t>
              </a:r>
            </a:p>
          </p:txBody>
        </p:sp>
        <p:pic>
          <p:nvPicPr>
            <p:cNvPr id="40" name="图片 39">
              <a:extLst>
                <a:ext uri="{FF2B5EF4-FFF2-40B4-BE49-F238E27FC236}">
                  <a16:creationId xmlns:a16="http://schemas.microsoft.com/office/drawing/2014/main" id="{EC84C06E-38AB-4584-8BA8-1243DE6A8584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5408378" y="2036900"/>
              <a:ext cx="512568" cy="506538"/>
            </a:xfrm>
            <a:prstGeom prst="rect">
              <a:avLst/>
            </a:prstGeom>
          </p:spPr>
        </p:pic>
        <p:pic>
          <p:nvPicPr>
            <p:cNvPr id="41" name="图片 40">
              <a:extLst>
                <a:ext uri="{FF2B5EF4-FFF2-40B4-BE49-F238E27FC236}">
                  <a16:creationId xmlns:a16="http://schemas.microsoft.com/office/drawing/2014/main" id="{1FB30943-F5C0-45A9-BB61-FB3E23BAD0BC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523170" y="2882514"/>
              <a:ext cx="536007" cy="523685"/>
            </a:xfrm>
            <a:prstGeom prst="rect">
              <a:avLst/>
            </a:prstGeom>
          </p:spPr>
        </p:pic>
        <p:pic>
          <p:nvPicPr>
            <p:cNvPr id="42" name="图片 41">
              <a:extLst>
                <a:ext uri="{FF2B5EF4-FFF2-40B4-BE49-F238E27FC236}">
                  <a16:creationId xmlns:a16="http://schemas.microsoft.com/office/drawing/2014/main" id="{40C6BB5F-1D5B-4669-B2A4-73C49B21B19E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6209238" y="4224342"/>
              <a:ext cx="536007" cy="523685"/>
            </a:xfrm>
            <a:prstGeom prst="rect">
              <a:avLst/>
            </a:prstGeom>
          </p:spPr>
        </p:pic>
        <p:cxnSp>
          <p:nvCxnSpPr>
            <p:cNvPr id="43" name="直接连接符 42">
              <a:extLst>
                <a:ext uri="{FF2B5EF4-FFF2-40B4-BE49-F238E27FC236}">
                  <a16:creationId xmlns:a16="http://schemas.microsoft.com/office/drawing/2014/main" id="{9A7587D7-A424-4DFA-80AC-783E92B9D36C}"/>
                </a:ext>
              </a:extLst>
            </p:cNvPr>
            <p:cNvCxnSpPr>
              <a:cxnSpLocks/>
            </p:cNvCxnSpPr>
            <p:nvPr/>
          </p:nvCxnSpPr>
          <p:spPr>
            <a:xfrm>
              <a:off x="6083292" y="918970"/>
              <a:ext cx="4795" cy="5072036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pic>
          <p:nvPicPr>
            <p:cNvPr id="44" name="内容占位符 22">
              <a:extLst>
                <a:ext uri="{FF2B5EF4-FFF2-40B4-BE49-F238E27FC236}">
                  <a16:creationId xmlns:a16="http://schemas.microsoft.com/office/drawing/2014/main" id="{7460922C-2753-4458-A1EB-7D77BC2006E4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7378" r="22260"/>
            <a:stretch>
              <a:fillRect/>
            </a:stretch>
          </p:blipFill>
          <p:spPr>
            <a:xfrm>
              <a:off x="1484007" y="4578035"/>
              <a:ext cx="758434" cy="736610"/>
            </a:xfrm>
            <a:prstGeom prst="rect">
              <a:avLst/>
            </a:prstGeom>
          </p:spPr>
        </p:pic>
        <p:sp>
          <p:nvSpPr>
            <p:cNvPr id="45" name="思想气泡: 云 44">
              <a:extLst>
                <a:ext uri="{FF2B5EF4-FFF2-40B4-BE49-F238E27FC236}">
                  <a16:creationId xmlns:a16="http://schemas.microsoft.com/office/drawing/2014/main" id="{613D80C0-1559-42C1-940A-6721D784E17A}"/>
                </a:ext>
              </a:extLst>
            </p:cNvPr>
            <p:cNvSpPr/>
            <p:nvPr/>
          </p:nvSpPr>
          <p:spPr>
            <a:xfrm>
              <a:off x="2641089" y="4489303"/>
              <a:ext cx="2754580" cy="1481041"/>
            </a:xfrm>
            <a:prstGeom prst="cloudCallout">
              <a:avLst>
                <a:gd name="adj1" fmla="val -62779"/>
                <a:gd name="adj2" fmla="val -19301"/>
              </a:avLst>
            </a:prstGeom>
            <a:solidFill>
              <a:schemeClr val="bg1"/>
            </a:solidFill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400" dirty="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“</a:t>
              </a:r>
              <a:r>
                <a:rPr lang="zh-CN" altLang="en-US" sz="1400" dirty="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题目范围太大，还需要进一步限定研究对象和问题</a:t>
              </a:r>
              <a:r>
                <a:rPr lang="en-US" altLang="zh-CN" sz="1400" dirty="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。</a:t>
              </a:r>
              <a:r>
                <a:rPr lang="zh-CN" altLang="en-US" sz="1400" dirty="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”</a:t>
              </a:r>
              <a:endParaRPr lang="zh-CN" altLang="zh-CN" sz="1400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pic>
          <p:nvPicPr>
            <p:cNvPr id="46" name="图片 45">
              <a:extLst>
                <a:ext uri="{FF2B5EF4-FFF2-40B4-BE49-F238E27FC236}">
                  <a16:creationId xmlns:a16="http://schemas.microsoft.com/office/drawing/2014/main" id="{4882AF5D-CA56-4144-89A5-BE2EEB046492}"/>
                </a:ext>
              </a:extLst>
            </p:cNvPr>
            <p:cNvPicPr>
              <a:picLocks noChangeAspect="1"/>
            </p:cNvPicPr>
            <p:nvPr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536586" y="5424949"/>
              <a:ext cx="829034" cy="838618"/>
            </a:xfrm>
            <a:prstGeom prst="rect">
              <a:avLst/>
            </a:prstGeom>
          </p:spPr>
        </p:pic>
        <p:sp>
          <p:nvSpPr>
            <p:cNvPr id="47" name="思想气泡: 云 46">
              <a:extLst>
                <a:ext uri="{FF2B5EF4-FFF2-40B4-BE49-F238E27FC236}">
                  <a16:creationId xmlns:a16="http://schemas.microsoft.com/office/drawing/2014/main" id="{3EA5CDB6-2845-46F3-AE8E-DF6E87EC7CCD}"/>
                </a:ext>
              </a:extLst>
            </p:cNvPr>
            <p:cNvSpPr/>
            <p:nvPr/>
          </p:nvSpPr>
          <p:spPr>
            <a:xfrm>
              <a:off x="7037018" y="5522627"/>
              <a:ext cx="3071983" cy="971812"/>
            </a:xfrm>
            <a:prstGeom prst="cloudCallout">
              <a:avLst>
                <a:gd name="adj1" fmla="val 64241"/>
                <a:gd name="adj2" fmla="val -30822"/>
              </a:avLst>
            </a:prstGeom>
            <a:solidFill>
              <a:schemeClr val="bg1"/>
            </a:solidFill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1400" dirty="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“这些建议更具体，可以据此与导师进一步讨论。”</a:t>
              </a:r>
              <a:endParaRPr lang="zh-CN" altLang="zh-CN" sz="1400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48" name="矩形: 圆角 47">
              <a:extLst>
                <a:ext uri="{FF2B5EF4-FFF2-40B4-BE49-F238E27FC236}">
                  <a16:creationId xmlns:a16="http://schemas.microsoft.com/office/drawing/2014/main" id="{EFD50849-9363-4B0D-AE2A-EF3770D2E31B}"/>
                </a:ext>
              </a:extLst>
            </p:cNvPr>
            <p:cNvSpPr/>
            <p:nvPr/>
          </p:nvSpPr>
          <p:spPr>
            <a:xfrm>
              <a:off x="762009" y="887656"/>
              <a:ext cx="5040000" cy="900000"/>
            </a:xfrm>
            <a:prstGeom prst="round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2000" b="1" dirty="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提问</a:t>
              </a:r>
              <a:r>
                <a:rPr lang="zh-CN" altLang="en-US" sz="2000" b="1" dirty="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较笼统</a:t>
              </a:r>
              <a:endParaRPr lang="en-US" altLang="zh-CN" sz="2000" b="1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endParaRPr>
            </a:p>
            <a:p>
              <a:pPr algn="ctr"/>
              <a:r>
                <a:rPr lang="zh-CN" altLang="en-US" dirty="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特点：没有说明研</a:t>
              </a:r>
              <a:r>
                <a:rPr lang="en-US" altLang="zh-CN" dirty="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究背</a:t>
              </a:r>
              <a:r>
                <a:rPr lang="zh-CN" altLang="en-US" dirty="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景和选题条件。</a:t>
              </a:r>
            </a:p>
          </p:txBody>
        </p:sp>
        <p:sp>
          <p:nvSpPr>
            <p:cNvPr id="49" name="矩形: 圆角 48">
              <a:extLst>
                <a:ext uri="{FF2B5EF4-FFF2-40B4-BE49-F238E27FC236}">
                  <a16:creationId xmlns:a16="http://schemas.microsoft.com/office/drawing/2014/main" id="{02CEC709-08EC-4808-8543-D01143EAE775}"/>
                </a:ext>
              </a:extLst>
            </p:cNvPr>
            <p:cNvSpPr/>
            <p:nvPr/>
          </p:nvSpPr>
          <p:spPr>
            <a:xfrm>
              <a:off x="6371857" y="878560"/>
              <a:ext cx="5040000" cy="900000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2000" b="1" dirty="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要求</a:t>
              </a:r>
              <a:r>
                <a:rPr lang="zh-CN" altLang="en-US" sz="2000" b="1" dirty="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更明确</a:t>
              </a:r>
              <a:endParaRPr lang="en-US" altLang="zh-CN" sz="2000" b="1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endParaRPr>
            </a:p>
            <a:p>
              <a:pPr algn="ctr"/>
              <a:r>
                <a:rPr lang="zh-CN" altLang="en-US" dirty="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特点：提供</a:t>
              </a:r>
              <a:r>
                <a:rPr lang="en-US" altLang="zh-CN" dirty="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资料</a:t>
              </a:r>
              <a:r>
                <a:rPr lang="zh-CN" altLang="en-US" dirty="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，并明确分析任务。</a:t>
              </a:r>
            </a:p>
          </p:txBody>
        </p:sp>
        <p:sp>
          <p:nvSpPr>
            <p:cNvPr id="50" name="矩形: 圆角 49">
              <a:extLst>
                <a:ext uri="{FF2B5EF4-FFF2-40B4-BE49-F238E27FC236}">
                  <a16:creationId xmlns:a16="http://schemas.microsoft.com/office/drawing/2014/main" id="{12B1C115-09AB-4B2C-A220-F100A6CBD22F}"/>
                </a:ext>
              </a:extLst>
            </p:cNvPr>
            <p:cNvSpPr/>
            <p:nvPr/>
          </p:nvSpPr>
          <p:spPr>
            <a:xfrm>
              <a:off x="1068071" y="2924079"/>
              <a:ext cx="4320000" cy="1244226"/>
            </a:xfrm>
            <a:prstGeom prst="roundRect">
              <a:avLst/>
            </a:prstGeom>
            <a:noFill/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just"/>
              <a:r>
                <a:rPr lang="zh-CN" altLang="en-US" sz="1600" dirty="0">
                  <a:latin typeface="宋体" panose="02010600030101010101" pitchFamily="2" charset="-122"/>
                  <a:ea typeface="宋体" panose="02010600030101010101" pitchFamily="2" charset="-122"/>
                </a:rPr>
                <a:t>以下是一些初步方向：</a:t>
              </a:r>
              <a:endParaRPr lang="en-US" altLang="zh-CN" sz="1600" dirty="0">
                <a:latin typeface="宋体" panose="02010600030101010101" pitchFamily="2" charset="-122"/>
                <a:ea typeface="宋体" panose="02010600030101010101" pitchFamily="2" charset="-122"/>
              </a:endParaRPr>
            </a:p>
            <a:p>
              <a:pPr algn="just">
                <a:spcBef>
                  <a:spcPts val="600"/>
                </a:spcBef>
              </a:pPr>
              <a:r>
                <a:rPr lang="en-US" altLang="zh-CN" sz="1600" dirty="0">
                  <a:latin typeface="宋体" panose="02010600030101010101" pitchFamily="2" charset="-122"/>
                  <a:ea typeface="宋体" panose="02010600030101010101" pitchFamily="2" charset="-122"/>
                </a:rPr>
                <a:t>1. </a:t>
              </a:r>
              <a:r>
                <a:rPr lang="zh-CN" altLang="en-US" sz="1600" dirty="0">
                  <a:latin typeface="宋体" panose="02010600030101010101" pitchFamily="2" charset="-122"/>
                  <a:ea typeface="宋体" panose="02010600030101010101" pitchFamily="2" charset="-122"/>
                </a:rPr>
                <a:t>人工智能的发展史研究；</a:t>
              </a:r>
              <a:endParaRPr lang="en-US" altLang="zh-CN" sz="1600" dirty="0">
                <a:latin typeface="宋体" panose="02010600030101010101" pitchFamily="2" charset="-122"/>
                <a:ea typeface="宋体" panose="02010600030101010101" pitchFamily="2" charset="-122"/>
              </a:endParaRPr>
            </a:p>
            <a:p>
              <a:pPr algn="just">
                <a:spcBef>
                  <a:spcPts val="600"/>
                </a:spcBef>
              </a:pPr>
              <a:r>
                <a:rPr lang="en-US" altLang="zh-CN" sz="1600" dirty="0">
                  <a:latin typeface="宋体" panose="02010600030101010101" pitchFamily="2" charset="-122"/>
                  <a:ea typeface="宋体" panose="02010600030101010101" pitchFamily="2" charset="-122"/>
                </a:rPr>
                <a:t>2. </a:t>
              </a:r>
              <a:r>
                <a:rPr lang="zh-CN" altLang="en-US" sz="1600" dirty="0">
                  <a:latin typeface="宋体" panose="02010600030101010101" pitchFamily="2" charset="-122"/>
                  <a:ea typeface="宋体" panose="02010600030101010101" pitchFamily="2" charset="-122"/>
                </a:rPr>
                <a:t>深度学习在医疗领域的应用；</a:t>
              </a:r>
              <a:endParaRPr lang="en-US" altLang="zh-CN" sz="1600" dirty="0">
                <a:latin typeface="宋体" panose="02010600030101010101" pitchFamily="2" charset="-122"/>
                <a:ea typeface="宋体" panose="02010600030101010101" pitchFamily="2" charset="-122"/>
              </a:endParaRPr>
            </a:p>
            <a:p>
              <a:pPr algn="just">
                <a:spcBef>
                  <a:spcPts val="600"/>
                </a:spcBef>
              </a:pPr>
              <a:r>
                <a:rPr lang="en-US" altLang="zh-CN" sz="1600" dirty="0">
                  <a:latin typeface="宋体" panose="02010600030101010101" pitchFamily="2" charset="-122"/>
                  <a:ea typeface="宋体" panose="02010600030101010101" pitchFamily="2" charset="-122"/>
                </a:rPr>
                <a:t>3. AI </a:t>
              </a:r>
              <a:r>
                <a:rPr lang="zh-CN" altLang="en-US" sz="1600" dirty="0">
                  <a:latin typeface="宋体" panose="02010600030101010101" pitchFamily="2" charset="-122"/>
                  <a:ea typeface="宋体" panose="02010600030101010101" pitchFamily="2" charset="-122"/>
                </a:rPr>
                <a:t>对未来就业的影响</a:t>
              </a:r>
              <a:r>
                <a:rPr lang="en-US" altLang="zh-CN" sz="1600" dirty="0">
                  <a:latin typeface="宋体" panose="02010600030101010101" pitchFamily="2" charset="-122"/>
                  <a:ea typeface="宋体" panose="02010600030101010101" pitchFamily="2" charset="-122"/>
                </a:rPr>
                <a:t>……</a:t>
              </a:r>
              <a:endParaRPr lang="zh-CN" altLang="zh-CN" sz="1600" dirty="0"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51" name="文本框 50">
              <a:extLst>
                <a:ext uri="{FF2B5EF4-FFF2-40B4-BE49-F238E27FC236}">
                  <a16:creationId xmlns:a16="http://schemas.microsoft.com/office/drawing/2014/main" id="{8B976FF3-AD8D-40ED-B190-6AA8C32C1746}"/>
                </a:ext>
              </a:extLst>
            </p:cNvPr>
            <p:cNvSpPr txBox="1"/>
            <p:nvPr/>
          </p:nvSpPr>
          <p:spPr>
            <a:xfrm>
              <a:off x="9350059" y="1782956"/>
              <a:ext cx="2113935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600" dirty="0">
                  <a:latin typeface="宋体" panose="02010600030101010101" pitchFamily="2" charset="-122"/>
                  <a:ea typeface="宋体" panose="02010600030101010101" pitchFamily="2" charset="-122"/>
                </a:rPr>
                <a:t>最新综述</a:t>
              </a:r>
              <a:r>
                <a:rPr lang="en-US" altLang="zh-CN" sz="1600" dirty="0" err="1">
                  <a:latin typeface="宋体" panose="02010600030101010101" pitchFamily="2" charset="-122"/>
                  <a:ea typeface="宋体" panose="02010600030101010101" pitchFamily="2" charset="-122"/>
                </a:rPr>
                <a:t>A.pdf</a:t>
              </a:r>
              <a:r>
                <a:rPr lang="zh-CN" altLang="en-US" sz="1600" dirty="0">
                  <a:latin typeface="宋体" panose="02010600030101010101" pitchFamily="2" charset="-122"/>
                  <a:ea typeface="宋体" panose="02010600030101010101" pitchFamily="2" charset="-122"/>
                </a:rPr>
                <a:t>、最新综述</a:t>
              </a:r>
              <a:r>
                <a:rPr lang="en-US" altLang="zh-CN" sz="1600" dirty="0" err="1">
                  <a:latin typeface="宋体" panose="02010600030101010101" pitchFamily="2" charset="-122"/>
                  <a:ea typeface="宋体" panose="02010600030101010101" pitchFamily="2" charset="-122"/>
                </a:rPr>
                <a:t>B.pdf</a:t>
              </a:r>
              <a:r>
                <a:rPr lang="zh-CN" altLang="en-US" sz="1600" dirty="0">
                  <a:latin typeface="宋体" panose="02010600030101010101" pitchFamily="2" charset="-122"/>
                  <a:ea typeface="宋体" panose="02010600030101010101" pitchFamily="2" charset="-122"/>
                </a:rPr>
                <a:t>、我的初步想法</a:t>
              </a:r>
              <a:r>
                <a:rPr lang="en-US" altLang="zh-CN" sz="1600" dirty="0">
                  <a:latin typeface="宋体" panose="02010600030101010101" pitchFamily="2" charset="-122"/>
                  <a:ea typeface="宋体" panose="02010600030101010101" pitchFamily="2" charset="-122"/>
                </a:rPr>
                <a:t>.docx </a:t>
              </a:r>
              <a:endParaRPr lang="zh-CN" altLang="en-US" sz="1600" dirty="0"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52" name="矩形: 圆角 12">
              <a:extLst>
                <a:ext uri="{FF2B5EF4-FFF2-40B4-BE49-F238E27FC236}">
                  <a16:creationId xmlns:a16="http://schemas.microsoft.com/office/drawing/2014/main" id="{96F11E24-E0D5-4AD7-BA92-1265AA45D5EF}"/>
                </a:ext>
              </a:extLst>
            </p:cNvPr>
            <p:cNvSpPr/>
            <p:nvPr/>
          </p:nvSpPr>
          <p:spPr>
            <a:xfrm>
              <a:off x="7096325" y="1964753"/>
              <a:ext cx="1609933" cy="406141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53" name="下箭头 2">
              <a:extLst>
                <a:ext uri="{FF2B5EF4-FFF2-40B4-BE49-F238E27FC236}">
                  <a16:creationId xmlns:a16="http://schemas.microsoft.com/office/drawing/2014/main" id="{A57E925B-0D4E-4412-8865-2F7F209AFE46}"/>
                </a:ext>
              </a:extLst>
            </p:cNvPr>
            <p:cNvSpPr/>
            <p:nvPr/>
          </p:nvSpPr>
          <p:spPr>
            <a:xfrm>
              <a:off x="7901291" y="2489833"/>
              <a:ext cx="381470" cy="292771"/>
            </a:xfrm>
            <a:prstGeom prst="downArrow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cxnSp>
          <p:nvCxnSpPr>
            <p:cNvPr id="54" name="直接箭头连接符 53">
              <a:extLst>
                <a:ext uri="{FF2B5EF4-FFF2-40B4-BE49-F238E27FC236}">
                  <a16:creationId xmlns:a16="http://schemas.microsoft.com/office/drawing/2014/main" id="{EFFD8C23-3154-46AE-BA4A-82BC09C06BB3}"/>
                </a:ext>
              </a:extLst>
            </p:cNvPr>
            <p:cNvCxnSpPr/>
            <p:nvPr/>
          </p:nvCxnSpPr>
          <p:spPr>
            <a:xfrm flipH="1">
              <a:off x="8983534" y="2080192"/>
              <a:ext cx="366525" cy="199667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55" name="矩形: 圆角 54">
              <a:extLst>
                <a:ext uri="{FF2B5EF4-FFF2-40B4-BE49-F238E27FC236}">
                  <a16:creationId xmlns:a16="http://schemas.microsoft.com/office/drawing/2014/main" id="{BB96E0A1-E565-484B-BA55-092AAFE19C70}"/>
                </a:ext>
              </a:extLst>
            </p:cNvPr>
            <p:cNvSpPr/>
            <p:nvPr/>
          </p:nvSpPr>
          <p:spPr>
            <a:xfrm>
              <a:off x="6731857" y="4286335"/>
              <a:ext cx="4320000" cy="1138614"/>
            </a:xfrm>
            <a:prstGeom prst="roundRect">
              <a:avLst/>
            </a:prstGeom>
            <a:solidFill>
              <a:schemeClr val="bg1"/>
            </a:solidFill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just"/>
              <a:r>
                <a:rPr lang="zh-CN" altLang="en-US" sz="1600" dirty="0">
                  <a:latin typeface="宋体" panose="02010600030101010101" pitchFamily="2" charset="-122"/>
                  <a:ea typeface="宋体" panose="02010600030101010101" pitchFamily="2" charset="-122"/>
                </a:rPr>
                <a:t>以下是基于所给材料的初步选题比较：</a:t>
              </a:r>
              <a:endParaRPr lang="en-US" altLang="zh-CN" sz="1600" dirty="0">
                <a:latin typeface="宋体" panose="02010600030101010101" pitchFamily="2" charset="-122"/>
                <a:ea typeface="宋体" panose="02010600030101010101" pitchFamily="2" charset="-122"/>
              </a:endParaRPr>
            </a:p>
            <a:p>
              <a:pPr algn="just"/>
              <a:r>
                <a:rPr lang="zh-CN" altLang="en-US" sz="1600" b="1" dirty="0">
                  <a:latin typeface="宋体" panose="02010600030101010101" pitchFamily="2" charset="-122"/>
                  <a:ea typeface="宋体" panose="02010600030101010101" pitchFamily="2" charset="-122"/>
                </a:rPr>
                <a:t>切入点一</a:t>
              </a:r>
              <a:r>
                <a:rPr lang="zh-CN" altLang="en-US" sz="1600" dirty="0">
                  <a:latin typeface="宋体" panose="02010600030101010101" pitchFamily="2" charset="-122"/>
                  <a:ea typeface="宋体" panose="02010600030101010101" pitchFamily="2" charset="-122"/>
                </a:rPr>
                <a:t>：与文献A的局</a:t>
              </a:r>
              <a:r>
                <a:rPr lang="en-US" altLang="zh-CN" sz="1600" dirty="0">
                  <a:latin typeface="宋体" panose="02010600030101010101" pitchFamily="2" charset="-122"/>
                  <a:ea typeface="宋体" panose="02010600030101010101" pitchFamily="2" charset="-122"/>
                </a:rPr>
                <a:t>限</a:t>
              </a:r>
              <a:r>
                <a:rPr lang="zh-CN" altLang="en-US" sz="1600" dirty="0">
                  <a:latin typeface="宋体" panose="02010600030101010101" pitchFamily="2" charset="-122"/>
                  <a:ea typeface="宋体" panose="02010600030101010101" pitchFamily="2" charset="-122"/>
                </a:rPr>
                <a:t>和您的兴趣有关，但数据收集难度较高；</a:t>
              </a:r>
              <a:endParaRPr lang="en-US" altLang="zh-CN" sz="1600" dirty="0">
                <a:latin typeface="宋体" panose="02010600030101010101" pitchFamily="2" charset="-122"/>
                <a:ea typeface="宋体" panose="02010600030101010101" pitchFamily="2" charset="-122"/>
              </a:endParaRPr>
            </a:p>
            <a:p>
              <a:pPr algn="just"/>
              <a:r>
                <a:rPr lang="zh-CN" altLang="en-US" sz="1600" b="1" dirty="0">
                  <a:latin typeface="宋体" panose="02010600030101010101" pitchFamily="2" charset="-122"/>
                  <a:ea typeface="宋体" panose="02010600030101010101" pitchFamily="2" charset="-122"/>
                </a:rPr>
                <a:t>切入点二</a:t>
              </a:r>
              <a:r>
                <a:rPr lang="zh-CN" altLang="en-US" sz="1600" dirty="0">
                  <a:latin typeface="宋体" panose="02010600030101010101" pitchFamily="2" charset="-122"/>
                  <a:ea typeface="宋体" panose="02010600030101010101" pitchFamily="2" charset="-122"/>
                </a:rPr>
                <a:t>：</a:t>
              </a:r>
              <a:r>
                <a:rPr lang="en-US" altLang="zh-CN" sz="1600" dirty="0">
                  <a:latin typeface="宋体" panose="02010600030101010101" pitchFamily="2" charset="-122"/>
                  <a:ea typeface="宋体" panose="02010600030101010101" pitchFamily="2" charset="-122"/>
                </a:rPr>
                <a:t>……</a:t>
              </a:r>
              <a:r>
                <a:rPr lang="zh-CN" altLang="en-US" sz="1600" dirty="0">
                  <a:latin typeface="宋体" panose="02010600030101010101" pitchFamily="2" charset="-122"/>
                  <a:ea typeface="宋体" panose="02010600030101010101" pitchFamily="2" charset="-122"/>
                </a:rPr>
                <a:t> </a:t>
              </a:r>
              <a:endParaRPr lang="zh-CN" altLang="zh-CN" sz="1600" dirty="0"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pic>
          <p:nvPicPr>
            <p:cNvPr id="56" name="图片 55">
              <a:extLst>
                <a:ext uri="{FF2B5EF4-FFF2-40B4-BE49-F238E27FC236}">
                  <a16:creationId xmlns:a16="http://schemas.microsoft.com/office/drawing/2014/main" id="{652B6615-16B9-4414-A0E8-249D9D9D7DC3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1156262" y="2936633"/>
              <a:ext cx="512568" cy="506538"/>
            </a:xfrm>
            <a:prstGeom prst="rect">
              <a:avLst/>
            </a:prstGeom>
          </p:spPr>
        </p:pic>
        <p:sp>
          <p:nvSpPr>
            <p:cNvPr id="57" name="文本框 56">
              <a:extLst>
                <a:ext uri="{FF2B5EF4-FFF2-40B4-BE49-F238E27FC236}">
                  <a16:creationId xmlns:a16="http://schemas.microsoft.com/office/drawing/2014/main" id="{4712F601-83BC-4956-8B5E-66E4C37C465A}"/>
                </a:ext>
              </a:extLst>
            </p:cNvPr>
            <p:cNvSpPr txBox="1"/>
            <p:nvPr/>
          </p:nvSpPr>
          <p:spPr>
            <a:xfrm>
              <a:off x="7246611" y="1955685"/>
              <a:ext cx="1598285" cy="46166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zh-CN" sz="2400" kern="0" dirty="0">
                  <a:solidFill>
                    <a:srgbClr val="1F1F1F"/>
                  </a:solidFill>
                  <a:effectLst/>
                  <a:latin typeface="Apple Color Emoji" pitchFamily="2" charset="0"/>
                  <a:ea typeface="宋体" panose="02010600030101010101" pitchFamily="2" charset="-122"/>
                  <a:cs typeface="Apple Color Emoji" pitchFamily="2" charset="0"/>
                </a:rPr>
                <a:t>        </a:t>
              </a:r>
              <a:r>
                <a:rPr lang="zh-CN" altLang="zh-CN" sz="2400" dirty="0">
                  <a:effectLst/>
                </a:rPr>
                <a:t> </a:t>
              </a:r>
              <a:endParaRPr lang="zh-CN" altLang="en-US" sz="2400" dirty="0"/>
            </a:p>
          </p:txBody>
        </p:sp>
        <p:pic>
          <p:nvPicPr>
            <p:cNvPr id="58" name="Picture 2" descr="毕业论文图标矢量图向量例证. 插画包括有学院, 夹子, 学术论文, 查出, 线路, 颜色, 女孩- 273242201">
              <a:extLst>
                <a:ext uri="{FF2B5EF4-FFF2-40B4-BE49-F238E27FC236}">
                  <a16:creationId xmlns:a16="http://schemas.microsoft.com/office/drawing/2014/main" id="{9045762F-2072-4940-B3EC-2DC2FBEA94AC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192099" y="2002472"/>
              <a:ext cx="351316" cy="35131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59" name="Picture 2" descr="毕业论文图标矢量图向量例证. 插画包括有学院, 夹子, 学术论文, 查出, 线路, 颜色, 女孩- 273242201">
              <a:extLst>
                <a:ext uri="{FF2B5EF4-FFF2-40B4-BE49-F238E27FC236}">
                  <a16:creationId xmlns:a16="http://schemas.microsoft.com/office/drawing/2014/main" id="{299752BB-83C0-4717-89CF-1E4505446DC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590443" y="2003994"/>
              <a:ext cx="351316" cy="35131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60" name="AutoShape 4" descr="5.5万Document with pen illustration 免版税图片、库存照片和图像| Shutterstock">
              <a:extLst>
                <a:ext uri="{FF2B5EF4-FFF2-40B4-BE49-F238E27FC236}">
                  <a16:creationId xmlns:a16="http://schemas.microsoft.com/office/drawing/2014/main" id="{E05CC40A-C5E1-40F3-9225-73FAD51DFF6F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6842289" y="4946340"/>
              <a:ext cx="304800" cy="30480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pic>
          <p:nvPicPr>
            <p:cNvPr id="61" name="图片 60">
              <a:extLst>
                <a:ext uri="{FF2B5EF4-FFF2-40B4-BE49-F238E27FC236}">
                  <a16:creationId xmlns:a16="http://schemas.microsoft.com/office/drawing/2014/main" id="{44BFC52C-4D0B-427F-91E2-F17C30B4DA4D}"/>
                </a:ext>
              </a:extLst>
            </p:cNvPr>
            <p:cNvPicPr>
              <a:picLocks noChangeAspect="1"/>
            </p:cNvPicPr>
            <p:nvPr/>
          </p:nvPicPr>
          <p:blipFill>
            <a:blip r:embed="rId8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041948" y="1969835"/>
              <a:ext cx="350571" cy="399005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11979406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yzu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17175" y="246888"/>
            <a:ext cx="1691640" cy="54864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274320"/>
            <a:ext cx="960120" cy="502920"/>
          </a:xfrm>
          <a:prstGeom prst="rect">
            <a:avLst/>
          </a:prstGeom>
          <a:solidFill>
            <a:srgbClr val="006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" y="341114"/>
            <a:ext cx="914400" cy="3693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400" b="1" i="0" dirty="0">
                <a:solidFill>
                  <a:srgbClr val="FFFFFF"/>
                </a:solidFill>
                <a:latin typeface="Microsoft YaHei"/>
                <a:ea typeface="Microsoft YaHei"/>
              </a:rPr>
              <a:t>2.1.2</a:t>
            </a:r>
          </a:p>
        </p:txBody>
      </p:sp>
      <p:sp>
        <p:nvSpPr>
          <p:cNvPr id="6" name="Rectangle 5"/>
          <p:cNvSpPr/>
          <p:nvPr/>
        </p:nvSpPr>
        <p:spPr>
          <a:xfrm>
            <a:off x="960120" y="274320"/>
            <a:ext cx="9052560" cy="502920"/>
          </a:xfrm>
          <a:prstGeom prst="rect">
            <a:avLst/>
          </a:prstGeom>
          <a:solidFill>
            <a:srgbClr val="3A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234440" y="341114"/>
            <a:ext cx="8686800" cy="3693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400" b="1" i="0" dirty="0" err="1">
                <a:solidFill>
                  <a:srgbClr val="FFFFFF"/>
                </a:solidFill>
                <a:latin typeface="Microsoft YaHei"/>
                <a:ea typeface="Microsoft YaHei"/>
              </a:rPr>
              <a:t>事实查</a:t>
            </a:r>
            <a:r>
              <a:rPr sz="2400" b="1" i="0" dirty="0">
                <a:solidFill>
                  <a:srgbClr val="FFFFFF"/>
                </a:solidFill>
                <a:latin typeface="Microsoft YaHei"/>
                <a:ea typeface="Microsoft YaHei"/>
              </a:rPr>
              <a:t>询与多</a:t>
            </a:r>
            <a:r>
              <a:rPr sz="2400" b="1" i="0" dirty="0" err="1">
                <a:solidFill>
                  <a:srgbClr val="FFFFFF"/>
                </a:solidFill>
                <a:latin typeface="Microsoft YaHei"/>
                <a:ea typeface="Microsoft YaHei"/>
              </a:rPr>
              <a:t>轮讨论</a:t>
            </a:r>
            <a:endParaRPr sz="2400" b="1" i="0" dirty="0">
              <a:solidFill>
                <a:srgbClr val="FFFFFF"/>
              </a:solidFill>
              <a:latin typeface="Microsoft YaHei"/>
              <a:ea typeface="Microsoft YaHei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502920" y="960120"/>
            <a:ext cx="11247120" cy="3693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400" b="1" i="0" dirty="0">
                <a:solidFill>
                  <a:srgbClr val="0066CC"/>
                </a:solidFill>
                <a:latin typeface="Microsoft YaHei"/>
                <a:ea typeface="Microsoft YaHei"/>
              </a:rPr>
              <a:t>表 2-1  </a:t>
            </a:r>
            <a:r>
              <a:rPr sz="2400" b="1" i="0" dirty="0" err="1">
                <a:solidFill>
                  <a:srgbClr val="0066CC"/>
                </a:solidFill>
                <a:latin typeface="Microsoft YaHei"/>
                <a:ea typeface="Microsoft YaHei"/>
              </a:rPr>
              <a:t> 两种使用方式的比较</a:t>
            </a:r>
            <a:endParaRPr sz="2400" b="1" i="0" dirty="0">
              <a:solidFill>
                <a:srgbClr val="0066CC"/>
              </a:solidFill>
              <a:latin typeface="Microsoft YaHei"/>
              <a:ea typeface="Microsoft YaHei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640080" y="1554480"/>
            <a:ext cx="2286000" cy="548640"/>
          </a:xfrm>
          <a:prstGeom prst="rect">
            <a:avLst/>
          </a:prstGeom>
          <a:solidFill>
            <a:srgbClr val="006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40080" y="1644134"/>
            <a:ext cx="2286000" cy="3693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400" b="1" i="0" dirty="0" err="1">
                <a:solidFill>
                  <a:srgbClr val="FFFFFF"/>
                </a:solidFill>
                <a:latin typeface="Microsoft YaHei"/>
                <a:ea typeface="Microsoft YaHei"/>
              </a:rPr>
              <a:t>对比维度</a:t>
            </a:r>
            <a:endParaRPr sz="2400" b="1" i="0" dirty="0">
              <a:solidFill>
                <a:srgbClr val="FFFFFF"/>
              </a:solidFill>
              <a:latin typeface="Microsoft YaHei"/>
              <a:ea typeface="Microsoft YaHei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2926080" y="1554480"/>
            <a:ext cx="4206240" cy="548640"/>
          </a:xfrm>
          <a:prstGeom prst="rect">
            <a:avLst/>
          </a:prstGeom>
          <a:solidFill>
            <a:srgbClr val="006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2926080" y="1644134"/>
            <a:ext cx="4206240" cy="3693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400" b="1" i="0" dirty="0" err="1">
                <a:solidFill>
                  <a:srgbClr val="FFFFFF"/>
                </a:solidFill>
                <a:latin typeface="Microsoft YaHei"/>
                <a:ea typeface="Microsoft YaHei"/>
              </a:rPr>
              <a:t>事实</a:t>
            </a:r>
            <a:r>
              <a:rPr sz="2400" b="1" i="0" dirty="0">
                <a:solidFill>
                  <a:srgbClr val="FFFFFF"/>
                </a:solidFill>
                <a:latin typeface="Microsoft YaHei"/>
                <a:ea typeface="Microsoft YaHei"/>
              </a:rPr>
              <a:t>查</a:t>
            </a:r>
            <a:r>
              <a:rPr sz="2400" b="1" i="0" dirty="0" err="1">
                <a:solidFill>
                  <a:srgbClr val="FFFFFF"/>
                </a:solidFill>
                <a:latin typeface="Microsoft YaHei"/>
                <a:ea typeface="Microsoft YaHei"/>
              </a:rPr>
              <a:t>询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132320" y="1554480"/>
            <a:ext cx="4389120" cy="548640"/>
          </a:xfrm>
          <a:prstGeom prst="rect">
            <a:avLst/>
          </a:prstGeom>
          <a:solidFill>
            <a:srgbClr val="006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132320" y="1644134"/>
            <a:ext cx="4389120" cy="3693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400" b="1" i="0" dirty="0" err="1">
                <a:solidFill>
                  <a:srgbClr val="FFFFFF"/>
                </a:solidFill>
                <a:latin typeface="Microsoft YaHei"/>
                <a:ea typeface="Microsoft YaHei"/>
              </a:rPr>
              <a:t>多轮</a:t>
            </a:r>
            <a:r>
              <a:rPr sz="2400" b="1" i="0" dirty="0">
                <a:solidFill>
                  <a:srgbClr val="FFFFFF"/>
                </a:solidFill>
                <a:latin typeface="Microsoft YaHei"/>
                <a:ea typeface="Microsoft YaHei"/>
              </a:rPr>
              <a:t>讨</a:t>
            </a:r>
            <a:r>
              <a:rPr sz="2400" b="1" i="0" dirty="0" err="1">
                <a:solidFill>
                  <a:srgbClr val="FFFFFF"/>
                </a:solidFill>
                <a:latin typeface="Microsoft YaHei"/>
                <a:ea typeface="Microsoft YaHei"/>
              </a:rPr>
              <a:t>论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0080" y="2103120"/>
            <a:ext cx="2286000" cy="640080"/>
          </a:xfrm>
          <a:prstGeom prst="rect">
            <a:avLst/>
          </a:prstGeom>
          <a:solidFill>
            <a:srgbClr val="E6F2FC"/>
          </a:solidFill>
          <a:ln w="6350">
            <a:solidFill>
              <a:srgbClr val="E5E5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77240" y="2238494"/>
            <a:ext cx="2011680" cy="3693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400" b="1" i="0" dirty="0" err="1">
                <a:solidFill>
                  <a:srgbClr val="333333"/>
                </a:solidFill>
                <a:latin typeface="Microsoft YaHei"/>
                <a:ea typeface="Microsoft YaHei"/>
              </a:rPr>
              <a:t>输入形式</a:t>
            </a:r>
            <a:endParaRPr sz="2400" b="1" i="0" dirty="0">
              <a:solidFill>
                <a:srgbClr val="333333"/>
              </a:solidFill>
              <a:latin typeface="Microsoft YaHei"/>
              <a:ea typeface="Microsoft YaHei"/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2926080" y="2103120"/>
            <a:ext cx="4206240" cy="640080"/>
          </a:xfrm>
          <a:prstGeom prst="rect">
            <a:avLst/>
          </a:prstGeom>
          <a:solidFill>
            <a:srgbClr val="E6F2FC"/>
          </a:solidFill>
          <a:ln w="6350">
            <a:solidFill>
              <a:srgbClr val="E5E5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3063240" y="2269271"/>
            <a:ext cx="3931920" cy="30777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000" b="0" i="0" dirty="0" err="1">
                <a:solidFill>
                  <a:srgbClr val="333333"/>
                </a:solidFill>
                <a:latin typeface="Microsoft YaHei"/>
                <a:ea typeface="Microsoft YaHei"/>
              </a:rPr>
              <a:t>短关键词，碎片化片段</a:t>
            </a:r>
            <a:endParaRPr sz="2000" b="0" i="0" dirty="0">
              <a:solidFill>
                <a:srgbClr val="333333"/>
              </a:solidFill>
              <a:latin typeface="Microsoft YaHei"/>
              <a:ea typeface="Microsoft YaHei"/>
            </a:endParaRPr>
          </a:p>
        </p:txBody>
      </p:sp>
      <p:sp>
        <p:nvSpPr>
          <p:cNvPr id="19" name="Rectangle 18"/>
          <p:cNvSpPr/>
          <p:nvPr/>
        </p:nvSpPr>
        <p:spPr>
          <a:xfrm>
            <a:off x="7132320" y="2103120"/>
            <a:ext cx="4389120" cy="640080"/>
          </a:xfrm>
          <a:prstGeom prst="rect">
            <a:avLst/>
          </a:prstGeom>
          <a:solidFill>
            <a:srgbClr val="E6F2FC"/>
          </a:solidFill>
          <a:ln w="6350">
            <a:solidFill>
              <a:srgbClr val="E5E5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7269480" y="2269271"/>
            <a:ext cx="4114800" cy="30777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000" b="0" i="0" dirty="0" err="1">
                <a:solidFill>
                  <a:srgbClr val="333333"/>
                </a:solidFill>
                <a:latin typeface="Microsoft YaHei"/>
                <a:ea typeface="Microsoft YaHei"/>
              </a:rPr>
              <a:t>相关背景、</a:t>
            </a:r>
            <a:r>
              <a:rPr sz="2000" b="0" i="0" dirty="0">
                <a:solidFill>
                  <a:srgbClr val="333333"/>
                </a:solidFill>
                <a:latin typeface="Microsoft YaHei"/>
                <a:ea typeface="Microsoft YaHei"/>
              </a:rPr>
              <a:t>文献及</a:t>
            </a:r>
            <a:r>
              <a:rPr sz="2000" b="0" i="0" dirty="0" err="1">
                <a:solidFill>
                  <a:srgbClr val="333333"/>
                </a:solidFill>
                <a:latin typeface="Microsoft YaHei"/>
                <a:ea typeface="Microsoft YaHei"/>
              </a:rPr>
              <a:t>具体要求</a:t>
            </a:r>
            <a:endParaRPr sz="2000" b="0" i="0" dirty="0">
              <a:solidFill>
                <a:srgbClr val="333333"/>
              </a:solidFill>
              <a:latin typeface="Microsoft YaHei"/>
              <a:ea typeface="Microsoft YaHei"/>
            </a:endParaRPr>
          </a:p>
        </p:txBody>
      </p:sp>
      <p:sp>
        <p:nvSpPr>
          <p:cNvPr id="21" name="Rectangle 20"/>
          <p:cNvSpPr/>
          <p:nvPr/>
        </p:nvSpPr>
        <p:spPr>
          <a:xfrm>
            <a:off x="640080" y="2743200"/>
            <a:ext cx="2286000" cy="640080"/>
          </a:xfrm>
          <a:prstGeom prst="rect">
            <a:avLst/>
          </a:prstGeom>
          <a:solidFill>
            <a:srgbClr val="FFFFFF"/>
          </a:solidFill>
          <a:ln w="6350">
            <a:solidFill>
              <a:srgbClr val="E5E5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777240" y="2878574"/>
            <a:ext cx="2011680" cy="3693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400" b="1" i="0" dirty="0">
                <a:solidFill>
                  <a:srgbClr val="333333"/>
                </a:solidFill>
                <a:latin typeface="Microsoft YaHei"/>
                <a:ea typeface="Microsoft YaHei"/>
              </a:rPr>
              <a:t>AI </a:t>
            </a:r>
            <a:r>
              <a:rPr sz="2400" b="1" i="0" dirty="0" err="1">
                <a:solidFill>
                  <a:srgbClr val="333333"/>
                </a:solidFill>
                <a:latin typeface="Microsoft YaHei"/>
                <a:ea typeface="Microsoft YaHei"/>
              </a:rPr>
              <a:t>角色</a:t>
            </a:r>
            <a:endParaRPr sz="2400" b="1" i="0" dirty="0">
              <a:solidFill>
                <a:srgbClr val="333333"/>
              </a:solidFill>
              <a:latin typeface="Microsoft YaHei"/>
              <a:ea typeface="Microsoft YaHei"/>
            </a:endParaRPr>
          </a:p>
        </p:txBody>
      </p:sp>
      <p:sp>
        <p:nvSpPr>
          <p:cNvPr id="23" name="Rectangle 22"/>
          <p:cNvSpPr/>
          <p:nvPr/>
        </p:nvSpPr>
        <p:spPr>
          <a:xfrm>
            <a:off x="2926080" y="2743200"/>
            <a:ext cx="4206240" cy="640080"/>
          </a:xfrm>
          <a:prstGeom prst="rect">
            <a:avLst/>
          </a:prstGeom>
          <a:solidFill>
            <a:srgbClr val="FFFFFF"/>
          </a:solidFill>
          <a:ln w="6350">
            <a:solidFill>
              <a:srgbClr val="E5E5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3063240" y="2909351"/>
            <a:ext cx="3931920" cy="30777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000" b="0" i="0" dirty="0" err="1">
                <a:solidFill>
                  <a:srgbClr val="333333"/>
                </a:solidFill>
                <a:latin typeface="Microsoft YaHei"/>
                <a:ea typeface="Microsoft YaHei"/>
              </a:rPr>
              <a:t>事实检索</a:t>
            </a:r>
            <a:r>
              <a:rPr sz="2000" b="0" i="0" dirty="0">
                <a:solidFill>
                  <a:srgbClr val="333333"/>
                </a:solidFill>
                <a:latin typeface="Microsoft YaHei"/>
                <a:ea typeface="Microsoft YaHei"/>
              </a:rPr>
              <a:t> / </a:t>
            </a:r>
            <a:r>
              <a:rPr sz="2000" b="0" i="0" dirty="0" err="1">
                <a:solidFill>
                  <a:srgbClr val="333333"/>
                </a:solidFill>
                <a:latin typeface="Microsoft YaHei"/>
                <a:ea typeface="Microsoft YaHei"/>
              </a:rPr>
              <a:t>概念核实工具</a:t>
            </a:r>
            <a:endParaRPr sz="2000" b="0" i="0" dirty="0">
              <a:solidFill>
                <a:srgbClr val="333333"/>
              </a:solidFill>
              <a:latin typeface="Microsoft YaHei"/>
              <a:ea typeface="Microsoft YaHei"/>
            </a:endParaRPr>
          </a:p>
        </p:txBody>
      </p:sp>
      <p:sp>
        <p:nvSpPr>
          <p:cNvPr id="25" name="Rectangle 24"/>
          <p:cNvSpPr/>
          <p:nvPr/>
        </p:nvSpPr>
        <p:spPr>
          <a:xfrm>
            <a:off x="7132320" y="2743200"/>
            <a:ext cx="4389120" cy="640080"/>
          </a:xfrm>
          <a:prstGeom prst="rect">
            <a:avLst/>
          </a:prstGeom>
          <a:solidFill>
            <a:srgbClr val="FFFFFF"/>
          </a:solidFill>
          <a:ln w="6350">
            <a:solidFill>
              <a:srgbClr val="E5E5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7269480" y="2909351"/>
            <a:ext cx="4114800" cy="30777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000" b="0" i="0" dirty="0">
                <a:solidFill>
                  <a:srgbClr val="333333"/>
                </a:solidFill>
                <a:latin typeface="Microsoft YaHei"/>
                <a:ea typeface="Microsoft YaHei"/>
              </a:rPr>
              <a:t>辅</a:t>
            </a:r>
            <a:r>
              <a:rPr sz="2000" b="0" i="0" dirty="0" err="1">
                <a:solidFill>
                  <a:srgbClr val="333333"/>
                </a:solidFill>
                <a:latin typeface="Microsoft YaHei"/>
                <a:ea typeface="Microsoft YaHei"/>
              </a:rPr>
              <a:t>助分析</a:t>
            </a:r>
            <a:r>
              <a:rPr sz="2000" b="0" i="0" dirty="0">
                <a:solidFill>
                  <a:srgbClr val="333333"/>
                </a:solidFill>
                <a:latin typeface="Microsoft YaHei"/>
                <a:ea typeface="Microsoft YaHei"/>
              </a:rPr>
              <a:t>和方</a:t>
            </a:r>
            <a:r>
              <a:rPr sz="2000" b="0" i="0" dirty="0" err="1">
                <a:solidFill>
                  <a:srgbClr val="333333"/>
                </a:solidFill>
                <a:latin typeface="Microsoft YaHei"/>
                <a:ea typeface="Microsoft YaHei"/>
              </a:rPr>
              <a:t>案比较</a:t>
            </a:r>
            <a:endParaRPr sz="2000" b="0" i="0" dirty="0">
              <a:solidFill>
                <a:srgbClr val="333333"/>
              </a:solidFill>
              <a:latin typeface="Microsoft YaHei"/>
              <a:ea typeface="Microsoft YaHei"/>
            </a:endParaRPr>
          </a:p>
        </p:txBody>
      </p:sp>
      <p:sp>
        <p:nvSpPr>
          <p:cNvPr id="27" name="Rectangle 26"/>
          <p:cNvSpPr/>
          <p:nvPr/>
        </p:nvSpPr>
        <p:spPr>
          <a:xfrm>
            <a:off x="640080" y="3383280"/>
            <a:ext cx="2286000" cy="640080"/>
          </a:xfrm>
          <a:prstGeom prst="rect">
            <a:avLst/>
          </a:prstGeom>
          <a:solidFill>
            <a:srgbClr val="E6F2FC"/>
          </a:solidFill>
          <a:ln w="6350">
            <a:solidFill>
              <a:srgbClr val="E5E5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777240" y="3518654"/>
            <a:ext cx="2011680" cy="3693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400" b="1" i="0" dirty="0" err="1">
                <a:solidFill>
                  <a:srgbClr val="333333"/>
                </a:solidFill>
                <a:latin typeface="Microsoft YaHei"/>
                <a:ea typeface="Microsoft YaHei"/>
              </a:rPr>
              <a:t>核心预期</a:t>
            </a:r>
            <a:endParaRPr sz="2400" b="1" i="0" dirty="0">
              <a:solidFill>
                <a:srgbClr val="333333"/>
              </a:solidFill>
              <a:latin typeface="Microsoft YaHei"/>
              <a:ea typeface="Microsoft YaHei"/>
            </a:endParaRPr>
          </a:p>
        </p:txBody>
      </p:sp>
      <p:sp>
        <p:nvSpPr>
          <p:cNvPr id="29" name="Rectangle 28"/>
          <p:cNvSpPr/>
          <p:nvPr/>
        </p:nvSpPr>
        <p:spPr>
          <a:xfrm>
            <a:off x="2926080" y="3383280"/>
            <a:ext cx="4206240" cy="640080"/>
          </a:xfrm>
          <a:prstGeom prst="rect">
            <a:avLst/>
          </a:prstGeom>
          <a:solidFill>
            <a:srgbClr val="E6F2FC"/>
          </a:solidFill>
          <a:ln w="6350">
            <a:solidFill>
              <a:srgbClr val="E5E5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3063240" y="3549431"/>
            <a:ext cx="3931920" cy="30777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000" b="0" i="0" dirty="0" err="1">
                <a:solidFill>
                  <a:srgbClr val="333333"/>
                </a:solidFill>
                <a:latin typeface="Microsoft YaHei"/>
                <a:ea typeface="Microsoft YaHei"/>
              </a:rPr>
              <a:t>获取所需信息或答案</a:t>
            </a:r>
            <a:endParaRPr sz="2000" b="0" i="0" dirty="0">
              <a:solidFill>
                <a:srgbClr val="333333"/>
              </a:solidFill>
              <a:latin typeface="Microsoft YaHei"/>
              <a:ea typeface="Microsoft YaHei"/>
            </a:endParaRPr>
          </a:p>
        </p:txBody>
      </p:sp>
      <p:sp>
        <p:nvSpPr>
          <p:cNvPr id="31" name="Rectangle 30"/>
          <p:cNvSpPr/>
          <p:nvPr/>
        </p:nvSpPr>
        <p:spPr>
          <a:xfrm>
            <a:off x="7132320" y="3383280"/>
            <a:ext cx="4389120" cy="640080"/>
          </a:xfrm>
          <a:prstGeom prst="rect">
            <a:avLst/>
          </a:prstGeom>
          <a:solidFill>
            <a:srgbClr val="E6F2FC"/>
          </a:solidFill>
          <a:ln w="6350">
            <a:solidFill>
              <a:srgbClr val="E5E5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7269480" y="3549431"/>
            <a:ext cx="4114800" cy="30777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000" b="0" i="0" dirty="0" err="1">
                <a:solidFill>
                  <a:srgbClr val="333333"/>
                </a:solidFill>
                <a:latin typeface="Microsoft YaHei"/>
                <a:ea typeface="Microsoft YaHei"/>
              </a:rPr>
              <a:t>根据反馈补充和修改</a:t>
            </a:r>
            <a:endParaRPr sz="2000" b="0" i="0" dirty="0">
              <a:solidFill>
                <a:srgbClr val="333333"/>
              </a:solidFill>
              <a:latin typeface="Microsoft YaHei"/>
              <a:ea typeface="Microsoft YaHei"/>
            </a:endParaRPr>
          </a:p>
        </p:txBody>
      </p:sp>
      <p:sp>
        <p:nvSpPr>
          <p:cNvPr id="33" name="Rectangle 32"/>
          <p:cNvSpPr/>
          <p:nvPr/>
        </p:nvSpPr>
        <p:spPr>
          <a:xfrm>
            <a:off x="640080" y="4023360"/>
            <a:ext cx="2286000" cy="640080"/>
          </a:xfrm>
          <a:prstGeom prst="rect">
            <a:avLst/>
          </a:prstGeom>
          <a:solidFill>
            <a:srgbClr val="FFFFFF"/>
          </a:solidFill>
          <a:ln w="6350">
            <a:solidFill>
              <a:srgbClr val="E5E5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777240" y="4158734"/>
            <a:ext cx="2011680" cy="3693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400" b="1" i="0" dirty="0" err="1">
                <a:solidFill>
                  <a:srgbClr val="333333"/>
                </a:solidFill>
                <a:latin typeface="Microsoft YaHei"/>
                <a:ea typeface="Microsoft YaHei"/>
              </a:rPr>
              <a:t>对话深度</a:t>
            </a:r>
            <a:endParaRPr sz="2400" b="1" i="0" dirty="0">
              <a:solidFill>
                <a:srgbClr val="333333"/>
              </a:solidFill>
              <a:latin typeface="Microsoft YaHei"/>
              <a:ea typeface="Microsoft YaHei"/>
            </a:endParaRPr>
          </a:p>
        </p:txBody>
      </p:sp>
      <p:sp>
        <p:nvSpPr>
          <p:cNvPr id="35" name="Rectangle 34"/>
          <p:cNvSpPr/>
          <p:nvPr/>
        </p:nvSpPr>
        <p:spPr>
          <a:xfrm>
            <a:off x="2926080" y="4023360"/>
            <a:ext cx="4206240" cy="640080"/>
          </a:xfrm>
          <a:prstGeom prst="rect">
            <a:avLst/>
          </a:prstGeom>
          <a:solidFill>
            <a:srgbClr val="FFFFFF"/>
          </a:solidFill>
          <a:ln w="6350">
            <a:solidFill>
              <a:srgbClr val="E5E5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3063240" y="4189511"/>
            <a:ext cx="3931920" cy="30777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000" b="0" i="0" dirty="0" err="1">
                <a:solidFill>
                  <a:srgbClr val="333333"/>
                </a:solidFill>
                <a:latin typeface="Microsoft YaHei"/>
                <a:ea typeface="Microsoft YaHei"/>
              </a:rPr>
              <a:t>一问一答，单次结束</a:t>
            </a:r>
            <a:endParaRPr sz="2000" b="0" i="0" dirty="0">
              <a:solidFill>
                <a:srgbClr val="333333"/>
              </a:solidFill>
              <a:latin typeface="Microsoft YaHei"/>
              <a:ea typeface="Microsoft YaHei"/>
            </a:endParaRPr>
          </a:p>
        </p:txBody>
      </p:sp>
      <p:sp>
        <p:nvSpPr>
          <p:cNvPr id="37" name="Rectangle 36"/>
          <p:cNvSpPr/>
          <p:nvPr/>
        </p:nvSpPr>
        <p:spPr>
          <a:xfrm>
            <a:off x="7132320" y="4023360"/>
            <a:ext cx="4389120" cy="640080"/>
          </a:xfrm>
          <a:prstGeom prst="rect">
            <a:avLst/>
          </a:prstGeom>
          <a:solidFill>
            <a:srgbClr val="FFFFFF"/>
          </a:solidFill>
          <a:ln w="6350">
            <a:solidFill>
              <a:srgbClr val="E5E5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7269480" y="4189511"/>
            <a:ext cx="4114800" cy="30777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000" b="0" i="0" dirty="0" err="1">
                <a:solidFill>
                  <a:srgbClr val="333333"/>
                </a:solidFill>
                <a:latin typeface="Microsoft YaHei"/>
                <a:ea typeface="Microsoft YaHei"/>
              </a:rPr>
              <a:t>逐步澄清问题和分析条件</a:t>
            </a:r>
            <a:endParaRPr sz="2000" b="0" i="0" dirty="0">
              <a:solidFill>
                <a:srgbClr val="333333"/>
              </a:solidFill>
              <a:latin typeface="Microsoft YaHei"/>
              <a:ea typeface="Microsoft YaHei"/>
            </a:endParaRPr>
          </a:p>
        </p:txBody>
      </p:sp>
      <p:sp>
        <p:nvSpPr>
          <p:cNvPr id="39" name="Rectangle 38"/>
          <p:cNvSpPr/>
          <p:nvPr/>
        </p:nvSpPr>
        <p:spPr>
          <a:xfrm>
            <a:off x="640080" y="4663440"/>
            <a:ext cx="2286000" cy="640080"/>
          </a:xfrm>
          <a:prstGeom prst="rect">
            <a:avLst/>
          </a:prstGeom>
          <a:solidFill>
            <a:srgbClr val="E6F2FC"/>
          </a:solidFill>
          <a:ln w="6350">
            <a:solidFill>
              <a:srgbClr val="E5E5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777240" y="4798814"/>
            <a:ext cx="2011680" cy="3693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400" b="1" i="0" dirty="0" err="1">
                <a:solidFill>
                  <a:srgbClr val="333333"/>
                </a:solidFill>
                <a:latin typeface="Microsoft YaHei"/>
                <a:ea typeface="Microsoft YaHei"/>
              </a:rPr>
              <a:t>输出形式</a:t>
            </a:r>
            <a:endParaRPr sz="2400" b="1" i="0" dirty="0">
              <a:solidFill>
                <a:srgbClr val="333333"/>
              </a:solidFill>
              <a:latin typeface="Microsoft YaHei"/>
              <a:ea typeface="Microsoft YaHei"/>
            </a:endParaRPr>
          </a:p>
        </p:txBody>
      </p:sp>
      <p:sp>
        <p:nvSpPr>
          <p:cNvPr id="41" name="Rectangle 40"/>
          <p:cNvSpPr/>
          <p:nvPr/>
        </p:nvSpPr>
        <p:spPr>
          <a:xfrm>
            <a:off x="2926080" y="4663440"/>
            <a:ext cx="4206240" cy="640080"/>
          </a:xfrm>
          <a:prstGeom prst="rect">
            <a:avLst/>
          </a:prstGeom>
          <a:solidFill>
            <a:srgbClr val="E6F2FC"/>
          </a:solidFill>
          <a:ln w="6350">
            <a:solidFill>
              <a:srgbClr val="E5E5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3063240" y="4829591"/>
            <a:ext cx="3931920" cy="30777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000" b="0" i="0" dirty="0" err="1">
                <a:solidFill>
                  <a:srgbClr val="333333"/>
                </a:solidFill>
                <a:latin typeface="Microsoft YaHei"/>
                <a:ea typeface="Microsoft YaHei"/>
              </a:rPr>
              <a:t>网页链接</a:t>
            </a:r>
            <a:r>
              <a:rPr sz="2000" b="0" i="0" dirty="0">
                <a:solidFill>
                  <a:srgbClr val="333333"/>
                </a:solidFill>
                <a:latin typeface="Microsoft YaHei"/>
                <a:ea typeface="Microsoft YaHei"/>
              </a:rPr>
              <a:t> / </a:t>
            </a:r>
            <a:r>
              <a:rPr sz="2000" b="0" i="0" dirty="0" err="1">
                <a:solidFill>
                  <a:srgbClr val="333333"/>
                </a:solidFill>
                <a:latin typeface="Microsoft YaHei"/>
                <a:ea typeface="Microsoft YaHei"/>
              </a:rPr>
              <a:t>简短回答</a:t>
            </a:r>
            <a:endParaRPr sz="2000" b="0" i="0" dirty="0">
              <a:solidFill>
                <a:srgbClr val="333333"/>
              </a:solidFill>
              <a:latin typeface="Microsoft YaHei"/>
              <a:ea typeface="Microsoft YaHei"/>
            </a:endParaRPr>
          </a:p>
        </p:txBody>
      </p:sp>
      <p:sp>
        <p:nvSpPr>
          <p:cNvPr id="43" name="Rectangle 42"/>
          <p:cNvSpPr/>
          <p:nvPr/>
        </p:nvSpPr>
        <p:spPr>
          <a:xfrm>
            <a:off x="7132320" y="4663440"/>
            <a:ext cx="4389120" cy="640080"/>
          </a:xfrm>
          <a:prstGeom prst="rect">
            <a:avLst/>
          </a:prstGeom>
          <a:solidFill>
            <a:srgbClr val="E6F2FC"/>
          </a:solidFill>
          <a:ln w="6350">
            <a:solidFill>
              <a:srgbClr val="E5E5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7269480" y="4829591"/>
            <a:ext cx="4114800" cy="30777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000" b="0" i="0" dirty="0" err="1">
                <a:solidFill>
                  <a:srgbClr val="333333"/>
                </a:solidFill>
                <a:latin typeface="Microsoft YaHei"/>
                <a:ea typeface="Microsoft YaHei"/>
              </a:rPr>
              <a:t>结构化结果</a:t>
            </a:r>
            <a:r>
              <a:rPr sz="2000" b="0" i="0" dirty="0">
                <a:solidFill>
                  <a:srgbClr val="333333"/>
                </a:solidFill>
                <a:latin typeface="Microsoft YaHei"/>
                <a:ea typeface="Microsoft YaHei"/>
              </a:rPr>
              <a:t>与可</a:t>
            </a:r>
            <a:r>
              <a:rPr sz="2000" b="0" i="0" dirty="0" err="1">
                <a:solidFill>
                  <a:srgbClr val="333333"/>
                </a:solidFill>
                <a:latin typeface="Microsoft YaHei"/>
                <a:ea typeface="Microsoft YaHei"/>
              </a:rPr>
              <a:t>核验依据</a:t>
            </a:r>
            <a:endParaRPr sz="2000" b="0" i="0" dirty="0">
              <a:solidFill>
                <a:srgbClr val="333333"/>
              </a:solidFill>
              <a:latin typeface="Microsoft YaHei"/>
              <a:ea typeface="Microsoft YaHei"/>
            </a:endParaRPr>
          </a:p>
        </p:txBody>
      </p:sp>
      <p:sp>
        <p:nvSpPr>
          <p:cNvPr id="45" name="Rectangle 44"/>
          <p:cNvSpPr/>
          <p:nvPr/>
        </p:nvSpPr>
        <p:spPr>
          <a:xfrm>
            <a:off x="640080" y="5303520"/>
            <a:ext cx="2286000" cy="640080"/>
          </a:xfrm>
          <a:prstGeom prst="rect">
            <a:avLst/>
          </a:prstGeom>
          <a:solidFill>
            <a:srgbClr val="FFFFFF"/>
          </a:solidFill>
          <a:ln w="6350">
            <a:solidFill>
              <a:srgbClr val="E5E5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777240" y="5438894"/>
            <a:ext cx="2011680" cy="3693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400" b="1" i="0" dirty="0" err="1">
                <a:solidFill>
                  <a:srgbClr val="333333"/>
                </a:solidFill>
                <a:latin typeface="Microsoft YaHei"/>
                <a:ea typeface="Microsoft YaHei"/>
              </a:rPr>
              <a:t>典型场景</a:t>
            </a:r>
            <a:endParaRPr sz="2400" b="1" i="0" dirty="0">
              <a:solidFill>
                <a:srgbClr val="333333"/>
              </a:solidFill>
              <a:latin typeface="Microsoft YaHei"/>
              <a:ea typeface="Microsoft YaHei"/>
            </a:endParaRPr>
          </a:p>
        </p:txBody>
      </p:sp>
      <p:sp>
        <p:nvSpPr>
          <p:cNvPr id="47" name="Rectangle 46"/>
          <p:cNvSpPr/>
          <p:nvPr/>
        </p:nvSpPr>
        <p:spPr>
          <a:xfrm>
            <a:off x="2926080" y="5303520"/>
            <a:ext cx="4206240" cy="640080"/>
          </a:xfrm>
          <a:prstGeom prst="rect">
            <a:avLst/>
          </a:prstGeom>
          <a:solidFill>
            <a:srgbClr val="FFFFFF"/>
          </a:solidFill>
          <a:ln w="6350">
            <a:solidFill>
              <a:srgbClr val="E5E5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3063240" y="5469671"/>
            <a:ext cx="3931920" cy="30777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000" b="0" i="0" dirty="0" err="1">
                <a:solidFill>
                  <a:srgbClr val="333333"/>
                </a:solidFill>
                <a:latin typeface="Microsoft YaHei"/>
                <a:ea typeface="Microsoft YaHei"/>
              </a:rPr>
              <a:t>查概念、找定义、问事实</a:t>
            </a:r>
            <a:endParaRPr sz="2000" b="0" i="0" dirty="0">
              <a:solidFill>
                <a:srgbClr val="333333"/>
              </a:solidFill>
              <a:latin typeface="Microsoft YaHei"/>
              <a:ea typeface="Microsoft YaHei"/>
            </a:endParaRPr>
          </a:p>
        </p:txBody>
      </p:sp>
      <p:sp>
        <p:nvSpPr>
          <p:cNvPr id="49" name="Rectangle 48"/>
          <p:cNvSpPr/>
          <p:nvPr/>
        </p:nvSpPr>
        <p:spPr>
          <a:xfrm>
            <a:off x="7132320" y="5303520"/>
            <a:ext cx="4389120" cy="640080"/>
          </a:xfrm>
          <a:prstGeom prst="rect">
            <a:avLst/>
          </a:prstGeom>
          <a:solidFill>
            <a:srgbClr val="FFFFFF"/>
          </a:solidFill>
          <a:ln w="6350">
            <a:solidFill>
              <a:srgbClr val="E5E5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7269480" y="5469671"/>
            <a:ext cx="4114800" cy="30777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000" b="0" i="0" dirty="0" err="1">
                <a:solidFill>
                  <a:srgbClr val="333333"/>
                </a:solidFill>
                <a:latin typeface="Microsoft YaHei"/>
                <a:ea typeface="Microsoft YaHei"/>
              </a:rPr>
              <a:t>梳理论文逻辑</a:t>
            </a:r>
            <a:r>
              <a:rPr sz="2000" b="0" i="0" dirty="0">
                <a:solidFill>
                  <a:srgbClr val="333333"/>
                </a:solidFill>
                <a:latin typeface="Microsoft YaHei"/>
                <a:ea typeface="Microsoft YaHei"/>
              </a:rPr>
              <a:t> / </a:t>
            </a:r>
            <a:r>
              <a:rPr sz="2000" b="0" i="0" dirty="0" err="1">
                <a:solidFill>
                  <a:srgbClr val="333333"/>
                </a:solidFill>
                <a:latin typeface="Microsoft YaHei"/>
                <a:ea typeface="Microsoft YaHei"/>
              </a:rPr>
              <a:t>拆解假设</a:t>
            </a:r>
            <a:r>
              <a:rPr sz="2000" b="0" i="0" dirty="0">
                <a:solidFill>
                  <a:srgbClr val="333333"/>
                </a:solidFill>
                <a:latin typeface="Microsoft YaHei"/>
                <a:ea typeface="Microsoft YaHei"/>
              </a:rPr>
              <a:t> / </a:t>
            </a:r>
            <a:r>
              <a:rPr sz="2000" b="0" i="0" dirty="0" err="1">
                <a:solidFill>
                  <a:srgbClr val="333333"/>
                </a:solidFill>
                <a:latin typeface="Microsoft YaHei"/>
                <a:ea typeface="Microsoft YaHei"/>
              </a:rPr>
              <a:t>寻找盲点</a:t>
            </a:r>
            <a:endParaRPr sz="2000" b="0" i="0" dirty="0">
              <a:solidFill>
                <a:srgbClr val="333333"/>
              </a:solidFill>
              <a:latin typeface="Microsoft YaHei"/>
              <a:ea typeface="Microsoft YaHei"/>
            </a:endParaRPr>
          </a:p>
        </p:txBody>
      </p:sp>
      <p:sp>
        <p:nvSpPr>
          <p:cNvPr id="51" name="TextBox 50"/>
          <p:cNvSpPr txBox="1"/>
          <p:nvPr/>
        </p:nvSpPr>
        <p:spPr>
          <a:xfrm>
            <a:off x="11094415" y="6446520"/>
            <a:ext cx="914400" cy="320040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pPr algn="r"/>
            <a:r>
              <a:rPr sz="1100">
                <a:solidFill>
                  <a:srgbClr val="999999"/>
                </a:solidFill>
                <a:latin typeface="Arial"/>
              </a:rPr>
              <a:t>8 / 50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yzu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17175" y="246888"/>
            <a:ext cx="1691640" cy="54864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274320"/>
            <a:ext cx="960120" cy="502920"/>
          </a:xfrm>
          <a:prstGeom prst="rect">
            <a:avLst/>
          </a:prstGeom>
          <a:solidFill>
            <a:srgbClr val="006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" y="341114"/>
            <a:ext cx="914400" cy="3693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400" b="1" i="0" dirty="0">
                <a:solidFill>
                  <a:srgbClr val="FFFFFF"/>
                </a:solidFill>
                <a:latin typeface="Microsoft YaHei"/>
                <a:ea typeface="Microsoft YaHei"/>
              </a:rPr>
              <a:t>2.1.2</a:t>
            </a:r>
          </a:p>
        </p:txBody>
      </p:sp>
      <p:sp>
        <p:nvSpPr>
          <p:cNvPr id="6" name="Rectangle 5"/>
          <p:cNvSpPr/>
          <p:nvPr/>
        </p:nvSpPr>
        <p:spPr>
          <a:xfrm>
            <a:off x="960120" y="274320"/>
            <a:ext cx="9052560" cy="502920"/>
          </a:xfrm>
          <a:prstGeom prst="rect">
            <a:avLst/>
          </a:prstGeom>
          <a:solidFill>
            <a:srgbClr val="3A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234440" y="341114"/>
            <a:ext cx="8686800" cy="3693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400" b="1" i="0" dirty="0" err="1">
                <a:solidFill>
                  <a:srgbClr val="FFFFFF"/>
                </a:solidFill>
                <a:latin typeface="Microsoft YaHei"/>
                <a:ea typeface="Microsoft YaHei"/>
              </a:rPr>
              <a:t>方</a:t>
            </a:r>
            <a:r>
              <a:rPr sz="2400" b="1" i="0" dirty="0">
                <a:solidFill>
                  <a:srgbClr val="FFFFFF"/>
                </a:solidFill>
                <a:latin typeface="Microsoft YaHei"/>
                <a:ea typeface="Microsoft YaHei"/>
              </a:rPr>
              <a:t>法①</a:t>
            </a:r>
            <a:r>
              <a:rPr sz="2400" b="1" i="0" dirty="0" err="1">
                <a:solidFill>
                  <a:srgbClr val="FFFFFF"/>
                </a:solidFill>
                <a:latin typeface="Microsoft YaHei"/>
                <a:ea typeface="Microsoft YaHei"/>
              </a:rPr>
              <a:t>：分</a:t>
            </a:r>
            <a:r>
              <a:rPr sz="2400" b="1" i="0" dirty="0">
                <a:solidFill>
                  <a:srgbClr val="FFFFFF"/>
                </a:solidFill>
                <a:latin typeface="Microsoft YaHei"/>
                <a:ea typeface="Microsoft YaHei"/>
              </a:rPr>
              <a:t>步分析复杂问题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914400"/>
            <a:ext cx="11247120" cy="4868760"/>
          </a:xfrm>
          <a:prstGeom prst="rect">
            <a:avLst/>
          </a:prstGeom>
          <a:noFill/>
        </p:spPr>
        <p:txBody>
          <a:bodyPr wrap="square" lIns="36000" tIns="36000" rIns="36000" bIns="36000" anchor="t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2400" b="1" dirty="0" err="1">
                <a:solidFill>
                  <a:srgbClr val="0066CC"/>
                </a:solidFill>
                <a:latin typeface="Microsoft YaHei"/>
                <a:ea typeface="Microsoft YaHei"/>
              </a:rPr>
              <a:t>大语言模型</a:t>
            </a:r>
            <a:r>
              <a:rPr sz="2400" b="1" dirty="0">
                <a:solidFill>
                  <a:srgbClr val="0066CC"/>
                </a:solidFill>
                <a:latin typeface="Microsoft YaHei"/>
                <a:ea typeface="Microsoft YaHei"/>
              </a:rPr>
              <a:t>逐步预测词</a:t>
            </a:r>
            <a:r>
              <a:rPr sz="2400" b="1" dirty="0" err="1">
                <a:solidFill>
                  <a:srgbClr val="0066CC"/>
                </a:solidFill>
                <a:latin typeface="Microsoft YaHei"/>
                <a:ea typeface="Microsoft YaHei"/>
              </a:rPr>
              <a:t>元、生成文本</a:t>
            </a:r>
            <a:r>
              <a:rPr sz="2400" b="1" dirty="0">
                <a:solidFill>
                  <a:srgbClr val="0066CC"/>
                </a:solidFill>
                <a:latin typeface="Microsoft YaHei"/>
                <a:ea typeface="Microsoft YaHei"/>
              </a:rPr>
              <a:t>。</a:t>
            </a:r>
          </a:p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2400" b="0" dirty="0" err="1">
                <a:solidFill>
                  <a:srgbClr val="333333"/>
                </a:solidFill>
                <a:latin typeface="Microsoft YaHei"/>
                <a:ea typeface="Microsoft YaHei"/>
              </a:rPr>
              <a:t>复杂任务应明确条件</a:t>
            </a:r>
            <a:r>
              <a:rPr sz="2400" b="0" dirty="0">
                <a:solidFill>
                  <a:srgbClr val="333333"/>
                </a:solidFill>
                <a:latin typeface="Microsoft YaHei"/>
                <a:ea typeface="Microsoft YaHei"/>
              </a:rPr>
              <a:t>和评价</a:t>
            </a:r>
            <a:r>
              <a:rPr sz="2400" b="0" dirty="0" err="1">
                <a:solidFill>
                  <a:srgbClr val="333333"/>
                </a:solidFill>
                <a:latin typeface="Microsoft YaHei"/>
                <a:ea typeface="Microsoft YaHei"/>
              </a:rPr>
              <a:t>维度，避</a:t>
            </a:r>
            <a:r>
              <a:rPr sz="2400" b="0" dirty="0">
                <a:solidFill>
                  <a:srgbClr val="333333"/>
                </a:solidFill>
                <a:latin typeface="Microsoft YaHei"/>
                <a:ea typeface="Microsoft YaHei"/>
              </a:rPr>
              <a:t>免只</a:t>
            </a:r>
            <a:r>
              <a:rPr sz="2400" b="0" dirty="0" err="1">
                <a:solidFill>
                  <a:srgbClr val="333333"/>
                </a:solidFill>
                <a:latin typeface="Microsoft YaHei"/>
                <a:ea typeface="Microsoft YaHei"/>
              </a:rPr>
              <a:t>索要结论</a:t>
            </a:r>
            <a:r>
              <a:rPr sz="2200" b="0" dirty="0">
                <a:solidFill>
                  <a:srgbClr val="333333"/>
                </a:solidFill>
                <a:latin typeface="Microsoft YaHei"/>
                <a:ea typeface="Microsoft YaHei"/>
              </a:rPr>
              <a:t>。</a:t>
            </a:r>
          </a:p>
          <a:p>
            <a:pPr algn="l">
              <a:lnSpc>
                <a:spcPct val="110000"/>
              </a:lnSpc>
              <a:spcAft>
                <a:spcPts val="300"/>
              </a:spcAft>
            </a:pPr>
            <a:endParaRPr lang="en-US" sz="2200" b="0" dirty="0">
              <a:solidFill>
                <a:srgbClr val="333333"/>
              </a:solidFill>
              <a:latin typeface="Microsoft YaHei"/>
              <a:ea typeface="Microsoft YaHei"/>
            </a:endParaRPr>
          </a:p>
          <a:p>
            <a:pPr algn="l">
              <a:lnSpc>
                <a:spcPct val="110000"/>
              </a:lnSpc>
              <a:spcAft>
                <a:spcPts val="300"/>
              </a:spcAft>
            </a:pPr>
            <a:endParaRPr sz="2200" b="0" dirty="0">
              <a:solidFill>
                <a:srgbClr val="333333"/>
              </a:solidFill>
              <a:latin typeface="Microsoft YaHei"/>
              <a:ea typeface="Microsoft YaHei"/>
            </a:endParaRPr>
          </a:p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2400" dirty="0">
                <a:latin typeface="Microsoft YaHei"/>
                <a:ea typeface="Microsoft YaHei"/>
              </a:rPr>
              <a:t>背</a:t>
            </a:r>
            <a:r>
              <a:rPr sz="2400" dirty="0" err="1">
                <a:latin typeface="Microsoft YaHei"/>
                <a:ea typeface="Microsoft YaHei"/>
              </a:rPr>
              <a:t>景不足的问法：</a:t>
            </a:r>
            <a:endParaRPr sz="2400" dirty="0">
              <a:latin typeface="Microsoft YaHei"/>
              <a:ea typeface="Microsoft YaHei"/>
            </a:endParaRPr>
          </a:p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2200" b="0" dirty="0">
                <a:solidFill>
                  <a:srgbClr val="333333"/>
                </a:solidFill>
                <a:latin typeface="Microsoft YaHei"/>
                <a:ea typeface="Microsoft YaHei"/>
              </a:rPr>
              <a:t>        </a:t>
            </a:r>
            <a:r>
              <a:rPr sz="2400" b="1" dirty="0">
                <a:solidFill>
                  <a:srgbClr val="F58020"/>
                </a:solidFill>
                <a:latin typeface="Consolas"/>
                <a:ea typeface="Consolas"/>
              </a:rPr>
              <a:t>"</a:t>
            </a:r>
            <a:r>
              <a:rPr sz="2400" b="1" dirty="0" err="1">
                <a:solidFill>
                  <a:srgbClr val="F58020"/>
                </a:solidFill>
                <a:latin typeface="Consolas"/>
                <a:ea typeface="Consolas"/>
              </a:rPr>
              <a:t>这三种算法哪个更好</a:t>
            </a:r>
            <a:r>
              <a:rPr sz="2400" b="1" dirty="0">
                <a:solidFill>
                  <a:srgbClr val="F58020"/>
                </a:solidFill>
                <a:latin typeface="Consolas"/>
                <a:ea typeface="Consolas"/>
              </a:rPr>
              <a:t>？"</a:t>
            </a:r>
            <a:endParaRPr sz="2000" b="1" dirty="0">
              <a:solidFill>
                <a:srgbClr val="F58020"/>
              </a:solidFill>
              <a:latin typeface="Consolas"/>
              <a:ea typeface="Consolas"/>
            </a:endParaRPr>
          </a:p>
          <a:p>
            <a:pPr algn="l">
              <a:lnSpc>
                <a:spcPct val="110000"/>
              </a:lnSpc>
              <a:spcAft>
                <a:spcPts val="300"/>
              </a:spcAft>
            </a:pPr>
            <a:endParaRPr sz="2000" b="1" dirty="0">
              <a:solidFill>
                <a:srgbClr val="F58020"/>
              </a:solidFill>
              <a:latin typeface="Consolas"/>
              <a:ea typeface="Consolas"/>
            </a:endParaRPr>
          </a:p>
          <a:p>
            <a:pPr algn="l">
              <a:lnSpc>
                <a:spcPct val="110000"/>
              </a:lnSpc>
              <a:spcAft>
                <a:spcPts val="300"/>
              </a:spcAft>
            </a:pPr>
            <a:endParaRPr lang="en-US" sz="1900" b="1" dirty="0">
              <a:solidFill>
                <a:srgbClr val="0066CC"/>
              </a:solidFill>
              <a:latin typeface="Consolas"/>
              <a:ea typeface="Consolas"/>
            </a:endParaRPr>
          </a:p>
          <a:p>
            <a:pPr algn="l">
              <a:lnSpc>
                <a:spcPct val="110000"/>
              </a:lnSpc>
              <a:spcAft>
                <a:spcPts val="300"/>
              </a:spcAft>
            </a:pPr>
            <a:endParaRPr lang="en-US" sz="1900" b="1" dirty="0">
              <a:solidFill>
                <a:srgbClr val="0066CC"/>
              </a:solidFill>
              <a:latin typeface="Consolas"/>
              <a:ea typeface="Consolas"/>
            </a:endParaRPr>
          </a:p>
          <a:p>
            <a:pPr algn="l">
              <a:lnSpc>
                <a:spcPct val="110000"/>
              </a:lnSpc>
              <a:spcAft>
                <a:spcPts val="300"/>
              </a:spcAft>
            </a:pPr>
            <a:endParaRPr lang="en-US" sz="1900" b="1" dirty="0">
              <a:solidFill>
                <a:srgbClr val="0066CC"/>
              </a:solidFill>
              <a:latin typeface="Consolas"/>
              <a:ea typeface="Consolas"/>
            </a:endParaRPr>
          </a:p>
          <a:p>
            <a:pPr algn="l">
              <a:lnSpc>
                <a:spcPct val="110000"/>
              </a:lnSpc>
              <a:spcAft>
                <a:spcPts val="300"/>
              </a:spcAft>
            </a:pPr>
            <a:endParaRPr sz="1900" b="1" dirty="0">
              <a:solidFill>
                <a:srgbClr val="0066CC"/>
              </a:solidFill>
              <a:latin typeface="Consolas"/>
              <a:ea typeface="Consolas"/>
            </a:endParaRPr>
          </a:p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2400" b="1" dirty="0">
                <a:solidFill>
                  <a:srgbClr val="004CA0"/>
                </a:solidFill>
                <a:latin typeface="Microsoft YaHei"/>
                <a:ea typeface="Microsoft YaHei"/>
              </a:rPr>
              <a:t>分步任务</a:t>
            </a:r>
            <a:r>
              <a:rPr sz="2400" b="1" dirty="0" err="1">
                <a:solidFill>
                  <a:srgbClr val="004CA0"/>
                </a:solidFill>
                <a:latin typeface="Microsoft YaHei"/>
                <a:ea typeface="Microsoft YaHei"/>
              </a:rPr>
              <a:t>有助于检查分析是否完</a:t>
            </a:r>
            <a:r>
              <a:rPr sz="2400" b="1" dirty="0">
                <a:solidFill>
                  <a:srgbClr val="004CA0"/>
                </a:solidFill>
                <a:latin typeface="Microsoft YaHei"/>
                <a:ea typeface="Microsoft YaHei"/>
              </a:rPr>
              <a:t>整</a:t>
            </a:r>
            <a:r>
              <a:rPr sz="2400" b="1" dirty="0">
                <a:solidFill>
                  <a:srgbClr val="004CA0"/>
                </a:solidFill>
                <a:latin typeface="Microsoft YaHei"/>
                <a:ea typeface="Microsoft YaHei"/>
              </a:rPr>
              <a:t>，</a:t>
            </a:r>
            <a:r>
              <a:rPr sz="2400" b="1" dirty="0" err="1">
                <a:solidFill>
                  <a:srgbClr val="004CA0"/>
                </a:solidFill>
                <a:latin typeface="Microsoft YaHei"/>
                <a:ea typeface="Microsoft YaHei"/>
              </a:rPr>
              <a:t>结论仍需核验</a:t>
            </a:r>
            <a:r>
              <a:rPr sz="2400" b="1" dirty="0">
                <a:solidFill>
                  <a:srgbClr val="004CA0"/>
                </a:solidFill>
                <a:latin typeface="Microsoft YaHei"/>
                <a:ea typeface="Microsoft YaHei"/>
              </a:rPr>
              <a:t>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94415" y="6446520"/>
            <a:ext cx="914400" cy="320040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pPr algn="r"/>
            <a:r>
              <a:rPr sz="1100">
                <a:solidFill>
                  <a:srgbClr val="999999"/>
                </a:solidFill>
                <a:latin typeface="Arial"/>
              </a:rPr>
              <a:t>9 / 50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3D73E585-8FC2-DBC9-86C5-024CD442B793}"/>
              </a:ext>
            </a:extLst>
          </p:cNvPr>
          <p:cNvSpPr txBox="1"/>
          <p:nvPr/>
        </p:nvSpPr>
        <p:spPr>
          <a:xfrm>
            <a:off x="5289176" y="2501891"/>
            <a:ext cx="6399904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10000"/>
              </a:lnSpc>
              <a:spcAft>
                <a:spcPts val="300"/>
              </a:spcAft>
            </a:pPr>
            <a:r>
              <a:rPr lang="zh-CN" altLang="en-US" sz="2400" b="1" dirty="0">
                <a:solidFill>
                  <a:srgbClr val="0066CC"/>
                </a:solidFill>
                <a:latin typeface="Microsoft YaHei"/>
                <a:ea typeface="Microsoft YaHei"/>
              </a:rPr>
              <a:t>更具体的问法：</a:t>
            </a:r>
            <a:r>
              <a:rPr lang="zh-CN" altLang="en-US" sz="2400" dirty="0">
                <a:latin typeface="Microsoft YaHei"/>
                <a:ea typeface="Microsoft YaHei"/>
              </a:rPr>
              <a:t>要求</a:t>
            </a:r>
            <a:r>
              <a:rPr lang="zh-CN" altLang="en-US" sz="2400" dirty="0">
                <a:solidFill>
                  <a:srgbClr val="333333"/>
                </a:solidFill>
                <a:latin typeface="Microsoft YaHei"/>
                <a:ea typeface="Microsoft YaHei"/>
              </a:rPr>
              <a:t>提供可核验的分析依据</a:t>
            </a:r>
          </a:p>
          <a:p>
            <a:pPr>
              <a:lnSpc>
                <a:spcPct val="110000"/>
              </a:lnSpc>
              <a:spcAft>
                <a:spcPts val="300"/>
              </a:spcAft>
            </a:pPr>
            <a:r>
              <a:rPr lang="zh-CN" altLang="en-US" sz="2400" dirty="0">
                <a:solidFill>
                  <a:srgbClr val="333333"/>
                </a:solidFill>
                <a:latin typeface="Microsoft YaHei"/>
                <a:ea typeface="Microsoft YaHei"/>
              </a:rPr>
              <a:t>      </a:t>
            </a:r>
            <a:r>
              <a:rPr lang="zh-CN" altLang="en-US" sz="2400" dirty="0">
                <a:solidFill>
                  <a:srgbClr val="004CA0"/>
                </a:solidFill>
                <a:latin typeface="Microsoft YaHei"/>
                <a:ea typeface="Microsoft YaHei"/>
              </a:rPr>
              <a:t>提供算法说明、系统参</a:t>
            </a:r>
            <a:r>
              <a:rPr lang="en-US" altLang="zh-CN" sz="2400" dirty="0">
                <a:solidFill>
                  <a:srgbClr val="004CA0"/>
                </a:solidFill>
                <a:latin typeface="Microsoft YaHei"/>
                <a:ea typeface="Microsoft YaHei"/>
              </a:rPr>
              <a:t>数和</a:t>
            </a:r>
            <a:r>
              <a:rPr lang="zh-CN" altLang="en-US" sz="2400" dirty="0">
                <a:solidFill>
                  <a:srgbClr val="004CA0"/>
                </a:solidFill>
                <a:latin typeface="Microsoft YaHei"/>
                <a:ea typeface="Microsoft YaHei"/>
              </a:rPr>
              <a:t>实验数据</a:t>
            </a:r>
            <a:endParaRPr lang="zh-CN" altLang="en-US" sz="2000" dirty="0">
              <a:solidFill>
                <a:srgbClr val="004CA0"/>
              </a:solidFill>
              <a:latin typeface="Microsoft YaHei"/>
              <a:ea typeface="Microsoft YaHei"/>
            </a:endParaRPr>
          </a:p>
          <a:p>
            <a:pPr>
              <a:lnSpc>
                <a:spcPct val="110000"/>
              </a:lnSpc>
              <a:spcAft>
                <a:spcPts val="300"/>
              </a:spcAft>
            </a:pPr>
            <a:r>
              <a:rPr lang="zh-CN" altLang="en-US" sz="2400" dirty="0">
                <a:solidFill>
                  <a:srgbClr val="333333"/>
                </a:solidFill>
                <a:latin typeface="Microsoft YaHei"/>
                <a:ea typeface="Microsoft YaHei"/>
              </a:rPr>
              <a:t>  </a:t>
            </a:r>
            <a:r>
              <a:rPr lang="en-US" altLang="zh-CN" sz="2400" dirty="0">
                <a:solidFill>
                  <a:srgbClr val="333333"/>
                </a:solidFill>
                <a:latin typeface="Microsoft YaHei"/>
                <a:ea typeface="Microsoft YaHei"/>
              </a:rPr>
              <a:t> </a:t>
            </a:r>
            <a:r>
              <a:rPr lang="en-US" altLang="zh-CN" sz="2400" b="1" dirty="0">
                <a:solidFill>
                  <a:srgbClr val="0066CC"/>
                </a:solidFill>
                <a:latin typeface="Consolas"/>
                <a:ea typeface="Consolas"/>
              </a:rPr>
              <a:t> </a:t>
            </a:r>
            <a:r>
              <a:rPr lang="zh-CN" altLang="en-US" sz="2400" b="1" dirty="0">
                <a:solidFill>
                  <a:srgbClr val="0066CC"/>
                </a:solidFill>
                <a:latin typeface="Consolas"/>
                <a:ea typeface="Consolas"/>
              </a:rPr>
              <a:t>  “请根据所给材料比较三种算法，</a:t>
            </a:r>
          </a:p>
          <a:p>
            <a:pPr>
              <a:lnSpc>
                <a:spcPct val="110000"/>
              </a:lnSpc>
              <a:spcAft>
                <a:spcPts val="300"/>
              </a:spcAft>
            </a:pPr>
            <a:r>
              <a:rPr lang="zh-CN" altLang="en-US" sz="2400" dirty="0">
                <a:solidFill>
                  <a:srgbClr val="333333"/>
                </a:solidFill>
                <a:latin typeface="Microsoft YaHei"/>
                <a:ea typeface="Microsoft YaHei"/>
              </a:rPr>
              <a:t>     </a:t>
            </a:r>
            <a:r>
              <a:rPr lang="zh-CN" altLang="en-US" sz="2400" b="1" dirty="0">
                <a:solidFill>
                  <a:srgbClr val="0066CC"/>
                </a:solidFill>
                <a:latin typeface="Consolas"/>
                <a:ea typeface="Consolas"/>
              </a:rPr>
              <a:t>说明时间与空间复杂度、适用条件及依据。</a:t>
            </a:r>
            <a:r>
              <a:rPr lang="en-US" altLang="zh-CN" sz="2000" b="1" dirty="0">
                <a:solidFill>
                  <a:srgbClr val="0066CC"/>
                </a:solidFill>
                <a:latin typeface="Consolas"/>
                <a:ea typeface="Consolas"/>
              </a:rPr>
              <a:t>”</a:t>
            </a:r>
          </a:p>
          <a:p>
            <a:endParaRPr lang="zh-CN" altLang="en-US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yzu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17175" y="246888"/>
            <a:ext cx="1691640" cy="54864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274320"/>
            <a:ext cx="960120" cy="502920"/>
          </a:xfrm>
          <a:prstGeom prst="rect">
            <a:avLst/>
          </a:prstGeom>
          <a:solidFill>
            <a:srgbClr val="006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" y="341114"/>
            <a:ext cx="914400" cy="3693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400" b="1" i="0" dirty="0">
                <a:solidFill>
                  <a:srgbClr val="FFFFFF"/>
                </a:solidFill>
                <a:latin typeface="Microsoft YaHei"/>
                <a:ea typeface="Microsoft YaHei"/>
              </a:rPr>
              <a:t>2.1.2</a:t>
            </a:r>
          </a:p>
        </p:txBody>
      </p:sp>
      <p:sp>
        <p:nvSpPr>
          <p:cNvPr id="6" name="Rectangle 5"/>
          <p:cNvSpPr/>
          <p:nvPr/>
        </p:nvSpPr>
        <p:spPr>
          <a:xfrm>
            <a:off x="960120" y="274320"/>
            <a:ext cx="9052560" cy="502920"/>
          </a:xfrm>
          <a:prstGeom prst="rect">
            <a:avLst/>
          </a:prstGeom>
          <a:solidFill>
            <a:srgbClr val="3A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234440" y="341114"/>
            <a:ext cx="8686800" cy="3693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400" b="1" i="0" dirty="0" err="1">
                <a:solidFill>
                  <a:srgbClr val="FFFFFF"/>
                </a:solidFill>
                <a:latin typeface="Microsoft YaHei"/>
                <a:ea typeface="Microsoft YaHei"/>
              </a:rPr>
              <a:t>方法②</a:t>
            </a:r>
            <a:r>
              <a:rPr sz="2400" b="1" i="0" dirty="0">
                <a:solidFill>
                  <a:srgbClr val="FFFFFF"/>
                </a:solidFill>
                <a:latin typeface="Microsoft YaHei"/>
                <a:ea typeface="Microsoft YaHei"/>
              </a:rPr>
              <a:t>：明确</a:t>
            </a:r>
            <a:r>
              <a:rPr sz="2400" b="1" i="0" dirty="0" err="1">
                <a:solidFill>
                  <a:srgbClr val="FFFFFF"/>
                </a:solidFill>
                <a:latin typeface="Microsoft YaHei"/>
                <a:ea typeface="Microsoft YaHei"/>
              </a:rPr>
              <a:t>分析视角</a:t>
            </a:r>
            <a:endParaRPr sz="2400" b="1" i="0" dirty="0">
              <a:solidFill>
                <a:srgbClr val="FFFFFF"/>
              </a:solidFill>
              <a:latin typeface="Microsoft YaHei"/>
              <a:ea typeface="Microsoft YaHei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651429" y="886069"/>
            <a:ext cx="10900186" cy="5533557"/>
          </a:xfrm>
          <a:prstGeom prst="rect">
            <a:avLst/>
          </a:prstGeom>
          <a:noFill/>
        </p:spPr>
        <p:txBody>
          <a:bodyPr wrap="square" lIns="36000" tIns="36000" rIns="36000" bIns="36000" anchor="t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2400" b="1" dirty="0" err="1">
                <a:solidFill>
                  <a:srgbClr val="0066CC"/>
                </a:solidFill>
                <a:latin typeface="Microsoft YaHei"/>
                <a:ea typeface="Microsoft YaHei"/>
              </a:rPr>
              <a:t>角色设定可以帮助说明希望模型采用的分析视角</a:t>
            </a:r>
            <a:r>
              <a:rPr sz="2400" b="1" dirty="0">
                <a:solidFill>
                  <a:srgbClr val="0066CC"/>
                </a:solidFill>
                <a:latin typeface="Microsoft YaHei"/>
                <a:ea typeface="Microsoft YaHei"/>
              </a:rPr>
              <a:t>。</a:t>
            </a:r>
          </a:p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2400" b="0" dirty="0" err="1">
                <a:solidFill>
                  <a:srgbClr val="333333"/>
                </a:solidFill>
                <a:latin typeface="Microsoft YaHei"/>
                <a:ea typeface="Microsoft YaHei"/>
              </a:rPr>
              <a:t>例如，从审稿角度</a:t>
            </a:r>
            <a:r>
              <a:rPr sz="2400" b="0" dirty="0">
                <a:solidFill>
                  <a:srgbClr val="333333"/>
                </a:solidFill>
                <a:latin typeface="Microsoft YaHei"/>
                <a:ea typeface="Microsoft YaHei"/>
              </a:rPr>
              <a:t>检</a:t>
            </a:r>
            <a:r>
              <a:rPr sz="2400" b="1" dirty="0" err="1">
                <a:solidFill>
                  <a:srgbClr val="0066CC"/>
                </a:solidFill>
                <a:latin typeface="Microsoft YaHei"/>
                <a:ea typeface="Microsoft YaHei"/>
              </a:rPr>
              <a:t>查论文引言</a:t>
            </a:r>
            <a:r>
              <a:rPr sz="2400" b="0" dirty="0">
                <a:solidFill>
                  <a:srgbClr val="333333"/>
                </a:solidFill>
                <a:latin typeface="Microsoft YaHei"/>
                <a:ea typeface="Microsoft YaHei"/>
              </a:rPr>
              <a:t>。</a:t>
            </a:r>
          </a:p>
          <a:p>
            <a:pPr algn="l">
              <a:lnSpc>
                <a:spcPct val="110000"/>
              </a:lnSpc>
              <a:spcAft>
                <a:spcPts val="300"/>
              </a:spcAft>
            </a:pPr>
            <a:endParaRPr sz="2200" b="0" dirty="0">
              <a:solidFill>
                <a:srgbClr val="333333"/>
              </a:solidFill>
              <a:latin typeface="Microsoft YaHei"/>
              <a:ea typeface="Microsoft YaHei"/>
            </a:endParaRPr>
          </a:p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2400" b="1" dirty="0" err="1">
                <a:solidFill>
                  <a:srgbClr val="004CA0"/>
                </a:solidFill>
                <a:latin typeface="Microsoft YaHei"/>
                <a:ea typeface="Microsoft YaHei"/>
              </a:rPr>
              <a:t>常用写法：</a:t>
            </a:r>
            <a:r>
              <a:rPr sz="2400" b="1" dirty="0">
                <a:solidFill>
                  <a:srgbClr val="004CA0"/>
                </a:solidFill>
                <a:latin typeface="Microsoft YaHei"/>
                <a:ea typeface="Microsoft YaHei"/>
              </a:rPr>
              <a:t>“</a:t>
            </a:r>
            <a:r>
              <a:rPr sz="2400" b="1" dirty="0">
                <a:solidFill>
                  <a:srgbClr val="F58020"/>
                </a:solidFill>
                <a:latin typeface="Consolas"/>
                <a:ea typeface="Consolas"/>
              </a:rPr>
              <a:t>请</a:t>
            </a:r>
            <a:r>
              <a:rPr sz="2400" b="1" dirty="0" err="1">
                <a:solidFill>
                  <a:srgbClr val="F58020"/>
                </a:solidFill>
                <a:latin typeface="Consolas"/>
                <a:ea typeface="Consolas"/>
              </a:rPr>
              <a:t>从……的角</a:t>
            </a:r>
            <a:r>
              <a:rPr sz="2400" b="1" dirty="0">
                <a:solidFill>
                  <a:srgbClr val="F58020"/>
                </a:solidFill>
                <a:latin typeface="Consolas"/>
                <a:ea typeface="Consolas"/>
              </a:rPr>
              <a:t>度分析。”</a:t>
            </a:r>
          </a:p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2400" b="0" dirty="0">
                <a:solidFill>
                  <a:srgbClr val="333333"/>
                </a:solidFill>
                <a:latin typeface="Microsoft YaHei"/>
                <a:ea typeface="Microsoft YaHei"/>
              </a:rPr>
              <a:t>角色</a:t>
            </a:r>
            <a:r>
              <a:rPr sz="2400" b="0" dirty="0" err="1">
                <a:solidFill>
                  <a:srgbClr val="333333"/>
                </a:solidFill>
                <a:latin typeface="Microsoft YaHei"/>
                <a:ea typeface="Microsoft YaHei"/>
              </a:rPr>
              <a:t>设定应配合具体标准，不能替代专业知识或核查</a:t>
            </a:r>
            <a:r>
              <a:rPr sz="2400" b="0" dirty="0">
                <a:solidFill>
                  <a:srgbClr val="333333"/>
                </a:solidFill>
                <a:latin typeface="Microsoft YaHei"/>
                <a:ea typeface="Microsoft YaHei"/>
              </a:rPr>
              <a:t>。</a:t>
            </a:r>
          </a:p>
          <a:p>
            <a:pPr algn="l">
              <a:lnSpc>
                <a:spcPct val="110000"/>
              </a:lnSpc>
              <a:spcAft>
                <a:spcPts val="300"/>
              </a:spcAft>
            </a:pPr>
            <a:endParaRPr sz="2000" b="0" dirty="0">
              <a:solidFill>
                <a:srgbClr val="333333"/>
              </a:solidFill>
              <a:latin typeface="Microsoft YaHei"/>
              <a:ea typeface="Microsoft YaHei"/>
            </a:endParaRPr>
          </a:p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2400" b="1" dirty="0" err="1">
                <a:solidFill>
                  <a:srgbClr val="0066CC"/>
                </a:solidFill>
                <a:latin typeface="Microsoft YaHei"/>
                <a:ea typeface="Microsoft YaHei"/>
              </a:rPr>
              <a:t>科研映射示例</a:t>
            </a:r>
            <a:r>
              <a:rPr sz="2200" b="1" dirty="0">
                <a:solidFill>
                  <a:srgbClr val="0066CC"/>
                </a:solidFill>
                <a:latin typeface="Microsoft YaHei"/>
                <a:ea typeface="Microsoft YaHei"/>
              </a:rPr>
              <a:t>：</a:t>
            </a:r>
          </a:p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2200" b="0" dirty="0">
                <a:solidFill>
                  <a:srgbClr val="333333"/>
                </a:solidFill>
                <a:latin typeface="Microsoft YaHei"/>
                <a:ea typeface="Microsoft YaHei"/>
              </a:rPr>
              <a:t>        </a:t>
            </a:r>
            <a:r>
              <a:rPr sz="2400" b="1" dirty="0">
                <a:solidFill>
                  <a:srgbClr val="F58020"/>
                </a:solidFill>
                <a:latin typeface="Microsoft YaHei"/>
                <a:ea typeface="Microsoft YaHei"/>
              </a:rPr>
              <a:t>✗ </a:t>
            </a:r>
            <a:r>
              <a:rPr sz="2400" b="1" dirty="0" err="1">
                <a:solidFill>
                  <a:srgbClr val="F58020"/>
                </a:solidFill>
                <a:latin typeface="Microsoft YaHei"/>
                <a:ea typeface="Microsoft YaHei"/>
              </a:rPr>
              <a:t>简单说</a:t>
            </a:r>
            <a:r>
              <a:rPr sz="2400" b="1" dirty="0">
                <a:solidFill>
                  <a:srgbClr val="F58020"/>
                </a:solidFill>
                <a:latin typeface="Microsoft YaHei"/>
                <a:ea typeface="Microsoft YaHei"/>
              </a:rPr>
              <a:t> "</a:t>
            </a:r>
            <a:r>
              <a:rPr sz="2400" b="1" dirty="0" err="1">
                <a:solidFill>
                  <a:srgbClr val="F58020"/>
                </a:solidFill>
                <a:latin typeface="Microsoft YaHei"/>
                <a:ea typeface="Microsoft YaHei"/>
              </a:rPr>
              <a:t>帮我润色</a:t>
            </a:r>
            <a:r>
              <a:rPr sz="2400" b="1" dirty="0">
                <a:solidFill>
                  <a:srgbClr val="F58020"/>
                </a:solidFill>
                <a:latin typeface="Microsoft YaHei"/>
                <a:ea typeface="Microsoft YaHei"/>
              </a:rPr>
              <a:t>"</a:t>
            </a:r>
          </a:p>
          <a:p>
            <a:pPr algn="l">
              <a:lnSpc>
                <a:spcPct val="110000"/>
              </a:lnSpc>
              <a:spcAft>
                <a:spcPts val="300"/>
              </a:spcAft>
            </a:pPr>
            <a:endParaRPr sz="2000" b="1" dirty="0">
              <a:solidFill>
                <a:srgbClr val="F58020"/>
              </a:solidFill>
              <a:latin typeface="Microsoft YaHei"/>
              <a:ea typeface="Microsoft YaHei"/>
            </a:endParaRPr>
          </a:p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2200" b="0" dirty="0">
                <a:solidFill>
                  <a:srgbClr val="333333"/>
                </a:solidFill>
                <a:latin typeface="Microsoft YaHei"/>
                <a:ea typeface="Microsoft YaHei"/>
              </a:rPr>
              <a:t>     </a:t>
            </a:r>
            <a:r>
              <a:rPr sz="2400" b="1" dirty="0">
                <a:solidFill>
                  <a:srgbClr val="0066CC"/>
                </a:solidFill>
                <a:latin typeface="Consolas"/>
                <a:ea typeface="Consolas"/>
              </a:rPr>
              <a:t>  </a:t>
            </a:r>
            <a:r>
              <a:rPr sz="2400" b="1" dirty="0" err="1">
                <a:solidFill>
                  <a:srgbClr val="0066CC"/>
                </a:solidFill>
                <a:latin typeface="Consolas"/>
                <a:ea typeface="Consolas"/>
              </a:rPr>
              <a:t> “请从同行评审的角度检查这段引言，</a:t>
            </a:r>
            <a:endParaRPr sz="1900" b="1" dirty="0">
              <a:solidFill>
                <a:srgbClr val="0066CC"/>
              </a:solidFill>
              <a:latin typeface="Consolas"/>
              <a:ea typeface="Consolas"/>
            </a:endParaRPr>
          </a:p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2200" b="0" dirty="0">
                <a:solidFill>
                  <a:srgbClr val="333333"/>
                </a:solidFill>
                <a:latin typeface="Microsoft YaHei"/>
                <a:ea typeface="Microsoft YaHei"/>
              </a:rPr>
              <a:t>           指出</a:t>
            </a:r>
            <a:r>
              <a:rPr sz="2400" b="1" dirty="0" err="1">
                <a:solidFill>
                  <a:srgbClr val="0066CC"/>
                </a:solidFill>
                <a:latin typeface="Consolas"/>
                <a:ea typeface="Consolas"/>
              </a:rPr>
              <a:t>逻辑跳跃、证据不足之处，并说明修改理由</a:t>
            </a:r>
            <a:r>
              <a:rPr sz="2400" b="1" dirty="0">
                <a:solidFill>
                  <a:srgbClr val="0066CC"/>
                </a:solidFill>
                <a:latin typeface="Consolas"/>
                <a:ea typeface="Consolas"/>
              </a:rPr>
              <a:t>。”</a:t>
            </a:r>
          </a:p>
          <a:p>
            <a:pPr algn="l">
              <a:lnSpc>
                <a:spcPct val="110000"/>
              </a:lnSpc>
              <a:spcAft>
                <a:spcPts val="300"/>
              </a:spcAft>
            </a:pPr>
            <a:endParaRPr sz="1900" b="1" dirty="0">
              <a:solidFill>
                <a:srgbClr val="0066CC"/>
              </a:solidFill>
              <a:latin typeface="Consolas"/>
              <a:ea typeface="Consolas"/>
            </a:endParaRPr>
          </a:p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2400" b="1" dirty="0" err="1">
                <a:solidFill>
                  <a:srgbClr val="004CA0"/>
                </a:solidFill>
                <a:latin typeface="Microsoft YaHei"/>
                <a:ea typeface="Microsoft YaHei"/>
              </a:rPr>
              <a:t>常见视</a:t>
            </a:r>
            <a:r>
              <a:rPr sz="2400" b="0" dirty="0" err="1">
                <a:solidFill>
                  <a:srgbClr val="333333"/>
                </a:solidFill>
                <a:latin typeface="Microsoft YaHei"/>
                <a:ea typeface="Microsoft YaHei"/>
              </a:rPr>
              <a:t>角：期刊</a:t>
            </a:r>
            <a:r>
              <a:rPr sz="2400" b="0" dirty="0">
                <a:solidFill>
                  <a:srgbClr val="333333"/>
                </a:solidFill>
                <a:latin typeface="Microsoft YaHei"/>
                <a:ea typeface="Microsoft YaHei"/>
              </a:rPr>
              <a:t>编辑</a:t>
            </a:r>
            <a:r>
              <a:rPr sz="2400" b="0" dirty="0" err="1">
                <a:solidFill>
                  <a:srgbClr val="333333"/>
                </a:solidFill>
                <a:latin typeface="Microsoft YaHei"/>
                <a:ea typeface="Microsoft YaHei"/>
              </a:rPr>
              <a:t>、审稿</a:t>
            </a:r>
            <a:r>
              <a:rPr sz="2400" b="0" dirty="0">
                <a:solidFill>
                  <a:srgbClr val="333333"/>
                </a:solidFill>
                <a:latin typeface="Microsoft YaHei"/>
                <a:ea typeface="Microsoft YaHei"/>
              </a:rPr>
              <a:t>人、</a:t>
            </a:r>
            <a:r>
              <a:rPr sz="2400" b="0" dirty="0" err="1">
                <a:solidFill>
                  <a:srgbClr val="333333"/>
                </a:solidFill>
                <a:latin typeface="Microsoft YaHei"/>
                <a:ea typeface="Microsoft YaHei"/>
              </a:rPr>
              <a:t>算法工</a:t>
            </a:r>
            <a:r>
              <a:rPr sz="2400" b="0" dirty="0">
                <a:solidFill>
                  <a:srgbClr val="333333"/>
                </a:solidFill>
                <a:latin typeface="Microsoft YaHei"/>
                <a:ea typeface="Microsoft YaHei"/>
              </a:rPr>
              <a:t>程师</a:t>
            </a:r>
            <a:r>
              <a:rPr sz="2400" b="0" dirty="0" err="1">
                <a:solidFill>
                  <a:srgbClr val="333333"/>
                </a:solidFill>
                <a:latin typeface="Microsoft YaHei"/>
                <a:ea typeface="Microsoft YaHei"/>
              </a:rPr>
              <a:t>或本</a:t>
            </a:r>
            <a:r>
              <a:rPr sz="2400" b="0" dirty="0">
                <a:solidFill>
                  <a:srgbClr val="333333"/>
                </a:solidFill>
                <a:latin typeface="Microsoft YaHei"/>
                <a:ea typeface="Microsoft YaHei"/>
              </a:rPr>
              <a:t>学科</a:t>
            </a:r>
            <a:r>
              <a:rPr sz="2400" b="0" dirty="0" err="1">
                <a:solidFill>
                  <a:srgbClr val="333333"/>
                </a:solidFill>
                <a:latin typeface="Microsoft YaHei"/>
                <a:ea typeface="Microsoft YaHei"/>
              </a:rPr>
              <a:t>研究者</a:t>
            </a:r>
            <a:r>
              <a:rPr sz="2400" b="0" dirty="0">
                <a:solidFill>
                  <a:srgbClr val="333333"/>
                </a:solidFill>
                <a:latin typeface="Microsoft YaHei"/>
                <a:ea typeface="Microsoft YaHei"/>
              </a:rPr>
              <a:t>。</a:t>
            </a:r>
            <a:endParaRPr sz="1900" b="0" dirty="0">
              <a:solidFill>
                <a:srgbClr val="333333"/>
              </a:solidFill>
              <a:latin typeface="Microsoft YaHei"/>
              <a:ea typeface="Microsoft YaHei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11094415" y="6446520"/>
            <a:ext cx="914400" cy="320040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pPr algn="r"/>
            <a:r>
              <a:rPr sz="1100">
                <a:solidFill>
                  <a:srgbClr val="999999"/>
                </a:solidFill>
                <a:latin typeface="Arial"/>
              </a:rPr>
              <a:t>10 / 50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yzu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17175" y="246888"/>
            <a:ext cx="1691640" cy="54864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274320"/>
            <a:ext cx="960120" cy="502920"/>
          </a:xfrm>
          <a:prstGeom prst="rect">
            <a:avLst/>
          </a:prstGeom>
          <a:solidFill>
            <a:srgbClr val="006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" y="341114"/>
            <a:ext cx="914400" cy="3693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400" b="1" i="0" dirty="0">
                <a:solidFill>
                  <a:srgbClr val="FFFFFF"/>
                </a:solidFill>
                <a:latin typeface="Microsoft YaHei"/>
                <a:ea typeface="Microsoft YaHei"/>
              </a:rPr>
              <a:t>2.1.2</a:t>
            </a:r>
          </a:p>
        </p:txBody>
      </p:sp>
      <p:sp>
        <p:nvSpPr>
          <p:cNvPr id="6" name="Rectangle 5"/>
          <p:cNvSpPr/>
          <p:nvPr/>
        </p:nvSpPr>
        <p:spPr>
          <a:xfrm>
            <a:off x="960120" y="274320"/>
            <a:ext cx="9052560" cy="502920"/>
          </a:xfrm>
          <a:prstGeom prst="rect">
            <a:avLst/>
          </a:prstGeom>
          <a:solidFill>
            <a:srgbClr val="3A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234440" y="341114"/>
            <a:ext cx="8686800" cy="3693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400" b="1" i="0" dirty="0" err="1">
                <a:solidFill>
                  <a:srgbClr val="FFFFFF"/>
                </a:solidFill>
                <a:latin typeface="Microsoft YaHei"/>
                <a:ea typeface="Microsoft YaHei"/>
              </a:rPr>
              <a:t>方法③</a:t>
            </a:r>
            <a:r>
              <a:rPr sz="2400" b="1" i="0" dirty="0">
                <a:solidFill>
                  <a:srgbClr val="FFFFFF"/>
                </a:solidFill>
                <a:latin typeface="Microsoft YaHei"/>
                <a:ea typeface="Microsoft YaHei"/>
              </a:rPr>
              <a:t>：通过多</a:t>
            </a:r>
            <a:r>
              <a:rPr sz="2400" b="1" i="0" dirty="0" err="1">
                <a:solidFill>
                  <a:srgbClr val="FFFFFF"/>
                </a:solidFill>
                <a:latin typeface="Microsoft YaHei"/>
                <a:ea typeface="Microsoft YaHei"/>
              </a:rPr>
              <a:t>轮交流完善结果</a:t>
            </a:r>
            <a:endParaRPr sz="2400" b="1" i="0" dirty="0">
              <a:solidFill>
                <a:srgbClr val="FFFFFF"/>
              </a:solidFill>
              <a:latin typeface="Microsoft YaHei"/>
              <a:ea typeface="Microsoft YaHei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761695" y="897774"/>
            <a:ext cx="11247120" cy="5685906"/>
          </a:xfrm>
          <a:prstGeom prst="rect">
            <a:avLst/>
          </a:prstGeom>
          <a:noFill/>
        </p:spPr>
        <p:txBody>
          <a:bodyPr wrap="square" lIns="36000" tIns="36000" rIns="36000" bIns="36000" anchor="t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2400" b="0" dirty="0" err="1">
                <a:solidFill>
                  <a:srgbClr val="333333"/>
                </a:solidFill>
                <a:latin typeface="Microsoft YaHei"/>
                <a:ea typeface="Microsoft YaHei"/>
              </a:rPr>
              <a:t>检索结果不理想时，可以调整关键词</a:t>
            </a:r>
            <a:r>
              <a:rPr sz="2400" b="0" dirty="0">
                <a:solidFill>
                  <a:srgbClr val="333333"/>
                </a:solidFill>
                <a:latin typeface="Microsoft YaHei"/>
                <a:ea typeface="Microsoft YaHei"/>
              </a:rPr>
              <a:t>。</a:t>
            </a:r>
          </a:p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2400" b="1" dirty="0" err="1">
                <a:solidFill>
                  <a:srgbClr val="0066CC"/>
                </a:solidFill>
                <a:latin typeface="Microsoft YaHei"/>
                <a:ea typeface="Microsoft YaHei"/>
              </a:rPr>
              <a:t>模型回答不充</a:t>
            </a:r>
            <a:r>
              <a:rPr sz="2400" b="1" dirty="0">
                <a:solidFill>
                  <a:srgbClr val="0066CC"/>
                </a:solidFill>
                <a:latin typeface="Microsoft YaHei"/>
                <a:ea typeface="Microsoft YaHei"/>
              </a:rPr>
              <a:t>分</a:t>
            </a:r>
            <a:r>
              <a:rPr sz="2400" b="1" dirty="0" err="1">
                <a:solidFill>
                  <a:srgbClr val="F58020"/>
                </a:solidFill>
                <a:latin typeface="Microsoft YaHei"/>
                <a:ea typeface="Microsoft YaHei"/>
              </a:rPr>
              <a:t>时，可以补充</a:t>
            </a:r>
            <a:r>
              <a:rPr sz="2400" b="1" dirty="0">
                <a:solidFill>
                  <a:srgbClr val="0066CC"/>
                </a:solidFill>
                <a:latin typeface="Microsoft YaHei"/>
                <a:ea typeface="Microsoft YaHei"/>
              </a:rPr>
              <a:t>材</a:t>
            </a:r>
            <a:r>
              <a:rPr sz="2400" b="1" dirty="0" err="1">
                <a:solidFill>
                  <a:srgbClr val="0066CC"/>
                </a:solidFill>
                <a:latin typeface="Microsoft YaHei"/>
                <a:ea typeface="Microsoft YaHei"/>
              </a:rPr>
              <a:t>料和要求</a:t>
            </a:r>
            <a:r>
              <a:rPr sz="2400" b="1" dirty="0">
                <a:solidFill>
                  <a:srgbClr val="0066CC"/>
                </a:solidFill>
                <a:latin typeface="Microsoft YaHei"/>
                <a:ea typeface="Microsoft YaHei"/>
              </a:rPr>
              <a:t>，</a:t>
            </a:r>
            <a:r>
              <a:rPr sz="2400" b="1" dirty="0" err="1">
                <a:solidFill>
                  <a:srgbClr val="0066CC"/>
                </a:solidFill>
                <a:latin typeface="Microsoft YaHei"/>
                <a:ea typeface="Microsoft YaHei"/>
              </a:rPr>
              <a:t>继续讨</a:t>
            </a:r>
            <a:r>
              <a:rPr sz="2400" b="1" dirty="0">
                <a:solidFill>
                  <a:srgbClr val="0066CC"/>
                </a:solidFill>
                <a:latin typeface="Microsoft YaHei"/>
                <a:ea typeface="Microsoft YaHei"/>
              </a:rPr>
              <a:t>论。</a:t>
            </a:r>
          </a:p>
          <a:p>
            <a:pPr algn="l">
              <a:lnSpc>
                <a:spcPct val="110000"/>
              </a:lnSpc>
              <a:spcAft>
                <a:spcPts val="300"/>
              </a:spcAft>
            </a:pPr>
            <a:endParaRPr sz="2200" b="1" dirty="0">
              <a:solidFill>
                <a:srgbClr val="0066CC"/>
              </a:solidFill>
              <a:latin typeface="Microsoft YaHei"/>
              <a:ea typeface="Microsoft YaHei"/>
            </a:endParaRPr>
          </a:p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2400" b="1" dirty="0" err="1">
                <a:solidFill>
                  <a:srgbClr val="0066CC"/>
                </a:solidFill>
                <a:latin typeface="Microsoft YaHei"/>
                <a:ea typeface="Microsoft YaHei"/>
              </a:rPr>
              <a:t>第一</a:t>
            </a:r>
            <a:r>
              <a:rPr sz="2400" b="0" dirty="0" err="1">
                <a:solidFill>
                  <a:srgbClr val="333333"/>
                </a:solidFill>
                <a:latin typeface="Microsoft YaHei"/>
                <a:ea typeface="Microsoft YaHei"/>
              </a:rPr>
              <a:t>轮：提供初步实验设计。</a:t>
            </a:r>
            <a:endParaRPr sz="2000" b="0" dirty="0">
              <a:solidFill>
                <a:srgbClr val="333333"/>
              </a:solidFill>
              <a:latin typeface="Microsoft YaHei"/>
              <a:ea typeface="Microsoft YaHei"/>
            </a:endParaRPr>
          </a:p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2000" b="0" dirty="0">
                <a:solidFill>
                  <a:srgbClr val="0066CC"/>
                </a:solidFill>
                <a:latin typeface="Microsoft YaHei"/>
                <a:ea typeface="Microsoft YaHei"/>
              </a:rPr>
              <a:t>                </a:t>
            </a:r>
            <a:r>
              <a:rPr sz="2400" b="1" dirty="0">
                <a:solidFill>
                  <a:srgbClr val="0066CC"/>
                </a:solidFill>
                <a:latin typeface="Microsoft YaHei"/>
                <a:ea typeface="Microsoft YaHei"/>
              </a:rPr>
              <a:t>↓</a:t>
            </a:r>
            <a:endParaRPr sz="2000" b="1" dirty="0">
              <a:solidFill>
                <a:srgbClr val="0066CC"/>
              </a:solidFill>
              <a:latin typeface="Microsoft YaHei"/>
              <a:ea typeface="Microsoft YaHei"/>
            </a:endParaRPr>
          </a:p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2400" b="1" dirty="0" err="1">
                <a:solidFill>
                  <a:srgbClr val="0066CC"/>
                </a:solidFill>
                <a:latin typeface="Microsoft YaHei"/>
                <a:ea typeface="Microsoft YaHei"/>
              </a:rPr>
              <a:t>第二</a:t>
            </a:r>
            <a:r>
              <a:rPr sz="2400" b="0" dirty="0" err="1">
                <a:solidFill>
                  <a:srgbClr val="333333"/>
                </a:solidFill>
                <a:latin typeface="Microsoft YaHei"/>
                <a:ea typeface="Microsoft YaHei"/>
              </a:rPr>
              <a:t>轮：</a:t>
            </a:r>
            <a:r>
              <a:rPr sz="2400" b="0" dirty="0">
                <a:solidFill>
                  <a:srgbClr val="333333"/>
                </a:solidFill>
                <a:latin typeface="Microsoft YaHei"/>
                <a:ea typeface="Microsoft YaHei"/>
              </a:rPr>
              <a:t>请</a:t>
            </a:r>
            <a:r>
              <a:rPr sz="2400" b="0" dirty="0" err="1">
                <a:solidFill>
                  <a:srgbClr val="333333"/>
                </a:solidFill>
                <a:latin typeface="Microsoft YaHei"/>
                <a:ea typeface="Microsoft YaHei"/>
              </a:rPr>
              <a:t>AI检查可能存在的偏差。</a:t>
            </a:r>
            <a:endParaRPr sz="2400" b="0" dirty="0">
              <a:solidFill>
                <a:srgbClr val="333333"/>
              </a:solidFill>
              <a:latin typeface="Microsoft YaHei"/>
              <a:ea typeface="Microsoft YaHei"/>
            </a:endParaRPr>
          </a:p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2000" b="0" dirty="0">
                <a:solidFill>
                  <a:srgbClr val="0066CC"/>
                </a:solidFill>
                <a:latin typeface="Microsoft YaHei"/>
                <a:ea typeface="Microsoft YaHei"/>
              </a:rPr>
              <a:t>                </a:t>
            </a:r>
            <a:r>
              <a:rPr sz="2400" b="1" dirty="0">
                <a:solidFill>
                  <a:srgbClr val="0066CC"/>
                </a:solidFill>
                <a:latin typeface="Microsoft YaHei"/>
                <a:ea typeface="Microsoft YaHei"/>
              </a:rPr>
              <a:t>↓</a:t>
            </a:r>
          </a:p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2400" b="1" dirty="0" err="1">
                <a:solidFill>
                  <a:srgbClr val="0066CC"/>
                </a:solidFill>
                <a:latin typeface="Microsoft YaHei"/>
                <a:ea typeface="Microsoft YaHei"/>
              </a:rPr>
              <a:t>第三轮</a:t>
            </a:r>
            <a:r>
              <a:rPr sz="2400" b="0" dirty="0" err="1">
                <a:solidFill>
                  <a:srgbClr val="333333"/>
                </a:solidFill>
                <a:latin typeface="Microsoft YaHei"/>
                <a:ea typeface="Microsoft YaHei"/>
              </a:rPr>
              <a:t>：补充控制变量的方法，</a:t>
            </a:r>
            <a:r>
              <a:rPr sz="2400" b="0" dirty="0">
                <a:solidFill>
                  <a:srgbClr val="333333"/>
                </a:solidFill>
                <a:latin typeface="Microsoft YaHei"/>
                <a:ea typeface="Microsoft YaHei"/>
              </a:rPr>
              <a:t>再追问：</a:t>
            </a:r>
          </a:p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2000" b="0" dirty="0">
                <a:solidFill>
                  <a:srgbClr val="333333"/>
                </a:solidFill>
                <a:latin typeface="Microsoft YaHei"/>
                <a:ea typeface="Microsoft YaHei"/>
              </a:rPr>
              <a:t>        </a:t>
            </a:r>
            <a:r>
              <a:rPr sz="2400" b="1" dirty="0">
                <a:solidFill>
                  <a:srgbClr val="004CA0"/>
                </a:solidFill>
                <a:latin typeface="Consolas"/>
                <a:ea typeface="Consolas"/>
              </a:rPr>
              <a:t>"</a:t>
            </a:r>
            <a:r>
              <a:rPr sz="2400" b="1" dirty="0" err="1">
                <a:solidFill>
                  <a:srgbClr val="004CA0"/>
                </a:solidFill>
                <a:latin typeface="Consolas"/>
                <a:ea typeface="Consolas"/>
              </a:rPr>
              <a:t>现在方案的严谨度如何？还有哪些盲区</a:t>
            </a:r>
            <a:r>
              <a:rPr sz="2400" b="1" dirty="0">
                <a:solidFill>
                  <a:srgbClr val="004CA0"/>
                </a:solidFill>
                <a:latin typeface="Consolas"/>
                <a:ea typeface="Consolas"/>
              </a:rPr>
              <a:t>？"</a:t>
            </a:r>
            <a:endParaRPr sz="1800" b="1" dirty="0">
              <a:solidFill>
                <a:srgbClr val="004CA0"/>
              </a:solidFill>
              <a:latin typeface="Consolas"/>
              <a:ea typeface="Consolas"/>
            </a:endParaRPr>
          </a:p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2000" b="0" dirty="0">
                <a:solidFill>
                  <a:srgbClr val="0066CC"/>
                </a:solidFill>
                <a:latin typeface="Microsoft YaHei"/>
                <a:ea typeface="Microsoft YaHei"/>
              </a:rPr>
              <a:t>                </a:t>
            </a:r>
            <a:r>
              <a:rPr sz="2400" b="1" dirty="0">
                <a:solidFill>
                  <a:srgbClr val="0066CC"/>
                </a:solidFill>
                <a:latin typeface="Microsoft YaHei"/>
                <a:ea typeface="Microsoft YaHei"/>
              </a:rPr>
              <a:t>↓</a:t>
            </a:r>
          </a:p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2400" b="1" dirty="0" err="1">
                <a:solidFill>
                  <a:srgbClr val="0066CC"/>
                </a:solidFill>
                <a:latin typeface="Microsoft YaHei"/>
                <a:ea typeface="Microsoft YaHei"/>
              </a:rPr>
              <a:t>后续：</a:t>
            </a:r>
            <a:r>
              <a:rPr sz="2400" b="0" dirty="0" err="1">
                <a:solidFill>
                  <a:srgbClr val="333333"/>
                </a:solidFill>
                <a:latin typeface="Microsoft YaHei"/>
                <a:ea typeface="Microsoft YaHei"/>
              </a:rPr>
              <a:t>核查反馈，继续完善方</a:t>
            </a:r>
            <a:r>
              <a:rPr sz="2400" b="0" dirty="0">
                <a:solidFill>
                  <a:srgbClr val="333333"/>
                </a:solidFill>
                <a:latin typeface="Microsoft YaHei"/>
                <a:ea typeface="Microsoft YaHei"/>
              </a:rPr>
              <a:t>案。</a:t>
            </a:r>
          </a:p>
          <a:p>
            <a:pPr algn="l">
              <a:lnSpc>
                <a:spcPct val="110000"/>
              </a:lnSpc>
              <a:spcAft>
                <a:spcPts val="300"/>
              </a:spcAft>
            </a:pPr>
            <a:endParaRPr sz="2000" b="0" dirty="0">
              <a:solidFill>
                <a:srgbClr val="333333"/>
              </a:solidFill>
              <a:latin typeface="Microsoft YaHei"/>
              <a:ea typeface="Microsoft YaHei"/>
            </a:endParaRPr>
          </a:p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2400" b="1" dirty="0">
                <a:solidFill>
                  <a:srgbClr val="004CA0"/>
                </a:solidFill>
                <a:latin typeface="Microsoft YaHei"/>
                <a:ea typeface="Microsoft YaHei"/>
              </a:rPr>
              <a:t>多轮</a:t>
            </a:r>
            <a:r>
              <a:rPr sz="2400" b="1" dirty="0" err="1">
                <a:solidFill>
                  <a:srgbClr val="004CA0"/>
                </a:solidFill>
                <a:latin typeface="Microsoft YaHei"/>
                <a:ea typeface="Microsoft YaHei"/>
              </a:rPr>
              <a:t>交流有</a:t>
            </a:r>
            <a:r>
              <a:rPr sz="2400" b="1" dirty="0">
                <a:solidFill>
                  <a:srgbClr val="004CA0"/>
                </a:solidFill>
                <a:latin typeface="Microsoft YaHei"/>
                <a:ea typeface="Microsoft YaHei"/>
              </a:rPr>
              <a:t>助</a:t>
            </a:r>
            <a:r>
              <a:rPr sz="2400" b="1" dirty="0" err="1">
                <a:solidFill>
                  <a:srgbClr val="F58020"/>
                </a:solidFill>
                <a:latin typeface="Microsoft YaHei"/>
                <a:ea typeface="Microsoft YaHei"/>
              </a:rPr>
              <a:t>于发现</a:t>
            </a:r>
            <a:r>
              <a:rPr sz="2400" b="1" dirty="0" err="1">
                <a:solidFill>
                  <a:srgbClr val="004CA0"/>
                </a:solidFill>
                <a:latin typeface="Microsoft YaHei"/>
                <a:ea typeface="Microsoft YaHei"/>
              </a:rPr>
              <a:t>遗漏，但研究者需要独立判断建议是否合理</a:t>
            </a:r>
            <a:r>
              <a:rPr sz="2400" b="1" dirty="0">
                <a:solidFill>
                  <a:srgbClr val="004CA0"/>
                </a:solidFill>
                <a:latin typeface="Microsoft YaHei"/>
                <a:ea typeface="Microsoft YaHei"/>
              </a:rPr>
              <a:t>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94415" y="6446520"/>
            <a:ext cx="914400" cy="320040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pPr algn="r"/>
            <a:r>
              <a:rPr sz="1100">
                <a:solidFill>
                  <a:srgbClr val="999999"/>
                </a:solidFill>
                <a:latin typeface="Arial"/>
              </a:rPr>
              <a:t>11 / 50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yzu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17175" y="246888"/>
            <a:ext cx="1691640" cy="54864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274320"/>
            <a:ext cx="960120" cy="502920"/>
          </a:xfrm>
          <a:prstGeom prst="rect">
            <a:avLst/>
          </a:prstGeom>
          <a:solidFill>
            <a:srgbClr val="006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" y="341114"/>
            <a:ext cx="914400" cy="3693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400" b="1" i="0" dirty="0">
                <a:solidFill>
                  <a:srgbClr val="FFFFFF"/>
                </a:solidFill>
                <a:latin typeface="Microsoft YaHei"/>
                <a:ea typeface="Microsoft YaHei"/>
              </a:rPr>
              <a:t>2.1.3</a:t>
            </a:r>
          </a:p>
        </p:txBody>
      </p:sp>
      <p:sp>
        <p:nvSpPr>
          <p:cNvPr id="6" name="Rectangle 5"/>
          <p:cNvSpPr/>
          <p:nvPr/>
        </p:nvSpPr>
        <p:spPr>
          <a:xfrm>
            <a:off x="960120" y="274320"/>
            <a:ext cx="9052560" cy="502920"/>
          </a:xfrm>
          <a:prstGeom prst="rect">
            <a:avLst/>
          </a:prstGeom>
          <a:solidFill>
            <a:srgbClr val="3A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234440" y="341114"/>
            <a:ext cx="8686800" cy="3693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400" b="1" i="0" dirty="0" err="1">
                <a:solidFill>
                  <a:srgbClr val="FFFFFF"/>
                </a:solidFill>
                <a:latin typeface="Microsoft YaHei"/>
                <a:ea typeface="Microsoft YaHei"/>
              </a:rPr>
              <a:t>构建有效提示词的核心要素</a:t>
            </a:r>
            <a:endParaRPr sz="2400" b="1" i="0" dirty="0">
              <a:solidFill>
                <a:srgbClr val="FFFFFF"/>
              </a:solidFill>
              <a:latin typeface="Microsoft YaHei"/>
              <a:ea typeface="Microsoft YaHei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502920" y="960120"/>
            <a:ext cx="11247120" cy="3693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400" b="1" i="0" dirty="0" err="1">
                <a:solidFill>
                  <a:srgbClr val="0066CC"/>
                </a:solidFill>
                <a:latin typeface="Microsoft YaHei"/>
                <a:ea typeface="Microsoft YaHei"/>
              </a:rPr>
              <a:t>提示词的四</a:t>
            </a:r>
            <a:r>
              <a:rPr sz="2400" b="1" i="0" dirty="0">
                <a:solidFill>
                  <a:srgbClr val="0066CC"/>
                </a:solidFill>
                <a:latin typeface="Microsoft YaHei"/>
                <a:ea typeface="Microsoft YaHei"/>
              </a:rPr>
              <a:t>个</a:t>
            </a:r>
            <a:r>
              <a:rPr sz="2400" b="1" i="0" dirty="0" err="1">
                <a:solidFill>
                  <a:srgbClr val="0066CC"/>
                </a:solidFill>
                <a:latin typeface="Microsoft YaHei"/>
                <a:ea typeface="Microsoft YaHei"/>
              </a:rPr>
              <a:t>要</a:t>
            </a:r>
            <a:r>
              <a:rPr sz="2400" b="1" i="0" dirty="0">
                <a:solidFill>
                  <a:srgbClr val="0066CC"/>
                </a:solidFill>
                <a:latin typeface="Microsoft YaHei"/>
                <a:ea typeface="Microsoft YaHei"/>
              </a:rPr>
              <a:t>素：</a:t>
            </a:r>
            <a:r>
              <a:rPr sz="2400" b="1" i="0" dirty="0" err="1">
                <a:solidFill>
                  <a:srgbClr val="0066CC"/>
                </a:solidFill>
                <a:latin typeface="Microsoft YaHei"/>
                <a:ea typeface="Microsoft YaHei"/>
              </a:rPr>
              <a:t>背</a:t>
            </a:r>
            <a:r>
              <a:rPr sz="2400" b="1" i="0" dirty="0">
                <a:solidFill>
                  <a:srgbClr val="0066CC"/>
                </a:solidFill>
                <a:latin typeface="Microsoft YaHei"/>
                <a:ea typeface="Microsoft YaHei"/>
              </a:rPr>
              <a:t>景、</a:t>
            </a:r>
            <a:r>
              <a:rPr sz="2400" b="1" i="0" dirty="0" err="1">
                <a:solidFill>
                  <a:srgbClr val="0066CC"/>
                </a:solidFill>
                <a:latin typeface="Microsoft YaHei"/>
                <a:ea typeface="Microsoft YaHei"/>
              </a:rPr>
              <a:t>任</a:t>
            </a:r>
            <a:r>
              <a:rPr sz="2400" b="1" i="0" dirty="0">
                <a:solidFill>
                  <a:srgbClr val="0066CC"/>
                </a:solidFill>
                <a:latin typeface="Microsoft YaHei"/>
                <a:ea typeface="Microsoft YaHei"/>
              </a:rPr>
              <a:t>务、</a:t>
            </a:r>
            <a:r>
              <a:rPr sz="2400" b="1" i="0" dirty="0" err="1">
                <a:solidFill>
                  <a:srgbClr val="0066CC"/>
                </a:solidFill>
                <a:latin typeface="Microsoft YaHei"/>
                <a:ea typeface="Microsoft YaHei"/>
              </a:rPr>
              <a:t>约束</a:t>
            </a:r>
            <a:r>
              <a:rPr sz="2400" b="1" i="0" dirty="0">
                <a:solidFill>
                  <a:srgbClr val="0066CC"/>
                </a:solidFill>
                <a:latin typeface="Microsoft YaHei"/>
                <a:ea typeface="Microsoft YaHei"/>
              </a:rPr>
              <a:t>和输</a:t>
            </a:r>
            <a:r>
              <a:rPr sz="2400" b="1" i="0" dirty="0" err="1">
                <a:solidFill>
                  <a:srgbClr val="0066CC"/>
                </a:solidFill>
                <a:latin typeface="Microsoft YaHei"/>
                <a:ea typeface="Microsoft YaHei"/>
              </a:rPr>
              <a:t>出格</a:t>
            </a:r>
            <a:r>
              <a:rPr sz="2400" b="1" i="0" dirty="0">
                <a:solidFill>
                  <a:srgbClr val="0066CC"/>
                </a:solidFill>
                <a:latin typeface="Microsoft YaHei"/>
                <a:ea typeface="Microsoft YaHei"/>
              </a:rPr>
              <a:t>式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1691640"/>
            <a:ext cx="457200" cy="2286000"/>
          </a:xfrm>
          <a:prstGeom prst="rect">
            <a:avLst/>
          </a:prstGeom>
          <a:solidFill>
            <a:srgbClr val="006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822960" y="1691640"/>
            <a:ext cx="5029200" cy="2286000"/>
          </a:xfrm>
          <a:prstGeom prst="rect">
            <a:avLst/>
          </a:prstGeom>
          <a:solidFill>
            <a:srgbClr val="E6F2FC"/>
          </a:solidFill>
          <a:ln w="12700">
            <a:solidFill>
              <a:srgbClr val="0066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65760" y="1691640"/>
            <a:ext cx="457200" cy="2286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3600" b="1" i="0">
                <a:solidFill>
                  <a:srgbClr val="FFFFFF"/>
                </a:solidFill>
                <a:latin typeface="Arial"/>
                <a:ea typeface="Arial"/>
              </a:rPr>
              <a:t>①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1856232"/>
            <a:ext cx="4663440" cy="3693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400" b="1" i="0" dirty="0" err="1">
                <a:solidFill>
                  <a:srgbClr val="0066CC"/>
                </a:solidFill>
                <a:latin typeface="Microsoft YaHei"/>
                <a:ea typeface="Microsoft YaHei"/>
              </a:rPr>
              <a:t>背景</a:t>
            </a:r>
            <a:r>
              <a:rPr sz="2400" b="1" i="0" dirty="0">
                <a:solidFill>
                  <a:srgbClr val="0066CC"/>
                </a:solidFill>
                <a:latin typeface="Microsoft YaHei"/>
                <a:ea typeface="Microsoft YaHei"/>
              </a:rPr>
              <a:t> Context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2377440"/>
            <a:ext cx="4663440" cy="3077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" b="1" i="0" dirty="0" err="1">
                <a:solidFill>
                  <a:srgbClr val="004CA0"/>
                </a:solidFill>
                <a:latin typeface="Microsoft YaHei"/>
                <a:ea typeface="Microsoft YaHei"/>
              </a:rPr>
              <a:t>提供相关背景</a:t>
            </a:r>
            <a:endParaRPr sz="2000" b="1" i="0" dirty="0">
              <a:solidFill>
                <a:srgbClr val="004CA0"/>
              </a:solidFill>
              <a:latin typeface="Microsoft YaHei"/>
              <a:ea typeface="Microsoft YaHei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1005840" y="2788920"/>
            <a:ext cx="4663440" cy="92333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" b="0" i="0" dirty="0">
                <a:solidFill>
                  <a:srgbClr val="333333"/>
                </a:solidFill>
                <a:latin typeface="Microsoft YaHei"/>
                <a:ea typeface="Microsoft YaHei"/>
              </a:rPr>
              <a:t>提供相关</a:t>
            </a:r>
            <a:r>
              <a:rPr sz="2000" b="0" i="0" dirty="0" err="1">
                <a:solidFill>
                  <a:srgbClr val="333333"/>
                </a:solidFill>
                <a:latin typeface="Microsoft YaHei"/>
                <a:ea typeface="Microsoft YaHei"/>
              </a:rPr>
              <a:t>文献、数据或笔记，说明研究进度。</a:t>
            </a:r>
            <a:r>
              <a:rPr sz="2000" b="0" i="0" dirty="0">
                <a:solidFill>
                  <a:srgbClr val="333333"/>
                </a:solidFill>
                <a:latin typeface="Microsoft YaHei"/>
                <a:ea typeface="Microsoft YaHei"/>
              </a:rPr>
              <a:t>上传前确认</a:t>
            </a:r>
            <a:r>
              <a:rPr sz="2000" b="0" i="0" dirty="0" err="1">
                <a:solidFill>
                  <a:srgbClr val="333333"/>
                </a:solidFill>
                <a:latin typeface="Microsoft YaHei"/>
                <a:ea typeface="Microsoft YaHei"/>
              </a:rPr>
              <a:t>材料可用于该平台</a:t>
            </a:r>
            <a:r>
              <a:rPr sz="2000" b="0" i="0" dirty="0">
                <a:solidFill>
                  <a:srgbClr val="333333"/>
                </a:solidFill>
                <a:latin typeface="Microsoft YaHei"/>
                <a:ea typeface="Microsoft YaHei"/>
              </a:rPr>
              <a:t>。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989320" y="1691640"/>
            <a:ext cx="457200" cy="2286000"/>
          </a:xfrm>
          <a:prstGeom prst="rect">
            <a:avLst/>
          </a:prstGeom>
          <a:solidFill>
            <a:srgbClr val="004C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6446520" y="1691640"/>
            <a:ext cx="5029200" cy="2286000"/>
          </a:xfrm>
          <a:prstGeom prst="rect">
            <a:avLst/>
          </a:prstGeom>
          <a:solidFill>
            <a:srgbClr val="E6F2FC"/>
          </a:solidFill>
          <a:ln w="12700">
            <a:solidFill>
              <a:srgbClr val="004C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989320" y="1691640"/>
            <a:ext cx="457200" cy="2286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3600" b="1" i="0">
                <a:solidFill>
                  <a:srgbClr val="FFFFFF"/>
                </a:solidFill>
                <a:latin typeface="Arial"/>
                <a:ea typeface="Arial"/>
              </a:rPr>
              <a:t>②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29400" y="1856232"/>
            <a:ext cx="4663440" cy="3693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400" b="1" i="0" dirty="0" err="1">
                <a:solidFill>
                  <a:srgbClr val="004CA0"/>
                </a:solidFill>
                <a:latin typeface="Microsoft YaHei"/>
                <a:ea typeface="Microsoft YaHei"/>
              </a:rPr>
              <a:t>任务</a:t>
            </a:r>
            <a:r>
              <a:rPr sz="2400" b="1" i="0" dirty="0">
                <a:solidFill>
                  <a:srgbClr val="004CA0"/>
                </a:solidFill>
                <a:latin typeface="Microsoft YaHei"/>
                <a:ea typeface="Microsoft YaHei"/>
              </a:rPr>
              <a:t> Task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29400" y="2377440"/>
            <a:ext cx="4663440" cy="3077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" b="1" i="0" dirty="0" err="1">
                <a:solidFill>
                  <a:srgbClr val="004CA0"/>
                </a:solidFill>
                <a:latin typeface="Microsoft YaHei"/>
                <a:ea typeface="Microsoft YaHei"/>
              </a:rPr>
              <a:t>分步完成任务</a:t>
            </a:r>
            <a:endParaRPr sz="2000" b="1" i="0" dirty="0">
              <a:solidFill>
                <a:srgbClr val="004CA0"/>
              </a:solidFill>
              <a:latin typeface="Microsoft YaHei"/>
              <a:ea typeface="Microsoft YaHei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6629400" y="2788920"/>
            <a:ext cx="4663440" cy="61555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" b="0" i="0" dirty="0" err="1">
                <a:solidFill>
                  <a:srgbClr val="333333"/>
                </a:solidFill>
                <a:latin typeface="Microsoft YaHei"/>
                <a:ea typeface="Microsoft YaHei"/>
              </a:rPr>
              <a:t>先拟</a:t>
            </a:r>
            <a:r>
              <a:rPr sz="2000" b="0" i="0" dirty="0">
                <a:solidFill>
                  <a:srgbClr val="333333"/>
                </a:solidFill>
                <a:latin typeface="Microsoft YaHei"/>
                <a:ea typeface="Microsoft YaHei"/>
              </a:rPr>
              <a:t>大纲</a:t>
            </a:r>
            <a:r>
              <a:rPr sz="2000" b="0" i="0" dirty="0" err="1">
                <a:solidFill>
                  <a:srgbClr val="333333"/>
                </a:solidFill>
                <a:latin typeface="Microsoft YaHei"/>
                <a:ea typeface="Microsoft YaHei"/>
              </a:rPr>
              <a:t>，再</a:t>
            </a:r>
            <a:r>
              <a:rPr sz="2000" b="0" i="0" dirty="0">
                <a:solidFill>
                  <a:srgbClr val="333333"/>
                </a:solidFill>
                <a:latin typeface="Microsoft YaHei"/>
                <a:ea typeface="Microsoft YaHei"/>
              </a:rPr>
              <a:t>修改</a:t>
            </a:r>
            <a:r>
              <a:rPr sz="2000" b="0" i="0" dirty="0" err="1">
                <a:solidFill>
                  <a:srgbClr val="333333"/>
                </a:solidFill>
                <a:latin typeface="Microsoft YaHei"/>
                <a:ea typeface="Microsoft YaHei"/>
              </a:rPr>
              <a:t>结构，最</a:t>
            </a:r>
            <a:r>
              <a:rPr sz="2000" b="0" i="0" dirty="0">
                <a:solidFill>
                  <a:srgbClr val="333333"/>
                </a:solidFill>
                <a:latin typeface="Microsoft YaHei"/>
                <a:ea typeface="Microsoft YaHei"/>
              </a:rPr>
              <a:t>后逐</a:t>
            </a:r>
            <a:r>
              <a:rPr sz="2000" b="0" i="0" dirty="0" err="1">
                <a:solidFill>
                  <a:srgbClr val="333333"/>
                </a:solidFill>
                <a:latin typeface="Microsoft YaHei"/>
                <a:ea typeface="Microsoft YaHei"/>
              </a:rPr>
              <a:t>节完</a:t>
            </a:r>
            <a:r>
              <a:rPr sz="2000" b="0" i="0" dirty="0">
                <a:solidFill>
                  <a:srgbClr val="333333"/>
                </a:solidFill>
                <a:latin typeface="Microsoft YaHei"/>
                <a:ea typeface="Microsoft YaHei"/>
              </a:rPr>
              <a:t>善</a:t>
            </a:r>
            <a:r>
              <a:rPr sz="2000" b="0" i="0" dirty="0" err="1">
                <a:solidFill>
                  <a:srgbClr val="333333"/>
                </a:solidFill>
                <a:latin typeface="Microsoft YaHei"/>
                <a:ea typeface="Microsoft YaHei"/>
              </a:rPr>
              <a:t>，</a:t>
            </a:r>
            <a:r>
              <a:rPr sz="2000" b="0" i="0" dirty="0">
                <a:solidFill>
                  <a:srgbClr val="333333"/>
                </a:solidFill>
                <a:latin typeface="Microsoft YaHei"/>
                <a:ea typeface="Microsoft YaHei"/>
              </a:rPr>
              <a:t>便于检</a:t>
            </a:r>
            <a:r>
              <a:rPr sz="2000" b="0" i="0" dirty="0" err="1">
                <a:solidFill>
                  <a:srgbClr val="333333"/>
                </a:solidFill>
                <a:latin typeface="Microsoft YaHei"/>
                <a:ea typeface="Microsoft YaHei"/>
              </a:rPr>
              <a:t>查内容与论证</a:t>
            </a:r>
            <a:r>
              <a:rPr sz="2000" b="0" i="0" dirty="0">
                <a:solidFill>
                  <a:srgbClr val="333333"/>
                </a:solidFill>
                <a:latin typeface="Microsoft YaHei"/>
                <a:ea typeface="Microsoft YaHei"/>
              </a:rPr>
              <a:t>。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65760" y="4114800"/>
            <a:ext cx="457200" cy="2286000"/>
          </a:xfrm>
          <a:prstGeom prst="rect">
            <a:avLst/>
          </a:prstGeom>
          <a:solidFill>
            <a:srgbClr val="F58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822960" y="4114800"/>
            <a:ext cx="5029200" cy="2286000"/>
          </a:xfrm>
          <a:prstGeom prst="rect">
            <a:avLst/>
          </a:prstGeom>
          <a:solidFill>
            <a:srgbClr val="E6F2FC"/>
          </a:solidFill>
          <a:ln w="12700">
            <a:solidFill>
              <a:srgbClr val="F580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365760" y="4114800"/>
            <a:ext cx="457200" cy="2286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3600" b="1" i="0">
                <a:solidFill>
                  <a:srgbClr val="FFFFFF"/>
                </a:solidFill>
                <a:latin typeface="Arial"/>
                <a:ea typeface="Arial"/>
              </a:rPr>
              <a:t>③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05840" y="4279392"/>
            <a:ext cx="4663440" cy="3693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2400" b="1" dirty="0" err="1">
                <a:solidFill>
                  <a:srgbClr val="0066CC"/>
                </a:solidFill>
                <a:latin typeface="Microsoft YaHei"/>
                <a:ea typeface="Microsoft YaHei"/>
              </a:rPr>
              <a:t>约束</a:t>
            </a:r>
            <a:r>
              <a:rPr sz="2400" b="1" dirty="0">
                <a:solidFill>
                  <a:srgbClr val="0066CC"/>
                </a:solidFill>
                <a:latin typeface="Microsoft YaHei"/>
                <a:ea typeface="Microsoft YaHei"/>
              </a:rPr>
              <a:t> Constraints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05840" y="4800600"/>
            <a:ext cx="4663440" cy="3077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" b="1" i="0" dirty="0" err="1">
                <a:solidFill>
                  <a:srgbClr val="004CA0"/>
                </a:solidFill>
                <a:latin typeface="Microsoft YaHei"/>
                <a:ea typeface="Microsoft YaHei"/>
              </a:rPr>
              <a:t>明确评价标准</a:t>
            </a:r>
            <a:endParaRPr sz="2000" b="1" i="0" dirty="0">
              <a:solidFill>
                <a:srgbClr val="004CA0"/>
              </a:solidFill>
              <a:latin typeface="Microsoft YaHei"/>
              <a:ea typeface="Microsoft YaHei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1005840" y="5212080"/>
            <a:ext cx="4663440" cy="61555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" b="0" i="0" dirty="0" err="1">
                <a:solidFill>
                  <a:srgbClr val="333333"/>
                </a:solidFill>
                <a:latin typeface="Microsoft YaHei"/>
                <a:ea typeface="Microsoft YaHei"/>
              </a:rPr>
              <a:t>采用中</a:t>
            </a:r>
            <a:r>
              <a:rPr sz="2000" b="0" i="0" dirty="0">
                <a:solidFill>
                  <a:srgbClr val="333333"/>
                </a:solidFill>
                <a:latin typeface="Microsoft YaHei"/>
                <a:ea typeface="Microsoft YaHei"/>
              </a:rPr>
              <a:t>立提</a:t>
            </a:r>
            <a:r>
              <a:rPr sz="2000" b="0" i="0" dirty="0" err="1">
                <a:solidFill>
                  <a:srgbClr val="333333"/>
                </a:solidFill>
                <a:latin typeface="Microsoft YaHei"/>
                <a:ea typeface="Microsoft YaHei"/>
              </a:rPr>
              <a:t>问，列明评价</a:t>
            </a:r>
            <a:r>
              <a:rPr sz="2000" b="0" i="0" dirty="0">
                <a:solidFill>
                  <a:srgbClr val="333333"/>
                </a:solidFill>
                <a:latin typeface="Microsoft YaHei"/>
                <a:ea typeface="Microsoft YaHei"/>
              </a:rPr>
              <a:t>维度，</a:t>
            </a:r>
            <a:r>
              <a:rPr sz="2000" b="0" i="0" dirty="0" err="1">
                <a:solidFill>
                  <a:srgbClr val="333333"/>
                </a:solidFill>
                <a:latin typeface="Microsoft YaHei"/>
                <a:ea typeface="Microsoft YaHei"/>
              </a:rPr>
              <a:t>要求说</a:t>
            </a:r>
            <a:r>
              <a:rPr sz="2000" b="0" i="0" dirty="0">
                <a:solidFill>
                  <a:srgbClr val="333333"/>
                </a:solidFill>
                <a:latin typeface="Microsoft YaHei"/>
                <a:ea typeface="Microsoft YaHei"/>
              </a:rPr>
              <a:t>明依据与不足。评</a:t>
            </a:r>
            <a:r>
              <a:rPr sz="2000" b="0" i="0" dirty="0" err="1">
                <a:solidFill>
                  <a:srgbClr val="333333"/>
                </a:solidFill>
                <a:latin typeface="Microsoft YaHei"/>
                <a:ea typeface="Microsoft YaHei"/>
              </a:rPr>
              <a:t>分本身不保证客观</a:t>
            </a:r>
            <a:r>
              <a:rPr sz="2000" b="0" i="0" dirty="0">
                <a:solidFill>
                  <a:srgbClr val="333333"/>
                </a:solidFill>
                <a:latin typeface="Microsoft YaHei"/>
                <a:ea typeface="Microsoft YaHei"/>
              </a:rPr>
              <a:t>。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989320" y="4114800"/>
            <a:ext cx="457200" cy="2286000"/>
          </a:xfrm>
          <a:prstGeom prst="rect">
            <a:avLst/>
          </a:prstGeom>
          <a:solidFill>
            <a:srgbClr val="2E8B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6446520" y="4114800"/>
            <a:ext cx="5029200" cy="2286000"/>
          </a:xfrm>
          <a:prstGeom prst="rect">
            <a:avLst/>
          </a:prstGeom>
          <a:solidFill>
            <a:srgbClr val="E6F2FC"/>
          </a:solidFill>
          <a:ln w="12700">
            <a:solidFill>
              <a:srgbClr val="2E8B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5989320" y="4114800"/>
            <a:ext cx="457200" cy="2286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3600" b="1" i="0">
                <a:solidFill>
                  <a:srgbClr val="FFFFFF"/>
                </a:solidFill>
                <a:latin typeface="Arial"/>
                <a:ea typeface="Arial"/>
              </a:rPr>
              <a:t>④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629400" y="4279392"/>
            <a:ext cx="4663440" cy="3693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400" b="1" i="0" dirty="0" err="1">
                <a:solidFill>
                  <a:srgbClr val="2E8B57"/>
                </a:solidFill>
                <a:latin typeface="Microsoft YaHei"/>
                <a:ea typeface="Microsoft YaHei"/>
              </a:rPr>
              <a:t>输出格式</a:t>
            </a:r>
            <a:r>
              <a:rPr sz="2400" b="1" i="0" dirty="0">
                <a:solidFill>
                  <a:srgbClr val="2E8B57"/>
                </a:solidFill>
                <a:latin typeface="Microsoft YaHei"/>
                <a:ea typeface="Microsoft YaHei"/>
              </a:rPr>
              <a:t> Format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629400" y="4800600"/>
            <a:ext cx="4663440" cy="3077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" b="1" i="0" dirty="0" err="1">
                <a:solidFill>
                  <a:srgbClr val="004CA0"/>
                </a:solidFill>
                <a:latin typeface="Microsoft YaHei"/>
                <a:ea typeface="Microsoft YaHei"/>
              </a:rPr>
              <a:t>规范最终呈现</a:t>
            </a:r>
            <a:endParaRPr sz="2000" b="1" i="0" dirty="0">
              <a:solidFill>
                <a:srgbClr val="004CA0"/>
              </a:solidFill>
              <a:latin typeface="Microsoft YaHei"/>
              <a:ea typeface="Microsoft YaHei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6629400" y="5212080"/>
            <a:ext cx="4663440" cy="92333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" b="0" i="0" dirty="0" err="1">
                <a:solidFill>
                  <a:srgbClr val="333333"/>
                </a:solidFill>
                <a:latin typeface="Microsoft YaHei"/>
                <a:ea typeface="Microsoft YaHei"/>
              </a:rPr>
              <a:t>根</a:t>
            </a:r>
            <a:r>
              <a:rPr sz="2000" b="0" i="0" dirty="0">
                <a:solidFill>
                  <a:srgbClr val="333333"/>
                </a:solidFill>
                <a:latin typeface="Microsoft YaHei"/>
                <a:ea typeface="Microsoft YaHei"/>
              </a:rPr>
              <a:t>据后续用途指</a:t>
            </a:r>
            <a:r>
              <a:rPr sz="2000" b="0" i="0" dirty="0" err="1">
                <a:solidFill>
                  <a:srgbClr val="333333"/>
                </a:solidFill>
                <a:latin typeface="Microsoft YaHei"/>
                <a:ea typeface="Microsoft YaHei"/>
              </a:rPr>
              <a:t>定</a:t>
            </a:r>
            <a:r>
              <a:rPr sz="2000" b="0" i="0" dirty="0">
                <a:solidFill>
                  <a:srgbClr val="333333"/>
                </a:solidFill>
                <a:latin typeface="Microsoft YaHei"/>
                <a:ea typeface="Microsoft YaHei"/>
              </a:rPr>
              <a:t>表格、LaTeX、JS</a:t>
            </a:r>
            <a:r>
              <a:rPr sz="2000" b="0" i="0" dirty="0" err="1">
                <a:solidFill>
                  <a:srgbClr val="333333"/>
                </a:solidFill>
                <a:latin typeface="Microsoft YaHei"/>
                <a:ea typeface="Microsoft YaHei"/>
              </a:rPr>
              <a:t>ON或字数要求</a:t>
            </a:r>
            <a:r>
              <a:rPr sz="2000" b="0" i="0" dirty="0">
                <a:solidFill>
                  <a:srgbClr val="333333"/>
                </a:solidFill>
                <a:latin typeface="Microsoft YaHei"/>
                <a:ea typeface="Microsoft YaHei"/>
              </a:rPr>
              <a:t>，并检查格式是否可</a:t>
            </a:r>
            <a:r>
              <a:rPr sz="2000" b="0" i="0" dirty="0" err="1">
                <a:solidFill>
                  <a:srgbClr val="333333"/>
                </a:solidFill>
                <a:latin typeface="Microsoft YaHei"/>
                <a:ea typeface="Microsoft YaHei"/>
              </a:rPr>
              <a:t>用</a:t>
            </a:r>
            <a:r>
              <a:rPr sz="2000" b="0" i="0" dirty="0">
                <a:solidFill>
                  <a:srgbClr val="333333"/>
                </a:solidFill>
                <a:latin typeface="Microsoft YaHei"/>
                <a:ea typeface="Microsoft YaHei"/>
              </a:rPr>
              <a:t>。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094415" y="6446520"/>
            <a:ext cx="914400" cy="320040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pPr algn="r"/>
            <a:r>
              <a:rPr sz="1100">
                <a:solidFill>
                  <a:srgbClr val="999999"/>
                </a:solidFill>
                <a:latin typeface="Arial"/>
              </a:rPr>
              <a:t>12 / 50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yzu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17175" y="246888"/>
            <a:ext cx="1691640" cy="54864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274320"/>
            <a:ext cx="960120" cy="502920"/>
          </a:xfrm>
          <a:prstGeom prst="rect">
            <a:avLst/>
          </a:prstGeom>
          <a:solidFill>
            <a:srgbClr val="006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" y="341114"/>
            <a:ext cx="914400" cy="3693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400" b="1" i="0" dirty="0">
                <a:solidFill>
                  <a:srgbClr val="FFFFFF"/>
                </a:solidFill>
                <a:latin typeface="Microsoft YaHei"/>
                <a:ea typeface="Microsoft YaHei"/>
              </a:rPr>
              <a:t>2.1.3</a:t>
            </a:r>
          </a:p>
        </p:txBody>
      </p:sp>
      <p:sp>
        <p:nvSpPr>
          <p:cNvPr id="6" name="Rectangle 5"/>
          <p:cNvSpPr/>
          <p:nvPr/>
        </p:nvSpPr>
        <p:spPr>
          <a:xfrm>
            <a:off x="960120" y="274320"/>
            <a:ext cx="9052560" cy="502920"/>
          </a:xfrm>
          <a:prstGeom prst="rect">
            <a:avLst/>
          </a:prstGeom>
          <a:solidFill>
            <a:srgbClr val="3A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234440" y="341114"/>
            <a:ext cx="8686800" cy="3693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400" b="1" i="0" dirty="0">
                <a:solidFill>
                  <a:srgbClr val="FFFFFF"/>
                </a:solidFill>
                <a:latin typeface="Microsoft YaHei"/>
                <a:ea typeface="Microsoft YaHei"/>
              </a:rPr>
              <a:t>①</a:t>
            </a:r>
            <a:r>
              <a:rPr sz="2400" b="1" i="0" dirty="0" err="1">
                <a:solidFill>
                  <a:srgbClr val="FFFFFF"/>
                </a:solidFill>
                <a:latin typeface="Microsoft YaHei"/>
                <a:ea typeface="Microsoft YaHei"/>
              </a:rPr>
              <a:t> </a:t>
            </a:r>
            <a:r>
              <a:rPr sz="2400" b="1" i="0" dirty="0">
                <a:solidFill>
                  <a:srgbClr val="FFFFFF"/>
                </a:solidFill>
                <a:latin typeface="Microsoft YaHei"/>
                <a:ea typeface="Microsoft YaHei"/>
              </a:rPr>
              <a:t>背景：提供与任务</a:t>
            </a:r>
            <a:r>
              <a:rPr sz="2400" b="1" i="0" dirty="0" err="1">
                <a:solidFill>
                  <a:srgbClr val="FFFFFF"/>
                </a:solidFill>
                <a:latin typeface="Microsoft YaHei"/>
                <a:ea typeface="Microsoft YaHei"/>
              </a:rPr>
              <a:t>相关的资料</a:t>
            </a:r>
            <a:endParaRPr sz="2400" b="1" i="0" dirty="0">
              <a:solidFill>
                <a:srgbClr val="FFFFFF"/>
              </a:solidFill>
              <a:latin typeface="Microsoft YaHei"/>
              <a:ea typeface="Microsoft YaHei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960119" y="899261"/>
            <a:ext cx="8013551" cy="1063102"/>
          </a:xfrm>
          <a:prstGeom prst="rect">
            <a:avLst/>
          </a:prstGeom>
          <a:noFill/>
        </p:spPr>
        <p:txBody>
          <a:bodyPr wrap="square" lIns="36000" tIns="36000" rIns="36000" bIns="36000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2400" b="0" dirty="0">
                <a:solidFill>
                  <a:srgbClr val="333333"/>
                </a:solidFill>
                <a:latin typeface="Microsoft YaHei"/>
                <a:ea typeface="Microsoft YaHei"/>
              </a:rPr>
              <a:t>模型通常不</a:t>
            </a:r>
            <a:r>
              <a:rPr sz="2400" b="0" dirty="0" err="1">
                <a:solidFill>
                  <a:srgbClr val="333333"/>
                </a:solidFill>
                <a:latin typeface="Microsoft YaHei"/>
                <a:ea typeface="Microsoft YaHei"/>
              </a:rPr>
              <a:t>了解你的研究经历和当前进度，</a:t>
            </a:r>
            <a:endParaRPr sz="2400" b="0" dirty="0">
              <a:solidFill>
                <a:srgbClr val="333333"/>
              </a:solidFill>
              <a:latin typeface="Microsoft YaHei"/>
              <a:ea typeface="Microsoft YaHei"/>
            </a:endParaRP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2400" b="1" dirty="0" err="1">
                <a:solidFill>
                  <a:srgbClr val="0066CC"/>
                </a:solidFill>
                <a:latin typeface="Microsoft YaHei"/>
                <a:ea typeface="Microsoft YaHei"/>
              </a:rPr>
              <a:t>需要在</a:t>
            </a:r>
            <a:r>
              <a:rPr sz="2400" b="0" dirty="0">
                <a:solidFill>
                  <a:srgbClr val="333333"/>
                </a:solidFill>
                <a:latin typeface="Microsoft YaHei"/>
                <a:ea typeface="Microsoft YaHei"/>
              </a:rPr>
              <a:t>对话</a:t>
            </a:r>
            <a:r>
              <a:rPr sz="2400" b="0" dirty="0" err="1">
                <a:solidFill>
                  <a:srgbClr val="333333"/>
                </a:solidFill>
                <a:latin typeface="Microsoft YaHei"/>
                <a:ea typeface="Microsoft YaHei"/>
              </a:rPr>
              <a:t>中提供必要的背景信息</a:t>
            </a:r>
            <a:r>
              <a:rPr sz="2200" b="0" dirty="0">
                <a:solidFill>
                  <a:srgbClr val="333333"/>
                </a:solidFill>
                <a:latin typeface="Microsoft YaHei"/>
                <a:ea typeface="Microsoft YaHei"/>
              </a:rPr>
              <a:t>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94415" y="6446520"/>
            <a:ext cx="914400" cy="320040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pPr algn="r"/>
            <a:r>
              <a:rPr sz="1100">
                <a:solidFill>
                  <a:srgbClr val="999999"/>
                </a:solidFill>
                <a:latin typeface="Arial"/>
              </a:rPr>
              <a:t>13 / 50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9E1C2ECB-E81C-1E79-D9A1-C998116D4F04}"/>
              </a:ext>
            </a:extLst>
          </p:cNvPr>
          <p:cNvSpPr txBox="1"/>
          <p:nvPr/>
        </p:nvSpPr>
        <p:spPr>
          <a:xfrm>
            <a:off x="6831063" y="2502256"/>
            <a:ext cx="5253361" cy="259763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30000"/>
              </a:lnSpc>
              <a:spcAft>
                <a:spcPts val="600"/>
              </a:spcAft>
            </a:pPr>
            <a:r>
              <a:rPr lang="zh-CN" altLang="en-US" sz="2400" b="1" dirty="0">
                <a:solidFill>
                  <a:srgbClr val="0066CC"/>
                </a:solidFill>
                <a:latin typeface="Microsoft YaHei"/>
                <a:ea typeface="Microsoft YaHei"/>
              </a:rPr>
              <a:t>更具体的做法：</a:t>
            </a:r>
          </a:p>
          <a:p>
            <a:pPr>
              <a:lnSpc>
                <a:spcPct val="130000"/>
              </a:lnSpc>
              <a:spcAft>
                <a:spcPts val="600"/>
              </a:spcAft>
            </a:pPr>
            <a:r>
              <a:rPr lang="en-US" altLang="zh-CN" sz="2400" dirty="0">
                <a:solidFill>
                  <a:srgbClr val="333333"/>
                </a:solidFill>
                <a:latin typeface="Microsoft YaHei"/>
                <a:ea typeface="Microsoft YaHei"/>
              </a:rPr>
              <a:t>• </a:t>
            </a:r>
            <a:r>
              <a:rPr lang="zh-CN" altLang="en-US" sz="2400" dirty="0">
                <a:solidFill>
                  <a:srgbClr val="333333"/>
                </a:solidFill>
                <a:latin typeface="Microsoft YaHei"/>
                <a:ea typeface="Microsoft YaHei"/>
              </a:rPr>
              <a:t>上传最新综述文献</a:t>
            </a:r>
          </a:p>
          <a:p>
            <a:pPr>
              <a:lnSpc>
                <a:spcPct val="130000"/>
              </a:lnSpc>
              <a:spcAft>
                <a:spcPts val="600"/>
              </a:spcAft>
            </a:pPr>
            <a:r>
              <a:rPr lang="en-US" altLang="zh-CN" sz="2400" dirty="0">
                <a:solidFill>
                  <a:srgbClr val="333333"/>
                </a:solidFill>
                <a:latin typeface="Microsoft YaHei"/>
                <a:ea typeface="Microsoft YaHei"/>
              </a:rPr>
              <a:t>• </a:t>
            </a:r>
            <a:r>
              <a:rPr lang="zh-CN" altLang="en-US" sz="2400" dirty="0">
                <a:solidFill>
                  <a:srgbClr val="333333"/>
                </a:solidFill>
                <a:latin typeface="Microsoft YaHei"/>
                <a:ea typeface="Microsoft YaHei"/>
              </a:rPr>
              <a:t>附上初步构思笔记</a:t>
            </a:r>
          </a:p>
          <a:p>
            <a:pPr>
              <a:lnSpc>
                <a:spcPct val="130000"/>
              </a:lnSpc>
              <a:spcAft>
                <a:spcPts val="600"/>
              </a:spcAft>
            </a:pPr>
            <a:r>
              <a:rPr lang="en-US" altLang="zh-CN" sz="2400" dirty="0">
                <a:solidFill>
                  <a:srgbClr val="333333"/>
                </a:solidFill>
                <a:latin typeface="Microsoft YaHei"/>
                <a:ea typeface="Microsoft YaHei"/>
              </a:rPr>
              <a:t>• </a:t>
            </a:r>
            <a:r>
              <a:rPr lang="zh-CN" altLang="en-US" sz="2400" dirty="0">
                <a:solidFill>
                  <a:srgbClr val="333333"/>
                </a:solidFill>
                <a:latin typeface="Microsoft YaHei"/>
                <a:ea typeface="Microsoft YaHei"/>
              </a:rPr>
              <a:t>明确分析 </a:t>
            </a:r>
            <a:r>
              <a:rPr lang="en-US" altLang="zh-CN" sz="2400" b="1" dirty="0">
                <a:solidFill>
                  <a:srgbClr val="0066CC"/>
                </a:solidFill>
                <a:latin typeface="Microsoft YaHei"/>
                <a:ea typeface="Microsoft YaHei"/>
              </a:rPr>
              <a:t>"</a:t>
            </a:r>
            <a:r>
              <a:rPr lang="zh-CN" altLang="en-US" sz="2400" b="1" dirty="0">
                <a:solidFill>
                  <a:srgbClr val="0066CC"/>
                </a:solidFill>
                <a:latin typeface="Microsoft YaHei"/>
                <a:ea typeface="Microsoft YaHei"/>
              </a:rPr>
              <a:t>研究空白</a:t>
            </a:r>
            <a:r>
              <a:rPr lang="en-US" altLang="zh-CN" sz="2400" b="1" dirty="0">
                <a:solidFill>
                  <a:srgbClr val="0066CC"/>
                </a:solidFill>
                <a:latin typeface="Microsoft YaHei"/>
                <a:ea typeface="Microsoft YaHei"/>
              </a:rPr>
              <a:t>" + "</a:t>
            </a:r>
            <a:r>
              <a:rPr lang="zh-CN" altLang="en-US" sz="2400" b="1" dirty="0">
                <a:solidFill>
                  <a:srgbClr val="0066CC"/>
                </a:solidFill>
                <a:latin typeface="Microsoft YaHei"/>
                <a:ea typeface="Microsoft YaHei"/>
              </a:rPr>
              <a:t>实施难度</a:t>
            </a:r>
            <a:r>
              <a:rPr lang="en-US" altLang="zh-CN" sz="2400" b="1" dirty="0">
                <a:solidFill>
                  <a:srgbClr val="0066CC"/>
                </a:solidFill>
                <a:latin typeface="Microsoft YaHei"/>
                <a:ea typeface="Microsoft YaHei"/>
              </a:rPr>
              <a:t>"</a:t>
            </a:r>
          </a:p>
          <a:p>
            <a:endParaRPr lang="zh-CN" altLang="en-US" dirty="0"/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AC5FC797-7C3B-FC91-BF10-61D637E451CF}"/>
              </a:ext>
            </a:extLst>
          </p:cNvPr>
          <p:cNvSpPr txBox="1"/>
          <p:nvPr/>
        </p:nvSpPr>
        <p:spPr>
          <a:xfrm>
            <a:off x="1532964" y="5373095"/>
            <a:ext cx="7440706" cy="8002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b="1" dirty="0">
                <a:solidFill>
                  <a:srgbClr val="004CA0"/>
                </a:solidFill>
                <a:latin typeface="Microsoft YaHei"/>
                <a:ea typeface="Microsoft YaHei"/>
              </a:rPr>
              <a:t>模型据此</a:t>
            </a:r>
            <a:r>
              <a:rPr lang="zh-CN" altLang="en-US" sz="2800" b="1" dirty="0">
                <a:solidFill>
                  <a:srgbClr val="004CA0"/>
                </a:solidFill>
                <a:latin typeface="Microsoft YaHei"/>
                <a:ea typeface="Microsoft YaHei"/>
              </a:rPr>
              <a:t>提出更有针对性的</a:t>
            </a:r>
            <a:r>
              <a:rPr lang="zh-CN" altLang="en-US" sz="2800" b="1" dirty="0">
                <a:solidFill>
                  <a:srgbClr val="004CA0"/>
                </a:solidFill>
                <a:latin typeface="Microsoft YaHei"/>
                <a:ea typeface="Microsoft YaHei"/>
              </a:rPr>
              <a:t>候选切入点。</a:t>
            </a:r>
          </a:p>
          <a:p>
            <a:endParaRPr lang="zh-CN" altLang="en-US" dirty="0"/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17A09F32-ECB6-B9EB-3F58-E108847D9D1F}"/>
              </a:ext>
            </a:extLst>
          </p:cNvPr>
          <p:cNvSpPr txBox="1"/>
          <p:nvPr/>
        </p:nvSpPr>
        <p:spPr>
          <a:xfrm>
            <a:off x="487834" y="2446733"/>
            <a:ext cx="6450805" cy="259763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30000"/>
              </a:lnSpc>
              <a:spcAft>
                <a:spcPts val="600"/>
              </a:spcAft>
            </a:pPr>
            <a:r>
              <a:rPr lang="zh-CN" altLang="en-US" sz="2400" b="1" dirty="0">
                <a:solidFill>
                  <a:srgbClr val="F58020"/>
                </a:solidFill>
                <a:latin typeface="Microsoft YaHei"/>
                <a:ea typeface="Microsoft YaHei"/>
              </a:rPr>
              <a:t>背景不足的指令：</a:t>
            </a:r>
          </a:p>
          <a:p>
            <a:pPr>
              <a:lnSpc>
                <a:spcPct val="130000"/>
              </a:lnSpc>
              <a:spcAft>
                <a:spcPts val="600"/>
              </a:spcAft>
            </a:pPr>
            <a:r>
              <a:rPr lang="en-US" altLang="zh-CN" sz="2400" dirty="0">
                <a:latin typeface="Consolas"/>
                <a:ea typeface="Consolas"/>
              </a:rPr>
              <a:t>"</a:t>
            </a:r>
            <a:r>
              <a:rPr lang="zh-CN" altLang="en-US" sz="2400" dirty="0">
                <a:latin typeface="Consolas"/>
                <a:ea typeface="Consolas"/>
              </a:rPr>
              <a:t>帮我拟几个关于人工智能的毕业论文题目</a:t>
            </a:r>
            <a:r>
              <a:rPr lang="en-US" altLang="zh-CN" sz="2400" dirty="0">
                <a:latin typeface="Consolas"/>
                <a:ea typeface="Consolas"/>
              </a:rPr>
              <a:t>"</a:t>
            </a:r>
          </a:p>
          <a:p>
            <a:pPr>
              <a:lnSpc>
                <a:spcPct val="130000"/>
              </a:lnSpc>
              <a:spcAft>
                <a:spcPts val="600"/>
              </a:spcAft>
            </a:pPr>
            <a:r>
              <a:rPr lang="zh-CN" altLang="en-US" sz="2400" dirty="0">
                <a:latin typeface="Microsoft YaHei"/>
                <a:ea typeface="Microsoft YaHei"/>
              </a:rPr>
              <a:t>→ </a:t>
            </a:r>
            <a:r>
              <a:rPr lang="en-US" altLang="zh-CN" sz="2400" dirty="0">
                <a:latin typeface="Microsoft YaHei"/>
                <a:ea typeface="Microsoft YaHei"/>
              </a:rPr>
              <a:t>"AI </a:t>
            </a:r>
            <a:r>
              <a:rPr lang="zh-CN" altLang="en-US" sz="2400" dirty="0">
                <a:latin typeface="Microsoft YaHei"/>
                <a:ea typeface="Microsoft YaHei"/>
              </a:rPr>
              <a:t>发展史研究</a:t>
            </a:r>
            <a:r>
              <a:rPr lang="en-US" altLang="zh-CN" sz="2400" dirty="0">
                <a:latin typeface="Microsoft YaHei"/>
                <a:ea typeface="Microsoft YaHei"/>
              </a:rPr>
              <a:t>" / "</a:t>
            </a:r>
            <a:r>
              <a:rPr lang="zh-CN" altLang="en-US" sz="2400" dirty="0">
                <a:latin typeface="Microsoft YaHei"/>
                <a:ea typeface="Microsoft YaHei"/>
              </a:rPr>
              <a:t>深度学习在医疗的应用</a:t>
            </a:r>
            <a:r>
              <a:rPr lang="en-US" altLang="zh-CN" sz="2400" dirty="0">
                <a:latin typeface="Microsoft YaHei"/>
                <a:ea typeface="Microsoft YaHei"/>
              </a:rPr>
              <a:t>"</a:t>
            </a:r>
          </a:p>
          <a:p>
            <a:pPr>
              <a:lnSpc>
                <a:spcPct val="130000"/>
              </a:lnSpc>
              <a:spcAft>
                <a:spcPts val="600"/>
              </a:spcAft>
            </a:pPr>
            <a:r>
              <a:rPr lang="en-US" altLang="zh-CN" sz="2400" dirty="0">
                <a:latin typeface="Microsoft YaHei"/>
                <a:ea typeface="Microsoft YaHei"/>
              </a:rPr>
              <a:t>这些方</a:t>
            </a:r>
            <a:r>
              <a:rPr lang="zh-CN" altLang="en-US" sz="2400" dirty="0">
                <a:latin typeface="Microsoft YaHei"/>
                <a:ea typeface="Microsoft YaHei"/>
              </a:rPr>
              <a:t>向较宽泛，尚不能直接作为研究问题。</a:t>
            </a:r>
            <a:endParaRPr lang="zh-CN" altLang="en-US" sz="1400" dirty="0">
              <a:latin typeface="Microsoft YaHei"/>
              <a:ea typeface="Microsoft YaHei"/>
            </a:endParaRPr>
          </a:p>
          <a:p>
            <a:endParaRPr lang="zh-CN" altLang="en-US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8BC502-4185-1DDF-E7E7-ED699F0ADA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yzu_logo.png">
            <a:extLst>
              <a:ext uri="{FF2B5EF4-FFF2-40B4-BE49-F238E27FC236}">
                <a16:creationId xmlns:a16="http://schemas.microsoft.com/office/drawing/2014/main" id="{9FF79EE8-DC79-D579-13A4-341C99EF0AE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17175" y="246888"/>
            <a:ext cx="1691640" cy="548640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FFDAB97A-0E54-D56A-2B9C-BC500AAA1AF1}"/>
              </a:ext>
            </a:extLst>
          </p:cNvPr>
          <p:cNvSpPr/>
          <p:nvPr/>
        </p:nvSpPr>
        <p:spPr>
          <a:xfrm>
            <a:off x="0" y="274320"/>
            <a:ext cx="960120" cy="502920"/>
          </a:xfrm>
          <a:prstGeom prst="rect">
            <a:avLst/>
          </a:prstGeom>
          <a:solidFill>
            <a:srgbClr val="006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27DE6BA-70F4-0E64-B519-09B6518DCFCE}"/>
              </a:ext>
            </a:extLst>
          </p:cNvPr>
          <p:cNvSpPr txBox="1"/>
          <p:nvPr/>
        </p:nvSpPr>
        <p:spPr>
          <a:xfrm>
            <a:off x="45720" y="341114"/>
            <a:ext cx="914400" cy="3693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400" b="1" i="0" dirty="0">
                <a:solidFill>
                  <a:srgbClr val="FFFFFF"/>
                </a:solidFill>
                <a:latin typeface="Microsoft YaHei"/>
                <a:ea typeface="Microsoft YaHei"/>
              </a:rPr>
              <a:t>2.1.3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AE18924-17A4-E833-E26F-14E6B8BE7292}"/>
              </a:ext>
            </a:extLst>
          </p:cNvPr>
          <p:cNvSpPr/>
          <p:nvPr/>
        </p:nvSpPr>
        <p:spPr>
          <a:xfrm>
            <a:off x="960120" y="274320"/>
            <a:ext cx="9052560" cy="502920"/>
          </a:xfrm>
          <a:prstGeom prst="rect">
            <a:avLst/>
          </a:prstGeom>
          <a:solidFill>
            <a:srgbClr val="3A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68C5303-41AC-A8C7-1BEC-2C3006D4310E}"/>
              </a:ext>
            </a:extLst>
          </p:cNvPr>
          <p:cNvSpPr txBox="1"/>
          <p:nvPr/>
        </p:nvSpPr>
        <p:spPr>
          <a:xfrm>
            <a:off x="1234440" y="341114"/>
            <a:ext cx="8686800" cy="3693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400" b="1" i="0" dirty="0">
                <a:solidFill>
                  <a:srgbClr val="FFFFFF"/>
                </a:solidFill>
                <a:latin typeface="Microsoft YaHei"/>
                <a:ea typeface="Microsoft YaHei"/>
              </a:rPr>
              <a:t>①</a:t>
            </a:r>
            <a:r>
              <a:rPr sz="2400" b="1" i="0" dirty="0" err="1">
                <a:solidFill>
                  <a:srgbClr val="FFFFFF"/>
                </a:solidFill>
                <a:latin typeface="Microsoft YaHei"/>
                <a:ea typeface="Microsoft YaHei"/>
              </a:rPr>
              <a:t> </a:t>
            </a:r>
            <a:r>
              <a:rPr sz="2400" b="1" i="0" dirty="0">
                <a:solidFill>
                  <a:srgbClr val="FFFFFF"/>
                </a:solidFill>
                <a:latin typeface="Microsoft YaHei"/>
                <a:ea typeface="Microsoft YaHei"/>
              </a:rPr>
              <a:t>背景：提供与任务</a:t>
            </a:r>
            <a:r>
              <a:rPr sz="2400" b="1" i="0" dirty="0" err="1">
                <a:solidFill>
                  <a:srgbClr val="FFFFFF"/>
                </a:solidFill>
                <a:latin typeface="Microsoft YaHei"/>
                <a:ea typeface="Microsoft YaHei"/>
              </a:rPr>
              <a:t>相关的资料</a:t>
            </a:r>
            <a:endParaRPr sz="2400" b="1" i="0" dirty="0">
              <a:solidFill>
                <a:srgbClr val="FFFFFF"/>
              </a:solidFill>
              <a:latin typeface="Microsoft YaHei"/>
              <a:ea typeface="Microsoft YaHei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028F859-5079-DF07-AC5E-B9E6FECD1748}"/>
              </a:ext>
            </a:extLst>
          </p:cNvPr>
          <p:cNvSpPr txBox="1"/>
          <p:nvPr/>
        </p:nvSpPr>
        <p:spPr>
          <a:xfrm>
            <a:off x="3934452" y="5672441"/>
            <a:ext cx="4297680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b="0" dirty="0">
                <a:solidFill>
                  <a:srgbClr val="333333"/>
                </a:solidFill>
                <a:latin typeface="Microsoft YaHei"/>
                <a:ea typeface="Microsoft YaHei"/>
              </a:rPr>
              <a:t>图 2-2  </a:t>
            </a:r>
            <a:r>
              <a:rPr b="0" dirty="0" err="1">
                <a:solidFill>
                  <a:srgbClr val="333333"/>
                </a:solidFill>
                <a:latin typeface="Microsoft YaHei"/>
                <a:ea typeface="Microsoft YaHei"/>
              </a:rPr>
              <a:t>提供正确的上下文的重要性</a:t>
            </a:r>
            <a:endParaRPr b="0" dirty="0">
              <a:solidFill>
                <a:srgbClr val="333333"/>
              </a:solidFill>
              <a:latin typeface="Microsoft YaHei"/>
              <a:ea typeface="Microsoft YaHei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DC47D6D-D28C-D2DF-85A3-59F2B630637E}"/>
              </a:ext>
            </a:extLst>
          </p:cNvPr>
          <p:cNvSpPr txBox="1"/>
          <p:nvPr/>
        </p:nvSpPr>
        <p:spPr>
          <a:xfrm>
            <a:off x="11094415" y="6446520"/>
            <a:ext cx="914400" cy="320040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pPr algn="r"/>
            <a:r>
              <a:rPr sz="1100">
                <a:solidFill>
                  <a:srgbClr val="999999"/>
                </a:solidFill>
                <a:latin typeface="Arial"/>
              </a:rPr>
              <a:t>14 / 50</a:t>
            </a:r>
          </a:p>
        </p:txBody>
      </p:sp>
      <p:pic>
        <p:nvPicPr>
          <p:cNvPr id="13" name="内容占位符 22">
            <a:extLst>
              <a:ext uri="{FF2B5EF4-FFF2-40B4-BE49-F238E27FC236}">
                <a16:creationId xmlns:a16="http://schemas.microsoft.com/office/drawing/2014/main" id="{E50A0C53-3DEF-4795-9FF5-C3A062D5D8AF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378" r="22260"/>
          <a:stretch>
            <a:fillRect/>
          </a:stretch>
        </p:blipFill>
        <p:spPr>
          <a:xfrm>
            <a:off x="2129953" y="4301966"/>
            <a:ext cx="758434" cy="736610"/>
          </a:xfrm>
          <a:prstGeom prst="rect">
            <a:avLst/>
          </a:prstGeom>
        </p:spPr>
      </p:pic>
      <p:sp>
        <p:nvSpPr>
          <p:cNvPr id="14" name="矩形: 圆角 13">
            <a:extLst>
              <a:ext uri="{FF2B5EF4-FFF2-40B4-BE49-F238E27FC236}">
                <a16:creationId xmlns:a16="http://schemas.microsoft.com/office/drawing/2014/main" id="{93CF3CA0-897D-4567-8548-807F0264346D}"/>
              </a:ext>
            </a:extLst>
          </p:cNvPr>
          <p:cNvSpPr/>
          <p:nvPr/>
        </p:nvSpPr>
        <p:spPr>
          <a:xfrm>
            <a:off x="1636542" y="900728"/>
            <a:ext cx="4153884" cy="949246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提问</a:t>
            </a:r>
            <a:r>
              <a:rPr lang="zh-CN" altLang="en-US" sz="2000" b="1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较笼统</a:t>
            </a:r>
            <a:endParaRPr lang="en-US" altLang="zh-CN" sz="2000" b="1" dirty="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ctr"/>
            <a:r>
              <a:rPr lang="zh-CN" altLang="en-US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特点：只给简短要求，未提</a:t>
            </a:r>
            <a:r>
              <a:rPr lang="en-US" altLang="zh-CN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供</a:t>
            </a:r>
            <a:r>
              <a:rPr lang="zh-CN" altLang="en-US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工作资料。</a:t>
            </a:r>
          </a:p>
        </p:txBody>
      </p:sp>
      <p:cxnSp>
        <p:nvCxnSpPr>
          <p:cNvPr id="15" name="直接连接符 14">
            <a:extLst>
              <a:ext uri="{FF2B5EF4-FFF2-40B4-BE49-F238E27FC236}">
                <a16:creationId xmlns:a16="http://schemas.microsoft.com/office/drawing/2014/main" id="{BFD56BC4-CA60-4BAF-89EA-7E33ED6ABB37}"/>
              </a:ext>
            </a:extLst>
          </p:cNvPr>
          <p:cNvCxnSpPr/>
          <p:nvPr/>
        </p:nvCxnSpPr>
        <p:spPr>
          <a:xfrm>
            <a:off x="6083292" y="918971"/>
            <a:ext cx="36154" cy="4119605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16" name="图片 15">
            <a:extLst>
              <a:ext uri="{FF2B5EF4-FFF2-40B4-BE49-F238E27FC236}">
                <a16:creationId xmlns:a16="http://schemas.microsoft.com/office/drawing/2014/main" id="{B2C74391-67FB-4F30-9E34-1D516E09364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22062" y="2121865"/>
            <a:ext cx="547307" cy="540868"/>
          </a:xfrm>
          <a:prstGeom prst="rect">
            <a:avLst/>
          </a:prstGeom>
        </p:spPr>
      </p:pic>
      <p:sp>
        <p:nvSpPr>
          <p:cNvPr id="17" name="矩形: 圆角 16">
            <a:extLst>
              <a:ext uri="{FF2B5EF4-FFF2-40B4-BE49-F238E27FC236}">
                <a16:creationId xmlns:a16="http://schemas.microsoft.com/office/drawing/2014/main" id="{BDD497A8-B54D-499B-A97D-2029445B3B34}"/>
              </a:ext>
            </a:extLst>
          </p:cNvPr>
          <p:cNvSpPr/>
          <p:nvPr/>
        </p:nvSpPr>
        <p:spPr>
          <a:xfrm>
            <a:off x="1980236" y="2121865"/>
            <a:ext cx="3189426" cy="648250"/>
          </a:xfrm>
          <a:prstGeom prst="round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just"/>
            <a:r>
              <a:rPr lang="en-US" altLang="zh-CN" sz="1600" dirty="0">
                <a:latin typeface="宋体" panose="02010600030101010101" pitchFamily="2" charset="-122"/>
                <a:ea typeface="宋体" panose="02010600030101010101" pitchFamily="2" charset="-122"/>
              </a:rPr>
              <a:t>“</a:t>
            </a:r>
            <a:r>
              <a:rPr lang="zh-CN" altLang="zh-CN" sz="1600" dirty="0">
                <a:latin typeface="宋体" panose="02010600030101010101" pitchFamily="2" charset="-122"/>
                <a:ea typeface="宋体" panose="02010600030101010101" pitchFamily="2" charset="-122"/>
              </a:rPr>
              <a:t>请写一份出色的自我年终总结，我要发给我的老板。</a:t>
            </a:r>
            <a:r>
              <a:rPr lang="en-US" altLang="zh-CN" sz="1600" dirty="0">
                <a:latin typeface="宋体" panose="02010600030101010101" pitchFamily="2" charset="-122"/>
                <a:ea typeface="宋体" panose="02010600030101010101" pitchFamily="2" charset="-122"/>
              </a:rPr>
              <a:t>”</a:t>
            </a:r>
            <a:endParaRPr lang="zh-CN" altLang="en-US" sz="1600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pic>
        <p:nvPicPr>
          <p:cNvPr id="18" name="图片 17">
            <a:extLst>
              <a:ext uri="{FF2B5EF4-FFF2-40B4-BE49-F238E27FC236}">
                <a16:creationId xmlns:a16="http://schemas.microsoft.com/office/drawing/2014/main" id="{547A62F2-6450-44AB-919F-A1A60309180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413499" y="3024187"/>
            <a:ext cx="536007" cy="523685"/>
          </a:xfrm>
          <a:prstGeom prst="rect">
            <a:avLst/>
          </a:prstGeom>
        </p:spPr>
      </p:pic>
      <p:sp>
        <p:nvSpPr>
          <p:cNvPr id="19" name="矩形: 圆角 18">
            <a:extLst>
              <a:ext uri="{FF2B5EF4-FFF2-40B4-BE49-F238E27FC236}">
                <a16:creationId xmlns:a16="http://schemas.microsoft.com/office/drawing/2014/main" id="{92A5C696-2BD3-4A1C-8B30-E30929E5C84E}"/>
              </a:ext>
            </a:extLst>
          </p:cNvPr>
          <p:cNvSpPr/>
          <p:nvPr/>
        </p:nvSpPr>
        <p:spPr>
          <a:xfrm>
            <a:off x="1980235" y="3024187"/>
            <a:ext cx="3810191" cy="991858"/>
          </a:xfrm>
          <a:prstGeom prst="roundRect">
            <a:avLst/>
          </a:prstGeom>
          <a:solidFill>
            <a:schemeClr val="bg1"/>
          </a:solidFill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just"/>
            <a:r>
              <a:rPr lang="en-US" altLang="zh-CN" sz="1600" dirty="0">
                <a:latin typeface="宋体" panose="02010600030101010101" pitchFamily="2" charset="-122"/>
                <a:ea typeface="宋体" panose="02010600030101010101" pitchFamily="2" charset="-122"/>
              </a:rPr>
              <a:t>“</a:t>
            </a:r>
            <a:r>
              <a:rPr lang="zh-CN" altLang="zh-CN" sz="1600" dirty="0">
                <a:latin typeface="宋体" panose="02010600030101010101" pitchFamily="2" charset="-122"/>
                <a:ea typeface="宋体" panose="02010600030101010101" pitchFamily="2" charset="-122"/>
              </a:rPr>
              <a:t>这一年，我认真完成工作任务，积极参与团队合作，并持续提升自己的能力…</a:t>
            </a:r>
            <a:r>
              <a:rPr lang="en-US" altLang="zh-CN" sz="1600" dirty="0">
                <a:latin typeface="宋体" panose="02010600030101010101" pitchFamily="2" charset="-122"/>
                <a:ea typeface="宋体" panose="02010600030101010101" pitchFamily="2" charset="-122"/>
              </a:rPr>
              <a:t>…”</a:t>
            </a:r>
            <a:endParaRPr lang="zh-CN" altLang="zh-CN" sz="1600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20" name="思想气泡: 云 19">
            <a:extLst>
              <a:ext uri="{FF2B5EF4-FFF2-40B4-BE49-F238E27FC236}">
                <a16:creationId xmlns:a16="http://schemas.microsoft.com/office/drawing/2014/main" id="{98D9CFD1-88CF-46F3-B99A-5A3D17B751F8}"/>
              </a:ext>
            </a:extLst>
          </p:cNvPr>
          <p:cNvSpPr/>
          <p:nvPr/>
        </p:nvSpPr>
        <p:spPr>
          <a:xfrm>
            <a:off x="3254901" y="4172915"/>
            <a:ext cx="2416258" cy="880301"/>
          </a:xfrm>
          <a:prstGeom prst="cloudCallout">
            <a:avLst>
              <a:gd name="adj1" fmla="val -62779"/>
              <a:gd name="adj2" fmla="val -19301"/>
            </a:avLst>
          </a:prstGeom>
          <a:solidFill>
            <a:schemeClr val="bg1"/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“</a:t>
            </a:r>
            <a:r>
              <a:rPr lang="zh-CN" altLang="zh-CN" sz="1400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这根本没有反映出我实际的工作内容</a:t>
            </a:r>
            <a:r>
              <a:rPr lang="en-US" altLang="zh-CN" sz="1400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……”</a:t>
            </a:r>
            <a:endParaRPr lang="zh-CN" altLang="zh-CN" sz="1400" dirty="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21" name="矩形: 圆角 20">
            <a:extLst>
              <a:ext uri="{FF2B5EF4-FFF2-40B4-BE49-F238E27FC236}">
                <a16:creationId xmlns:a16="http://schemas.microsoft.com/office/drawing/2014/main" id="{A439B20C-C352-4406-9C64-3A12272EB307}"/>
              </a:ext>
            </a:extLst>
          </p:cNvPr>
          <p:cNvSpPr/>
          <p:nvPr/>
        </p:nvSpPr>
        <p:spPr>
          <a:xfrm>
            <a:off x="6396487" y="918971"/>
            <a:ext cx="4447032" cy="912760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要求</a:t>
            </a:r>
            <a:r>
              <a:rPr lang="zh-CN" altLang="en-US" sz="2000" b="1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更明确</a:t>
            </a:r>
            <a:endParaRPr lang="en-US" altLang="zh-CN" sz="2000" b="1" dirty="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ctr"/>
            <a:r>
              <a:rPr lang="zh-CN" altLang="en-US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特点：补充</a:t>
            </a:r>
            <a:r>
              <a:rPr lang="zh-CN" altLang="zh-CN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项目资料和具体工作内容</a:t>
            </a:r>
            <a:r>
              <a:rPr lang="zh-CN" altLang="en-US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。</a:t>
            </a:r>
          </a:p>
        </p:txBody>
      </p:sp>
      <p:pic>
        <p:nvPicPr>
          <p:cNvPr id="22" name="图片 21">
            <a:extLst>
              <a:ext uri="{FF2B5EF4-FFF2-40B4-BE49-F238E27FC236}">
                <a16:creationId xmlns:a16="http://schemas.microsoft.com/office/drawing/2014/main" id="{E51400F9-7D23-407A-850B-D487B178CB9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63174" y="3080062"/>
            <a:ext cx="547307" cy="540868"/>
          </a:xfrm>
          <a:prstGeom prst="rect">
            <a:avLst/>
          </a:prstGeom>
        </p:spPr>
      </p:pic>
      <p:sp>
        <p:nvSpPr>
          <p:cNvPr id="23" name="矩形: 圆角 22">
            <a:extLst>
              <a:ext uri="{FF2B5EF4-FFF2-40B4-BE49-F238E27FC236}">
                <a16:creationId xmlns:a16="http://schemas.microsoft.com/office/drawing/2014/main" id="{CA433B4B-74D9-4F5A-8568-70C59792159A}"/>
              </a:ext>
            </a:extLst>
          </p:cNvPr>
          <p:cNvSpPr/>
          <p:nvPr/>
        </p:nvSpPr>
        <p:spPr>
          <a:xfrm>
            <a:off x="6361738" y="3197102"/>
            <a:ext cx="3749036" cy="648250"/>
          </a:xfrm>
          <a:prstGeom prst="round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just"/>
            <a:r>
              <a:rPr lang="zh-CN" altLang="en-US" sz="1600" dirty="0">
                <a:latin typeface="宋体" panose="02010600030101010101" pitchFamily="2" charset="-122"/>
                <a:ea typeface="宋体" panose="02010600030101010101" pitchFamily="2" charset="-122"/>
              </a:rPr>
              <a:t>“</a:t>
            </a:r>
            <a:r>
              <a:rPr lang="zh-CN" altLang="zh-CN" sz="1600" dirty="0">
                <a:latin typeface="宋体" panose="02010600030101010101" pitchFamily="2" charset="-122"/>
                <a:ea typeface="宋体" panose="02010600030101010101" pitchFamily="2" charset="-122"/>
              </a:rPr>
              <a:t>帮我写一份发给老板的自我年终总结。以上是我最近做过的工作资料</a:t>
            </a:r>
            <a:r>
              <a:rPr lang="en-US" altLang="zh-CN" sz="1600" dirty="0">
                <a:latin typeface="宋体" panose="02010600030101010101" pitchFamily="2" charset="-122"/>
                <a:ea typeface="宋体" panose="02010600030101010101" pitchFamily="2" charset="-122"/>
              </a:rPr>
              <a:t>……</a:t>
            </a:r>
            <a:r>
              <a:rPr lang="zh-CN" altLang="en-US" sz="1600" dirty="0">
                <a:latin typeface="宋体" panose="02010600030101010101" pitchFamily="2" charset="-122"/>
                <a:ea typeface="宋体" panose="02010600030101010101" pitchFamily="2" charset="-122"/>
              </a:rPr>
              <a:t>”</a:t>
            </a:r>
          </a:p>
        </p:txBody>
      </p:sp>
      <p:pic>
        <p:nvPicPr>
          <p:cNvPr id="24" name="图片 23">
            <a:extLst>
              <a:ext uri="{FF2B5EF4-FFF2-40B4-BE49-F238E27FC236}">
                <a16:creationId xmlns:a16="http://schemas.microsoft.com/office/drawing/2014/main" id="{E78121BD-0BA7-45BF-AFFB-7D5562F15B47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03709" y="4003584"/>
            <a:ext cx="829034" cy="838618"/>
          </a:xfrm>
          <a:prstGeom prst="rect">
            <a:avLst/>
          </a:prstGeom>
        </p:spPr>
      </p:pic>
      <p:sp>
        <p:nvSpPr>
          <p:cNvPr id="25" name="思想气泡: 云 24">
            <a:extLst>
              <a:ext uri="{FF2B5EF4-FFF2-40B4-BE49-F238E27FC236}">
                <a16:creationId xmlns:a16="http://schemas.microsoft.com/office/drawing/2014/main" id="{F757F45D-8E5A-487E-9CB2-02DADAFD2153}"/>
              </a:ext>
            </a:extLst>
          </p:cNvPr>
          <p:cNvSpPr/>
          <p:nvPr/>
        </p:nvSpPr>
        <p:spPr>
          <a:xfrm>
            <a:off x="6511456" y="4090951"/>
            <a:ext cx="3071983" cy="853924"/>
          </a:xfrm>
          <a:prstGeom prst="cloudCallout">
            <a:avLst>
              <a:gd name="adj1" fmla="val 64241"/>
              <a:gd name="adj2" fmla="val -30822"/>
            </a:avLst>
          </a:prstGeom>
          <a:solidFill>
            <a:schemeClr val="bg1"/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“这份总结更贴近实际工作，还需核对成果与数据。”</a:t>
            </a:r>
            <a:endParaRPr lang="zh-CN" altLang="zh-CN" sz="1400" dirty="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38FCC0D3-9B2E-4EE6-944B-1BC1939B1103}"/>
              </a:ext>
            </a:extLst>
          </p:cNvPr>
          <p:cNvSpPr txBox="1"/>
          <p:nvPr/>
        </p:nvSpPr>
        <p:spPr>
          <a:xfrm>
            <a:off x="9526814" y="1951205"/>
            <a:ext cx="163534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dirty="0">
                <a:latin typeface="宋体" panose="02010600030101010101" pitchFamily="2" charset="-122"/>
                <a:ea typeface="宋体" panose="02010600030101010101" pitchFamily="2" charset="-122"/>
              </a:rPr>
              <a:t>项目文档</a:t>
            </a:r>
            <a:r>
              <a:rPr lang="zh-CN" altLang="zh-CN" sz="1600" dirty="0">
                <a:latin typeface="宋体" panose="02010600030101010101" pitchFamily="2" charset="-122"/>
                <a:ea typeface="宋体" panose="02010600030101010101" pitchFamily="2" charset="-122"/>
              </a:rPr>
              <a:t>、</a:t>
            </a:r>
            <a:r>
              <a:rPr lang="zh-CN" altLang="en-US" sz="1600" dirty="0">
                <a:latin typeface="宋体" panose="02010600030101010101" pitchFamily="2" charset="-122"/>
                <a:ea typeface="宋体" panose="02010600030101010101" pitchFamily="2" charset="-122"/>
              </a:rPr>
              <a:t>个人工作记</a:t>
            </a:r>
            <a:r>
              <a:rPr lang="zh-CN" altLang="zh-CN" sz="1600" dirty="0">
                <a:latin typeface="宋体" panose="02010600030101010101" pitchFamily="2" charset="-122"/>
                <a:ea typeface="宋体" panose="02010600030101010101" pitchFamily="2" charset="-122"/>
              </a:rPr>
              <a:t>录</a:t>
            </a:r>
            <a:r>
              <a:rPr lang="zh-CN" altLang="en-US" sz="1600" dirty="0">
                <a:latin typeface="宋体" panose="02010600030101010101" pitchFamily="2" charset="-122"/>
                <a:ea typeface="宋体" panose="02010600030101010101" pitchFamily="2" charset="-122"/>
              </a:rPr>
              <a:t>等</a:t>
            </a:r>
          </a:p>
        </p:txBody>
      </p:sp>
      <p:sp>
        <p:nvSpPr>
          <p:cNvPr id="27" name="矩形: 圆角 12">
            <a:extLst>
              <a:ext uri="{FF2B5EF4-FFF2-40B4-BE49-F238E27FC236}">
                <a16:creationId xmlns:a16="http://schemas.microsoft.com/office/drawing/2014/main" id="{3E5D6347-8602-45C6-88B7-774E7D472793}"/>
              </a:ext>
            </a:extLst>
          </p:cNvPr>
          <p:cNvSpPr/>
          <p:nvPr/>
        </p:nvSpPr>
        <p:spPr>
          <a:xfrm>
            <a:off x="7168462" y="2249353"/>
            <a:ext cx="1796586" cy="406141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pic>
        <p:nvPicPr>
          <p:cNvPr id="28" name="图片 27">
            <a:extLst>
              <a:ext uri="{FF2B5EF4-FFF2-40B4-BE49-F238E27FC236}">
                <a16:creationId xmlns:a16="http://schemas.microsoft.com/office/drawing/2014/main" id="{DAD07C0D-05EC-4867-87D7-8C4FA4563184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53452" y="2258145"/>
            <a:ext cx="1609524" cy="380952"/>
          </a:xfrm>
          <a:prstGeom prst="rect">
            <a:avLst/>
          </a:prstGeom>
        </p:spPr>
      </p:pic>
      <p:sp>
        <p:nvSpPr>
          <p:cNvPr id="29" name="下箭头 2">
            <a:extLst>
              <a:ext uri="{FF2B5EF4-FFF2-40B4-BE49-F238E27FC236}">
                <a16:creationId xmlns:a16="http://schemas.microsoft.com/office/drawing/2014/main" id="{CC231B48-2BE3-4B04-9531-81400EA4968E}"/>
              </a:ext>
            </a:extLst>
          </p:cNvPr>
          <p:cNvSpPr/>
          <p:nvPr/>
        </p:nvSpPr>
        <p:spPr>
          <a:xfrm>
            <a:off x="7991276" y="2792822"/>
            <a:ext cx="400068" cy="317361"/>
          </a:xfrm>
          <a:prstGeom prst="downArrow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cxnSp>
        <p:nvCxnSpPr>
          <p:cNvPr id="30" name="直接箭头连接符 29">
            <a:extLst>
              <a:ext uri="{FF2B5EF4-FFF2-40B4-BE49-F238E27FC236}">
                <a16:creationId xmlns:a16="http://schemas.microsoft.com/office/drawing/2014/main" id="{52DD2BC5-7E37-4491-9DE5-AFB17F094B94}"/>
              </a:ext>
            </a:extLst>
          </p:cNvPr>
          <p:cNvCxnSpPr/>
          <p:nvPr/>
        </p:nvCxnSpPr>
        <p:spPr>
          <a:xfrm flipH="1">
            <a:off x="9050038" y="2270386"/>
            <a:ext cx="366525" cy="19966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2471341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yzu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17175" y="246888"/>
            <a:ext cx="1691640" cy="54864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274320"/>
            <a:ext cx="960120" cy="502920"/>
          </a:xfrm>
          <a:prstGeom prst="rect">
            <a:avLst/>
          </a:prstGeom>
          <a:solidFill>
            <a:srgbClr val="006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" y="341114"/>
            <a:ext cx="914400" cy="3693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400" b="1" i="0" dirty="0">
                <a:solidFill>
                  <a:srgbClr val="FFFFFF"/>
                </a:solidFill>
                <a:latin typeface="Microsoft YaHei"/>
                <a:ea typeface="Microsoft YaHei"/>
              </a:rPr>
              <a:t>2.1.3</a:t>
            </a:r>
          </a:p>
        </p:txBody>
      </p:sp>
      <p:sp>
        <p:nvSpPr>
          <p:cNvPr id="6" name="Rectangle 5"/>
          <p:cNvSpPr/>
          <p:nvPr/>
        </p:nvSpPr>
        <p:spPr>
          <a:xfrm>
            <a:off x="960120" y="274320"/>
            <a:ext cx="9052560" cy="502920"/>
          </a:xfrm>
          <a:prstGeom prst="rect">
            <a:avLst/>
          </a:prstGeom>
          <a:solidFill>
            <a:srgbClr val="3A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234440" y="341114"/>
            <a:ext cx="8686800" cy="3693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400" b="1" i="0" dirty="0">
                <a:solidFill>
                  <a:srgbClr val="FFFFFF"/>
                </a:solidFill>
                <a:latin typeface="Microsoft YaHei"/>
                <a:ea typeface="Microsoft YaHei"/>
              </a:rPr>
              <a:t>②</a:t>
            </a:r>
            <a:r>
              <a:rPr sz="2400" b="1" i="0" dirty="0" err="1">
                <a:solidFill>
                  <a:srgbClr val="FFFFFF"/>
                </a:solidFill>
                <a:latin typeface="Microsoft YaHei"/>
                <a:ea typeface="Microsoft YaHei"/>
              </a:rPr>
              <a:t> </a:t>
            </a:r>
            <a:r>
              <a:rPr sz="2400" b="1" i="0" dirty="0">
                <a:solidFill>
                  <a:srgbClr val="FFFFFF"/>
                </a:solidFill>
                <a:latin typeface="Microsoft YaHei"/>
                <a:ea typeface="Microsoft YaHei"/>
              </a:rPr>
              <a:t>任务：分步</a:t>
            </a:r>
            <a:r>
              <a:rPr sz="2400" b="1" i="0" dirty="0" err="1">
                <a:solidFill>
                  <a:srgbClr val="FFFFFF"/>
                </a:solidFill>
                <a:latin typeface="Microsoft YaHei"/>
                <a:ea typeface="Microsoft YaHei"/>
              </a:rPr>
              <a:t>完成写作</a:t>
            </a:r>
            <a:endParaRPr sz="2400" b="1" i="0" dirty="0">
              <a:solidFill>
                <a:srgbClr val="FFFFFF"/>
              </a:solidFill>
              <a:latin typeface="Microsoft YaHei"/>
              <a:ea typeface="Microsoft YaHei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960120" y="897665"/>
            <a:ext cx="8345245" cy="5159609"/>
          </a:xfrm>
          <a:prstGeom prst="rect">
            <a:avLst/>
          </a:prstGeom>
          <a:noFill/>
        </p:spPr>
        <p:txBody>
          <a:bodyPr wrap="square" lIns="36000" tIns="36000" rIns="36000" bIns="36000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2400" b="1" dirty="0">
                <a:solidFill>
                  <a:srgbClr val="F58020"/>
                </a:solidFill>
                <a:latin typeface="Microsoft YaHei"/>
                <a:ea typeface="Microsoft YaHei"/>
              </a:rPr>
              <a:t>✗ </a:t>
            </a:r>
            <a:r>
              <a:rPr sz="2400" b="1" dirty="0" err="1">
                <a:solidFill>
                  <a:srgbClr val="F58020"/>
                </a:solidFill>
                <a:latin typeface="Microsoft YaHei"/>
                <a:ea typeface="Microsoft YaHei"/>
              </a:rPr>
              <a:t>一步到位</a:t>
            </a:r>
            <a:r>
              <a:rPr sz="2200" b="1" dirty="0">
                <a:solidFill>
                  <a:srgbClr val="F58020"/>
                </a:solidFill>
                <a:latin typeface="Microsoft YaHei"/>
                <a:ea typeface="Microsoft YaHei"/>
              </a:rPr>
              <a:t>：</a:t>
            </a:r>
            <a:r>
              <a:rPr sz="2400" b="1" dirty="0">
                <a:solidFill>
                  <a:srgbClr val="F58020"/>
                </a:solidFill>
                <a:latin typeface="Consolas"/>
                <a:ea typeface="Consolas"/>
              </a:rPr>
              <a:t>"</a:t>
            </a:r>
            <a:r>
              <a:rPr sz="2400" b="1" dirty="0" err="1">
                <a:solidFill>
                  <a:srgbClr val="F58020"/>
                </a:solidFill>
                <a:latin typeface="Consolas"/>
                <a:ea typeface="Consolas"/>
              </a:rPr>
              <a:t>帮我写一篇</a:t>
            </a:r>
            <a:r>
              <a:rPr sz="2400" b="1" dirty="0">
                <a:solidFill>
                  <a:srgbClr val="F58020"/>
                </a:solidFill>
                <a:latin typeface="Consolas"/>
                <a:ea typeface="Consolas"/>
              </a:rPr>
              <a:t> XX </a:t>
            </a:r>
            <a:r>
              <a:rPr sz="2400" b="1" dirty="0" err="1">
                <a:solidFill>
                  <a:srgbClr val="F58020"/>
                </a:solidFill>
                <a:latin typeface="Consolas"/>
                <a:ea typeface="Consolas"/>
              </a:rPr>
              <a:t>领域的文献综述</a:t>
            </a:r>
            <a:r>
              <a:rPr sz="2400" b="1" dirty="0">
                <a:solidFill>
                  <a:srgbClr val="F58020"/>
                </a:solidFill>
                <a:latin typeface="Consolas"/>
                <a:ea typeface="Consolas"/>
              </a:rPr>
              <a:t>"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2400" b="0" dirty="0">
                <a:solidFill>
                  <a:srgbClr val="333333"/>
                </a:solidFill>
                <a:latin typeface="Microsoft YaHei"/>
                <a:ea typeface="Microsoft YaHei"/>
              </a:rPr>
              <a:t>缺少</a:t>
            </a:r>
            <a:r>
              <a:rPr sz="2400" b="0" dirty="0" err="1">
                <a:solidFill>
                  <a:srgbClr val="333333"/>
                </a:solidFill>
                <a:latin typeface="Microsoft YaHei"/>
                <a:ea typeface="Microsoft YaHei"/>
              </a:rPr>
              <a:t>资料和要求时，</a:t>
            </a:r>
            <a:r>
              <a:rPr sz="2400" dirty="0" err="1">
                <a:solidFill>
                  <a:srgbClr val="333333"/>
                </a:solidFill>
                <a:latin typeface="Microsoft YaHei"/>
                <a:ea typeface="Microsoft YaHei"/>
              </a:rPr>
              <a:t>结</a:t>
            </a:r>
            <a:r>
              <a:rPr sz="2400" dirty="0">
                <a:solidFill>
                  <a:srgbClr val="333333"/>
                </a:solidFill>
                <a:latin typeface="Microsoft YaHei"/>
                <a:ea typeface="Microsoft YaHei"/>
              </a:rPr>
              <a:t>果可能空泛</a:t>
            </a:r>
            <a:r>
              <a:rPr sz="2400" dirty="0" err="1">
                <a:solidFill>
                  <a:srgbClr val="333333"/>
                </a:solidFill>
                <a:latin typeface="Microsoft YaHei"/>
                <a:ea typeface="Microsoft YaHei"/>
              </a:rPr>
              <a:t>或重</a:t>
            </a:r>
            <a:r>
              <a:rPr sz="2400" dirty="0">
                <a:solidFill>
                  <a:srgbClr val="333333"/>
                </a:solidFill>
                <a:latin typeface="Microsoft YaHei"/>
                <a:ea typeface="Microsoft YaHei"/>
              </a:rPr>
              <a:t>复。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2400" b="1" dirty="0">
                <a:solidFill>
                  <a:srgbClr val="0066CC"/>
                </a:solidFill>
                <a:latin typeface="Microsoft YaHei"/>
                <a:ea typeface="Microsoft YaHei"/>
              </a:rPr>
              <a:t>分</a:t>
            </a:r>
            <a:r>
              <a:rPr sz="2400" b="1" dirty="0" err="1">
                <a:solidFill>
                  <a:srgbClr val="0066CC"/>
                </a:solidFill>
                <a:latin typeface="Microsoft YaHei"/>
                <a:ea typeface="Microsoft YaHei"/>
              </a:rPr>
              <a:t>步写作</a:t>
            </a:r>
            <a:r>
              <a:rPr sz="2400" b="1" dirty="0">
                <a:solidFill>
                  <a:srgbClr val="0066CC"/>
                </a:solidFill>
                <a:latin typeface="Microsoft YaHei"/>
                <a:ea typeface="Microsoft YaHei"/>
              </a:rPr>
              <a:t>示</a:t>
            </a:r>
            <a:r>
              <a:rPr sz="2400" b="1" dirty="0" err="1">
                <a:solidFill>
                  <a:srgbClr val="0066CC"/>
                </a:solidFill>
                <a:latin typeface="Microsoft YaHei"/>
                <a:ea typeface="Microsoft YaHei"/>
              </a:rPr>
              <a:t>例</a:t>
            </a:r>
            <a:r>
              <a:rPr sz="2400" b="1" dirty="0">
                <a:solidFill>
                  <a:srgbClr val="0066CC"/>
                </a:solidFill>
                <a:latin typeface="Microsoft YaHei"/>
                <a:ea typeface="Microsoft YaHei"/>
              </a:rPr>
              <a:t>：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2200" b="1" dirty="0" err="1">
                <a:solidFill>
                  <a:srgbClr val="004CA0"/>
                </a:solidFill>
                <a:latin typeface="Microsoft YaHei"/>
                <a:ea typeface="Microsoft YaHei"/>
              </a:rPr>
              <a:t>第一步</a:t>
            </a:r>
            <a:r>
              <a:rPr sz="2200" b="1" dirty="0">
                <a:solidFill>
                  <a:srgbClr val="004CA0"/>
                </a:solidFill>
                <a:latin typeface="Microsoft YaHei"/>
                <a:ea typeface="Microsoft YaHei"/>
              </a:rPr>
              <a:t>  拟</a:t>
            </a:r>
            <a:r>
              <a:rPr sz="2200" b="1" dirty="0" err="1">
                <a:solidFill>
                  <a:srgbClr val="0066CC"/>
                </a:solidFill>
                <a:latin typeface="Microsoft YaHei"/>
                <a:ea typeface="Microsoft YaHei"/>
              </a:rPr>
              <a:t>定大纲</a:t>
            </a:r>
            <a:endParaRPr sz="2200" b="1" dirty="0">
              <a:solidFill>
                <a:srgbClr val="0066CC"/>
              </a:solidFill>
              <a:latin typeface="Microsoft YaHei"/>
              <a:ea typeface="Microsoft YaHei"/>
            </a:endParaRP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700" b="0" dirty="0">
                <a:solidFill>
                  <a:srgbClr val="333333"/>
                </a:solidFill>
                <a:latin typeface="Microsoft YaHei"/>
                <a:ea typeface="Microsoft YaHei"/>
              </a:rPr>
              <a:t>   </a:t>
            </a:r>
            <a:r>
              <a:rPr sz="2000" b="0" dirty="0" err="1">
                <a:solidFill>
                  <a:srgbClr val="333333"/>
                </a:solidFill>
                <a:latin typeface="Microsoft YaHei"/>
                <a:ea typeface="Microsoft YaHei"/>
              </a:rPr>
              <a:t> 提供阅读</a:t>
            </a:r>
            <a:r>
              <a:rPr sz="2000" b="0" dirty="0">
                <a:solidFill>
                  <a:srgbClr val="333333"/>
                </a:solidFill>
                <a:latin typeface="Microsoft YaHei"/>
                <a:ea typeface="Microsoft YaHei"/>
              </a:rPr>
              <a:t>笔</a:t>
            </a:r>
            <a:r>
              <a:rPr sz="2000" b="0" dirty="0" err="1">
                <a:solidFill>
                  <a:srgbClr val="333333"/>
                </a:solidFill>
                <a:latin typeface="Microsoft YaHei"/>
                <a:ea typeface="Microsoft YaHei"/>
              </a:rPr>
              <a:t>记和想法</a:t>
            </a:r>
            <a:r>
              <a:rPr sz="2000" b="0" dirty="0">
                <a:solidFill>
                  <a:srgbClr val="333333"/>
                </a:solidFill>
                <a:latin typeface="Microsoft YaHei"/>
                <a:ea typeface="Microsoft YaHei"/>
              </a:rPr>
              <a:t>，请AI整</a:t>
            </a:r>
            <a:r>
              <a:rPr sz="2000" b="0" dirty="0" err="1">
                <a:solidFill>
                  <a:srgbClr val="333333"/>
                </a:solidFill>
                <a:latin typeface="Microsoft YaHei"/>
                <a:ea typeface="Microsoft YaHei"/>
              </a:rPr>
              <a:t>理大纲。</a:t>
            </a:r>
            <a:endParaRPr sz="1700" b="0" dirty="0">
              <a:solidFill>
                <a:srgbClr val="333333"/>
              </a:solidFill>
              <a:latin typeface="Microsoft YaHei"/>
              <a:ea typeface="Microsoft YaHei"/>
            </a:endParaRP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2200" b="1" dirty="0" err="1">
                <a:solidFill>
                  <a:srgbClr val="004CA0"/>
                </a:solidFill>
                <a:latin typeface="Microsoft YaHei"/>
                <a:ea typeface="Microsoft YaHei"/>
              </a:rPr>
              <a:t>第二步</a:t>
            </a:r>
            <a:r>
              <a:rPr sz="2200" b="1" dirty="0">
                <a:solidFill>
                  <a:srgbClr val="004CA0"/>
                </a:solidFill>
                <a:latin typeface="Microsoft YaHei"/>
                <a:ea typeface="Microsoft YaHei"/>
              </a:rPr>
              <a:t>  调</a:t>
            </a:r>
            <a:r>
              <a:rPr sz="2200" b="1" dirty="0" err="1">
                <a:solidFill>
                  <a:srgbClr val="0066CC"/>
                </a:solidFill>
                <a:latin typeface="Microsoft YaHei"/>
                <a:ea typeface="Microsoft YaHei"/>
              </a:rPr>
              <a:t>整结构</a:t>
            </a:r>
            <a:endParaRPr sz="2200" b="1" dirty="0">
              <a:solidFill>
                <a:srgbClr val="0066CC"/>
              </a:solidFill>
              <a:latin typeface="Microsoft YaHei"/>
              <a:ea typeface="Microsoft YaHei"/>
            </a:endParaRP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700" b="0" dirty="0">
                <a:solidFill>
                  <a:srgbClr val="333333"/>
                </a:solidFill>
                <a:latin typeface="Microsoft YaHei"/>
                <a:ea typeface="Microsoft YaHei"/>
              </a:rPr>
              <a:t>   </a:t>
            </a:r>
            <a:r>
              <a:rPr sz="2000" b="0" dirty="0" err="1">
                <a:solidFill>
                  <a:srgbClr val="333333"/>
                </a:solidFill>
                <a:latin typeface="Microsoft YaHei"/>
                <a:ea typeface="Microsoft YaHei"/>
              </a:rPr>
              <a:t> 检查论证顺序，明确增删或合并的内容。</a:t>
            </a:r>
            <a:endParaRPr sz="2000" b="0" dirty="0">
              <a:solidFill>
                <a:srgbClr val="333333"/>
              </a:solidFill>
              <a:latin typeface="Microsoft YaHei"/>
              <a:ea typeface="Microsoft YaHei"/>
            </a:endParaRP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2200" b="1" dirty="0" err="1">
                <a:solidFill>
                  <a:srgbClr val="004CA0"/>
                </a:solidFill>
                <a:latin typeface="Microsoft YaHei"/>
                <a:ea typeface="Microsoft YaHei"/>
              </a:rPr>
              <a:t>第三步</a:t>
            </a:r>
            <a:r>
              <a:rPr sz="2200" b="1" dirty="0">
                <a:solidFill>
                  <a:srgbClr val="004CA0"/>
                </a:solidFill>
                <a:latin typeface="Microsoft YaHei"/>
                <a:ea typeface="Microsoft YaHei"/>
              </a:rPr>
              <a:t>  完</a:t>
            </a:r>
            <a:r>
              <a:rPr sz="2200" b="1" dirty="0" err="1">
                <a:solidFill>
                  <a:srgbClr val="0066CC"/>
                </a:solidFill>
                <a:latin typeface="Microsoft YaHei"/>
                <a:ea typeface="Microsoft YaHei"/>
              </a:rPr>
              <a:t>善内容</a:t>
            </a:r>
            <a:endParaRPr sz="2200" b="1" dirty="0">
              <a:solidFill>
                <a:srgbClr val="0066CC"/>
              </a:solidFill>
              <a:latin typeface="Microsoft YaHei"/>
              <a:ea typeface="Microsoft YaHei"/>
            </a:endParaRP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700" b="0" dirty="0">
                <a:solidFill>
                  <a:srgbClr val="333333"/>
                </a:solidFill>
                <a:latin typeface="Microsoft YaHei"/>
                <a:ea typeface="Microsoft YaHei"/>
              </a:rPr>
              <a:t>   </a:t>
            </a:r>
            <a:r>
              <a:rPr sz="2000" b="0" dirty="0" err="1">
                <a:solidFill>
                  <a:srgbClr val="333333"/>
                </a:solidFill>
                <a:latin typeface="Microsoft YaHei"/>
                <a:ea typeface="Microsoft YaHei"/>
              </a:rPr>
              <a:t> 确认</a:t>
            </a:r>
            <a:r>
              <a:rPr sz="2000" b="0" dirty="0">
                <a:solidFill>
                  <a:srgbClr val="333333"/>
                </a:solidFill>
                <a:latin typeface="Microsoft YaHei"/>
                <a:ea typeface="Microsoft YaHei"/>
              </a:rPr>
              <a:t>大纲</a:t>
            </a:r>
            <a:r>
              <a:rPr sz="2000" b="0" dirty="0" err="1">
                <a:solidFill>
                  <a:srgbClr val="333333"/>
                </a:solidFill>
                <a:latin typeface="Microsoft YaHei"/>
                <a:ea typeface="Microsoft YaHei"/>
              </a:rPr>
              <a:t>后</a:t>
            </a:r>
            <a:r>
              <a:rPr sz="2000" b="0" dirty="0">
                <a:solidFill>
                  <a:srgbClr val="333333"/>
                </a:solidFill>
                <a:latin typeface="Microsoft YaHei"/>
                <a:ea typeface="Microsoft YaHei"/>
              </a:rPr>
              <a:t>，结合文</a:t>
            </a:r>
            <a:r>
              <a:rPr sz="2000" b="0" dirty="0" err="1">
                <a:solidFill>
                  <a:srgbClr val="333333"/>
                </a:solidFill>
                <a:latin typeface="Microsoft YaHei"/>
                <a:ea typeface="Microsoft YaHei"/>
              </a:rPr>
              <a:t>献逐节</a:t>
            </a:r>
            <a:r>
              <a:rPr sz="2000" b="0" dirty="0">
                <a:solidFill>
                  <a:srgbClr val="333333"/>
                </a:solidFill>
                <a:latin typeface="Microsoft YaHei"/>
                <a:ea typeface="Microsoft YaHei"/>
              </a:rPr>
              <a:t>补</a:t>
            </a:r>
            <a:r>
              <a:rPr sz="2000" b="0" dirty="0" err="1">
                <a:solidFill>
                  <a:srgbClr val="333333"/>
                </a:solidFill>
                <a:latin typeface="Microsoft YaHei"/>
                <a:ea typeface="Microsoft YaHei"/>
              </a:rPr>
              <a:t>充要点。</a:t>
            </a:r>
            <a:endParaRPr sz="1700" b="0" dirty="0">
              <a:solidFill>
                <a:srgbClr val="333333"/>
              </a:solidFill>
              <a:latin typeface="Microsoft YaHei"/>
              <a:ea typeface="Microsoft YaHei"/>
            </a:endParaRP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2400" b="1" dirty="0">
                <a:solidFill>
                  <a:srgbClr val="004CA0"/>
                </a:solidFill>
                <a:latin typeface="Microsoft YaHei"/>
                <a:ea typeface="Microsoft YaHei"/>
              </a:rPr>
              <a:t>分步</a:t>
            </a:r>
            <a:r>
              <a:rPr sz="2400" b="1" dirty="0" err="1">
                <a:solidFill>
                  <a:srgbClr val="004CA0"/>
                </a:solidFill>
                <a:latin typeface="Microsoft YaHei"/>
                <a:ea typeface="Microsoft YaHei"/>
              </a:rPr>
              <a:t>处理便于核查内容</a:t>
            </a:r>
            <a:r>
              <a:rPr sz="2400" b="1" dirty="0">
                <a:solidFill>
                  <a:srgbClr val="004CA0"/>
                </a:solidFill>
                <a:latin typeface="Microsoft YaHei"/>
                <a:ea typeface="Microsoft YaHei"/>
              </a:rPr>
              <a:t>，</a:t>
            </a:r>
            <a:r>
              <a:rPr sz="2400" b="1" dirty="0">
                <a:solidFill>
                  <a:srgbClr val="004CA0"/>
                </a:solidFill>
                <a:latin typeface="Microsoft YaHei"/>
                <a:ea typeface="Microsoft YaHei"/>
              </a:rPr>
              <a:t>论</a:t>
            </a:r>
            <a:r>
              <a:rPr sz="2400" b="1" dirty="0" err="1">
                <a:solidFill>
                  <a:srgbClr val="004CA0"/>
                </a:solidFill>
                <a:latin typeface="Microsoft YaHei"/>
                <a:ea typeface="Microsoft YaHei"/>
              </a:rPr>
              <a:t>文结构与</a:t>
            </a:r>
            <a:r>
              <a:rPr sz="2400" b="1" dirty="0">
                <a:solidFill>
                  <a:srgbClr val="004CA0"/>
                </a:solidFill>
                <a:latin typeface="Microsoft YaHei"/>
                <a:ea typeface="Microsoft YaHei"/>
              </a:rPr>
              <a:t>论</a:t>
            </a:r>
            <a:r>
              <a:rPr sz="2400" b="1" dirty="0" err="1">
                <a:solidFill>
                  <a:srgbClr val="004CA0"/>
                </a:solidFill>
                <a:latin typeface="Microsoft YaHei"/>
                <a:ea typeface="Microsoft YaHei"/>
              </a:rPr>
              <a:t>证由作者把握</a:t>
            </a:r>
            <a:r>
              <a:rPr sz="2400" b="1" dirty="0">
                <a:solidFill>
                  <a:srgbClr val="004CA0"/>
                </a:solidFill>
                <a:latin typeface="Microsoft YaHei"/>
                <a:ea typeface="Microsoft YaHei"/>
              </a:rPr>
              <a:t>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94415" y="6446520"/>
            <a:ext cx="914400" cy="320040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pPr algn="r"/>
            <a:r>
              <a:rPr sz="1100">
                <a:solidFill>
                  <a:srgbClr val="999999"/>
                </a:solidFill>
                <a:latin typeface="Arial"/>
              </a:rPr>
              <a:t>15 / 50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8661B8-E8AC-CBCE-9ADB-0805DD1426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4C220B9E-8832-6286-DBD3-CD7D7D5857AC}"/>
              </a:ext>
            </a:extLst>
          </p:cNvPr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yzu_logo.png">
            <a:extLst>
              <a:ext uri="{FF2B5EF4-FFF2-40B4-BE49-F238E27FC236}">
                <a16:creationId xmlns:a16="http://schemas.microsoft.com/office/drawing/2014/main" id="{6EEF6A60-87BF-9AC8-E1B1-9DADA2D1424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17175" y="246888"/>
            <a:ext cx="1691640" cy="548640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7C704692-B1E3-4872-B3CD-17D8DC789F4C}"/>
              </a:ext>
            </a:extLst>
          </p:cNvPr>
          <p:cNvSpPr/>
          <p:nvPr/>
        </p:nvSpPr>
        <p:spPr>
          <a:xfrm>
            <a:off x="0" y="274320"/>
            <a:ext cx="960120" cy="502920"/>
          </a:xfrm>
          <a:prstGeom prst="rect">
            <a:avLst/>
          </a:prstGeom>
          <a:solidFill>
            <a:srgbClr val="006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EC16114-3804-4A89-ABA2-112B681E8735}"/>
              </a:ext>
            </a:extLst>
          </p:cNvPr>
          <p:cNvSpPr txBox="1"/>
          <p:nvPr/>
        </p:nvSpPr>
        <p:spPr>
          <a:xfrm>
            <a:off x="45720" y="341114"/>
            <a:ext cx="914400" cy="3693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400" b="1" i="0" dirty="0">
                <a:solidFill>
                  <a:srgbClr val="FFFFFF"/>
                </a:solidFill>
                <a:latin typeface="Microsoft YaHei"/>
                <a:ea typeface="Microsoft YaHei"/>
              </a:rPr>
              <a:t>2.1.3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8361B43-EB9E-D911-2025-CD69299F1CB1}"/>
              </a:ext>
            </a:extLst>
          </p:cNvPr>
          <p:cNvSpPr/>
          <p:nvPr/>
        </p:nvSpPr>
        <p:spPr>
          <a:xfrm>
            <a:off x="960120" y="274320"/>
            <a:ext cx="9052560" cy="502920"/>
          </a:xfrm>
          <a:prstGeom prst="rect">
            <a:avLst/>
          </a:prstGeom>
          <a:solidFill>
            <a:srgbClr val="3A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67926E9-F0FA-1922-E537-97A52354C03E}"/>
              </a:ext>
            </a:extLst>
          </p:cNvPr>
          <p:cNvSpPr txBox="1"/>
          <p:nvPr/>
        </p:nvSpPr>
        <p:spPr>
          <a:xfrm>
            <a:off x="1234440" y="341114"/>
            <a:ext cx="8686800" cy="3693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400" b="1" i="0" dirty="0">
                <a:solidFill>
                  <a:srgbClr val="FFFFFF"/>
                </a:solidFill>
                <a:latin typeface="Microsoft YaHei"/>
                <a:ea typeface="Microsoft YaHei"/>
              </a:rPr>
              <a:t>②</a:t>
            </a:r>
            <a:r>
              <a:rPr sz="2400" b="1" i="0" dirty="0" err="1">
                <a:solidFill>
                  <a:srgbClr val="FFFFFF"/>
                </a:solidFill>
                <a:latin typeface="Microsoft YaHei"/>
                <a:ea typeface="Microsoft YaHei"/>
              </a:rPr>
              <a:t> </a:t>
            </a:r>
            <a:r>
              <a:rPr sz="2400" b="1" i="0" dirty="0">
                <a:solidFill>
                  <a:srgbClr val="FFFFFF"/>
                </a:solidFill>
                <a:latin typeface="Microsoft YaHei"/>
                <a:ea typeface="Microsoft YaHei"/>
              </a:rPr>
              <a:t>任务：分步</a:t>
            </a:r>
            <a:r>
              <a:rPr sz="2400" b="1" i="0" dirty="0" err="1">
                <a:solidFill>
                  <a:srgbClr val="FFFFFF"/>
                </a:solidFill>
                <a:latin typeface="Microsoft YaHei"/>
                <a:ea typeface="Microsoft YaHei"/>
              </a:rPr>
              <a:t>完成写作</a:t>
            </a:r>
            <a:endParaRPr sz="2400" b="1" i="0" dirty="0">
              <a:solidFill>
                <a:srgbClr val="FFFFFF"/>
              </a:solidFill>
              <a:latin typeface="Microsoft YaHei"/>
              <a:ea typeface="Microsoft YaHei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2DE63C8-095A-16B7-9F17-3A3B2D6E7023}"/>
              </a:ext>
            </a:extLst>
          </p:cNvPr>
          <p:cNvSpPr txBox="1"/>
          <p:nvPr/>
        </p:nvSpPr>
        <p:spPr>
          <a:xfrm>
            <a:off x="3188626" y="6445180"/>
            <a:ext cx="4297680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b="0" dirty="0">
                <a:solidFill>
                  <a:srgbClr val="333333"/>
                </a:solidFill>
                <a:latin typeface="Microsoft YaHei"/>
                <a:ea typeface="Microsoft YaHei"/>
              </a:rPr>
              <a:t>图 2-3  </a:t>
            </a:r>
            <a:r>
              <a:rPr b="0" dirty="0" err="1">
                <a:solidFill>
                  <a:srgbClr val="333333"/>
                </a:solidFill>
                <a:latin typeface="Microsoft YaHei"/>
                <a:ea typeface="Microsoft YaHei"/>
              </a:rPr>
              <a:t>写作方式的差异</a:t>
            </a:r>
            <a:endParaRPr b="0" dirty="0">
              <a:solidFill>
                <a:srgbClr val="333333"/>
              </a:solidFill>
              <a:latin typeface="Microsoft YaHei"/>
              <a:ea typeface="Microsoft YaHei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9C2C108-BC3A-8D54-30F1-06186CC9F965}"/>
              </a:ext>
            </a:extLst>
          </p:cNvPr>
          <p:cNvSpPr txBox="1"/>
          <p:nvPr/>
        </p:nvSpPr>
        <p:spPr>
          <a:xfrm>
            <a:off x="11094415" y="6446520"/>
            <a:ext cx="914400" cy="320040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pPr algn="r"/>
            <a:r>
              <a:rPr sz="1100">
                <a:solidFill>
                  <a:srgbClr val="999999"/>
                </a:solidFill>
                <a:latin typeface="Arial"/>
              </a:rPr>
              <a:t>16 / 50</a:t>
            </a:r>
          </a:p>
        </p:txBody>
      </p:sp>
      <p:sp>
        <p:nvSpPr>
          <p:cNvPr id="13" name="内容占位符 5">
            <a:extLst>
              <a:ext uri="{FF2B5EF4-FFF2-40B4-BE49-F238E27FC236}">
                <a16:creationId xmlns:a16="http://schemas.microsoft.com/office/drawing/2014/main" id="{C00F066F-0094-4591-97AB-8A9FA542B25D}"/>
              </a:ext>
            </a:extLst>
          </p:cNvPr>
          <p:cNvSpPr txBox="1">
            <a:spLocks/>
          </p:cNvSpPr>
          <p:nvPr/>
        </p:nvSpPr>
        <p:spPr>
          <a:xfrm>
            <a:off x="838200" y="636422"/>
            <a:ext cx="5181600" cy="554054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altLang="zh-CN"/>
              <a:t> </a:t>
            </a:r>
            <a:endParaRPr lang="zh-CN" altLang="en-US" dirty="0"/>
          </a:p>
        </p:txBody>
      </p:sp>
      <p:pic>
        <p:nvPicPr>
          <p:cNvPr id="14" name="图片 13">
            <a:extLst>
              <a:ext uri="{FF2B5EF4-FFF2-40B4-BE49-F238E27FC236}">
                <a16:creationId xmlns:a16="http://schemas.microsoft.com/office/drawing/2014/main" id="{3EA06C32-434F-4EF5-8A37-4C65C67BA19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05962" y="1842977"/>
            <a:ext cx="547307" cy="540868"/>
          </a:xfrm>
          <a:prstGeom prst="rect">
            <a:avLst/>
          </a:prstGeom>
        </p:spPr>
      </p:pic>
      <p:sp>
        <p:nvSpPr>
          <p:cNvPr id="15" name="矩形: 圆角 14">
            <a:extLst>
              <a:ext uri="{FF2B5EF4-FFF2-40B4-BE49-F238E27FC236}">
                <a16:creationId xmlns:a16="http://schemas.microsoft.com/office/drawing/2014/main" id="{E6D3F332-3D54-4B94-A8AE-F7F0245366CB}"/>
              </a:ext>
            </a:extLst>
          </p:cNvPr>
          <p:cNvSpPr/>
          <p:nvPr/>
        </p:nvSpPr>
        <p:spPr>
          <a:xfrm>
            <a:off x="1080121" y="1874875"/>
            <a:ext cx="4320000" cy="648250"/>
          </a:xfrm>
          <a:prstGeom prst="round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just"/>
            <a:r>
              <a:rPr lang="zh-CN" altLang="en-US" sz="1600" dirty="0">
                <a:latin typeface="宋体" panose="02010600030101010101" pitchFamily="2" charset="-122"/>
                <a:ea typeface="宋体" panose="02010600030101010101" pitchFamily="2" charset="-122"/>
              </a:rPr>
              <a:t>请帮我写一篇关于‘大模型幻觉’的文献综述，大概两千字。</a:t>
            </a:r>
          </a:p>
        </p:txBody>
      </p:sp>
      <p:pic>
        <p:nvPicPr>
          <p:cNvPr id="16" name="图片 15">
            <a:extLst>
              <a:ext uri="{FF2B5EF4-FFF2-40B4-BE49-F238E27FC236}">
                <a16:creationId xmlns:a16="http://schemas.microsoft.com/office/drawing/2014/main" id="{77A06BE1-C772-4BE6-8A72-933EF263C83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6750" y="2710567"/>
            <a:ext cx="536007" cy="523685"/>
          </a:xfrm>
          <a:prstGeom prst="rect">
            <a:avLst/>
          </a:prstGeom>
        </p:spPr>
      </p:pic>
      <p:sp>
        <p:nvSpPr>
          <p:cNvPr id="17" name="矩形: 圆角 16">
            <a:extLst>
              <a:ext uri="{FF2B5EF4-FFF2-40B4-BE49-F238E27FC236}">
                <a16:creationId xmlns:a16="http://schemas.microsoft.com/office/drawing/2014/main" id="{8679CFC4-FFB3-47C9-AE72-B1159BE7A6C5}"/>
              </a:ext>
            </a:extLst>
          </p:cNvPr>
          <p:cNvSpPr/>
          <p:nvPr/>
        </p:nvSpPr>
        <p:spPr>
          <a:xfrm>
            <a:off x="1102757" y="2641072"/>
            <a:ext cx="4320000" cy="1315465"/>
          </a:xfrm>
          <a:prstGeom prst="roundRect">
            <a:avLst/>
          </a:prstGeom>
          <a:solidFill>
            <a:schemeClr val="bg1"/>
          </a:solidFill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just"/>
            <a:r>
              <a:rPr lang="zh-CN" altLang="en-US" sz="1600" dirty="0">
                <a:latin typeface="宋体" panose="02010600030101010101" pitchFamily="2" charset="-122"/>
                <a:ea typeface="宋体" panose="02010600030101010101" pitchFamily="2" charset="-122"/>
              </a:rPr>
              <a:t>随着人工智能的飞速发展，大模型幻觉成为了一个重要问题。许多学者对此进行了深入研究。总的来说，幻觉可以分为几种情况</a:t>
            </a:r>
            <a:r>
              <a:rPr lang="en-US" altLang="zh-CN" sz="1600" dirty="0">
                <a:latin typeface="宋体" panose="02010600030101010101" pitchFamily="2" charset="-122"/>
                <a:ea typeface="宋体" panose="02010600030101010101" pitchFamily="2" charset="-122"/>
              </a:rPr>
              <a:t>……</a:t>
            </a:r>
            <a:endParaRPr lang="zh-CN" altLang="zh-CN" sz="1600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8" name="矩形: 圆角 17">
            <a:extLst>
              <a:ext uri="{FF2B5EF4-FFF2-40B4-BE49-F238E27FC236}">
                <a16:creationId xmlns:a16="http://schemas.microsoft.com/office/drawing/2014/main" id="{41EC8616-EDE5-4CDF-A425-233BA86ED78E}"/>
              </a:ext>
            </a:extLst>
          </p:cNvPr>
          <p:cNvSpPr/>
          <p:nvPr/>
        </p:nvSpPr>
        <p:spPr>
          <a:xfrm>
            <a:off x="6851676" y="1853469"/>
            <a:ext cx="4320001" cy="722055"/>
          </a:xfrm>
          <a:prstGeom prst="round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just"/>
            <a:r>
              <a:rPr lang="zh-CN" altLang="en-US" sz="1600" dirty="0">
                <a:latin typeface="宋体" panose="02010600030101010101" pitchFamily="2" charset="-122"/>
                <a:ea typeface="宋体" panose="02010600030101010101" pitchFamily="2" charset="-122"/>
              </a:rPr>
              <a:t>我准备写一节关于‘大模型幻觉抑制技术’的文献综述。请先帮我拟定一个三级逻辑大纲。</a:t>
            </a:r>
          </a:p>
        </p:txBody>
      </p:sp>
      <p:sp>
        <p:nvSpPr>
          <p:cNvPr id="19" name="矩形: 圆角 18">
            <a:extLst>
              <a:ext uri="{FF2B5EF4-FFF2-40B4-BE49-F238E27FC236}">
                <a16:creationId xmlns:a16="http://schemas.microsoft.com/office/drawing/2014/main" id="{776AFD69-5490-4969-9AFF-F9C69F4D94FF}"/>
              </a:ext>
            </a:extLst>
          </p:cNvPr>
          <p:cNvSpPr/>
          <p:nvPr/>
        </p:nvSpPr>
        <p:spPr>
          <a:xfrm>
            <a:off x="6852850" y="2668886"/>
            <a:ext cx="4320000" cy="692293"/>
          </a:xfrm>
          <a:prstGeom prst="roundRect">
            <a:avLst/>
          </a:prstGeom>
          <a:noFill/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just"/>
            <a:r>
              <a:rPr lang="zh-CN" altLang="en-US" sz="1600" dirty="0">
                <a:latin typeface="宋体" panose="02010600030101010101" pitchFamily="2" charset="-122"/>
                <a:ea typeface="宋体" panose="02010600030101010101" pitchFamily="2" charset="-122"/>
              </a:rPr>
              <a:t>这是为您生成的大纲：</a:t>
            </a:r>
            <a:r>
              <a:rPr lang="en-US" altLang="zh-CN" sz="1600" dirty="0">
                <a:latin typeface="宋体" panose="02010600030101010101" pitchFamily="2" charset="-122"/>
                <a:ea typeface="宋体" panose="02010600030101010101" pitchFamily="2" charset="-122"/>
              </a:rPr>
              <a:t>1. </a:t>
            </a:r>
            <a:r>
              <a:rPr lang="zh-CN" altLang="en-US" sz="1600" dirty="0">
                <a:latin typeface="宋体" panose="02010600030101010101" pitchFamily="2" charset="-122"/>
                <a:ea typeface="宋体" panose="02010600030101010101" pitchFamily="2" charset="-122"/>
              </a:rPr>
              <a:t>幻觉的定义与分类；</a:t>
            </a:r>
            <a:r>
              <a:rPr lang="en-US" altLang="zh-CN" sz="1600" dirty="0">
                <a:latin typeface="宋体" panose="02010600030101010101" pitchFamily="2" charset="-122"/>
                <a:ea typeface="宋体" panose="02010600030101010101" pitchFamily="2" charset="-122"/>
              </a:rPr>
              <a:t>2. </a:t>
            </a:r>
            <a:r>
              <a:rPr lang="zh-CN" altLang="en-US" sz="1600" dirty="0">
                <a:latin typeface="宋体" panose="02010600030101010101" pitchFamily="2" charset="-122"/>
                <a:ea typeface="宋体" panose="02010600030101010101" pitchFamily="2" charset="-122"/>
              </a:rPr>
              <a:t>数据层面的抑制；</a:t>
            </a:r>
            <a:r>
              <a:rPr lang="en-US" altLang="zh-CN" sz="1600" dirty="0">
                <a:latin typeface="宋体" panose="02010600030101010101" pitchFamily="2" charset="-122"/>
                <a:ea typeface="宋体" panose="02010600030101010101" pitchFamily="2" charset="-122"/>
              </a:rPr>
              <a:t>3. </a:t>
            </a:r>
            <a:r>
              <a:rPr lang="zh-CN" altLang="en-US" sz="1600" dirty="0">
                <a:latin typeface="宋体" panose="02010600030101010101" pitchFamily="2" charset="-122"/>
                <a:ea typeface="宋体" panose="02010600030101010101" pitchFamily="2" charset="-122"/>
              </a:rPr>
              <a:t>算法层面的抑制</a:t>
            </a:r>
            <a:r>
              <a:rPr lang="en-US" altLang="zh-CN" sz="1600" dirty="0">
                <a:latin typeface="宋体" panose="02010600030101010101" pitchFamily="2" charset="-122"/>
                <a:ea typeface="宋体" panose="02010600030101010101" pitchFamily="2" charset="-122"/>
              </a:rPr>
              <a:t>……</a:t>
            </a:r>
            <a:endParaRPr lang="zh-CN" altLang="zh-CN" sz="1600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20" name="矩形: 圆角 19">
            <a:extLst>
              <a:ext uri="{FF2B5EF4-FFF2-40B4-BE49-F238E27FC236}">
                <a16:creationId xmlns:a16="http://schemas.microsoft.com/office/drawing/2014/main" id="{221D6E9E-A73E-4F68-94A3-1377EC116967}"/>
              </a:ext>
            </a:extLst>
          </p:cNvPr>
          <p:cNvSpPr/>
          <p:nvPr/>
        </p:nvSpPr>
        <p:spPr>
          <a:xfrm>
            <a:off x="6835234" y="3438259"/>
            <a:ext cx="4320000" cy="818266"/>
          </a:xfrm>
          <a:prstGeom prst="round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just"/>
            <a:r>
              <a:rPr lang="zh-CN" altLang="en-US" sz="1600" dirty="0">
                <a:latin typeface="宋体" panose="02010600030101010101" pitchFamily="2" charset="-122"/>
                <a:ea typeface="宋体" panose="02010600030101010101" pitchFamily="2" charset="-122"/>
              </a:rPr>
              <a:t>“大纲整体不错，但请跳过第 </a:t>
            </a:r>
            <a:r>
              <a:rPr lang="en-US" altLang="zh-CN" sz="1600" dirty="0">
                <a:latin typeface="宋体" panose="02010600030101010101" pitchFamily="2" charset="-122"/>
                <a:ea typeface="宋体" panose="02010600030101010101" pitchFamily="2" charset="-122"/>
              </a:rPr>
              <a:t>2 </a:t>
            </a:r>
            <a:r>
              <a:rPr lang="zh-CN" altLang="en-US" sz="1600" dirty="0">
                <a:latin typeface="宋体" panose="02010600030101010101" pitchFamily="2" charset="-122"/>
                <a:ea typeface="宋体" panose="02010600030101010101" pitchFamily="2" charset="-122"/>
              </a:rPr>
              <a:t>节。请把重点放在算法层面，并额外增加一个关于‘检索增强（</a:t>
            </a:r>
            <a:r>
              <a:rPr lang="en-US" altLang="zh-CN" sz="1600" dirty="0">
                <a:latin typeface="宋体" panose="02010600030101010101" pitchFamily="2" charset="-122"/>
                <a:ea typeface="宋体" panose="02010600030101010101" pitchFamily="2" charset="-122"/>
              </a:rPr>
              <a:t>RAG</a:t>
            </a:r>
            <a:r>
              <a:rPr lang="zh-CN" altLang="en-US" sz="1600" dirty="0">
                <a:latin typeface="宋体" panose="02010600030101010101" pitchFamily="2" charset="-122"/>
                <a:ea typeface="宋体" panose="02010600030101010101" pitchFamily="2" charset="-122"/>
              </a:rPr>
              <a:t>）外部抑制’的独立小节。”</a:t>
            </a:r>
            <a:endParaRPr lang="zh-CN" altLang="en-US" sz="1400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21" name="矩形: 圆角 20">
            <a:extLst>
              <a:ext uri="{FF2B5EF4-FFF2-40B4-BE49-F238E27FC236}">
                <a16:creationId xmlns:a16="http://schemas.microsoft.com/office/drawing/2014/main" id="{D067456A-0463-430D-8E7E-1E3C3CABC568}"/>
              </a:ext>
            </a:extLst>
          </p:cNvPr>
          <p:cNvSpPr/>
          <p:nvPr/>
        </p:nvSpPr>
        <p:spPr>
          <a:xfrm>
            <a:off x="6792942" y="4390782"/>
            <a:ext cx="4320000" cy="424594"/>
          </a:xfrm>
          <a:prstGeom prst="roundRect">
            <a:avLst/>
          </a:prstGeom>
          <a:noFill/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just"/>
            <a:r>
              <a:rPr lang="zh-CN" altLang="en-US" sz="1600" dirty="0">
                <a:latin typeface="宋体" panose="02010600030101010101" pitchFamily="2" charset="-122"/>
                <a:ea typeface="宋体" panose="02010600030101010101" pitchFamily="2" charset="-122"/>
              </a:rPr>
              <a:t>“这是修改后的大纲</a:t>
            </a:r>
            <a:r>
              <a:rPr lang="en-US" altLang="zh-CN" sz="1600" dirty="0">
                <a:latin typeface="宋体" panose="02010600030101010101" pitchFamily="2" charset="-122"/>
                <a:ea typeface="宋体" panose="02010600030101010101" pitchFamily="2" charset="-122"/>
              </a:rPr>
              <a:t>……</a:t>
            </a:r>
            <a:r>
              <a:rPr lang="zh-CN" altLang="en-US" sz="1600" dirty="0">
                <a:latin typeface="宋体" panose="02010600030101010101" pitchFamily="2" charset="-122"/>
                <a:ea typeface="宋体" panose="02010600030101010101" pitchFamily="2" charset="-122"/>
              </a:rPr>
              <a:t>”</a:t>
            </a:r>
            <a:endParaRPr lang="zh-CN" altLang="zh-CN" sz="1600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22" name="矩形: 圆角 21">
            <a:extLst>
              <a:ext uri="{FF2B5EF4-FFF2-40B4-BE49-F238E27FC236}">
                <a16:creationId xmlns:a16="http://schemas.microsoft.com/office/drawing/2014/main" id="{C62F40FB-F765-4A95-A6D2-E1EBBCE3B9F4}"/>
              </a:ext>
            </a:extLst>
          </p:cNvPr>
          <p:cNvSpPr/>
          <p:nvPr/>
        </p:nvSpPr>
        <p:spPr>
          <a:xfrm>
            <a:off x="6792942" y="4920235"/>
            <a:ext cx="4320000" cy="424594"/>
          </a:xfrm>
          <a:prstGeom prst="round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just"/>
            <a:r>
              <a:rPr lang="zh-CN" altLang="en-US" sz="1600" dirty="0">
                <a:latin typeface="宋体" panose="02010600030101010101" pitchFamily="2" charset="-122"/>
                <a:ea typeface="宋体" panose="02010600030101010101" pitchFamily="2" charset="-122"/>
              </a:rPr>
              <a:t>“请根据已核验的文献，逐节补充核心要点与引用。”</a:t>
            </a:r>
            <a:endParaRPr lang="zh-CN" altLang="en-US" sz="1400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D15B108B-633F-482E-8266-A64A8B74F3AC}"/>
              </a:ext>
            </a:extLst>
          </p:cNvPr>
          <p:cNvSpPr txBox="1"/>
          <p:nvPr/>
        </p:nvSpPr>
        <p:spPr>
          <a:xfrm>
            <a:off x="6952866" y="5397579"/>
            <a:ext cx="436283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>
                <a:latin typeface="宋体" panose="02010600030101010101" pitchFamily="2" charset="-122"/>
                <a:ea typeface="宋体" panose="02010600030101010101" pitchFamily="2" charset="-122"/>
              </a:rPr>
              <a:t>“核对</a:t>
            </a:r>
            <a:r>
              <a:rPr lang="zh-CN" altLang="en-US" sz="1600" dirty="0">
                <a:latin typeface="宋体" panose="02010600030101010101" pitchFamily="2" charset="-122"/>
                <a:ea typeface="宋体" panose="02010600030101010101" pitchFamily="2" charset="-122"/>
              </a:rPr>
              <a:t>文献与论证，经过多轮修改后形成初稿。</a:t>
            </a:r>
            <a:r>
              <a:rPr lang="en-US" altLang="zh-CN" sz="1600" dirty="0">
                <a:latin typeface="宋体" panose="02010600030101010101" pitchFamily="2" charset="-122"/>
                <a:ea typeface="宋体" panose="02010600030101010101" pitchFamily="2" charset="-122"/>
              </a:rPr>
              <a:t>”</a:t>
            </a:r>
            <a:endParaRPr lang="zh-CN" altLang="en-US" sz="1600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24" name="矩形: 圆角 23">
            <a:extLst>
              <a:ext uri="{FF2B5EF4-FFF2-40B4-BE49-F238E27FC236}">
                <a16:creationId xmlns:a16="http://schemas.microsoft.com/office/drawing/2014/main" id="{4F0FC76F-115B-4449-BC5D-243ED756033F}"/>
              </a:ext>
            </a:extLst>
          </p:cNvPr>
          <p:cNvSpPr/>
          <p:nvPr/>
        </p:nvSpPr>
        <p:spPr>
          <a:xfrm>
            <a:off x="809821" y="866968"/>
            <a:ext cx="5040000" cy="900000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提问</a:t>
            </a:r>
            <a:r>
              <a:rPr lang="zh-CN" altLang="en-US" sz="2000" b="1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较笼统</a:t>
            </a:r>
            <a:endParaRPr lang="en-US" altLang="zh-CN" sz="2000" b="1" dirty="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ctr"/>
            <a:r>
              <a:rPr lang="zh-CN" altLang="en-US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特点：直接要求</a:t>
            </a:r>
            <a:r>
              <a:rPr lang="en-US" altLang="zh-CN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生</a:t>
            </a:r>
            <a:r>
              <a:rPr lang="zh-CN" altLang="en-US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成全文。</a:t>
            </a:r>
          </a:p>
        </p:txBody>
      </p:sp>
      <p:sp>
        <p:nvSpPr>
          <p:cNvPr id="25" name="矩形: 圆角 24">
            <a:extLst>
              <a:ext uri="{FF2B5EF4-FFF2-40B4-BE49-F238E27FC236}">
                <a16:creationId xmlns:a16="http://schemas.microsoft.com/office/drawing/2014/main" id="{93FE3E36-A571-4143-90F0-06DC02A3D1A6}"/>
              </a:ext>
            </a:extLst>
          </p:cNvPr>
          <p:cNvSpPr/>
          <p:nvPr/>
        </p:nvSpPr>
        <p:spPr>
          <a:xfrm>
            <a:off x="6475234" y="867043"/>
            <a:ext cx="5040000" cy="900000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要求</a:t>
            </a:r>
            <a:r>
              <a:rPr lang="zh-CN" altLang="en-US" sz="2000" b="1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更明确</a:t>
            </a:r>
            <a:endParaRPr lang="en-US" altLang="zh-CN" sz="2000" b="1" dirty="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ctr"/>
            <a:r>
              <a:rPr lang="zh-CN" altLang="en-US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特点：先拟大纲，修改后再逐节完善。</a:t>
            </a:r>
          </a:p>
        </p:txBody>
      </p:sp>
      <p:cxnSp>
        <p:nvCxnSpPr>
          <p:cNvPr id="26" name="直接连接符 25">
            <a:extLst>
              <a:ext uri="{FF2B5EF4-FFF2-40B4-BE49-F238E27FC236}">
                <a16:creationId xmlns:a16="http://schemas.microsoft.com/office/drawing/2014/main" id="{56E4BE14-EA58-4387-A980-F772A894E97A}"/>
              </a:ext>
            </a:extLst>
          </p:cNvPr>
          <p:cNvCxnSpPr>
            <a:cxnSpLocks/>
          </p:cNvCxnSpPr>
          <p:nvPr/>
        </p:nvCxnSpPr>
        <p:spPr>
          <a:xfrm flipH="1">
            <a:off x="6065139" y="918970"/>
            <a:ext cx="18154" cy="5490622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27" name="内容占位符 22">
            <a:extLst>
              <a:ext uri="{FF2B5EF4-FFF2-40B4-BE49-F238E27FC236}">
                <a16:creationId xmlns:a16="http://schemas.microsoft.com/office/drawing/2014/main" id="{99BB0225-17AD-4EDF-824A-DFCB8C320A14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378" r="22260"/>
          <a:stretch>
            <a:fillRect/>
          </a:stretch>
        </p:blipFill>
        <p:spPr>
          <a:xfrm>
            <a:off x="1575160" y="4511128"/>
            <a:ext cx="758434" cy="736610"/>
          </a:xfrm>
          <a:prstGeom prst="rect">
            <a:avLst/>
          </a:prstGeom>
        </p:spPr>
      </p:pic>
      <p:sp>
        <p:nvSpPr>
          <p:cNvPr id="28" name="思想气泡: 云 27">
            <a:extLst>
              <a:ext uri="{FF2B5EF4-FFF2-40B4-BE49-F238E27FC236}">
                <a16:creationId xmlns:a16="http://schemas.microsoft.com/office/drawing/2014/main" id="{425C7BCF-2A1B-4D3E-8607-611F9108721F}"/>
              </a:ext>
            </a:extLst>
          </p:cNvPr>
          <p:cNvSpPr/>
          <p:nvPr/>
        </p:nvSpPr>
        <p:spPr>
          <a:xfrm>
            <a:off x="2641917" y="4382077"/>
            <a:ext cx="2416258" cy="880301"/>
          </a:xfrm>
          <a:prstGeom prst="cloudCallout">
            <a:avLst>
              <a:gd name="adj1" fmla="val -62779"/>
              <a:gd name="adj2" fmla="val -19301"/>
            </a:avLst>
          </a:prstGeom>
          <a:solidFill>
            <a:schemeClr val="bg1"/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“</a:t>
            </a:r>
            <a:r>
              <a:rPr lang="zh-CN" altLang="en-US" sz="1400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内容较空泛，缺少具体</a:t>
            </a:r>
            <a:r>
              <a:rPr lang="en-US" altLang="zh-CN" sz="1400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文献和</a:t>
            </a:r>
            <a:r>
              <a:rPr lang="zh-CN" altLang="en-US" sz="1400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分析。”</a:t>
            </a:r>
            <a:endParaRPr lang="zh-CN" altLang="zh-CN" sz="1400" dirty="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pic>
        <p:nvPicPr>
          <p:cNvPr id="29" name="图片 28">
            <a:extLst>
              <a:ext uri="{FF2B5EF4-FFF2-40B4-BE49-F238E27FC236}">
                <a16:creationId xmlns:a16="http://schemas.microsoft.com/office/drawing/2014/main" id="{217C596F-64A9-4FBD-A82E-1809AE1EB6FB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60994" y="5728018"/>
            <a:ext cx="829034" cy="838618"/>
          </a:xfrm>
          <a:prstGeom prst="rect">
            <a:avLst/>
          </a:prstGeom>
        </p:spPr>
      </p:pic>
      <p:sp>
        <p:nvSpPr>
          <p:cNvPr id="30" name="思想气泡: 云 29">
            <a:extLst>
              <a:ext uri="{FF2B5EF4-FFF2-40B4-BE49-F238E27FC236}">
                <a16:creationId xmlns:a16="http://schemas.microsoft.com/office/drawing/2014/main" id="{6E84E3BA-1044-42B4-BB7A-34FA6F7D2889}"/>
              </a:ext>
            </a:extLst>
          </p:cNvPr>
          <p:cNvSpPr/>
          <p:nvPr/>
        </p:nvSpPr>
        <p:spPr>
          <a:xfrm>
            <a:off x="6952866" y="5831007"/>
            <a:ext cx="3071983" cy="853924"/>
          </a:xfrm>
          <a:prstGeom prst="cloudCallout">
            <a:avLst>
              <a:gd name="adj1" fmla="val 64241"/>
              <a:gd name="adj2" fmla="val -30822"/>
            </a:avLst>
          </a:prstGeom>
          <a:solidFill>
            <a:schemeClr val="bg1"/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“结构已经清楚，可以继续核查材料并完成写作。”</a:t>
            </a:r>
            <a:endParaRPr lang="zh-CN" altLang="zh-CN" sz="1400" dirty="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pic>
        <p:nvPicPr>
          <p:cNvPr id="31" name="图片 30">
            <a:extLst>
              <a:ext uri="{FF2B5EF4-FFF2-40B4-BE49-F238E27FC236}">
                <a16:creationId xmlns:a16="http://schemas.microsoft.com/office/drawing/2014/main" id="{4D70130B-D518-4EEB-A617-2157506C0CD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71677" y="2203823"/>
            <a:ext cx="547307" cy="540868"/>
          </a:xfrm>
          <a:prstGeom prst="rect">
            <a:avLst/>
          </a:prstGeom>
        </p:spPr>
      </p:pic>
      <p:pic>
        <p:nvPicPr>
          <p:cNvPr id="32" name="图片 31">
            <a:extLst>
              <a:ext uri="{FF2B5EF4-FFF2-40B4-BE49-F238E27FC236}">
                <a16:creationId xmlns:a16="http://schemas.microsoft.com/office/drawing/2014/main" id="{89337706-D61F-40BF-9701-C7975470918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73869" y="3377805"/>
            <a:ext cx="547307" cy="540868"/>
          </a:xfrm>
          <a:prstGeom prst="rect">
            <a:avLst/>
          </a:prstGeom>
        </p:spPr>
      </p:pic>
      <p:pic>
        <p:nvPicPr>
          <p:cNvPr id="33" name="图片 32">
            <a:extLst>
              <a:ext uri="{FF2B5EF4-FFF2-40B4-BE49-F238E27FC236}">
                <a16:creationId xmlns:a16="http://schemas.microsoft.com/office/drawing/2014/main" id="{7ACCE3D3-78F1-4042-BB9D-C70CA7CFC33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71677" y="4875743"/>
            <a:ext cx="547307" cy="540868"/>
          </a:xfrm>
          <a:prstGeom prst="rect">
            <a:avLst/>
          </a:prstGeom>
        </p:spPr>
      </p:pic>
      <p:pic>
        <p:nvPicPr>
          <p:cNvPr id="34" name="图片 33">
            <a:extLst>
              <a:ext uri="{FF2B5EF4-FFF2-40B4-BE49-F238E27FC236}">
                <a16:creationId xmlns:a16="http://schemas.microsoft.com/office/drawing/2014/main" id="{38D987F2-6975-4D22-B7CE-FEB2C40145E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56096" y="2668886"/>
            <a:ext cx="536007" cy="523685"/>
          </a:xfrm>
          <a:prstGeom prst="rect">
            <a:avLst/>
          </a:prstGeom>
        </p:spPr>
      </p:pic>
      <p:pic>
        <p:nvPicPr>
          <p:cNvPr id="35" name="图片 34">
            <a:extLst>
              <a:ext uri="{FF2B5EF4-FFF2-40B4-BE49-F238E27FC236}">
                <a16:creationId xmlns:a16="http://schemas.microsoft.com/office/drawing/2014/main" id="{9D28D5F1-0A02-4937-B5ED-0E67B666C59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80513" y="4325755"/>
            <a:ext cx="536007" cy="5236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705390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yzu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17175" y="246888"/>
            <a:ext cx="1691640" cy="54864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274320"/>
            <a:ext cx="960120" cy="502920"/>
          </a:xfrm>
          <a:prstGeom prst="rect">
            <a:avLst/>
          </a:prstGeom>
          <a:solidFill>
            <a:srgbClr val="006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" y="341114"/>
            <a:ext cx="914400" cy="3693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400" b="1" i="0" dirty="0">
                <a:solidFill>
                  <a:srgbClr val="FFFFFF"/>
                </a:solidFill>
                <a:latin typeface="Microsoft YaHei"/>
                <a:ea typeface="Microsoft YaHei"/>
              </a:rPr>
              <a:t>2.1.3</a:t>
            </a:r>
          </a:p>
        </p:txBody>
      </p:sp>
      <p:sp>
        <p:nvSpPr>
          <p:cNvPr id="6" name="Rectangle 5"/>
          <p:cNvSpPr/>
          <p:nvPr/>
        </p:nvSpPr>
        <p:spPr>
          <a:xfrm>
            <a:off x="960120" y="274320"/>
            <a:ext cx="9052560" cy="502920"/>
          </a:xfrm>
          <a:prstGeom prst="rect">
            <a:avLst/>
          </a:prstGeom>
          <a:solidFill>
            <a:srgbClr val="3A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234440" y="341114"/>
            <a:ext cx="8686800" cy="3693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400" b="1" i="0" dirty="0">
                <a:solidFill>
                  <a:srgbClr val="FFFFFF"/>
                </a:solidFill>
                <a:latin typeface="Microsoft YaHei"/>
                <a:ea typeface="Microsoft YaHei"/>
              </a:rPr>
              <a:t>③</a:t>
            </a:r>
            <a:r>
              <a:rPr sz="2400" b="1" i="0" dirty="0" err="1">
                <a:solidFill>
                  <a:srgbClr val="FFFFFF"/>
                </a:solidFill>
                <a:latin typeface="Microsoft YaHei"/>
                <a:ea typeface="Microsoft YaHei"/>
              </a:rPr>
              <a:t> </a:t>
            </a:r>
            <a:r>
              <a:rPr sz="2400" b="1" i="0" dirty="0">
                <a:solidFill>
                  <a:srgbClr val="FFFFFF"/>
                </a:solidFill>
                <a:latin typeface="Microsoft YaHei"/>
                <a:ea typeface="Microsoft YaHei"/>
              </a:rPr>
              <a:t>约束：中立提问与</a:t>
            </a:r>
            <a:r>
              <a:rPr sz="2400" b="1" i="0" dirty="0" err="1">
                <a:solidFill>
                  <a:srgbClr val="FFFFFF"/>
                </a:solidFill>
                <a:latin typeface="Microsoft YaHei"/>
                <a:ea typeface="Microsoft YaHei"/>
              </a:rPr>
              <a:t>评价标准</a:t>
            </a:r>
            <a:endParaRPr sz="2400" b="1" i="0" dirty="0">
              <a:solidFill>
                <a:srgbClr val="FFFFFF"/>
              </a:solidFill>
              <a:latin typeface="Microsoft YaHei"/>
              <a:ea typeface="Microsoft YaHei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001805" y="844034"/>
            <a:ext cx="9406219" cy="5359663"/>
          </a:xfrm>
          <a:prstGeom prst="rect">
            <a:avLst/>
          </a:prstGeom>
          <a:noFill/>
        </p:spPr>
        <p:txBody>
          <a:bodyPr wrap="square" lIns="36000" tIns="36000" rIns="36000" bIns="36000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2400" b="0" dirty="0" err="1">
                <a:solidFill>
                  <a:srgbClr val="333333"/>
                </a:solidFill>
                <a:latin typeface="Microsoft YaHei"/>
                <a:ea typeface="Microsoft YaHei"/>
              </a:rPr>
              <a:t>模型有时会顺着用户的</a:t>
            </a:r>
            <a:r>
              <a:rPr sz="2400" b="0" dirty="0">
                <a:solidFill>
                  <a:srgbClr val="333333"/>
                </a:solidFill>
                <a:latin typeface="Microsoft YaHei"/>
                <a:ea typeface="Microsoft YaHei"/>
              </a:rPr>
              <a:t>预</a:t>
            </a:r>
            <a:r>
              <a:rPr sz="2400" b="0" dirty="0" err="1">
                <a:solidFill>
                  <a:srgbClr val="333333"/>
                </a:solidFill>
                <a:latin typeface="Microsoft YaHei"/>
                <a:ea typeface="Microsoft YaHei"/>
              </a:rPr>
              <a:t>设立场作</a:t>
            </a:r>
            <a:r>
              <a:rPr sz="2400" b="0" dirty="0">
                <a:solidFill>
                  <a:srgbClr val="333333"/>
                </a:solidFill>
                <a:latin typeface="Microsoft YaHei"/>
                <a:ea typeface="Microsoft YaHei"/>
              </a:rPr>
              <a:t>答，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2400" b="1" dirty="0" err="1">
                <a:solidFill>
                  <a:srgbClr val="F58020"/>
                </a:solidFill>
                <a:latin typeface="Microsoft YaHei"/>
                <a:ea typeface="Microsoft YaHei"/>
              </a:rPr>
              <a:t>给出过度肯</a:t>
            </a:r>
            <a:r>
              <a:rPr sz="2400" b="1" dirty="0">
                <a:solidFill>
                  <a:srgbClr val="F58020"/>
                </a:solidFill>
                <a:latin typeface="Microsoft YaHei"/>
                <a:ea typeface="Microsoft YaHei"/>
              </a:rPr>
              <a:t>定或片</a:t>
            </a:r>
            <a:r>
              <a:rPr sz="2400" b="1" dirty="0" err="1">
                <a:solidFill>
                  <a:srgbClr val="F58020"/>
                </a:solidFill>
                <a:latin typeface="Microsoft YaHei"/>
                <a:ea typeface="Microsoft YaHei"/>
              </a:rPr>
              <a:t>面的评价</a:t>
            </a:r>
            <a:r>
              <a:rPr sz="2400" b="1" dirty="0">
                <a:solidFill>
                  <a:srgbClr val="F58020"/>
                </a:solidFill>
                <a:latin typeface="Microsoft YaHei"/>
                <a:ea typeface="Microsoft YaHei"/>
              </a:rPr>
              <a:t>。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2400" b="1" dirty="0">
                <a:solidFill>
                  <a:srgbClr val="F58020"/>
                </a:solidFill>
                <a:latin typeface="Microsoft YaHei"/>
                <a:ea typeface="Microsoft YaHei"/>
              </a:rPr>
              <a:t>✗ </a:t>
            </a:r>
            <a:r>
              <a:rPr sz="2400" b="1" dirty="0" err="1">
                <a:solidFill>
                  <a:srgbClr val="F58020"/>
                </a:solidFill>
                <a:latin typeface="Microsoft YaHei"/>
                <a:ea typeface="Microsoft YaHei"/>
              </a:rPr>
              <a:t>带有偏见地提问</a:t>
            </a:r>
            <a:r>
              <a:rPr sz="2400" b="1" dirty="0">
                <a:solidFill>
                  <a:srgbClr val="F58020"/>
                </a:solidFill>
                <a:latin typeface="Microsoft YaHei"/>
                <a:ea typeface="Microsoft YaHei"/>
              </a:rPr>
              <a:t>：</a:t>
            </a:r>
            <a:r>
              <a:rPr sz="2200" b="1" dirty="0">
                <a:solidFill>
                  <a:srgbClr val="F58020"/>
                </a:solidFill>
                <a:latin typeface="Consolas"/>
                <a:ea typeface="Consolas"/>
              </a:rPr>
              <a:t>"</a:t>
            </a:r>
            <a:r>
              <a:rPr sz="2200" b="1" dirty="0" err="1">
                <a:solidFill>
                  <a:srgbClr val="F58020"/>
                </a:solidFill>
                <a:latin typeface="Consolas"/>
                <a:ea typeface="Consolas"/>
              </a:rPr>
              <a:t>我有一个绝妙的商业想法：开一辆边旅行边</a:t>
            </a:r>
            <a:endParaRPr sz="2200" b="1" dirty="0">
              <a:solidFill>
                <a:srgbClr val="F58020"/>
              </a:solidFill>
              <a:latin typeface="Consolas"/>
              <a:ea typeface="Consolas"/>
            </a:endParaRP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2200" b="1" dirty="0" err="1">
                <a:solidFill>
                  <a:srgbClr val="F58020"/>
                </a:solidFill>
                <a:latin typeface="Consolas"/>
                <a:ea typeface="Consolas"/>
              </a:rPr>
              <a:t>营业的移动咖啡车，请评价一下</a:t>
            </a:r>
            <a:r>
              <a:rPr sz="2200" b="1" dirty="0">
                <a:solidFill>
                  <a:srgbClr val="F58020"/>
                </a:solidFill>
                <a:latin typeface="Consolas"/>
                <a:ea typeface="Consolas"/>
              </a:rPr>
              <a:t>。"</a:t>
            </a:r>
            <a:endParaRPr lang="en-US" sz="2200" b="1" dirty="0">
              <a:solidFill>
                <a:srgbClr val="F58020"/>
              </a:solidFill>
              <a:latin typeface="Consolas"/>
              <a:ea typeface="Consolas"/>
            </a:endParaRP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2400" b="0" dirty="0">
                <a:solidFill>
                  <a:srgbClr val="333333"/>
                </a:solidFill>
                <a:latin typeface="Microsoft YaHei"/>
                <a:ea typeface="Microsoft YaHei"/>
              </a:rPr>
              <a:t>这类问法可</a:t>
            </a:r>
            <a:r>
              <a:rPr sz="2400" b="0" dirty="0" err="1">
                <a:solidFill>
                  <a:srgbClr val="333333"/>
                </a:solidFill>
                <a:latin typeface="Microsoft YaHei"/>
                <a:ea typeface="Microsoft YaHei"/>
              </a:rPr>
              <a:t>能诱导模型偏重优点</a:t>
            </a:r>
            <a:r>
              <a:rPr sz="2400" b="0" dirty="0">
                <a:solidFill>
                  <a:srgbClr val="333333"/>
                </a:solidFill>
                <a:latin typeface="Microsoft YaHei"/>
                <a:ea typeface="Microsoft YaHei"/>
              </a:rPr>
              <a:t>。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2400" b="1" dirty="0">
                <a:solidFill>
                  <a:srgbClr val="0066CC"/>
                </a:solidFill>
                <a:latin typeface="Microsoft YaHei"/>
                <a:ea typeface="Microsoft YaHei"/>
              </a:rPr>
              <a:t>更合</a:t>
            </a:r>
            <a:r>
              <a:rPr sz="2400" b="1" dirty="0" err="1">
                <a:solidFill>
                  <a:srgbClr val="0066CC"/>
                </a:solidFill>
                <a:latin typeface="Microsoft YaHei"/>
                <a:ea typeface="Microsoft YaHei"/>
              </a:rPr>
              <a:t>适的做法：中立提问</a:t>
            </a:r>
            <a:r>
              <a:rPr sz="2400" b="1" dirty="0">
                <a:solidFill>
                  <a:srgbClr val="0066CC"/>
                </a:solidFill>
                <a:latin typeface="Microsoft YaHei"/>
                <a:ea typeface="Microsoft YaHei"/>
              </a:rPr>
              <a:t>，明确</a:t>
            </a:r>
            <a:r>
              <a:rPr sz="2400" b="1" dirty="0" err="1">
                <a:solidFill>
                  <a:srgbClr val="0066CC"/>
                </a:solidFill>
                <a:latin typeface="Microsoft YaHei"/>
                <a:ea typeface="Microsoft YaHei"/>
              </a:rPr>
              <a:t>评价标准</a:t>
            </a:r>
            <a:endParaRPr sz="2400" b="1" dirty="0">
              <a:solidFill>
                <a:srgbClr val="0066CC"/>
              </a:solidFill>
              <a:latin typeface="Microsoft YaHei"/>
              <a:ea typeface="Microsoft YaHei"/>
            </a:endParaRP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2200" b="0" dirty="0">
                <a:solidFill>
                  <a:srgbClr val="333333"/>
                </a:solidFill>
                <a:latin typeface="Microsoft YaHei"/>
                <a:ea typeface="Microsoft YaHei"/>
              </a:rPr>
              <a:t>    • </a:t>
            </a:r>
            <a:r>
              <a:rPr sz="2200" b="0" dirty="0" err="1">
                <a:solidFill>
                  <a:srgbClr val="333333"/>
                </a:solidFill>
                <a:latin typeface="Microsoft YaHei"/>
                <a:ea typeface="Microsoft YaHei"/>
              </a:rPr>
              <a:t>是否存在真实的痛点</a:t>
            </a:r>
            <a:r>
              <a:rPr sz="2200" b="0" dirty="0">
                <a:solidFill>
                  <a:srgbClr val="333333"/>
                </a:solidFill>
                <a:latin typeface="Microsoft YaHei"/>
                <a:ea typeface="Microsoft YaHei"/>
              </a:rPr>
              <a:t>？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2200" b="0" dirty="0">
                <a:solidFill>
                  <a:srgbClr val="333333"/>
                </a:solidFill>
                <a:latin typeface="Microsoft YaHei"/>
                <a:ea typeface="Microsoft YaHei"/>
              </a:rPr>
              <a:t>    • </a:t>
            </a:r>
            <a:r>
              <a:rPr sz="2200" b="0" dirty="0" err="1">
                <a:solidFill>
                  <a:srgbClr val="333333"/>
                </a:solidFill>
                <a:latin typeface="Microsoft YaHei"/>
                <a:ea typeface="Microsoft YaHei"/>
              </a:rPr>
              <a:t>是否有足够的市场需求</a:t>
            </a:r>
            <a:r>
              <a:rPr sz="2200" b="0" dirty="0">
                <a:solidFill>
                  <a:srgbClr val="333333"/>
                </a:solidFill>
                <a:latin typeface="Microsoft YaHei"/>
                <a:ea typeface="Microsoft YaHei"/>
              </a:rPr>
              <a:t>？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2200" b="0" dirty="0">
                <a:solidFill>
                  <a:srgbClr val="333333"/>
                </a:solidFill>
                <a:latin typeface="Microsoft YaHei"/>
                <a:ea typeface="Microsoft YaHei"/>
              </a:rPr>
              <a:t>    • </a:t>
            </a:r>
            <a:r>
              <a:rPr sz="2200" b="0" dirty="0" err="1">
                <a:solidFill>
                  <a:srgbClr val="333333"/>
                </a:solidFill>
                <a:latin typeface="Microsoft YaHei"/>
                <a:ea typeface="Microsoft YaHei"/>
              </a:rPr>
              <a:t>是否具备竞争优势</a:t>
            </a:r>
            <a:r>
              <a:rPr sz="2200" b="0" dirty="0">
                <a:solidFill>
                  <a:srgbClr val="333333"/>
                </a:solidFill>
                <a:latin typeface="Microsoft YaHei"/>
                <a:ea typeface="Microsoft YaHei"/>
              </a:rPr>
              <a:t>？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2400" b="1" dirty="0">
                <a:solidFill>
                  <a:srgbClr val="004CA0"/>
                </a:solidFill>
                <a:latin typeface="Microsoft YaHei"/>
                <a:ea typeface="Microsoft YaHei"/>
              </a:rPr>
              <a:t>要求</a:t>
            </a:r>
            <a:r>
              <a:rPr sz="2400" b="1" dirty="0" err="1">
                <a:solidFill>
                  <a:srgbClr val="004CA0"/>
                </a:solidFill>
                <a:latin typeface="Microsoft YaHei"/>
                <a:ea typeface="Microsoft YaHei"/>
              </a:rPr>
              <a:t>说明评分依据与信息缺口，不</a:t>
            </a:r>
            <a:r>
              <a:rPr sz="2400" b="1" dirty="0">
                <a:solidFill>
                  <a:srgbClr val="004CA0"/>
                </a:solidFill>
                <a:latin typeface="Microsoft YaHei"/>
                <a:ea typeface="Microsoft YaHei"/>
              </a:rPr>
              <a:t>能把模型评分当</a:t>
            </a:r>
            <a:r>
              <a:rPr sz="2400" b="1" dirty="0" err="1">
                <a:solidFill>
                  <a:srgbClr val="004CA0"/>
                </a:solidFill>
                <a:latin typeface="Microsoft YaHei"/>
                <a:ea typeface="Microsoft YaHei"/>
              </a:rPr>
              <a:t>作客观结论</a:t>
            </a:r>
            <a:r>
              <a:rPr sz="2400" b="1" dirty="0">
                <a:solidFill>
                  <a:srgbClr val="004CA0"/>
                </a:solidFill>
                <a:latin typeface="Microsoft YaHei"/>
                <a:ea typeface="Microsoft YaHei"/>
              </a:rPr>
              <a:t>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94415" y="6446520"/>
            <a:ext cx="914400" cy="320040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pPr algn="r"/>
            <a:r>
              <a:rPr sz="1100">
                <a:solidFill>
                  <a:srgbClr val="999999"/>
                </a:solidFill>
                <a:latin typeface="Arial"/>
              </a:rPr>
              <a:t>17 / 50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869CAF-FF88-E621-BD98-39CEFC5221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B030E782-4617-F425-14CD-C4880B9231C9}"/>
              </a:ext>
            </a:extLst>
          </p:cNvPr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yzu_logo.png">
            <a:extLst>
              <a:ext uri="{FF2B5EF4-FFF2-40B4-BE49-F238E27FC236}">
                <a16:creationId xmlns:a16="http://schemas.microsoft.com/office/drawing/2014/main" id="{CE9DE4FC-E723-D66D-B36A-9AF8A4E5D6B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17175" y="246888"/>
            <a:ext cx="1691640" cy="548640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59E5B6D2-D68E-02FB-D6B3-05C96A3167BE}"/>
              </a:ext>
            </a:extLst>
          </p:cNvPr>
          <p:cNvSpPr/>
          <p:nvPr/>
        </p:nvSpPr>
        <p:spPr>
          <a:xfrm>
            <a:off x="0" y="274320"/>
            <a:ext cx="960120" cy="502920"/>
          </a:xfrm>
          <a:prstGeom prst="rect">
            <a:avLst/>
          </a:prstGeom>
          <a:solidFill>
            <a:srgbClr val="006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DB6FDEC-531C-134A-40EE-153C06E11A5D}"/>
              </a:ext>
            </a:extLst>
          </p:cNvPr>
          <p:cNvSpPr txBox="1"/>
          <p:nvPr/>
        </p:nvSpPr>
        <p:spPr>
          <a:xfrm>
            <a:off x="45720" y="341114"/>
            <a:ext cx="914400" cy="3693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400" b="1" i="0" dirty="0">
                <a:solidFill>
                  <a:srgbClr val="FFFFFF"/>
                </a:solidFill>
                <a:latin typeface="Microsoft YaHei"/>
                <a:ea typeface="Microsoft YaHei"/>
              </a:rPr>
              <a:t>2.1.3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386601E-105F-B05D-9281-E0ED46F68AF4}"/>
              </a:ext>
            </a:extLst>
          </p:cNvPr>
          <p:cNvSpPr/>
          <p:nvPr/>
        </p:nvSpPr>
        <p:spPr>
          <a:xfrm>
            <a:off x="960120" y="274320"/>
            <a:ext cx="9052560" cy="502920"/>
          </a:xfrm>
          <a:prstGeom prst="rect">
            <a:avLst/>
          </a:prstGeom>
          <a:solidFill>
            <a:srgbClr val="3A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FE7D0EC-8ADC-975B-E47E-66D3C5A5AEF2}"/>
              </a:ext>
            </a:extLst>
          </p:cNvPr>
          <p:cNvSpPr txBox="1"/>
          <p:nvPr/>
        </p:nvSpPr>
        <p:spPr>
          <a:xfrm>
            <a:off x="1234440" y="341114"/>
            <a:ext cx="8686800" cy="3693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400" b="1" i="0" dirty="0">
                <a:solidFill>
                  <a:srgbClr val="FFFFFF"/>
                </a:solidFill>
                <a:latin typeface="Microsoft YaHei"/>
                <a:ea typeface="Microsoft YaHei"/>
              </a:rPr>
              <a:t>③</a:t>
            </a:r>
            <a:r>
              <a:rPr sz="2400" b="1" i="0" dirty="0" err="1">
                <a:solidFill>
                  <a:srgbClr val="FFFFFF"/>
                </a:solidFill>
                <a:latin typeface="Microsoft YaHei"/>
                <a:ea typeface="Microsoft YaHei"/>
              </a:rPr>
              <a:t> </a:t>
            </a:r>
            <a:r>
              <a:rPr sz="2400" b="1" i="0" dirty="0">
                <a:solidFill>
                  <a:srgbClr val="FFFFFF"/>
                </a:solidFill>
                <a:latin typeface="Microsoft YaHei"/>
                <a:ea typeface="Microsoft YaHei"/>
              </a:rPr>
              <a:t>约束：中立提问与</a:t>
            </a:r>
            <a:r>
              <a:rPr sz="2400" b="1" i="0" dirty="0" err="1">
                <a:solidFill>
                  <a:srgbClr val="FFFFFF"/>
                </a:solidFill>
                <a:latin typeface="Microsoft YaHei"/>
                <a:ea typeface="Microsoft YaHei"/>
              </a:rPr>
              <a:t>评价标准</a:t>
            </a:r>
            <a:endParaRPr sz="2400" b="1" i="0" dirty="0">
              <a:solidFill>
                <a:srgbClr val="FFFFFF"/>
              </a:solidFill>
              <a:latin typeface="Microsoft YaHei"/>
              <a:ea typeface="Microsoft YaHei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66732E9-CEEE-4BA1-C8B5-A8375EB75E70}"/>
              </a:ext>
            </a:extLst>
          </p:cNvPr>
          <p:cNvSpPr txBox="1"/>
          <p:nvPr/>
        </p:nvSpPr>
        <p:spPr>
          <a:xfrm>
            <a:off x="3758587" y="6306681"/>
            <a:ext cx="4297680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b="0" dirty="0">
                <a:solidFill>
                  <a:srgbClr val="333333"/>
                </a:solidFill>
                <a:latin typeface="Microsoft YaHei"/>
                <a:ea typeface="Microsoft YaHei"/>
              </a:rPr>
              <a:t>图 2-4  中立提</a:t>
            </a:r>
            <a:r>
              <a:rPr b="0" dirty="0" err="1">
                <a:solidFill>
                  <a:srgbClr val="333333"/>
                </a:solidFill>
                <a:latin typeface="Microsoft YaHei"/>
                <a:ea typeface="Microsoft YaHei"/>
              </a:rPr>
              <a:t>问与明确标准的作用</a:t>
            </a:r>
            <a:endParaRPr b="0" dirty="0">
              <a:solidFill>
                <a:srgbClr val="333333"/>
              </a:solidFill>
              <a:latin typeface="Microsoft YaHei"/>
              <a:ea typeface="Microsoft YaHei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A53E7D5-0B37-CD00-6188-61606E81050F}"/>
              </a:ext>
            </a:extLst>
          </p:cNvPr>
          <p:cNvSpPr txBox="1"/>
          <p:nvPr/>
        </p:nvSpPr>
        <p:spPr>
          <a:xfrm>
            <a:off x="11094415" y="6446520"/>
            <a:ext cx="914400" cy="320040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pPr algn="r"/>
            <a:r>
              <a:rPr sz="1100">
                <a:solidFill>
                  <a:srgbClr val="999999"/>
                </a:solidFill>
                <a:latin typeface="Arial"/>
              </a:rPr>
              <a:t>18 / 50</a:t>
            </a:r>
          </a:p>
        </p:txBody>
      </p:sp>
      <p:sp>
        <p:nvSpPr>
          <p:cNvPr id="13" name="内容占位符 4">
            <a:extLst>
              <a:ext uri="{FF2B5EF4-FFF2-40B4-BE49-F238E27FC236}">
                <a16:creationId xmlns:a16="http://schemas.microsoft.com/office/drawing/2014/main" id="{3F5FAF42-FC1B-44E2-8EF7-BC35353CD2EE}"/>
              </a:ext>
            </a:extLst>
          </p:cNvPr>
          <p:cNvSpPr txBox="1">
            <a:spLocks/>
          </p:cNvSpPr>
          <p:nvPr/>
        </p:nvSpPr>
        <p:spPr>
          <a:xfrm>
            <a:off x="838200" y="782726"/>
            <a:ext cx="5181600" cy="5394237"/>
          </a:xfrm>
          <a:prstGeom prst="rect">
            <a:avLst/>
          </a:prstGeom>
        </p:spPr>
        <p:txBody>
          <a:bodyPr/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/>
              <a:buNone/>
            </a:pPr>
            <a:r>
              <a:rPr lang="en-US" altLang="zh-CN"/>
              <a:t> </a:t>
            </a:r>
            <a:endParaRPr lang="zh-CN" altLang="en-US" dirty="0"/>
          </a:p>
        </p:txBody>
      </p:sp>
      <p:sp>
        <p:nvSpPr>
          <p:cNvPr id="14" name="内容占位符 5">
            <a:extLst>
              <a:ext uri="{FF2B5EF4-FFF2-40B4-BE49-F238E27FC236}">
                <a16:creationId xmlns:a16="http://schemas.microsoft.com/office/drawing/2014/main" id="{6151A6A2-5636-4E3B-A2DC-D0BB5A2CAE26}"/>
              </a:ext>
            </a:extLst>
          </p:cNvPr>
          <p:cNvSpPr txBox="1">
            <a:spLocks/>
          </p:cNvSpPr>
          <p:nvPr/>
        </p:nvSpPr>
        <p:spPr>
          <a:xfrm>
            <a:off x="6172200" y="782726"/>
            <a:ext cx="5181600" cy="5394237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altLang="zh-CN"/>
              <a:t> </a:t>
            </a:r>
            <a:endParaRPr lang="zh-CN" altLang="en-US" dirty="0"/>
          </a:p>
        </p:txBody>
      </p:sp>
      <p:sp>
        <p:nvSpPr>
          <p:cNvPr id="15" name="内容占位符 5">
            <a:extLst>
              <a:ext uri="{FF2B5EF4-FFF2-40B4-BE49-F238E27FC236}">
                <a16:creationId xmlns:a16="http://schemas.microsoft.com/office/drawing/2014/main" id="{0E08E40D-819B-4424-8544-83028CB9A167}"/>
              </a:ext>
            </a:extLst>
          </p:cNvPr>
          <p:cNvSpPr txBox="1">
            <a:spLocks/>
          </p:cNvSpPr>
          <p:nvPr/>
        </p:nvSpPr>
        <p:spPr>
          <a:xfrm>
            <a:off x="838200" y="636422"/>
            <a:ext cx="5181600" cy="554054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altLang="zh-CN"/>
              <a:t> </a:t>
            </a:r>
            <a:endParaRPr lang="zh-CN" altLang="en-US" dirty="0"/>
          </a:p>
        </p:txBody>
      </p:sp>
      <p:pic>
        <p:nvPicPr>
          <p:cNvPr id="16" name="图片 15">
            <a:extLst>
              <a:ext uri="{FF2B5EF4-FFF2-40B4-BE49-F238E27FC236}">
                <a16:creationId xmlns:a16="http://schemas.microsoft.com/office/drawing/2014/main" id="{5F7BEA6B-1AE9-4FEA-ACE0-802BDC85A04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22177" y="1954838"/>
            <a:ext cx="547307" cy="540868"/>
          </a:xfrm>
          <a:prstGeom prst="rect">
            <a:avLst/>
          </a:prstGeom>
        </p:spPr>
      </p:pic>
      <p:sp>
        <p:nvSpPr>
          <p:cNvPr id="17" name="矩形: 圆角 16">
            <a:extLst>
              <a:ext uri="{FF2B5EF4-FFF2-40B4-BE49-F238E27FC236}">
                <a16:creationId xmlns:a16="http://schemas.microsoft.com/office/drawing/2014/main" id="{3A8B1D7D-F240-4028-80B4-9BDC23F023ED}"/>
              </a:ext>
            </a:extLst>
          </p:cNvPr>
          <p:cNvSpPr/>
          <p:nvPr/>
        </p:nvSpPr>
        <p:spPr>
          <a:xfrm>
            <a:off x="963624" y="1959678"/>
            <a:ext cx="4320000" cy="871953"/>
          </a:xfrm>
          <a:prstGeom prst="round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just"/>
            <a:r>
              <a:rPr lang="zh-CN" altLang="en-US" sz="1600" dirty="0">
                <a:latin typeface="宋体" panose="02010600030101010101" pitchFamily="2" charset="-122"/>
                <a:ea typeface="宋体" panose="02010600030101010101" pitchFamily="2" charset="-122"/>
              </a:rPr>
              <a:t>“我有一个绝妙的商业想法：开一辆边旅行边营业的移动咖啡车。请评价它？”</a:t>
            </a:r>
          </a:p>
        </p:txBody>
      </p:sp>
      <p:pic>
        <p:nvPicPr>
          <p:cNvPr id="18" name="图片 17">
            <a:extLst>
              <a:ext uri="{FF2B5EF4-FFF2-40B4-BE49-F238E27FC236}">
                <a16:creationId xmlns:a16="http://schemas.microsoft.com/office/drawing/2014/main" id="{9B26EAC9-213F-443F-9F21-C09A62E16ED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5610" y="2997127"/>
            <a:ext cx="536007" cy="523685"/>
          </a:xfrm>
          <a:prstGeom prst="rect">
            <a:avLst/>
          </a:prstGeom>
        </p:spPr>
      </p:pic>
      <p:sp>
        <p:nvSpPr>
          <p:cNvPr id="19" name="矩形: 圆角 18">
            <a:extLst>
              <a:ext uri="{FF2B5EF4-FFF2-40B4-BE49-F238E27FC236}">
                <a16:creationId xmlns:a16="http://schemas.microsoft.com/office/drawing/2014/main" id="{6F1D85ED-55FB-4901-987B-BC4ED7287544}"/>
              </a:ext>
            </a:extLst>
          </p:cNvPr>
          <p:cNvSpPr/>
          <p:nvPr/>
        </p:nvSpPr>
        <p:spPr>
          <a:xfrm>
            <a:off x="920308" y="3026528"/>
            <a:ext cx="4320000" cy="949246"/>
          </a:xfrm>
          <a:prstGeom prst="roundRect">
            <a:avLst/>
          </a:prstGeom>
          <a:noFill/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just"/>
            <a:r>
              <a:rPr lang="en-US" altLang="zh-CN" sz="1600" dirty="0">
                <a:latin typeface="宋体" panose="02010600030101010101" pitchFamily="2" charset="-122"/>
                <a:ea typeface="宋体" panose="02010600030101010101" pitchFamily="2" charset="-122"/>
              </a:rPr>
              <a:t>“</a:t>
            </a:r>
            <a:r>
              <a:rPr lang="zh-CN" altLang="en-US" sz="1600" dirty="0">
                <a:latin typeface="宋体" panose="02010600030101010101" pitchFamily="2" charset="-122"/>
                <a:ea typeface="宋体" panose="02010600030101010101" pitchFamily="2" charset="-122"/>
              </a:rPr>
              <a:t>好主意！移动咖啡车能把旅行与经营结合起来，可能吸引喜欢新体验的顾客</a:t>
            </a:r>
            <a:r>
              <a:rPr lang="en-US" altLang="zh-CN" sz="1600" dirty="0">
                <a:latin typeface="宋体" panose="02010600030101010101" pitchFamily="2" charset="-122"/>
                <a:ea typeface="宋体" panose="02010600030101010101" pitchFamily="2" charset="-122"/>
              </a:rPr>
              <a:t>……</a:t>
            </a:r>
            <a:r>
              <a:rPr lang="zh-CN" altLang="en-US" sz="1600" dirty="0">
                <a:latin typeface="宋体" panose="02010600030101010101" pitchFamily="2" charset="-122"/>
                <a:ea typeface="宋体" panose="02010600030101010101" pitchFamily="2" charset="-122"/>
              </a:rPr>
              <a:t>”</a:t>
            </a:r>
            <a:endParaRPr lang="zh-CN" altLang="zh-CN" sz="1600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20" name="思想气泡: 云 19">
            <a:extLst>
              <a:ext uri="{FF2B5EF4-FFF2-40B4-BE49-F238E27FC236}">
                <a16:creationId xmlns:a16="http://schemas.microsoft.com/office/drawing/2014/main" id="{A888BC56-3822-4C3E-B016-CB6A7FCB794B}"/>
              </a:ext>
            </a:extLst>
          </p:cNvPr>
          <p:cNvSpPr/>
          <p:nvPr/>
        </p:nvSpPr>
        <p:spPr>
          <a:xfrm>
            <a:off x="2339828" y="4495153"/>
            <a:ext cx="2943796" cy="742368"/>
          </a:xfrm>
          <a:prstGeom prst="cloudCallout">
            <a:avLst>
              <a:gd name="adj1" fmla="val -62779"/>
              <a:gd name="adj2" fmla="val -19301"/>
            </a:avLst>
          </a:prstGeom>
          <a:solidFill>
            <a:schemeClr val="bg1"/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“</a:t>
            </a:r>
            <a:r>
              <a:rPr lang="zh-CN" altLang="en-US" sz="1600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你是不是只挑我想听的话告诉我？”</a:t>
            </a:r>
            <a:endParaRPr lang="zh-CN" altLang="zh-CN" sz="1600" dirty="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21" name="思想气泡: 云 20">
            <a:extLst>
              <a:ext uri="{FF2B5EF4-FFF2-40B4-BE49-F238E27FC236}">
                <a16:creationId xmlns:a16="http://schemas.microsoft.com/office/drawing/2014/main" id="{22439EC0-15BC-4FF9-9622-5F869A637536}"/>
              </a:ext>
            </a:extLst>
          </p:cNvPr>
          <p:cNvSpPr/>
          <p:nvPr/>
        </p:nvSpPr>
        <p:spPr>
          <a:xfrm>
            <a:off x="6460665" y="5434937"/>
            <a:ext cx="3763754" cy="936088"/>
          </a:xfrm>
          <a:prstGeom prst="cloudCallout">
            <a:avLst>
              <a:gd name="adj1" fmla="val 61603"/>
              <a:gd name="adj2" fmla="val -35361"/>
            </a:avLst>
          </a:prstGeom>
          <a:solidFill>
            <a:schemeClr val="bg1"/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“这些问题值得调查，分数本身还需要事实依据。”</a:t>
            </a:r>
            <a:endParaRPr lang="zh-CN" altLang="zh-CN" sz="1600" dirty="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22" name="矩形: 圆角 21">
            <a:extLst>
              <a:ext uri="{FF2B5EF4-FFF2-40B4-BE49-F238E27FC236}">
                <a16:creationId xmlns:a16="http://schemas.microsoft.com/office/drawing/2014/main" id="{FD63EA25-45C7-4FE8-9391-B1DF096AB226}"/>
              </a:ext>
            </a:extLst>
          </p:cNvPr>
          <p:cNvSpPr/>
          <p:nvPr/>
        </p:nvSpPr>
        <p:spPr>
          <a:xfrm>
            <a:off x="6834274" y="2826260"/>
            <a:ext cx="4320000" cy="915978"/>
          </a:xfrm>
          <a:prstGeom prst="round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just"/>
            <a:r>
              <a:rPr lang="zh-CN" altLang="en-US" sz="1600" dirty="0">
                <a:latin typeface="宋体" panose="02010600030101010101" pitchFamily="2" charset="-122"/>
                <a:ea typeface="宋体" panose="02010600030101010101" pitchFamily="2" charset="-122"/>
              </a:rPr>
              <a:t>“请客观分析以下商业想法：边旅行边营业的移动咖啡车。不要迎合我。请严格使用上述量表进行打分。”</a:t>
            </a:r>
            <a:endParaRPr lang="zh-CN" altLang="en-US" sz="1400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pic>
        <p:nvPicPr>
          <p:cNvPr id="23" name="内容占位符 22">
            <a:extLst>
              <a:ext uri="{FF2B5EF4-FFF2-40B4-BE49-F238E27FC236}">
                <a16:creationId xmlns:a16="http://schemas.microsoft.com/office/drawing/2014/main" id="{DF9DF50C-5578-4E21-95F1-36E1BA8D852E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378" r="22260"/>
          <a:stretch>
            <a:fillRect/>
          </a:stretch>
        </p:blipFill>
        <p:spPr>
          <a:xfrm>
            <a:off x="1248147" y="4495153"/>
            <a:ext cx="758434" cy="736610"/>
          </a:xfrm>
          <a:prstGeom prst="rect">
            <a:avLst/>
          </a:prstGeom>
        </p:spPr>
      </p:pic>
      <p:pic>
        <p:nvPicPr>
          <p:cNvPr id="24" name="图片 23">
            <a:extLst>
              <a:ext uri="{FF2B5EF4-FFF2-40B4-BE49-F238E27FC236}">
                <a16:creationId xmlns:a16="http://schemas.microsoft.com/office/drawing/2014/main" id="{CE5BA32C-E27E-4A3F-967B-4CAF504F6CF1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46813" y="5386834"/>
            <a:ext cx="829034" cy="838618"/>
          </a:xfrm>
          <a:prstGeom prst="rect">
            <a:avLst/>
          </a:prstGeom>
        </p:spPr>
      </p:pic>
      <p:sp>
        <p:nvSpPr>
          <p:cNvPr id="25" name="矩形: 圆角 24">
            <a:extLst>
              <a:ext uri="{FF2B5EF4-FFF2-40B4-BE49-F238E27FC236}">
                <a16:creationId xmlns:a16="http://schemas.microsoft.com/office/drawing/2014/main" id="{5C6801F7-DA61-42D2-B7F3-8B78821E0709}"/>
              </a:ext>
            </a:extLst>
          </p:cNvPr>
          <p:cNvSpPr/>
          <p:nvPr/>
        </p:nvSpPr>
        <p:spPr>
          <a:xfrm>
            <a:off x="653367" y="864781"/>
            <a:ext cx="5040000" cy="900000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提问</a:t>
            </a:r>
            <a:r>
              <a:rPr lang="zh-CN" altLang="en-US" sz="2000" b="1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较笼统</a:t>
            </a:r>
            <a:endParaRPr lang="en-US" altLang="zh-CN" sz="2000" b="1" dirty="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ctr"/>
            <a:r>
              <a:rPr lang="zh-CN" altLang="en-US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特点：提问预先肯定方案，可能影响评价。</a:t>
            </a:r>
          </a:p>
        </p:txBody>
      </p:sp>
      <p:sp>
        <p:nvSpPr>
          <p:cNvPr id="26" name="矩形: 圆角 25">
            <a:extLst>
              <a:ext uri="{FF2B5EF4-FFF2-40B4-BE49-F238E27FC236}">
                <a16:creationId xmlns:a16="http://schemas.microsoft.com/office/drawing/2014/main" id="{C1A7DBE8-ACA6-4AC8-B6F0-996D43FEA969}"/>
              </a:ext>
            </a:extLst>
          </p:cNvPr>
          <p:cNvSpPr/>
          <p:nvPr/>
        </p:nvSpPr>
        <p:spPr>
          <a:xfrm>
            <a:off x="6474274" y="867349"/>
            <a:ext cx="5040000" cy="900000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要求</a:t>
            </a:r>
            <a:r>
              <a:rPr lang="zh-CN" altLang="en-US" sz="2000" b="1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更明确</a:t>
            </a:r>
            <a:endParaRPr lang="en-US" altLang="zh-CN" sz="2000" b="1" dirty="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ctr"/>
            <a:r>
              <a:rPr lang="zh-CN" altLang="en-US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特点：中立提问，并要求按标准说明依据。</a:t>
            </a:r>
          </a:p>
        </p:txBody>
      </p:sp>
      <p:pic>
        <p:nvPicPr>
          <p:cNvPr id="27" name="图片 26">
            <a:extLst>
              <a:ext uri="{FF2B5EF4-FFF2-40B4-BE49-F238E27FC236}">
                <a16:creationId xmlns:a16="http://schemas.microsoft.com/office/drawing/2014/main" id="{4E395362-A454-4C76-B5D0-BF34496FCAA1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257189" y="1816221"/>
            <a:ext cx="3704141" cy="772760"/>
          </a:xfrm>
          <a:prstGeom prst="rect">
            <a:avLst/>
          </a:prstGeom>
        </p:spPr>
      </p:pic>
      <p:sp>
        <p:nvSpPr>
          <p:cNvPr id="28" name="下箭头 2">
            <a:extLst>
              <a:ext uri="{FF2B5EF4-FFF2-40B4-BE49-F238E27FC236}">
                <a16:creationId xmlns:a16="http://schemas.microsoft.com/office/drawing/2014/main" id="{CD77FA8B-983B-420A-AEE9-C96D236DAF69}"/>
              </a:ext>
            </a:extLst>
          </p:cNvPr>
          <p:cNvSpPr/>
          <p:nvPr/>
        </p:nvSpPr>
        <p:spPr>
          <a:xfrm>
            <a:off x="8911524" y="2571397"/>
            <a:ext cx="547307" cy="237279"/>
          </a:xfrm>
          <a:prstGeom prst="downArrow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29" name="矩形: 圆角 28">
            <a:extLst>
              <a:ext uri="{FF2B5EF4-FFF2-40B4-BE49-F238E27FC236}">
                <a16:creationId xmlns:a16="http://schemas.microsoft.com/office/drawing/2014/main" id="{C0C93137-ED82-4D1C-A653-E48D64F9892B}"/>
              </a:ext>
            </a:extLst>
          </p:cNvPr>
          <p:cNvSpPr/>
          <p:nvPr/>
        </p:nvSpPr>
        <p:spPr>
          <a:xfrm>
            <a:off x="6838695" y="3853360"/>
            <a:ext cx="4320000" cy="1462650"/>
          </a:xfrm>
          <a:prstGeom prst="roundRect">
            <a:avLst/>
          </a:prstGeom>
          <a:noFill/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just"/>
            <a:r>
              <a:rPr lang="zh-CN" altLang="en-US" sz="1600" dirty="0">
                <a:latin typeface="宋体" panose="02010600030101010101" pitchFamily="2" charset="-122"/>
                <a:ea typeface="宋体" panose="02010600030101010101" pitchFamily="2" charset="-122"/>
              </a:rPr>
              <a:t>“示例评分：15</a:t>
            </a:r>
            <a:r>
              <a:rPr lang="en-US" altLang="zh-CN" sz="1600" dirty="0">
                <a:latin typeface="宋体" panose="02010600030101010101" pitchFamily="2" charset="-122"/>
                <a:ea typeface="宋体" panose="02010600030101010101" pitchFamily="2" charset="-122"/>
              </a:rPr>
              <a:t>/100，仅演</a:t>
            </a:r>
            <a:r>
              <a:rPr lang="zh-CN" altLang="en-US" sz="1600" dirty="0">
                <a:latin typeface="宋体" panose="02010600030101010101" pitchFamily="2" charset="-122"/>
                <a:ea typeface="宋体" panose="02010600030101010101" pitchFamily="2" charset="-122"/>
              </a:rPr>
              <a:t>示反馈形式。待核查的问题包括：</a:t>
            </a:r>
            <a:endParaRPr lang="en-US" altLang="zh-CN" sz="16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342900" indent="-342900" algn="just">
              <a:buAutoNum type="arabicPeriod"/>
            </a:pPr>
            <a:r>
              <a:rPr lang="zh-CN" altLang="en-US" sz="1600" dirty="0">
                <a:latin typeface="宋体" panose="02010600030101010101" pitchFamily="2" charset="-122"/>
                <a:ea typeface="宋体" panose="02010600030101010101" pitchFamily="2" charset="-122"/>
              </a:rPr>
              <a:t>能否形成稳定客源；</a:t>
            </a:r>
            <a:endParaRPr lang="en-US" altLang="zh-CN" sz="16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342900" indent="-342900" algn="just">
              <a:buAutoNum type="arabicPeriod"/>
            </a:pPr>
            <a:r>
              <a:rPr lang="zh-CN" altLang="en-US" sz="1600" dirty="0">
                <a:latin typeface="宋体" panose="02010600030101010101" pitchFamily="2" charset="-122"/>
                <a:ea typeface="宋体" panose="02010600030101010101" pitchFamily="2" charset="-122"/>
              </a:rPr>
              <a:t>经营场地与手续是否符合要求；</a:t>
            </a:r>
            <a:endParaRPr lang="en-US" altLang="zh-CN" sz="16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342900" indent="-342900" algn="just">
              <a:buAutoNum type="arabicPeriod"/>
            </a:pPr>
            <a:r>
              <a:rPr lang="zh-CN" altLang="en-US" sz="1600" dirty="0">
                <a:latin typeface="宋体" panose="02010600030101010101" pitchFamily="2" charset="-122"/>
                <a:ea typeface="宋体" panose="02010600030101010101" pitchFamily="2" charset="-122"/>
              </a:rPr>
              <a:t>预期收入能否覆盖交通、车辆和经营成本</a:t>
            </a:r>
            <a:r>
              <a:rPr lang="en-US" altLang="zh-CN" sz="1600" dirty="0">
                <a:latin typeface="宋体" panose="02010600030101010101" pitchFamily="2" charset="-122"/>
                <a:ea typeface="宋体" panose="02010600030101010101" pitchFamily="2" charset="-122"/>
              </a:rPr>
              <a:t>。</a:t>
            </a:r>
            <a:r>
              <a:rPr lang="zh-CN" altLang="en-US" sz="1600" dirty="0">
                <a:latin typeface="宋体" panose="02010600030101010101" pitchFamily="2" charset="-122"/>
                <a:ea typeface="宋体" panose="02010600030101010101" pitchFamily="2" charset="-122"/>
              </a:rPr>
              <a:t>”</a:t>
            </a:r>
            <a:endParaRPr lang="zh-CN" altLang="zh-CN" sz="1600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cxnSp>
        <p:nvCxnSpPr>
          <p:cNvPr id="30" name="直接连接符 29">
            <a:extLst>
              <a:ext uri="{FF2B5EF4-FFF2-40B4-BE49-F238E27FC236}">
                <a16:creationId xmlns:a16="http://schemas.microsoft.com/office/drawing/2014/main" id="{40EE58B7-A585-4F73-A581-EEEB280D9500}"/>
              </a:ext>
            </a:extLst>
          </p:cNvPr>
          <p:cNvCxnSpPr>
            <a:cxnSpLocks/>
          </p:cNvCxnSpPr>
          <p:nvPr/>
        </p:nvCxnSpPr>
        <p:spPr>
          <a:xfrm>
            <a:off x="6083292" y="918970"/>
            <a:ext cx="985" cy="5257993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31" name="图片 30">
            <a:extLst>
              <a:ext uri="{FF2B5EF4-FFF2-40B4-BE49-F238E27FC236}">
                <a16:creationId xmlns:a16="http://schemas.microsoft.com/office/drawing/2014/main" id="{9C7F488A-21F8-4BC2-9575-6C04A2CEAAF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82549" y="2790049"/>
            <a:ext cx="547307" cy="540868"/>
          </a:xfrm>
          <a:prstGeom prst="rect">
            <a:avLst/>
          </a:prstGeom>
        </p:spPr>
      </p:pic>
      <p:pic>
        <p:nvPicPr>
          <p:cNvPr id="32" name="图片 31">
            <a:extLst>
              <a:ext uri="{FF2B5EF4-FFF2-40B4-BE49-F238E27FC236}">
                <a16:creationId xmlns:a16="http://schemas.microsoft.com/office/drawing/2014/main" id="{77BFA59F-15A7-4C18-B394-E7954B51B2D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37444" y="3874142"/>
            <a:ext cx="536007" cy="5236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9726950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yzu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17175" y="246888"/>
            <a:ext cx="1691640" cy="54864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274320"/>
            <a:ext cx="960120" cy="502920"/>
          </a:xfrm>
          <a:prstGeom prst="rect">
            <a:avLst/>
          </a:prstGeom>
          <a:solidFill>
            <a:srgbClr val="006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" y="341114"/>
            <a:ext cx="914400" cy="3693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400" b="1" i="0" dirty="0">
                <a:solidFill>
                  <a:srgbClr val="FFFFFF"/>
                </a:solidFill>
                <a:latin typeface="Microsoft YaHei"/>
                <a:ea typeface="Microsoft YaHei"/>
              </a:rPr>
              <a:t>2.1.3</a:t>
            </a:r>
          </a:p>
        </p:txBody>
      </p:sp>
      <p:sp>
        <p:nvSpPr>
          <p:cNvPr id="6" name="Rectangle 5"/>
          <p:cNvSpPr/>
          <p:nvPr/>
        </p:nvSpPr>
        <p:spPr>
          <a:xfrm>
            <a:off x="960120" y="274320"/>
            <a:ext cx="9052560" cy="502920"/>
          </a:xfrm>
          <a:prstGeom prst="rect">
            <a:avLst/>
          </a:prstGeom>
          <a:solidFill>
            <a:srgbClr val="3A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234440" y="341114"/>
            <a:ext cx="8686800" cy="3693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400" b="1" i="0" dirty="0">
                <a:solidFill>
                  <a:srgbClr val="FFFFFF"/>
                </a:solidFill>
                <a:latin typeface="Microsoft YaHei"/>
                <a:ea typeface="Microsoft YaHei"/>
              </a:rPr>
              <a:t>④ </a:t>
            </a:r>
            <a:r>
              <a:rPr sz="2400" b="1" i="0" dirty="0" err="1">
                <a:solidFill>
                  <a:srgbClr val="FFFFFF"/>
                </a:solidFill>
                <a:latin typeface="Microsoft YaHei"/>
                <a:ea typeface="Microsoft YaHei"/>
              </a:rPr>
              <a:t>输出格式</a:t>
            </a:r>
            <a:r>
              <a:rPr sz="2400" b="1" i="0" dirty="0">
                <a:solidFill>
                  <a:srgbClr val="FFFFFF"/>
                </a:solidFill>
                <a:latin typeface="Microsoft YaHei"/>
                <a:ea typeface="Microsoft YaHei"/>
              </a:rPr>
              <a:t> · </a:t>
            </a:r>
            <a:r>
              <a:rPr sz="2400" b="1" i="0" dirty="0" err="1">
                <a:solidFill>
                  <a:srgbClr val="FFFFFF"/>
                </a:solidFill>
                <a:latin typeface="Microsoft YaHei"/>
                <a:ea typeface="Microsoft YaHei"/>
              </a:rPr>
              <a:t>规范最终呈现</a:t>
            </a:r>
            <a:endParaRPr sz="2400" b="1" i="0" dirty="0">
              <a:solidFill>
                <a:srgbClr val="FFFFFF"/>
              </a:solidFill>
              <a:latin typeface="Microsoft YaHei"/>
              <a:ea typeface="Microsoft YaHei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960120" y="937555"/>
            <a:ext cx="9418321" cy="5279641"/>
          </a:xfrm>
          <a:prstGeom prst="rect">
            <a:avLst/>
          </a:prstGeom>
          <a:noFill/>
        </p:spPr>
        <p:txBody>
          <a:bodyPr wrap="square" lIns="36000" tIns="36000" rIns="36000" bIns="36000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2400" b="0" dirty="0" err="1">
                <a:solidFill>
                  <a:srgbClr val="333333"/>
                </a:solidFill>
                <a:latin typeface="Microsoft YaHei"/>
                <a:ea typeface="Microsoft YaHei"/>
              </a:rPr>
              <a:t>未说明</a:t>
            </a:r>
            <a:r>
              <a:rPr sz="2400" b="0" dirty="0">
                <a:solidFill>
                  <a:srgbClr val="333333"/>
                </a:solidFill>
                <a:latin typeface="Microsoft YaHei"/>
                <a:ea typeface="Microsoft YaHei"/>
              </a:rPr>
              <a:t>输出格式</a:t>
            </a:r>
            <a:r>
              <a:rPr sz="2400" b="0" dirty="0" err="1">
                <a:solidFill>
                  <a:srgbClr val="333333"/>
                </a:solidFill>
                <a:latin typeface="Microsoft YaHei"/>
                <a:ea typeface="Microsoft YaHei"/>
              </a:rPr>
              <a:t>时，</a:t>
            </a:r>
            <a:r>
              <a:rPr sz="2400" dirty="0" err="1">
                <a:solidFill>
                  <a:srgbClr val="333333"/>
                </a:solidFill>
                <a:latin typeface="Microsoft YaHei"/>
                <a:ea typeface="Microsoft YaHei"/>
              </a:rPr>
              <a:t>回答可能</a:t>
            </a:r>
            <a:r>
              <a:rPr sz="2400" dirty="0">
                <a:solidFill>
                  <a:srgbClr val="333333"/>
                </a:solidFill>
                <a:latin typeface="Microsoft YaHei"/>
                <a:ea typeface="Microsoft YaHei"/>
              </a:rPr>
              <a:t>较长</a:t>
            </a:r>
            <a:r>
              <a:rPr sz="2400" dirty="0" err="1">
                <a:solidFill>
                  <a:srgbClr val="333333"/>
                </a:solidFill>
                <a:latin typeface="Microsoft YaHei"/>
                <a:ea typeface="Microsoft YaHei"/>
              </a:rPr>
              <a:t>或不便整</a:t>
            </a:r>
            <a:r>
              <a:rPr sz="2400" dirty="0">
                <a:solidFill>
                  <a:srgbClr val="333333"/>
                </a:solidFill>
                <a:latin typeface="Microsoft YaHei"/>
                <a:ea typeface="Microsoft YaHei"/>
              </a:rPr>
              <a:t>理，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2400" b="0" dirty="0" err="1">
                <a:solidFill>
                  <a:srgbClr val="333333"/>
                </a:solidFill>
                <a:latin typeface="Microsoft YaHei"/>
                <a:ea typeface="Microsoft YaHei"/>
              </a:rPr>
              <a:t>需要额外提炼要点和调整排版</a:t>
            </a:r>
            <a:r>
              <a:rPr sz="2200" b="0" dirty="0">
                <a:solidFill>
                  <a:srgbClr val="333333"/>
                </a:solidFill>
                <a:latin typeface="Microsoft YaHei"/>
                <a:ea typeface="Microsoft YaHei"/>
              </a:rPr>
              <a:t>。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2400" b="1" dirty="0" err="1">
                <a:solidFill>
                  <a:srgbClr val="0066CC"/>
                </a:solidFill>
                <a:latin typeface="Microsoft YaHei"/>
                <a:ea typeface="Microsoft YaHei"/>
              </a:rPr>
              <a:t>学术汇报</a:t>
            </a:r>
            <a:r>
              <a:rPr sz="2400" b="1" dirty="0">
                <a:solidFill>
                  <a:srgbClr val="0066CC"/>
                </a:solidFill>
                <a:latin typeface="Microsoft YaHei"/>
                <a:ea typeface="Microsoft YaHei"/>
              </a:rPr>
              <a:t>：</a:t>
            </a:r>
            <a:r>
              <a:rPr sz="2200" b="1" dirty="0">
                <a:solidFill>
                  <a:srgbClr val="004CA0"/>
                </a:solidFill>
                <a:latin typeface="Consolas"/>
                <a:ea typeface="Consolas"/>
              </a:rPr>
              <a:t>"</a:t>
            </a:r>
            <a:r>
              <a:rPr sz="2200" b="1" dirty="0" err="1">
                <a:solidFill>
                  <a:srgbClr val="004CA0"/>
                </a:solidFill>
                <a:latin typeface="Consolas"/>
                <a:ea typeface="Consolas"/>
              </a:rPr>
              <a:t>转化为</a:t>
            </a:r>
            <a:r>
              <a:rPr sz="2200" b="1" dirty="0">
                <a:solidFill>
                  <a:srgbClr val="004CA0"/>
                </a:solidFill>
                <a:latin typeface="Consolas"/>
                <a:ea typeface="Consolas"/>
              </a:rPr>
              <a:t> PPT </a:t>
            </a:r>
            <a:r>
              <a:rPr sz="2200" b="1" dirty="0" err="1">
                <a:solidFill>
                  <a:srgbClr val="004CA0"/>
                </a:solidFill>
                <a:latin typeface="Consolas"/>
                <a:ea typeface="Consolas"/>
              </a:rPr>
              <a:t>汇报</a:t>
            </a:r>
            <a:r>
              <a:rPr lang="zh-CN" altLang="en-US" sz="2200" b="1" dirty="0">
                <a:solidFill>
                  <a:srgbClr val="004CA0"/>
                </a:solidFill>
                <a:latin typeface="Consolas"/>
                <a:ea typeface="Consolas"/>
              </a:rPr>
              <a:t>的精简</a:t>
            </a:r>
            <a:r>
              <a:rPr sz="2200" b="1" dirty="0" err="1">
                <a:solidFill>
                  <a:srgbClr val="004CA0"/>
                </a:solidFill>
                <a:latin typeface="Consolas"/>
                <a:ea typeface="Consolas"/>
              </a:rPr>
              <a:t>短句，每要点不超过</a:t>
            </a:r>
            <a:r>
              <a:rPr sz="2200" b="1" dirty="0">
                <a:solidFill>
                  <a:srgbClr val="004CA0"/>
                </a:solidFill>
                <a:latin typeface="Consolas"/>
                <a:ea typeface="Consolas"/>
              </a:rPr>
              <a:t> 15 字"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2200" b="1" dirty="0" err="1">
                <a:solidFill>
                  <a:srgbClr val="0066CC"/>
                </a:solidFill>
                <a:latin typeface="Microsoft YaHei"/>
                <a:ea typeface="Microsoft YaHei"/>
              </a:rPr>
              <a:t>代码与排版</a:t>
            </a:r>
            <a:r>
              <a:rPr sz="2200" b="1" dirty="0">
                <a:solidFill>
                  <a:srgbClr val="0066CC"/>
                </a:solidFill>
                <a:latin typeface="Microsoft YaHei"/>
                <a:ea typeface="Microsoft YaHei"/>
              </a:rPr>
              <a:t>：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2200" b="1" dirty="0">
                <a:solidFill>
                  <a:srgbClr val="004CA0"/>
                </a:solidFill>
                <a:latin typeface="Consolas"/>
                <a:ea typeface="Consolas"/>
              </a:rPr>
              <a:t>"</a:t>
            </a:r>
            <a:r>
              <a:rPr sz="2200" b="1" dirty="0" err="1">
                <a:solidFill>
                  <a:srgbClr val="004CA0"/>
                </a:solidFill>
                <a:latin typeface="Consolas"/>
                <a:ea typeface="Consolas"/>
              </a:rPr>
              <a:t>输出</a:t>
            </a:r>
            <a:r>
              <a:rPr sz="2200" b="1" dirty="0">
                <a:solidFill>
                  <a:srgbClr val="004CA0"/>
                </a:solidFill>
                <a:latin typeface="Consolas"/>
                <a:ea typeface="Consolas"/>
              </a:rPr>
              <a:t> LaTeX </a:t>
            </a:r>
            <a:r>
              <a:rPr sz="2200" b="1" dirty="0" err="1">
                <a:solidFill>
                  <a:srgbClr val="004CA0"/>
                </a:solidFill>
                <a:latin typeface="Consolas"/>
                <a:ea typeface="Consolas"/>
              </a:rPr>
              <a:t>格式的评价指标数学公式代码</a:t>
            </a:r>
            <a:r>
              <a:rPr sz="2200" b="1" dirty="0">
                <a:solidFill>
                  <a:srgbClr val="004CA0"/>
                </a:solidFill>
                <a:latin typeface="Consolas"/>
                <a:ea typeface="Consolas"/>
              </a:rPr>
              <a:t>"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2200" b="1" dirty="0">
                <a:solidFill>
                  <a:srgbClr val="004CA0"/>
                </a:solidFill>
                <a:latin typeface="Consolas"/>
                <a:ea typeface="Consolas"/>
              </a:rPr>
              <a:t>"</a:t>
            </a:r>
            <a:r>
              <a:rPr sz="2200" b="1" dirty="0" err="1">
                <a:solidFill>
                  <a:srgbClr val="004CA0"/>
                </a:solidFill>
                <a:latin typeface="Consolas"/>
                <a:ea typeface="Consolas"/>
              </a:rPr>
              <a:t>转化为可在</a:t>
            </a:r>
            <a:r>
              <a:rPr sz="2200" b="1" dirty="0">
                <a:solidFill>
                  <a:srgbClr val="004CA0"/>
                </a:solidFill>
                <a:latin typeface="Consolas"/>
                <a:ea typeface="Consolas"/>
              </a:rPr>
              <a:t> Python </a:t>
            </a:r>
            <a:r>
              <a:rPr sz="2200" b="1" dirty="0" err="1">
                <a:solidFill>
                  <a:srgbClr val="004CA0"/>
                </a:solidFill>
                <a:latin typeface="Consolas"/>
                <a:ea typeface="Consolas"/>
              </a:rPr>
              <a:t>中解析的</a:t>
            </a:r>
            <a:r>
              <a:rPr sz="2200" b="1" dirty="0">
                <a:solidFill>
                  <a:srgbClr val="004CA0"/>
                </a:solidFill>
                <a:latin typeface="Consolas"/>
                <a:ea typeface="Consolas"/>
              </a:rPr>
              <a:t> JSON </a:t>
            </a:r>
            <a:r>
              <a:rPr sz="2200" b="1" dirty="0" err="1">
                <a:solidFill>
                  <a:srgbClr val="004CA0"/>
                </a:solidFill>
                <a:latin typeface="Consolas"/>
                <a:ea typeface="Consolas"/>
              </a:rPr>
              <a:t>格式</a:t>
            </a:r>
            <a:r>
              <a:rPr sz="2200" b="1" dirty="0">
                <a:solidFill>
                  <a:srgbClr val="004CA0"/>
                </a:solidFill>
                <a:latin typeface="Consolas"/>
                <a:ea typeface="Consolas"/>
              </a:rPr>
              <a:t>"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2200" b="1" dirty="0" err="1">
                <a:solidFill>
                  <a:srgbClr val="0066CC"/>
                </a:solidFill>
                <a:latin typeface="Microsoft YaHei"/>
                <a:ea typeface="Microsoft YaHei"/>
              </a:rPr>
              <a:t>长度要求</a:t>
            </a:r>
            <a:r>
              <a:rPr sz="2200" b="1" dirty="0">
                <a:solidFill>
                  <a:srgbClr val="0066CC"/>
                </a:solidFill>
                <a:latin typeface="Microsoft YaHei"/>
                <a:ea typeface="Microsoft YaHei"/>
              </a:rPr>
              <a:t>：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2200" b="1" dirty="0">
                <a:solidFill>
                  <a:srgbClr val="004CA0"/>
                </a:solidFill>
                <a:latin typeface="Consolas"/>
                <a:ea typeface="Consolas"/>
              </a:rPr>
              <a:t>“</a:t>
            </a:r>
            <a:r>
              <a:rPr sz="2200" b="1" dirty="0" err="1">
                <a:solidFill>
                  <a:srgbClr val="004CA0"/>
                </a:solidFill>
                <a:latin typeface="Consolas"/>
                <a:ea typeface="Consolas"/>
              </a:rPr>
              <a:t>请生成30</a:t>
            </a:r>
            <a:r>
              <a:rPr sz="2200" b="1" dirty="0">
                <a:solidFill>
                  <a:srgbClr val="004CA0"/>
                </a:solidFill>
                <a:latin typeface="Consolas"/>
                <a:ea typeface="Consolas"/>
              </a:rPr>
              <a:t>0～400词</a:t>
            </a:r>
            <a:r>
              <a:rPr sz="2200" b="1" dirty="0" err="1">
                <a:solidFill>
                  <a:srgbClr val="004CA0"/>
                </a:solidFill>
                <a:latin typeface="Consolas"/>
                <a:ea typeface="Consolas"/>
              </a:rPr>
              <a:t>的英文摘要。</a:t>
            </a:r>
            <a:r>
              <a:rPr sz="2200" b="1" dirty="0">
                <a:solidFill>
                  <a:srgbClr val="004CA0"/>
                </a:solidFill>
                <a:latin typeface="Consolas"/>
                <a:ea typeface="Consolas"/>
              </a:rPr>
              <a:t>”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2200" b="1" dirty="0" err="1">
                <a:solidFill>
                  <a:srgbClr val="0066CC"/>
                </a:solidFill>
                <a:latin typeface="Microsoft YaHei"/>
                <a:ea typeface="Microsoft YaHei"/>
              </a:rPr>
              <a:t>结构化输出：</a:t>
            </a:r>
            <a:r>
              <a:rPr sz="2200" b="0" dirty="0" err="1">
                <a:solidFill>
                  <a:srgbClr val="333333"/>
                </a:solidFill>
                <a:latin typeface="Microsoft YaHei"/>
                <a:ea typeface="Microsoft YaHei"/>
              </a:rPr>
              <a:t>Markdown</a:t>
            </a:r>
            <a:r>
              <a:rPr sz="2200" b="0" dirty="0">
                <a:solidFill>
                  <a:srgbClr val="333333"/>
                </a:solidFill>
                <a:latin typeface="Microsoft YaHei"/>
                <a:ea typeface="Microsoft YaHei"/>
              </a:rPr>
              <a:t> </a:t>
            </a:r>
            <a:r>
              <a:rPr sz="2200" b="0" dirty="0" err="1">
                <a:solidFill>
                  <a:srgbClr val="333333"/>
                </a:solidFill>
                <a:latin typeface="Microsoft YaHei"/>
                <a:ea typeface="Microsoft YaHei"/>
              </a:rPr>
              <a:t>表格</a:t>
            </a:r>
            <a:r>
              <a:rPr sz="2200" b="0" dirty="0">
                <a:solidFill>
                  <a:srgbClr val="333333"/>
                </a:solidFill>
                <a:latin typeface="Microsoft YaHei"/>
                <a:ea typeface="Microsoft YaHei"/>
              </a:rPr>
              <a:t> · </a:t>
            </a:r>
            <a:r>
              <a:rPr sz="2200" b="0" dirty="0" err="1">
                <a:solidFill>
                  <a:srgbClr val="333333"/>
                </a:solidFill>
                <a:latin typeface="Microsoft YaHei"/>
                <a:ea typeface="Microsoft YaHei"/>
              </a:rPr>
              <a:t>思维导图</a:t>
            </a:r>
            <a:r>
              <a:rPr sz="2200" b="0" dirty="0">
                <a:solidFill>
                  <a:srgbClr val="333333"/>
                </a:solidFill>
                <a:latin typeface="Microsoft YaHei"/>
                <a:ea typeface="Microsoft YaHei"/>
              </a:rPr>
              <a:t> · </a:t>
            </a:r>
            <a:r>
              <a:rPr sz="2200" b="0" dirty="0" err="1">
                <a:solidFill>
                  <a:srgbClr val="333333"/>
                </a:solidFill>
                <a:latin typeface="Microsoft YaHei"/>
                <a:ea typeface="Microsoft YaHei"/>
              </a:rPr>
              <a:t>列表</a:t>
            </a:r>
            <a:r>
              <a:rPr sz="2200" b="0" dirty="0">
                <a:solidFill>
                  <a:srgbClr val="333333"/>
                </a:solidFill>
                <a:latin typeface="Microsoft YaHei"/>
                <a:ea typeface="Microsoft YaHei"/>
              </a:rPr>
              <a:t> · YAML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2400" b="1" dirty="0">
                <a:solidFill>
                  <a:srgbClr val="004CA0"/>
                </a:solidFill>
                <a:latin typeface="Microsoft YaHei"/>
                <a:ea typeface="Microsoft YaHei"/>
              </a:rPr>
              <a:t>指定格式</a:t>
            </a:r>
            <a:r>
              <a:rPr sz="2400" b="1" dirty="0" err="1">
                <a:solidFill>
                  <a:srgbClr val="004CA0"/>
                </a:solidFill>
                <a:latin typeface="Microsoft YaHei"/>
                <a:ea typeface="Microsoft YaHei"/>
              </a:rPr>
              <a:t>有</a:t>
            </a:r>
            <a:r>
              <a:rPr sz="2400" b="1" dirty="0" err="1">
                <a:solidFill>
                  <a:srgbClr val="004CA0"/>
                </a:solidFill>
                <a:latin typeface="Microsoft YaHei"/>
                <a:ea typeface="Microsoft YaHei"/>
              </a:rPr>
              <a:t>助于后续</a:t>
            </a:r>
            <a:r>
              <a:rPr sz="2400" b="1" dirty="0">
                <a:solidFill>
                  <a:srgbClr val="004CA0"/>
                </a:solidFill>
                <a:latin typeface="Microsoft YaHei"/>
                <a:ea typeface="Microsoft YaHei"/>
              </a:rPr>
              <a:t>编辑，但仍需检查字数、语法与</a:t>
            </a:r>
            <a:r>
              <a:rPr sz="2400" b="1" dirty="0" err="1">
                <a:solidFill>
                  <a:srgbClr val="004CA0"/>
                </a:solidFill>
                <a:latin typeface="Microsoft YaHei"/>
                <a:ea typeface="Microsoft YaHei"/>
              </a:rPr>
              <a:t>数据结构</a:t>
            </a:r>
            <a:r>
              <a:rPr sz="2400" b="1" dirty="0">
                <a:solidFill>
                  <a:srgbClr val="004CA0"/>
                </a:solidFill>
                <a:latin typeface="Microsoft YaHei"/>
                <a:ea typeface="Microsoft YaHei"/>
              </a:rPr>
              <a:t>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94415" y="6446520"/>
            <a:ext cx="914400" cy="320040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pPr algn="r"/>
            <a:r>
              <a:rPr sz="1100">
                <a:solidFill>
                  <a:srgbClr val="999999"/>
                </a:solidFill>
                <a:latin typeface="Arial"/>
              </a:rPr>
              <a:t>19 / 50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8A4CE2-4ADE-74BC-C113-C870D6830B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E6FA9EB6-CD15-1620-80AC-C2A217DC9EE0}"/>
              </a:ext>
            </a:extLst>
          </p:cNvPr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yzu_logo.png">
            <a:extLst>
              <a:ext uri="{FF2B5EF4-FFF2-40B4-BE49-F238E27FC236}">
                <a16:creationId xmlns:a16="http://schemas.microsoft.com/office/drawing/2014/main" id="{ED9C2C06-B89B-D9F7-BF34-37BBEDBED8D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17175" y="246888"/>
            <a:ext cx="1691640" cy="548640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52C05913-2332-D827-775A-62063D947C45}"/>
              </a:ext>
            </a:extLst>
          </p:cNvPr>
          <p:cNvSpPr/>
          <p:nvPr/>
        </p:nvSpPr>
        <p:spPr>
          <a:xfrm>
            <a:off x="0" y="274320"/>
            <a:ext cx="960120" cy="502920"/>
          </a:xfrm>
          <a:prstGeom prst="rect">
            <a:avLst/>
          </a:prstGeom>
          <a:solidFill>
            <a:srgbClr val="006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174D0CB-8EB6-A222-47C3-B09790B15A9A}"/>
              </a:ext>
            </a:extLst>
          </p:cNvPr>
          <p:cNvSpPr txBox="1"/>
          <p:nvPr/>
        </p:nvSpPr>
        <p:spPr>
          <a:xfrm>
            <a:off x="45720" y="341114"/>
            <a:ext cx="914400" cy="3693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400" b="1" i="0" dirty="0">
                <a:solidFill>
                  <a:srgbClr val="FFFFFF"/>
                </a:solidFill>
                <a:latin typeface="Microsoft YaHei"/>
                <a:ea typeface="Microsoft YaHei"/>
              </a:rPr>
              <a:t>2.1.3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BD17EDA-D93A-F855-84CF-B346E58259B0}"/>
              </a:ext>
            </a:extLst>
          </p:cNvPr>
          <p:cNvSpPr/>
          <p:nvPr/>
        </p:nvSpPr>
        <p:spPr>
          <a:xfrm>
            <a:off x="960120" y="274320"/>
            <a:ext cx="9052560" cy="502920"/>
          </a:xfrm>
          <a:prstGeom prst="rect">
            <a:avLst/>
          </a:prstGeom>
          <a:solidFill>
            <a:srgbClr val="3A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871060D-E28F-09CA-DDE9-EBAFE870B1FF}"/>
              </a:ext>
            </a:extLst>
          </p:cNvPr>
          <p:cNvSpPr txBox="1"/>
          <p:nvPr/>
        </p:nvSpPr>
        <p:spPr>
          <a:xfrm>
            <a:off x="1234440" y="341114"/>
            <a:ext cx="8686800" cy="3693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400" b="1" i="0" dirty="0">
                <a:solidFill>
                  <a:srgbClr val="FFFFFF"/>
                </a:solidFill>
                <a:latin typeface="Microsoft YaHei"/>
                <a:ea typeface="Microsoft YaHei"/>
              </a:rPr>
              <a:t>④ </a:t>
            </a:r>
            <a:r>
              <a:rPr sz="2400" b="1" i="0" dirty="0" err="1">
                <a:solidFill>
                  <a:srgbClr val="FFFFFF"/>
                </a:solidFill>
                <a:latin typeface="Microsoft YaHei"/>
                <a:ea typeface="Microsoft YaHei"/>
              </a:rPr>
              <a:t>输出格式</a:t>
            </a:r>
            <a:r>
              <a:rPr sz="2400" b="1" i="0" dirty="0">
                <a:solidFill>
                  <a:srgbClr val="FFFFFF"/>
                </a:solidFill>
                <a:latin typeface="Microsoft YaHei"/>
                <a:ea typeface="Microsoft YaHei"/>
              </a:rPr>
              <a:t> · </a:t>
            </a:r>
            <a:r>
              <a:rPr sz="2400" b="1" i="0" dirty="0" err="1">
                <a:solidFill>
                  <a:srgbClr val="FFFFFF"/>
                </a:solidFill>
                <a:latin typeface="Microsoft YaHei"/>
                <a:ea typeface="Microsoft YaHei"/>
              </a:rPr>
              <a:t>规范最终呈现</a:t>
            </a:r>
            <a:endParaRPr sz="2400" b="1" i="0" dirty="0">
              <a:solidFill>
                <a:srgbClr val="FFFFFF"/>
              </a:solidFill>
              <a:latin typeface="Microsoft YaHei"/>
              <a:ea typeface="Microsoft YaHei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260D1BD-279D-36AC-EB05-66510B63555E}"/>
              </a:ext>
            </a:extLst>
          </p:cNvPr>
          <p:cNvSpPr txBox="1"/>
          <p:nvPr/>
        </p:nvSpPr>
        <p:spPr>
          <a:xfrm>
            <a:off x="3688977" y="5760460"/>
            <a:ext cx="4297680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b="0" dirty="0">
                <a:solidFill>
                  <a:srgbClr val="333333"/>
                </a:solidFill>
                <a:latin typeface="Microsoft YaHei"/>
                <a:ea typeface="Microsoft YaHei"/>
              </a:rPr>
              <a:t>图 2-5  </a:t>
            </a:r>
            <a:r>
              <a:rPr b="0" dirty="0" err="1">
                <a:solidFill>
                  <a:srgbClr val="333333"/>
                </a:solidFill>
                <a:latin typeface="Microsoft YaHei"/>
                <a:ea typeface="Microsoft YaHei"/>
              </a:rPr>
              <a:t>输出格式约束带来的效率差异</a:t>
            </a:r>
            <a:endParaRPr b="0" dirty="0">
              <a:solidFill>
                <a:srgbClr val="333333"/>
              </a:solidFill>
              <a:latin typeface="Microsoft YaHei"/>
              <a:ea typeface="Microsoft YaHei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3BDF28B-2E9C-EAFE-DEE4-D8B7BC538406}"/>
              </a:ext>
            </a:extLst>
          </p:cNvPr>
          <p:cNvSpPr txBox="1"/>
          <p:nvPr/>
        </p:nvSpPr>
        <p:spPr>
          <a:xfrm>
            <a:off x="11094415" y="6446520"/>
            <a:ext cx="914400" cy="320040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pPr algn="r"/>
            <a:r>
              <a:rPr sz="1100">
                <a:solidFill>
                  <a:srgbClr val="999999"/>
                </a:solidFill>
                <a:latin typeface="Arial"/>
              </a:rPr>
              <a:t>20 / 50</a:t>
            </a:r>
          </a:p>
        </p:txBody>
      </p:sp>
      <p:pic>
        <p:nvPicPr>
          <p:cNvPr id="13" name="内容占位符 22">
            <a:extLst>
              <a:ext uri="{FF2B5EF4-FFF2-40B4-BE49-F238E27FC236}">
                <a16:creationId xmlns:a16="http://schemas.microsoft.com/office/drawing/2014/main" id="{B75998E3-649A-437B-AF30-8EB64A6A0509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378" r="22260"/>
          <a:stretch>
            <a:fillRect/>
          </a:stretch>
        </p:blipFill>
        <p:spPr>
          <a:xfrm>
            <a:off x="1334318" y="4372013"/>
            <a:ext cx="758434" cy="736610"/>
          </a:xfrm>
          <a:prstGeom prst="rect">
            <a:avLst/>
          </a:prstGeom>
        </p:spPr>
      </p:pic>
      <p:sp>
        <p:nvSpPr>
          <p:cNvPr id="14" name="矩形: 圆角 13">
            <a:extLst>
              <a:ext uri="{FF2B5EF4-FFF2-40B4-BE49-F238E27FC236}">
                <a16:creationId xmlns:a16="http://schemas.microsoft.com/office/drawing/2014/main" id="{398B19E2-71F4-40D8-B584-43360EEAF7BC}"/>
              </a:ext>
            </a:extLst>
          </p:cNvPr>
          <p:cNvSpPr/>
          <p:nvPr/>
        </p:nvSpPr>
        <p:spPr>
          <a:xfrm>
            <a:off x="738887" y="900868"/>
            <a:ext cx="5040000" cy="900000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提问</a:t>
            </a:r>
            <a:r>
              <a:rPr lang="zh-CN" altLang="en-US" sz="2000" b="1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较笼统</a:t>
            </a:r>
            <a:endParaRPr lang="en-US" altLang="zh-CN" sz="2000" b="1" dirty="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ctr"/>
            <a:r>
              <a:rPr lang="zh-CN" altLang="en-US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特点：未说明需要提取哪些信息。</a:t>
            </a:r>
          </a:p>
        </p:txBody>
      </p:sp>
      <p:pic>
        <p:nvPicPr>
          <p:cNvPr id="15" name="图片 14">
            <a:extLst>
              <a:ext uri="{FF2B5EF4-FFF2-40B4-BE49-F238E27FC236}">
                <a16:creationId xmlns:a16="http://schemas.microsoft.com/office/drawing/2014/main" id="{98A24022-0B3A-49D8-9D1A-EC7C3112764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00344" y="1934224"/>
            <a:ext cx="547307" cy="540868"/>
          </a:xfrm>
          <a:prstGeom prst="rect">
            <a:avLst/>
          </a:prstGeom>
        </p:spPr>
      </p:pic>
      <p:sp>
        <p:nvSpPr>
          <p:cNvPr id="16" name="矩形: 圆角 15">
            <a:extLst>
              <a:ext uri="{FF2B5EF4-FFF2-40B4-BE49-F238E27FC236}">
                <a16:creationId xmlns:a16="http://schemas.microsoft.com/office/drawing/2014/main" id="{B79D440E-2DAE-44DD-B128-28AD384EB6DC}"/>
              </a:ext>
            </a:extLst>
          </p:cNvPr>
          <p:cNvSpPr/>
          <p:nvPr/>
        </p:nvSpPr>
        <p:spPr>
          <a:xfrm>
            <a:off x="1069962" y="1976256"/>
            <a:ext cx="4320000" cy="818845"/>
          </a:xfrm>
          <a:prstGeom prst="round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just"/>
            <a:r>
              <a:rPr lang="zh-CN" altLang="en-US" sz="1600" dirty="0">
                <a:latin typeface="宋体" panose="02010600030101010101" pitchFamily="2" charset="-122"/>
                <a:ea typeface="宋体" panose="02010600030101010101" pitchFamily="2" charset="-122"/>
              </a:rPr>
              <a:t>“请帮我总结这五篇关于社交媒体使用对大学生心理健康影响的文献。”</a:t>
            </a:r>
          </a:p>
        </p:txBody>
      </p:sp>
      <p:pic>
        <p:nvPicPr>
          <p:cNvPr id="17" name="图片 16">
            <a:extLst>
              <a:ext uri="{FF2B5EF4-FFF2-40B4-BE49-F238E27FC236}">
                <a16:creationId xmlns:a16="http://schemas.microsoft.com/office/drawing/2014/main" id="{C8AB3655-9540-44C0-9F84-B8D8A7316AE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1469" y="2905811"/>
            <a:ext cx="536007" cy="523685"/>
          </a:xfrm>
          <a:prstGeom prst="rect">
            <a:avLst/>
          </a:prstGeom>
        </p:spPr>
      </p:pic>
      <p:sp>
        <p:nvSpPr>
          <p:cNvPr id="18" name="矩形: 圆角 17">
            <a:extLst>
              <a:ext uri="{FF2B5EF4-FFF2-40B4-BE49-F238E27FC236}">
                <a16:creationId xmlns:a16="http://schemas.microsoft.com/office/drawing/2014/main" id="{F86194EA-B102-4897-863C-5E56938916B5}"/>
              </a:ext>
            </a:extLst>
          </p:cNvPr>
          <p:cNvSpPr/>
          <p:nvPr/>
        </p:nvSpPr>
        <p:spPr>
          <a:xfrm>
            <a:off x="1069960" y="2903518"/>
            <a:ext cx="4320000" cy="991858"/>
          </a:xfrm>
          <a:prstGeom prst="roundRect">
            <a:avLst/>
          </a:prstGeom>
          <a:noFill/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just"/>
            <a:r>
              <a:rPr lang="zh-CN" altLang="en-US" sz="1600" dirty="0">
                <a:latin typeface="宋体" panose="02010600030101010101" pitchFamily="2" charset="-122"/>
                <a:ea typeface="宋体" panose="02010600030101010101" pitchFamily="2" charset="-122"/>
              </a:rPr>
              <a:t>“第一篇指出社交媒体加剧了错失恐惧，第二篇发现夜间使用与抑郁相关，第三篇认为</a:t>
            </a:r>
            <a:r>
              <a:rPr lang="en-US" altLang="zh-CN" sz="1600" dirty="0">
                <a:latin typeface="宋体" panose="02010600030101010101" pitchFamily="2" charset="-122"/>
                <a:ea typeface="宋体" panose="02010600030101010101" pitchFamily="2" charset="-122"/>
              </a:rPr>
              <a:t>……”</a:t>
            </a:r>
            <a:endParaRPr lang="zh-CN" altLang="zh-CN" sz="1600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9" name="思想气泡: 云 18">
            <a:extLst>
              <a:ext uri="{FF2B5EF4-FFF2-40B4-BE49-F238E27FC236}">
                <a16:creationId xmlns:a16="http://schemas.microsoft.com/office/drawing/2014/main" id="{F998E43F-FEBA-46DA-8AD1-AE3600A32100}"/>
              </a:ext>
            </a:extLst>
          </p:cNvPr>
          <p:cNvSpPr/>
          <p:nvPr/>
        </p:nvSpPr>
        <p:spPr>
          <a:xfrm>
            <a:off x="2459266" y="4076706"/>
            <a:ext cx="2416258" cy="1046557"/>
          </a:xfrm>
          <a:prstGeom prst="cloudCallout">
            <a:avLst>
              <a:gd name="adj1" fmla="val -62779"/>
              <a:gd name="adj2" fmla="val -19301"/>
            </a:avLst>
          </a:prstGeom>
          <a:solidFill>
            <a:schemeClr val="bg1"/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“</a:t>
            </a:r>
            <a:r>
              <a:rPr lang="zh-CN" altLang="en-US" sz="1400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还需要逐篇整理变量、结论和研究局</a:t>
            </a:r>
            <a:r>
              <a:rPr lang="en-US" altLang="zh-CN" sz="1400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限。</a:t>
            </a:r>
            <a:r>
              <a:rPr lang="zh-CN" altLang="en-US" sz="1400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”</a:t>
            </a:r>
            <a:endParaRPr lang="zh-CN" altLang="zh-CN" sz="1400" dirty="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20" name="矩形: 圆角 19">
            <a:extLst>
              <a:ext uri="{FF2B5EF4-FFF2-40B4-BE49-F238E27FC236}">
                <a16:creationId xmlns:a16="http://schemas.microsoft.com/office/drawing/2014/main" id="{491EEC58-018D-42D4-BED8-A01829D7C178}"/>
              </a:ext>
            </a:extLst>
          </p:cNvPr>
          <p:cNvSpPr/>
          <p:nvPr/>
        </p:nvSpPr>
        <p:spPr>
          <a:xfrm>
            <a:off x="6421426" y="894032"/>
            <a:ext cx="5040000" cy="900000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要求</a:t>
            </a:r>
            <a:r>
              <a:rPr lang="zh-CN" altLang="en-US" sz="2000" b="1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更明确</a:t>
            </a:r>
            <a:endParaRPr lang="en-US" altLang="zh-CN" sz="2000" b="1" dirty="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ctr"/>
            <a:r>
              <a:rPr lang="zh-CN" altLang="en-US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特点：明确表格字段，便于逐篇比较。</a:t>
            </a:r>
          </a:p>
        </p:txBody>
      </p:sp>
      <p:pic>
        <p:nvPicPr>
          <p:cNvPr id="21" name="图片 20">
            <a:extLst>
              <a:ext uri="{FF2B5EF4-FFF2-40B4-BE49-F238E27FC236}">
                <a16:creationId xmlns:a16="http://schemas.microsoft.com/office/drawing/2014/main" id="{C132E7AE-535E-42FD-9C20-223F8E7B8C3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122038" y="1931390"/>
            <a:ext cx="488178" cy="482435"/>
          </a:xfrm>
          <a:prstGeom prst="rect">
            <a:avLst/>
          </a:prstGeom>
        </p:spPr>
      </p:pic>
      <p:sp>
        <p:nvSpPr>
          <p:cNvPr id="22" name="矩形: 圆角 21">
            <a:extLst>
              <a:ext uri="{FF2B5EF4-FFF2-40B4-BE49-F238E27FC236}">
                <a16:creationId xmlns:a16="http://schemas.microsoft.com/office/drawing/2014/main" id="{CAAC84B3-C45B-4186-9037-C89726D3F5EB}"/>
              </a:ext>
            </a:extLst>
          </p:cNvPr>
          <p:cNvSpPr/>
          <p:nvPr/>
        </p:nvSpPr>
        <p:spPr>
          <a:xfrm>
            <a:off x="6707628" y="1976256"/>
            <a:ext cx="4320000" cy="1067655"/>
          </a:xfrm>
          <a:prstGeom prst="round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just"/>
            <a:r>
              <a:rPr lang="zh-CN" altLang="en-US" sz="1600" dirty="0">
                <a:latin typeface="宋体" panose="02010600030101010101" pitchFamily="2" charset="-122"/>
                <a:ea typeface="宋体" panose="02010600030101010101" pitchFamily="2" charset="-122"/>
              </a:rPr>
              <a:t>“请提取这五篇文献的核心信息。请以 </a:t>
            </a:r>
            <a:r>
              <a:rPr lang="en-US" altLang="zh-CN" sz="1600" dirty="0">
                <a:latin typeface="宋体" panose="02010600030101010101" pitchFamily="2" charset="-122"/>
                <a:ea typeface="宋体" panose="02010600030101010101" pitchFamily="2" charset="-122"/>
              </a:rPr>
              <a:t>Markdown </a:t>
            </a:r>
            <a:r>
              <a:rPr lang="zh-CN" altLang="en-US" sz="1600" dirty="0">
                <a:latin typeface="宋体" panose="02010600030101010101" pitchFamily="2" charset="-122"/>
                <a:ea typeface="宋体" panose="02010600030101010101" pitchFamily="2" charset="-122"/>
              </a:rPr>
              <a:t>表格的形式输出，必须包含：第一作者与年份、核心变量、主要结论、研究局限性。”</a:t>
            </a:r>
          </a:p>
        </p:txBody>
      </p:sp>
      <p:pic>
        <p:nvPicPr>
          <p:cNvPr id="23" name="图片 22">
            <a:extLst>
              <a:ext uri="{FF2B5EF4-FFF2-40B4-BE49-F238E27FC236}">
                <a16:creationId xmlns:a16="http://schemas.microsoft.com/office/drawing/2014/main" id="{31C344BF-5630-4CDD-A555-B3D74CC249C9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19592" y="4517637"/>
            <a:ext cx="829034" cy="838618"/>
          </a:xfrm>
          <a:prstGeom prst="rect">
            <a:avLst/>
          </a:prstGeom>
        </p:spPr>
      </p:pic>
      <p:sp>
        <p:nvSpPr>
          <p:cNvPr id="24" name="思想气泡: 云 23">
            <a:extLst>
              <a:ext uri="{FF2B5EF4-FFF2-40B4-BE49-F238E27FC236}">
                <a16:creationId xmlns:a16="http://schemas.microsoft.com/office/drawing/2014/main" id="{018A1B91-0277-474C-A6F6-12A50A3408AD}"/>
              </a:ext>
            </a:extLst>
          </p:cNvPr>
          <p:cNvSpPr/>
          <p:nvPr/>
        </p:nvSpPr>
        <p:spPr>
          <a:xfrm>
            <a:off x="6827339" y="4372013"/>
            <a:ext cx="3071983" cy="1086915"/>
          </a:xfrm>
          <a:prstGeom prst="cloudCallout">
            <a:avLst>
              <a:gd name="adj1" fmla="val 64241"/>
              <a:gd name="adj2" fmla="val -30822"/>
            </a:avLst>
          </a:prstGeom>
          <a:solidFill>
            <a:schemeClr val="bg1"/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“表格便于比较，核对原文后可以整理进文献笔记。”</a:t>
            </a:r>
            <a:endParaRPr lang="zh-CN" altLang="zh-CN" sz="1400" dirty="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pic>
        <p:nvPicPr>
          <p:cNvPr id="25" name="图片 24">
            <a:extLst>
              <a:ext uri="{FF2B5EF4-FFF2-40B4-BE49-F238E27FC236}">
                <a16:creationId xmlns:a16="http://schemas.microsoft.com/office/drawing/2014/main" id="{5A925B31-E5E8-4DB5-A9BC-E01B521CFF8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62838" y="3163946"/>
            <a:ext cx="536007" cy="523685"/>
          </a:xfrm>
          <a:prstGeom prst="rect">
            <a:avLst/>
          </a:prstGeom>
        </p:spPr>
      </p:pic>
      <p:sp>
        <p:nvSpPr>
          <p:cNvPr id="26" name="矩形: 圆角 25">
            <a:extLst>
              <a:ext uri="{FF2B5EF4-FFF2-40B4-BE49-F238E27FC236}">
                <a16:creationId xmlns:a16="http://schemas.microsoft.com/office/drawing/2014/main" id="{6CFCCAAD-7BD4-49AF-9611-7FAC0BC771D2}"/>
              </a:ext>
            </a:extLst>
          </p:cNvPr>
          <p:cNvSpPr/>
          <p:nvPr/>
        </p:nvSpPr>
        <p:spPr>
          <a:xfrm>
            <a:off x="6707628" y="3163946"/>
            <a:ext cx="4320000" cy="912760"/>
          </a:xfrm>
          <a:prstGeom prst="roundRect">
            <a:avLst/>
          </a:prstGeom>
          <a:noFill/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just"/>
            <a:endParaRPr lang="zh-CN" altLang="zh-CN" sz="1600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pic>
        <p:nvPicPr>
          <p:cNvPr id="27" name="图片 26">
            <a:extLst>
              <a:ext uri="{FF2B5EF4-FFF2-40B4-BE49-F238E27FC236}">
                <a16:creationId xmlns:a16="http://schemas.microsoft.com/office/drawing/2014/main" id="{B664F276-1DCC-4EC0-B49A-F8528C6B17E6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990085" y="3261318"/>
            <a:ext cx="3745249" cy="725128"/>
          </a:xfrm>
          <a:prstGeom prst="rect">
            <a:avLst/>
          </a:prstGeom>
        </p:spPr>
      </p:pic>
      <p:cxnSp>
        <p:nvCxnSpPr>
          <p:cNvPr id="28" name="直接连接符 27">
            <a:extLst>
              <a:ext uri="{FF2B5EF4-FFF2-40B4-BE49-F238E27FC236}">
                <a16:creationId xmlns:a16="http://schemas.microsoft.com/office/drawing/2014/main" id="{A50B1BED-9825-4F18-BDE2-8F65B7A93979}"/>
              </a:ext>
            </a:extLst>
          </p:cNvPr>
          <p:cNvCxnSpPr>
            <a:cxnSpLocks/>
          </p:cNvCxnSpPr>
          <p:nvPr/>
        </p:nvCxnSpPr>
        <p:spPr>
          <a:xfrm>
            <a:off x="6083292" y="918970"/>
            <a:ext cx="12708" cy="468000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6416077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341114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yzu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17175" y="246888"/>
            <a:ext cx="1691640" cy="54864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274320"/>
            <a:ext cx="960120" cy="502920"/>
          </a:xfrm>
          <a:prstGeom prst="rect">
            <a:avLst/>
          </a:prstGeom>
          <a:solidFill>
            <a:srgbClr val="006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" y="341114"/>
            <a:ext cx="914400" cy="3693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400" b="1" i="0" dirty="0">
                <a:solidFill>
                  <a:srgbClr val="FFFFFF"/>
                </a:solidFill>
                <a:latin typeface="Microsoft YaHei"/>
                <a:ea typeface="Microsoft YaHei"/>
              </a:rPr>
              <a:t>2.1.4</a:t>
            </a:r>
          </a:p>
        </p:txBody>
      </p:sp>
      <p:sp>
        <p:nvSpPr>
          <p:cNvPr id="6" name="Rectangle 5"/>
          <p:cNvSpPr/>
          <p:nvPr/>
        </p:nvSpPr>
        <p:spPr>
          <a:xfrm>
            <a:off x="960120" y="274320"/>
            <a:ext cx="9052560" cy="502920"/>
          </a:xfrm>
          <a:prstGeom prst="rect">
            <a:avLst/>
          </a:prstGeom>
          <a:solidFill>
            <a:srgbClr val="3A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234440" y="341114"/>
            <a:ext cx="8686800" cy="3693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400" b="1" i="0" dirty="0" err="1">
                <a:solidFill>
                  <a:srgbClr val="FFFFFF"/>
                </a:solidFill>
                <a:latin typeface="Microsoft YaHei"/>
                <a:ea typeface="Microsoft YaHei"/>
              </a:rPr>
              <a:t>建立合理预期</a:t>
            </a:r>
            <a:r>
              <a:rPr sz="2400" b="1" i="0" dirty="0">
                <a:solidFill>
                  <a:srgbClr val="FFFFFF"/>
                </a:solidFill>
                <a:latin typeface="Microsoft YaHei"/>
                <a:ea typeface="Microsoft YaHei"/>
              </a:rPr>
              <a:t> · </a:t>
            </a:r>
            <a:r>
              <a:rPr sz="2400" b="1" i="0" dirty="0" err="1">
                <a:solidFill>
                  <a:srgbClr val="FFFFFF"/>
                </a:solidFill>
                <a:latin typeface="Microsoft YaHei"/>
                <a:ea typeface="Microsoft YaHei"/>
              </a:rPr>
              <a:t>缺陷与价值</a:t>
            </a:r>
            <a:endParaRPr sz="2400" b="1" i="0" dirty="0">
              <a:solidFill>
                <a:srgbClr val="FFFFFF"/>
              </a:solidFill>
              <a:latin typeface="Microsoft YaHei"/>
              <a:ea typeface="Microsoft YaHei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366065" y="865325"/>
            <a:ext cx="7442194" cy="5916739"/>
          </a:xfrm>
          <a:prstGeom prst="rect">
            <a:avLst/>
          </a:prstGeom>
          <a:noFill/>
        </p:spPr>
        <p:txBody>
          <a:bodyPr wrap="square" lIns="36000" tIns="36000" rIns="36000" bIns="36000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2400" b="1" dirty="0">
                <a:solidFill>
                  <a:srgbClr val="0066CC"/>
                </a:solidFill>
                <a:latin typeface="Microsoft YaHei"/>
                <a:ea typeface="Microsoft YaHei"/>
              </a:rPr>
              <a:t>模型</a:t>
            </a:r>
            <a:r>
              <a:rPr sz="2400" b="1" dirty="0" err="1">
                <a:solidFill>
                  <a:srgbClr val="0066CC"/>
                </a:solidFill>
                <a:latin typeface="Microsoft YaHei"/>
                <a:ea typeface="Microsoft YaHei"/>
              </a:rPr>
              <a:t>可能</a:t>
            </a:r>
            <a:r>
              <a:rPr sz="2400" b="1" dirty="0">
                <a:solidFill>
                  <a:srgbClr val="0066CC"/>
                </a:solidFill>
                <a:latin typeface="Microsoft YaHei"/>
                <a:ea typeface="Microsoft YaHei"/>
              </a:rPr>
              <a:t>出现</a:t>
            </a:r>
            <a:r>
              <a:rPr sz="2400" b="1" dirty="0" err="1">
                <a:solidFill>
                  <a:srgbClr val="0066CC"/>
                </a:solidFill>
                <a:latin typeface="Microsoft YaHei"/>
                <a:ea typeface="Microsoft YaHei"/>
              </a:rPr>
              <a:t>的错误</a:t>
            </a:r>
            <a:r>
              <a:rPr sz="2400" b="1" dirty="0">
                <a:solidFill>
                  <a:srgbClr val="0066CC"/>
                </a:solidFill>
                <a:latin typeface="Microsoft YaHei"/>
                <a:ea typeface="Microsoft YaHei"/>
              </a:rPr>
              <a:t>：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2400" b="0" dirty="0">
                <a:solidFill>
                  <a:srgbClr val="333333"/>
                </a:solidFill>
                <a:latin typeface="Microsoft YaHei"/>
                <a:ea typeface="Microsoft YaHei"/>
              </a:rPr>
              <a:t>•</a:t>
            </a:r>
            <a:r>
              <a:rPr sz="2400" b="0" dirty="0" err="1">
                <a:solidFill>
                  <a:srgbClr val="333333"/>
                </a:solidFill>
                <a:latin typeface="Microsoft YaHei"/>
                <a:ea typeface="Microsoft YaHei"/>
              </a:rPr>
              <a:t> 在</a:t>
            </a:r>
            <a:r>
              <a:rPr sz="2400" dirty="0">
                <a:solidFill>
                  <a:srgbClr val="333333"/>
                </a:solidFill>
                <a:latin typeface="Microsoft YaHei"/>
                <a:ea typeface="Microsoft YaHei"/>
              </a:rPr>
              <a:t>字母计数等任</a:t>
            </a:r>
            <a:r>
              <a:rPr sz="2400" dirty="0" err="1">
                <a:solidFill>
                  <a:srgbClr val="333333"/>
                </a:solidFill>
                <a:latin typeface="Microsoft YaHei"/>
                <a:ea typeface="Microsoft YaHei"/>
              </a:rPr>
              <a:t>务</a:t>
            </a:r>
            <a:r>
              <a:rPr sz="2400" b="0" dirty="0" err="1">
                <a:solidFill>
                  <a:srgbClr val="333333"/>
                </a:solidFill>
                <a:latin typeface="Microsoft YaHei"/>
                <a:ea typeface="Microsoft YaHei"/>
              </a:rPr>
              <a:t>中出</a:t>
            </a:r>
            <a:r>
              <a:rPr lang="en-US" altLang="zh-CN" sz="2400" b="0" dirty="0" err="1">
                <a:solidFill>
                  <a:srgbClr val="333333"/>
                </a:solidFill>
                <a:latin typeface="Microsoft YaHei"/>
                <a:ea typeface="Microsoft YaHei"/>
              </a:rPr>
              <a:t>错</a:t>
            </a:r>
            <a:endParaRPr sz="2400" b="0" dirty="0">
              <a:solidFill>
                <a:srgbClr val="333333"/>
              </a:solidFill>
              <a:latin typeface="Microsoft YaHei"/>
              <a:ea typeface="Microsoft YaHei"/>
            </a:endParaRP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2400" b="0" dirty="0">
                <a:solidFill>
                  <a:srgbClr val="333333"/>
                </a:solidFill>
                <a:latin typeface="Microsoft YaHei"/>
                <a:ea typeface="Microsoft YaHei"/>
              </a:rPr>
              <a:t>• </a:t>
            </a:r>
            <a:r>
              <a:rPr sz="2400" b="0" dirty="0" err="1">
                <a:solidFill>
                  <a:srgbClr val="333333"/>
                </a:solidFill>
                <a:latin typeface="Microsoft YaHei"/>
                <a:ea typeface="Microsoft YaHei"/>
              </a:rPr>
              <a:t>忽略情境，给出不合理的行动建议</a:t>
            </a:r>
            <a:endParaRPr sz="2400" b="0" dirty="0">
              <a:solidFill>
                <a:srgbClr val="333333"/>
              </a:solidFill>
              <a:latin typeface="Microsoft YaHei"/>
              <a:ea typeface="Microsoft YaHei"/>
            </a:endParaRP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2400" b="0" dirty="0">
                <a:solidFill>
                  <a:srgbClr val="333333"/>
                </a:solidFill>
                <a:latin typeface="Microsoft YaHei"/>
                <a:ea typeface="Microsoft YaHei"/>
              </a:rPr>
              <a:t>单个错</a:t>
            </a:r>
            <a:r>
              <a:rPr sz="2400" b="0" dirty="0" err="1">
                <a:solidFill>
                  <a:srgbClr val="333333"/>
                </a:solidFill>
                <a:latin typeface="Microsoft YaHei"/>
                <a:ea typeface="Microsoft YaHei"/>
              </a:rPr>
              <a:t>误案例不能代表模型的全部能</a:t>
            </a:r>
            <a:r>
              <a:rPr sz="2400" b="0" dirty="0">
                <a:solidFill>
                  <a:srgbClr val="333333"/>
                </a:solidFill>
                <a:latin typeface="Microsoft YaHei"/>
                <a:ea typeface="Microsoft YaHei"/>
              </a:rPr>
              <a:t>力，</a:t>
            </a:r>
            <a:endParaRPr lang="en-US" sz="2400" b="0" dirty="0">
              <a:solidFill>
                <a:srgbClr val="333333"/>
              </a:solidFill>
              <a:latin typeface="Microsoft YaHei"/>
              <a:ea typeface="Microsoft YaHei"/>
            </a:endParaRP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2400" b="0" dirty="0">
                <a:solidFill>
                  <a:srgbClr val="333333"/>
                </a:solidFill>
                <a:latin typeface="Microsoft YaHei"/>
                <a:ea typeface="Microsoft YaHei"/>
              </a:rPr>
              <a:t>也提</a:t>
            </a:r>
            <a:r>
              <a:rPr sz="2400" dirty="0" err="1">
                <a:solidFill>
                  <a:srgbClr val="333333"/>
                </a:solidFill>
                <a:latin typeface="Microsoft YaHei"/>
                <a:ea typeface="Microsoft YaHei"/>
              </a:rPr>
              <a:t>醒我们按</a:t>
            </a:r>
            <a:r>
              <a:rPr sz="2400" dirty="0">
                <a:solidFill>
                  <a:srgbClr val="333333"/>
                </a:solidFill>
                <a:latin typeface="Microsoft YaHei"/>
                <a:ea typeface="Microsoft YaHei"/>
              </a:rPr>
              <a:t>任务验证</a:t>
            </a:r>
            <a:r>
              <a:rPr sz="2400" dirty="0" err="1">
                <a:solidFill>
                  <a:srgbClr val="333333"/>
                </a:solidFill>
                <a:latin typeface="Microsoft YaHei"/>
                <a:ea typeface="Microsoft YaHei"/>
              </a:rPr>
              <a:t>其表现</a:t>
            </a:r>
            <a:r>
              <a:rPr sz="2400" b="0" dirty="0">
                <a:solidFill>
                  <a:srgbClr val="333333"/>
                </a:solidFill>
                <a:latin typeface="Microsoft YaHei"/>
                <a:ea typeface="Microsoft YaHei"/>
              </a:rPr>
              <a:t>。</a:t>
            </a:r>
            <a:endParaRPr sz="1900" b="0" dirty="0">
              <a:solidFill>
                <a:srgbClr val="333333"/>
              </a:solidFill>
              <a:latin typeface="Microsoft YaHei"/>
              <a:ea typeface="Microsoft YaHei"/>
            </a:endParaRP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2400" b="1" dirty="0">
                <a:solidFill>
                  <a:srgbClr val="0066CC"/>
                </a:solidFill>
                <a:latin typeface="Microsoft YaHei"/>
                <a:ea typeface="Microsoft YaHei"/>
              </a:rPr>
              <a:t>可以</a:t>
            </a:r>
            <a:r>
              <a:rPr sz="2400" b="1" dirty="0" err="1">
                <a:solidFill>
                  <a:srgbClr val="0066CC"/>
                </a:solidFill>
                <a:latin typeface="Microsoft YaHei"/>
                <a:ea typeface="Microsoft YaHei"/>
              </a:rPr>
              <a:t>尝试的</a:t>
            </a:r>
            <a:r>
              <a:rPr sz="2400" b="1" dirty="0">
                <a:solidFill>
                  <a:srgbClr val="0066CC"/>
                </a:solidFill>
                <a:latin typeface="Microsoft YaHei"/>
                <a:ea typeface="Microsoft YaHei"/>
              </a:rPr>
              <a:t>辅</a:t>
            </a:r>
            <a:r>
              <a:rPr sz="2400" b="1" dirty="0" err="1">
                <a:solidFill>
                  <a:srgbClr val="0066CC"/>
                </a:solidFill>
                <a:latin typeface="Microsoft YaHei"/>
                <a:ea typeface="Microsoft YaHei"/>
              </a:rPr>
              <a:t>助任务</a:t>
            </a:r>
            <a:r>
              <a:rPr sz="2400" b="1" dirty="0">
                <a:solidFill>
                  <a:srgbClr val="0066CC"/>
                </a:solidFill>
                <a:latin typeface="Microsoft YaHei"/>
                <a:ea typeface="Microsoft YaHei"/>
              </a:rPr>
              <a:t>：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2200" b="0" dirty="0">
                <a:solidFill>
                  <a:srgbClr val="333333"/>
                </a:solidFill>
                <a:latin typeface="Microsoft YaHei"/>
                <a:ea typeface="Microsoft YaHei"/>
              </a:rPr>
              <a:t>• </a:t>
            </a:r>
            <a:r>
              <a:rPr sz="2200" dirty="0" err="1">
                <a:solidFill>
                  <a:srgbClr val="333333"/>
                </a:solidFill>
                <a:latin typeface="Microsoft YaHei"/>
                <a:ea typeface="Microsoft YaHei"/>
              </a:rPr>
              <a:t>整理资料</a:t>
            </a:r>
            <a:r>
              <a:rPr sz="2200" dirty="0">
                <a:solidFill>
                  <a:srgbClr val="333333"/>
                </a:solidFill>
                <a:latin typeface="Microsoft YaHei"/>
                <a:ea typeface="Microsoft YaHei"/>
              </a:rPr>
              <a:t>并</a:t>
            </a:r>
            <a:r>
              <a:rPr sz="2200" dirty="0" err="1">
                <a:solidFill>
                  <a:srgbClr val="333333"/>
                </a:solidFill>
                <a:latin typeface="Microsoft YaHei"/>
                <a:ea typeface="Microsoft YaHei"/>
              </a:rPr>
              <a:t>起草研究报告</a:t>
            </a:r>
            <a:endParaRPr lang="en-US" sz="2200" dirty="0">
              <a:solidFill>
                <a:srgbClr val="333333"/>
              </a:solidFill>
              <a:latin typeface="Microsoft YaHei"/>
              <a:ea typeface="Microsoft YaHei"/>
            </a:endParaRPr>
          </a:p>
          <a:p>
            <a:pPr>
              <a:lnSpc>
                <a:spcPct val="130000"/>
              </a:lnSpc>
              <a:spcAft>
                <a:spcPts val="600"/>
              </a:spcAft>
            </a:pPr>
            <a:r>
              <a:rPr lang="en-US" altLang="zh-CN" sz="2200" dirty="0">
                <a:solidFill>
                  <a:srgbClr val="333333"/>
                </a:solidFill>
                <a:latin typeface="Microsoft YaHei"/>
                <a:ea typeface="Microsoft YaHei"/>
              </a:rPr>
              <a:t>• </a:t>
            </a:r>
            <a:r>
              <a:rPr lang="zh-CN" altLang="en-US" sz="2200" dirty="0">
                <a:solidFill>
                  <a:srgbClr val="333333"/>
                </a:solidFill>
                <a:latin typeface="Microsoft YaHei"/>
                <a:ea typeface="Microsoft YaHei"/>
              </a:rPr>
              <a:t>辅助分析运</a:t>
            </a:r>
            <a:r>
              <a:rPr lang="en-US" altLang="zh-CN" sz="2200" dirty="0">
                <a:solidFill>
                  <a:srgbClr val="333333"/>
                </a:solidFill>
                <a:latin typeface="Microsoft YaHei"/>
                <a:ea typeface="Microsoft YaHei"/>
              </a:rPr>
              <a:t>动</a:t>
            </a:r>
            <a:r>
              <a:rPr lang="zh-CN" altLang="en-US" sz="2200" dirty="0">
                <a:solidFill>
                  <a:srgbClr val="333333"/>
                </a:solidFill>
                <a:latin typeface="Microsoft YaHei"/>
                <a:ea typeface="Microsoft YaHei"/>
              </a:rPr>
              <a:t>记录中的变化趋势</a:t>
            </a:r>
            <a:endParaRPr sz="2200" dirty="0">
              <a:solidFill>
                <a:srgbClr val="333333"/>
              </a:solidFill>
              <a:latin typeface="Microsoft YaHei"/>
              <a:ea typeface="Microsoft YaHei"/>
            </a:endParaRP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2200" dirty="0">
                <a:solidFill>
                  <a:srgbClr val="333333"/>
                </a:solidFill>
                <a:latin typeface="Microsoft YaHei"/>
                <a:ea typeface="Microsoft YaHei"/>
              </a:rPr>
              <a:t>• </a:t>
            </a:r>
            <a:r>
              <a:rPr sz="2200" dirty="0" err="1">
                <a:solidFill>
                  <a:srgbClr val="333333"/>
                </a:solidFill>
                <a:latin typeface="Microsoft YaHei"/>
                <a:ea typeface="Microsoft YaHei"/>
              </a:rPr>
              <a:t>辅助编写交互式网页，并测试运行结果</a:t>
            </a:r>
            <a:endParaRPr sz="2200" dirty="0">
              <a:solidFill>
                <a:srgbClr val="333333"/>
              </a:solidFill>
              <a:latin typeface="Microsoft YaHei"/>
              <a:ea typeface="Microsoft YaHei"/>
            </a:endParaRP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2200" dirty="0" err="1">
                <a:solidFill>
                  <a:srgbClr val="333333"/>
                </a:solidFill>
                <a:latin typeface="Microsoft YaHei"/>
                <a:ea typeface="Microsoft YaHei"/>
              </a:rPr>
              <a:t>合理使用AI，需要同时了解其能力和局限</a:t>
            </a:r>
            <a:r>
              <a:rPr sz="2200" dirty="0">
                <a:solidFill>
                  <a:srgbClr val="333333"/>
                </a:solidFill>
                <a:latin typeface="Microsoft YaHei"/>
                <a:ea typeface="Microsoft YaHei"/>
              </a:rPr>
              <a:t>，</a:t>
            </a:r>
            <a:endParaRPr lang="zh-CN" altLang="en-US" sz="2200" dirty="0">
              <a:solidFill>
                <a:srgbClr val="333333"/>
              </a:solidFill>
              <a:latin typeface="Microsoft YaHei"/>
              <a:ea typeface="Microsoft YaHei"/>
            </a:endParaRP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lang="zh-CN" altLang="en-US" sz="2200" dirty="0">
                <a:solidFill>
                  <a:srgbClr val="333333"/>
                </a:solidFill>
                <a:latin typeface="Microsoft YaHei"/>
                <a:ea typeface="Microsoft YaHei"/>
              </a:rPr>
              <a:t>并对具体任务的结果进行核验。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963479" y="4882836"/>
            <a:ext cx="4297680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b="0" dirty="0">
                <a:solidFill>
                  <a:srgbClr val="333333"/>
                </a:solidFill>
                <a:latin typeface="Microsoft YaHei"/>
                <a:ea typeface="Microsoft YaHei"/>
              </a:rPr>
              <a:t>图 2-6  模</a:t>
            </a:r>
            <a:r>
              <a:rPr b="0" dirty="0" err="1">
                <a:solidFill>
                  <a:srgbClr val="333333"/>
                </a:solidFill>
                <a:latin typeface="Microsoft YaHei"/>
                <a:ea typeface="Microsoft YaHei"/>
              </a:rPr>
              <a:t>型的错误</a:t>
            </a:r>
            <a:r>
              <a:rPr b="0" dirty="0">
                <a:solidFill>
                  <a:srgbClr val="333333"/>
                </a:solidFill>
                <a:latin typeface="Microsoft YaHei"/>
                <a:ea typeface="Microsoft YaHei"/>
              </a:rPr>
              <a:t>案例与</a:t>
            </a:r>
            <a:r>
              <a:rPr b="0" dirty="0" err="1">
                <a:solidFill>
                  <a:srgbClr val="333333"/>
                </a:solidFill>
                <a:latin typeface="Microsoft YaHei"/>
                <a:ea typeface="Microsoft YaHei"/>
              </a:rPr>
              <a:t>应用示例</a:t>
            </a:r>
            <a:endParaRPr b="0" dirty="0">
              <a:solidFill>
                <a:srgbClr val="333333"/>
              </a:solidFill>
              <a:latin typeface="Microsoft YaHei"/>
              <a:ea typeface="Microsoft YaHei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11094415" y="6446520"/>
            <a:ext cx="914400" cy="320040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pPr algn="r"/>
            <a:r>
              <a:rPr sz="1100">
                <a:solidFill>
                  <a:srgbClr val="999999"/>
                </a:solidFill>
                <a:latin typeface="Arial"/>
              </a:rPr>
              <a:t>21 / 50</a:t>
            </a:r>
          </a:p>
        </p:txBody>
      </p:sp>
      <p:pic>
        <p:nvPicPr>
          <p:cNvPr id="12" name="图片 11">
            <a:extLst>
              <a:ext uri="{FF2B5EF4-FFF2-40B4-BE49-F238E27FC236}">
                <a16:creationId xmlns:a16="http://schemas.microsoft.com/office/drawing/2014/main" id="{C79FBAED-5646-20FE-4389-A8AC3D30A26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399" y="828594"/>
            <a:ext cx="6705295" cy="4019861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389120" cy="6858000"/>
          </a:xfrm>
          <a:prstGeom prst="rect">
            <a:avLst/>
          </a:prstGeom>
          <a:solidFill>
            <a:srgbClr val="006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4389120" y="0"/>
            <a:ext cx="91440" cy="6858000"/>
          </a:xfrm>
          <a:prstGeom prst="rect">
            <a:avLst/>
          </a:prstGeom>
          <a:solidFill>
            <a:srgbClr val="004C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65760" y="1828800"/>
            <a:ext cx="3657600" cy="2286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6000" b="1" i="0">
                <a:solidFill>
                  <a:srgbClr val="FFFFFF"/>
                </a:solidFill>
                <a:latin typeface="Arial"/>
                <a:ea typeface="Arial"/>
              </a:rPr>
              <a:t>2.2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921624" y="2403612"/>
            <a:ext cx="640080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4200" b="1" i="0" dirty="0" err="1">
                <a:solidFill>
                  <a:srgbClr val="333333"/>
                </a:solidFill>
                <a:latin typeface="Microsoft YaHei"/>
                <a:ea typeface="Microsoft YaHei"/>
              </a:rPr>
              <a:t>模型知识的</a:t>
            </a:r>
            <a:r>
              <a:rPr sz="4200" b="1" i="0" dirty="0">
                <a:solidFill>
                  <a:srgbClr val="333333"/>
                </a:solidFill>
                <a:latin typeface="Microsoft YaHei"/>
                <a:ea typeface="Microsoft YaHei"/>
              </a:rPr>
              <a:t>来源</a:t>
            </a:r>
            <a:r>
              <a:rPr sz="4200" b="1" i="0" dirty="0" err="1">
                <a:solidFill>
                  <a:srgbClr val="333333"/>
                </a:solidFill>
                <a:latin typeface="Microsoft YaHei"/>
                <a:ea typeface="Microsoft YaHei"/>
              </a:rPr>
              <a:t>与边</a:t>
            </a:r>
            <a:r>
              <a:rPr sz="4200" b="1" i="0" dirty="0">
                <a:solidFill>
                  <a:srgbClr val="333333"/>
                </a:solidFill>
                <a:latin typeface="Microsoft YaHei"/>
                <a:ea typeface="Microsoft YaHei"/>
              </a:rPr>
              <a:t>界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0" y="3657600"/>
            <a:ext cx="1371600" cy="38000"/>
          </a:xfrm>
          <a:prstGeom prst="rect">
            <a:avLst/>
          </a:prstGeom>
          <a:solidFill>
            <a:srgbClr val="006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029200" y="3840480"/>
            <a:ext cx="6766560" cy="61555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" b="0" i="0" dirty="0" err="1">
                <a:solidFill>
                  <a:srgbClr val="333333"/>
                </a:solidFill>
                <a:latin typeface="Microsoft YaHei"/>
                <a:ea typeface="Microsoft YaHei"/>
              </a:rPr>
              <a:t>了解预训练知识的来源</a:t>
            </a:r>
            <a:r>
              <a:rPr sz="2000" b="0" i="0" dirty="0">
                <a:solidFill>
                  <a:srgbClr val="333333"/>
                </a:solidFill>
                <a:latin typeface="Microsoft YaHei"/>
                <a:ea typeface="Microsoft YaHei"/>
              </a:rPr>
              <a:t>、覆</a:t>
            </a:r>
            <a:r>
              <a:rPr sz="2000" b="0" i="0" dirty="0" err="1">
                <a:solidFill>
                  <a:srgbClr val="333333"/>
                </a:solidFill>
                <a:latin typeface="Microsoft YaHei"/>
                <a:ea typeface="Microsoft YaHei"/>
              </a:rPr>
              <a:t>盖范</a:t>
            </a:r>
            <a:r>
              <a:rPr sz="2000" b="0" i="0" dirty="0">
                <a:solidFill>
                  <a:srgbClr val="333333"/>
                </a:solidFill>
                <a:latin typeface="Microsoft YaHei"/>
                <a:ea typeface="Microsoft YaHei"/>
              </a:rPr>
              <a:t>围和</a:t>
            </a:r>
            <a:r>
              <a:rPr sz="2000" b="0" i="0" dirty="0" err="1">
                <a:solidFill>
                  <a:srgbClr val="333333"/>
                </a:solidFill>
                <a:latin typeface="Microsoft YaHei"/>
                <a:ea typeface="Microsoft YaHei"/>
              </a:rPr>
              <a:t>时间边界，有助于判</a:t>
            </a:r>
            <a:r>
              <a:rPr sz="2000" b="0" i="0" dirty="0">
                <a:solidFill>
                  <a:srgbClr val="333333"/>
                </a:solidFill>
                <a:latin typeface="Microsoft YaHei"/>
                <a:ea typeface="Microsoft YaHei"/>
              </a:rPr>
              <a:t>断哪些问</a:t>
            </a:r>
            <a:r>
              <a:rPr sz="2000" b="0" i="0" dirty="0" err="1">
                <a:solidFill>
                  <a:srgbClr val="333333"/>
                </a:solidFill>
                <a:latin typeface="Microsoft YaHei"/>
                <a:ea typeface="Microsoft YaHei"/>
              </a:rPr>
              <a:t>题需要补充检索或提供资料</a:t>
            </a:r>
            <a:r>
              <a:rPr sz="2000" b="0" i="0" dirty="0">
                <a:solidFill>
                  <a:srgbClr val="333333"/>
                </a:solidFill>
                <a:latin typeface="Microsoft YaHei"/>
                <a:ea typeface="Microsoft YaHei"/>
              </a:rPr>
              <a:t>。</a:t>
            </a:r>
          </a:p>
        </p:txBody>
      </p:sp>
      <p:pic>
        <p:nvPicPr>
          <p:cNvPr id="10" name="Picture 9" descr="yzu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17175" y="246888"/>
            <a:ext cx="1691640" cy="54864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11094415" y="6446520"/>
            <a:ext cx="914400" cy="320040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pPr algn="r"/>
            <a:r>
              <a:rPr sz="1100">
                <a:solidFill>
                  <a:srgbClr val="999999"/>
                </a:solidFill>
                <a:latin typeface="Arial"/>
              </a:rPr>
              <a:t>22 / 50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yzu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17175" y="246888"/>
            <a:ext cx="1691640" cy="54864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274320"/>
            <a:ext cx="960120" cy="502920"/>
          </a:xfrm>
          <a:prstGeom prst="rect">
            <a:avLst/>
          </a:prstGeom>
          <a:solidFill>
            <a:srgbClr val="006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" y="341114"/>
            <a:ext cx="914400" cy="3693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400" b="1" i="0" dirty="0">
                <a:solidFill>
                  <a:srgbClr val="FFFFFF"/>
                </a:solidFill>
                <a:latin typeface="Microsoft YaHei"/>
                <a:ea typeface="Microsoft YaHei"/>
              </a:rPr>
              <a:t>2.2.1</a:t>
            </a:r>
          </a:p>
        </p:txBody>
      </p:sp>
      <p:sp>
        <p:nvSpPr>
          <p:cNvPr id="6" name="Rectangle 5"/>
          <p:cNvSpPr/>
          <p:nvPr/>
        </p:nvSpPr>
        <p:spPr>
          <a:xfrm>
            <a:off x="960120" y="274320"/>
            <a:ext cx="9052560" cy="502920"/>
          </a:xfrm>
          <a:prstGeom prst="rect">
            <a:avLst/>
          </a:prstGeom>
          <a:solidFill>
            <a:srgbClr val="3A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234440" y="341114"/>
            <a:ext cx="8686800" cy="3693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400" b="1" i="0" dirty="0" err="1">
                <a:solidFill>
                  <a:srgbClr val="FFFFFF"/>
                </a:solidFill>
                <a:latin typeface="Microsoft YaHei"/>
                <a:ea typeface="Microsoft YaHei"/>
              </a:rPr>
              <a:t>预训练</a:t>
            </a:r>
            <a:r>
              <a:rPr sz="2400" b="1" i="0" dirty="0">
                <a:solidFill>
                  <a:srgbClr val="FFFFFF"/>
                </a:solidFill>
                <a:latin typeface="Microsoft YaHei"/>
                <a:ea typeface="Microsoft YaHei"/>
              </a:rPr>
              <a:t>知识</a:t>
            </a:r>
            <a:r>
              <a:rPr sz="2400" b="1" i="0" dirty="0" err="1">
                <a:solidFill>
                  <a:srgbClr val="FFFFFF"/>
                </a:solidFill>
                <a:latin typeface="Microsoft YaHei"/>
                <a:ea typeface="Microsoft YaHei"/>
              </a:rPr>
              <a:t>的覆盖范围</a:t>
            </a:r>
            <a:endParaRPr sz="2400" b="1" i="0" dirty="0">
              <a:solidFill>
                <a:srgbClr val="FFFFFF"/>
              </a:solidFill>
              <a:latin typeface="Microsoft YaHei"/>
              <a:ea typeface="Microsoft YaHei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049766" y="1130449"/>
            <a:ext cx="8667975" cy="3755250"/>
          </a:xfrm>
          <a:prstGeom prst="rect">
            <a:avLst/>
          </a:prstGeom>
          <a:noFill/>
        </p:spPr>
        <p:txBody>
          <a:bodyPr wrap="square" lIns="36000" tIns="36000" rIns="36000" bIns="36000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2400" b="1" dirty="0" err="1">
                <a:solidFill>
                  <a:srgbClr val="0066CC"/>
                </a:solidFill>
                <a:latin typeface="Arial"/>
                <a:ea typeface="Arial"/>
              </a:rPr>
              <a:t>预训</a:t>
            </a:r>
            <a:r>
              <a:rPr sz="2400" b="1" dirty="0">
                <a:solidFill>
                  <a:srgbClr val="0066CC"/>
                </a:solidFill>
                <a:latin typeface="Arial"/>
                <a:ea typeface="Arial"/>
              </a:rPr>
              <a:t>练是模型从大量</a:t>
            </a:r>
            <a:r>
              <a:rPr sz="2200" b="0" dirty="0">
                <a:solidFill>
                  <a:srgbClr val="333333"/>
                </a:solidFill>
                <a:latin typeface="Microsoft YaHei"/>
                <a:ea typeface="Microsoft YaHei"/>
              </a:rPr>
              <a:t>数</a:t>
            </a:r>
            <a:r>
              <a:rPr sz="2400" b="0" dirty="0" err="1">
                <a:solidFill>
                  <a:srgbClr val="333333"/>
                </a:solidFill>
                <a:latin typeface="Microsoft YaHei"/>
                <a:ea typeface="Microsoft YaHei"/>
              </a:rPr>
              <a:t>据中学习规律、调</a:t>
            </a:r>
            <a:r>
              <a:rPr sz="2400" b="0" dirty="0">
                <a:solidFill>
                  <a:srgbClr val="333333"/>
                </a:solidFill>
                <a:latin typeface="Microsoft YaHei"/>
                <a:ea typeface="Microsoft YaHei"/>
              </a:rPr>
              <a:t>整网</a:t>
            </a:r>
            <a:r>
              <a:rPr sz="2400" b="0" dirty="0" err="1">
                <a:solidFill>
                  <a:srgbClr val="333333"/>
                </a:solidFill>
                <a:latin typeface="Microsoft YaHei"/>
                <a:ea typeface="Microsoft YaHei"/>
              </a:rPr>
              <a:t>络参数的阶段</a:t>
            </a:r>
            <a:r>
              <a:rPr sz="2400" b="0" dirty="0">
                <a:solidFill>
                  <a:srgbClr val="333333"/>
                </a:solidFill>
                <a:latin typeface="Microsoft YaHei"/>
                <a:ea typeface="Microsoft YaHei"/>
              </a:rPr>
              <a:t>。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2400" b="1" dirty="0">
                <a:solidFill>
                  <a:srgbClr val="004CA0"/>
                </a:solidFill>
                <a:latin typeface="Microsoft YaHei"/>
                <a:ea typeface="Microsoft YaHei"/>
              </a:rPr>
              <a:t>模型可回</a:t>
            </a:r>
            <a:r>
              <a:rPr sz="2400" b="1" dirty="0" err="1">
                <a:solidFill>
                  <a:srgbClr val="004CA0"/>
                </a:solidFill>
                <a:latin typeface="Microsoft YaHei"/>
                <a:ea typeface="Microsoft YaHei"/>
              </a:rPr>
              <a:t>答不同领域的问题，例如</a:t>
            </a:r>
            <a:r>
              <a:rPr sz="2400" b="1" dirty="0">
                <a:solidFill>
                  <a:srgbClr val="004CA0"/>
                </a:solidFill>
                <a:latin typeface="Microsoft YaHei"/>
                <a:ea typeface="Microsoft YaHei"/>
              </a:rPr>
              <a:t>：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2400" b="1" dirty="0">
                <a:solidFill>
                  <a:srgbClr val="0066CC"/>
                </a:solidFill>
                <a:latin typeface="Microsoft YaHei"/>
                <a:ea typeface="Microsoft YaHei"/>
              </a:rPr>
              <a:t>• </a:t>
            </a:r>
            <a:r>
              <a:rPr sz="2400" b="1" dirty="0" err="1">
                <a:solidFill>
                  <a:srgbClr val="0066CC"/>
                </a:solidFill>
                <a:latin typeface="Microsoft YaHei"/>
                <a:ea typeface="Microsoft YaHei"/>
              </a:rPr>
              <a:t>生活常识</a:t>
            </a:r>
            <a:r>
              <a:rPr sz="2400" b="1" dirty="0">
                <a:solidFill>
                  <a:srgbClr val="0066CC"/>
                </a:solidFill>
                <a:latin typeface="Microsoft YaHei"/>
                <a:ea typeface="Microsoft YaHei"/>
              </a:rPr>
              <a:t>  </a:t>
            </a:r>
            <a:r>
              <a:rPr sz="2400" b="0" dirty="0">
                <a:solidFill>
                  <a:srgbClr val="333333"/>
                </a:solidFill>
                <a:latin typeface="Consolas"/>
                <a:ea typeface="Consolas"/>
              </a:rPr>
              <a:t>"</a:t>
            </a:r>
            <a:r>
              <a:rPr sz="2400" b="0" dirty="0" err="1">
                <a:solidFill>
                  <a:srgbClr val="333333"/>
                </a:solidFill>
                <a:latin typeface="Consolas"/>
                <a:ea typeface="Consolas"/>
              </a:rPr>
              <a:t>手机掉进水里怎么办</a:t>
            </a:r>
            <a:r>
              <a:rPr sz="2400" b="0" dirty="0">
                <a:solidFill>
                  <a:srgbClr val="333333"/>
                </a:solidFill>
                <a:latin typeface="Consolas"/>
                <a:ea typeface="Consolas"/>
              </a:rPr>
              <a:t>？"</a:t>
            </a:r>
            <a:endParaRPr sz="1700" b="0" dirty="0">
              <a:solidFill>
                <a:srgbClr val="333333"/>
              </a:solidFill>
              <a:latin typeface="Consolas"/>
              <a:ea typeface="Consolas"/>
            </a:endParaRP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2400" b="1" dirty="0">
                <a:solidFill>
                  <a:srgbClr val="0066CC"/>
                </a:solidFill>
                <a:latin typeface="Microsoft YaHei"/>
                <a:ea typeface="Microsoft YaHei"/>
              </a:rPr>
              <a:t>• </a:t>
            </a:r>
            <a:r>
              <a:rPr sz="2400" b="1" dirty="0" err="1">
                <a:solidFill>
                  <a:srgbClr val="0066CC"/>
                </a:solidFill>
                <a:latin typeface="Microsoft YaHei"/>
                <a:ea typeface="Microsoft YaHei"/>
              </a:rPr>
              <a:t>专业知识</a:t>
            </a:r>
            <a:r>
              <a:rPr sz="2400" b="1" dirty="0">
                <a:solidFill>
                  <a:srgbClr val="0066CC"/>
                </a:solidFill>
                <a:latin typeface="Microsoft YaHei"/>
                <a:ea typeface="Microsoft YaHei"/>
              </a:rPr>
              <a:t>  </a:t>
            </a:r>
            <a:r>
              <a:rPr sz="2400" b="0" dirty="0">
                <a:solidFill>
                  <a:srgbClr val="333333"/>
                </a:solidFill>
                <a:latin typeface="Consolas"/>
                <a:ea typeface="Consolas"/>
              </a:rPr>
              <a:t>"</a:t>
            </a:r>
            <a:r>
              <a:rPr sz="2400" b="0" dirty="0" err="1">
                <a:solidFill>
                  <a:srgbClr val="333333"/>
                </a:solidFill>
                <a:latin typeface="Consolas"/>
                <a:ea typeface="Consolas"/>
              </a:rPr>
              <a:t>薛定谔的猫到底是什么</a:t>
            </a:r>
            <a:r>
              <a:rPr sz="2400" b="0" dirty="0">
                <a:solidFill>
                  <a:srgbClr val="333333"/>
                </a:solidFill>
                <a:latin typeface="Consolas"/>
                <a:ea typeface="Consolas"/>
              </a:rPr>
              <a:t>？"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2400" b="1" dirty="0">
                <a:solidFill>
                  <a:srgbClr val="0066CC"/>
                </a:solidFill>
                <a:latin typeface="Microsoft YaHei"/>
                <a:ea typeface="Microsoft YaHei"/>
              </a:rPr>
              <a:t>•</a:t>
            </a:r>
            <a:r>
              <a:rPr sz="2400" b="1" dirty="0" err="1">
                <a:solidFill>
                  <a:srgbClr val="0066CC"/>
                </a:solidFill>
                <a:latin typeface="Microsoft YaHei"/>
                <a:ea typeface="Microsoft YaHei"/>
              </a:rPr>
              <a:t> 历史</a:t>
            </a:r>
            <a:r>
              <a:rPr sz="2400" b="1" dirty="0">
                <a:solidFill>
                  <a:srgbClr val="0066CC"/>
                </a:solidFill>
                <a:latin typeface="Microsoft YaHei"/>
                <a:ea typeface="Microsoft YaHei"/>
              </a:rPr>
              <a:t>知识</a:t>
            </a:r>
            <a:r>
              <a:rPr sz="2400" b="0" dirty="0">
                <a:solidFill>
                  <a:srgbClr val="333333"/>
                </a:solidFill>
                <a:latin typeface="Consolas"/>
                <a:ea typeface="Consolas"/>
              </a:rPr>
              <a:t>：“旅</a:t>
            </a:r>
            <a:r>
              <a:rPr sz="2400" b="0" dirty="0" err="1">
                <a:solidFill>
                  <a:srgbClr val="333333"/>
                </a:solidFill>
                <a:latin typeface="Consolas"/>
                <a:ea typeface="Consolas"/>
              </a:rPr>
              <a:t>行者1</a:t>
            </a:r>
            <a:r>
              <a:rPr sz="2400" b="0" dirty="0">
                <a:solidFill>
                  <a:srgbClr val="333333"/>
                </a:solidFill>
                <a:latin typeface="Consolas"/>
                <a:ea typeface="Consolas"/>
              </a:rPr>
              <a:t>号金</a:t>
            </a:r>
            <a:r>
              <a:rPr sz="2400" b="0" dirty="0" err="1">
                <a:solidFill>
                  <a:srgbClr val="333333"/>
                </a:solidFill>
                <a:latin typeface="Consolas"/>
                <a:ea typeface="Consolas"/>
              </a:rPr>
              <a:t>唱片中有</a:t>
            </a:r>
            <a:r>
              <a:rPr sz="2400" b="0" dirty="0">
                <a:solidFill>
                  <a:srgbClr val="333333"/>
                </a:solidFill>
                <a:latin typeface="Consolas"/>
                <a:ea typeface="Consolas"/>
              </a:rPr>
              <a:t>哪些问</a:t>
            </a:r>
            <a:r>
              <a:rPr sz="2400" b="0" dirty="0" err="1">
                <a:solidFill>
                  <a:srgbClr val="333333"/>
                </a:solidFill>
                <a:latin typeface="Consolas"/>
                <a:ea typeface="Consolas"/>
              </a:rPr>
              <a:t>候语？</a:t>
            </a:r>
            <a:r>
              <a:rPr sz="2400" b="0" dirty="0">
                <a:solidFill>
                  <a:srgbClr val="333333"/>
                </a:solidFill>
                <a:latin typeface="Consolas"/>
                <a:ea typeface="Consolas"/>
              </a:rPr>
              <a:t>”</a:t>
            </a:r>
            <a:endParaRPr sz="1700" b="0" dirty="0">
              <a:solidFill>
                <a:srgbClr val="333333"/>
              </a:solidFill>
              <a:latin typeface="Consolas"/>
              <a:ea typeface="Consolas"/>
            </a:endParaRP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endParaRPr sz="1700" b="0" dirty="0">
              <a:solidFill>
                <a:srgbClr val="333333"/>
              </a:solidFill>
              <a:latin typeface="Consolas"/>
              <a:ea typeface="Consolas"/>
            </a:endParaRP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2400" b="1" dirty="0">
                <a:solidFill>
                  <a:srgbClr val="004CA0"/>
                </a:solidFill>
                <a:latin typeface="Microsoft YaHei"/>
                <a:ea typeface="Microsoft YaHei"/>
              </a:rPr>
              <a:t>知识</a:t>
            </a:r>
            <a:r>
              <a:rPr sz="2400" b="1" dirty="0" err="1">
                <a:solidFill>
                  <a:srgbClr val="004CA0"/>
                </a:solidFill>
                <a:latin typeface="Microsoft YaHei"/>
                <a:ea typeface="Microsoft YaHei"/>
              </a:rPr>
              <a:t>覆盖广并不代表每个</a:t>
            </a:r>
            <a:r>
              <a:rPr sz="2400" b="1" dirty="0">
                <a:solidFill>
                  <a:srgbClr val="004CA0"/>
                </a:solidFill>
                <a:latin typeface="Microsoft YaHei"/>
                <a:ea typeface="Microsoft YaHei"/>
              </a:rPr>
              <a:t>回答</a:t>
            </a:r>
            <a:r>
              <a:rPr sz="2400" b="1" dirty="0" err="1">
                <a:solidFill>
                  <a:srgbClr val="004CA0"/>
                </a:solidFill>
                <a:latin typeface="Microsoft YaHei"/>
                <a:ea typeface="Microsoft YaHei"/>
              </a:rPr>
              <a:t>都准确，专业结论</a:t>
            </a:r>
            <a:r>
              <a:rPr sz="2400" b="1" dirty="0">
                <a:solidFill>
                  <a:srgbClr val="004CA0"/>
                </a:solidFill>
                <a:latin typeface="Microsoft YaHei"/>
                <a:ea typeface="Microsoft YaHei"/>
              </a:rPr>
              <a:t>仍</a:t>
            </a:r>
            <a:r>
              <a:rPr sz="2400" b="1" dirty="0" err="1">
                <a:solidFill>
                  <a:srgbClr val="004CA0"/>
                </a:solidFill>
                <a:latin typeface="Microsoft YaHei"/>
                <a:ea typeface="Microsoft YaHei"/>
              </a:rPr>
              <a:t>需核验</a:t>
            </a:r>
            <a:r>
              <a:rPr sz="2400" b="1" dirty="0">
                <a:solidFill>
                  <a:srgbClr val="004CA0"/>
                </a:solidFill>
                <a:latin typeface="Microsoft YaHei"/>
                <a:ea typeface="Microsoft YaHei"/>
              </a:rPr>
              <a:t>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94415" y="6446520"/>
            <a:ext cx="914400" cy="320040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pPr algn="r"/>
            <a:r>
              <a:rPr sz="1100">
                <a:solidFill>
                  <a:srgbClr val="999999"/>
                </a:solidFill>
                <a:latin typeface="Arial"/>
              </a:rPr>
              <a:t>23 / 50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09CE30-8483-EFBC-1650-964F595F21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A1AD08C8-4FCA-F274-C0EA-A0D97D819230}"/>
              </a:ext>
            </a:extLst>
          </p:cNvPr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yzu_logo.png">
            <a:extLst>
              <a:ext uri="{FF2B5EF4-FFF2-40B4-BE49-F238E27FC236}">
                <a16:creationId xmlns:a16="http://schemas.microsoft.com/office/drawing/2014/main" id="{D85E1CB6-ECD2-9309-24B1-A9B91D05880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17175" y="246888"/>
            <a:ext cx="1691640" cy="548640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658538C9-039C-3542-1D10-8F46A0095EE0}"/>
              </a:ext>
            </a:extLst>
          </p:cNvPr>
          <p:cNvSpPr/>
          <p:nvPr/>
        </p:nvSpPr>
        <p:spPr>
          <a:xfrm>
            <a:off x="0" y="274320"/>
            <a:ext cx="960120" cy="502920"/>
          </a:xfrm>
          <a:prstGeom prst="rect">
            <a:avLst/>
          </a:prstGeom>
          <a:solidFill>
            <a:srgbClr val="006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BDA4219-CC90-CD60-68C9-FE1EC63872AA}"/>
              </a:ext>
            </a:extLst>
          </p:cNvPr>
          <p:cNvSpPr txBox="1"/>
          <p:nvPr/>
        </p:nvSpPr>
        <p:spPr>
          <a:xfrm>
            <a:off x="45720" y="341114"/>
            <a:ext cx="914400" cy="3693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400" b="1" i="0" dirty="0">
                <a:solidFill>
                  <a:srgbClr val="FFFFFF"/>
                </a:solidFill>
                <a:latin typeface="Microsoft YaHei"/>
                <a:ea typeface="Microsoft YaHei"/>
              </a:rPr>
              <a:t>2.2.1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11F7EC7-0581-69B6-CB1E-C1E414E971F3}"/>
              </a:ext>
            </a:extLst>
          </p:cNvPr>
          <p:cNvSpPr/>
          <p:nvPr/>
        </p:nvSpPr>
        <p:spPr>
          <a:xfrm>
            <a:off x="960120" y="274320"/>
            <a:ext cx="9052560" cy="502920"/>
          </a:xfrm>
          <a:prstGeom prst="rect">
            <a:avLst/>
          </a:prstGeom>
          <a:solidFill>
            <a:srgbClr val="3A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CFFA542-80ED-CC95-A468-5434C9C28E26}"/>
              </a:ext>
            </a:extLst>
          </p:cNvPr>
          <p:cNvSpPr txBox="1"/>
          <p:nvPr/>
        </p:nvSpPr>
        <p:spPr>
          <a:xfrm>
            <a:off x="1234440" y="341114"/>
            <a:ext cx="8686800" cy="3693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400" b="1" i="0" dirty="0" err="1">
                <a:solidFill>
                  <a:srgbClr val="FFFFFF"/>
                </a:solidFill>
                <a:latin typeface="Microsoft YaHei"/>
                <a:ea typeface="Microsoft YaHei"/>
              </a:rPr>
              <a:t>预训练</a:t>
            </a:r>
            <a:r>
              <a:rPr sz="2400" b="1" i="0" dirty="0">
                <a:solidFill>
                  <a:srgbClr val="FFFFFF"/>
                </a:solidFill>
                <a:latin typeface="Microsoft YaHei"/>
                <a:ea typeface="Microsoft YaHei"/>
              </a:rPr>
              <a:t>知识</a:t>
            </a:r>
            <a:r>
              <a:rPr sz="2400" b="1" i="0" dirty="0" err="1">
                <a:solidFill>
                  <a:srgbClr val="FFFFFF"/>
                </a:solidFill>
                <a:latin typeface="Microsoft YaHei"/>
                <a:ea typeface="Microsoft YaHei"/>
              </a:rPr>
              <a:t>的覆盖范围</a:t>
            </a:r>
            <a:endParaRPr sz="2400" b="1" i="0" dirty="0">
              <a:solidFill>
                <a:srgbClr val="FFFFFF"/>
              </a:solidFill>
              <a:latin typeface="Microsoft YaHei"/>
              <a:ea typeface="Microsoft YaHei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0B536AD-41EC-A17A-A2B9-8F857786BB7E}"/>
              </a:ext>
            </a:extLst>
          </p:cNvPr>
          <p:cNvSpPr txBox="1"/>
          <p:nvPr/>
        </p:nvSpPr>
        <p:spPr>
          <a:xfrm>
            <a:off x="3965745" y="4427100"/>
            <a:ext cx="4297680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b="0" dirty="0">
                <a:solidFill>
                  <a:srgbClr val="333333"/>
                </a:solidFill>
                <a:latin typeface="Microsoft YaHei"/>
                <a:ea typeface="Microsoft YaHei"/>
              </a:rPr>
              <a:t>图 2-7  </a:t>
            </a:r>
            <a:r>
              <a:rPr b="0" dirty="0" err="1">
                <a:solidFill>
                  <a:srgbClr val="333333"/>
                </a:solidFill>
                <a:latin typeface="Microsoft YaHei"/>
                <a:ea typeface="Microsoft YaHei"/>
              </a:rPr>
              <a:t>大模型可以回答各种主题的问题</a:t>
            </a:r>
            <a:endParaRPr b="0" dirty="0">
              <a:solidFill>
                <a:srgbClr val="333333"/>
              </a:solidFill>
              <a:latin typeface="Microsoft YaHei"/>
              <a:ea typeface="Microsoft YaHei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0C1D70F-ED73-F4F7-FC30-35E04DF43611}"/>
              </a:ext>
            </a:extLst>
          </p:cNvPr>
          <p:cNvSpPr txBox="1"/>
          <p:nvPr/>
        </p:nvSpPr>
        <p:spPr>
          <a:xfrm>
            <a:off x="11094415" y="6446520"/>
            <a:ext cx="914400" cy="320040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pPr algn="r"/>
            <a:r>
              <a:rPr sz="1100">
                <a:solidFill>
                  <a:srgbClr val="999999"/>
                </a:solidFill>
                <a:latin typeface="Arial"/>
              </a:rPr>
              <a:t>24 / 50</a:t>
            </a:r>
          </a:p>
        </p:txBody>
      </p:sp>
      <p:sp>
        <p:nvSpPr>
          <p:cNvPr id="13" name="矩形: 圆角 12">
            <a:extLst>
              <a:ext uri="{FF2B5EF4-FFF2-40B4-BE49-F238E27FC236}">
                <a16:creationId xmlns:a16="http://schemas.microsoft.com/office/drawing/2014/main" id="{4ED59B52-F5FD-4956-964A-1FB8AFD51396}"/>
              </a:ext>
            </a:extLst>
          </p:cNvPr>
          <p:cNvSpPr/>
          <p:nvPr/>
        </p:nvSpPr>
        <p:spPr>
          <a:xfrm>
            <a:off x="1970667" y="1044845"/>
            <a:ext cx="2627585" cy="648250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000" b="1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对话</a:t>
            </a:r>
            <a:r>
              <a:rPr lang="en-US" altLang="zh-CN" sz="2000" b="1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1</a:t>
            </a:r>
            <a:r>
              <a:rPr lang="zh-CN" altLang="en-US" sz="2000" b="1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（</a:t>
            </a:r>
            <a:r>
              <a:rPr lang="zh-CN" altLang="en-US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生活常识）</a:t>
            </a:r>
            <a:endParaRPr lang="en-US" altLang="zh-CN" dirty="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4" name="矩形: 圆角 13">
            <a:extLst>
              <a:ext uri="{FF2B5EF4-FFF2-40B4-BE49-F238E27FC236}">
                <a16:creationId xmlns:a16="http://schemas.microsoft.com/office/drawing/2014/main" id="{9F5A332A-17B7-4B92-ABD0-7EC6DF2BEF4D}"/>
              </a:ext>
            </a:extLst>
          </p:cNvPr>
          <p:cNvSpPr/>
          <p:nvPr/>
        </p:nvSpPr>
        <p:spPr>
          <a:xfrm>
            <a:off x="7581040" y="1044844"/>
            <a:ext cx="2508358" cy="648251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000" b="1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对话</a:t>
            </a:r>
            <a:r>
              <a:rPr lang="en-US" altLang="zh-CN" sz="2000" b="1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2</a:t>
            </a:r>
            <a:r>
              <a:rPr lang="zh-CN" altLang="en-US" sz="2000" b="1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（</a:t>
            </a:r>
            <a:r>
              <a:rPr lang="zh-CN" altLang="en-US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专业知识）</a:t>
            </a:r>
          </a:p>
        </p:txBody>
      </p:sp>
      <p:pic>
        <p:nvPicPr>
          <p:cNvPr id="15" name="图片 14">
            <a:extLst>
              <a:ext uri="{FF2B5EF4-FFF2-40B4-BE49-F238E27FC236}">
                <a16:creationId xmlns:a16="http://schemas.microsoft.com/office/drawing/2014/main" id="{AD6EC77D-57F9-443C-AC94-67509073B65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30434" y="1918053"/>
            <a:ext cx="547307" cy="540868"/>
          </a:xfrm>
          <a:prstGeom prst="rect">
            <a:avLst/>
          </a:prstGeom>
        </p:spPr>
      </p:pic>
      <p:sp>
        <p:nvSpPr>
          <p:cNvPr id="16" name="矩形: 圆角 15">
            <a:extLst>
              <a:ext uri="{FF2B5EF4-FFF2-40B4-BE49-F238E27FC236}">
                <a16:creationId xmlns:a16="http://schemas.microsoft.com/office/drawing/2014/main" id="{CC5C6425-D851-4DD7-AD16-4F9C6216514F}"/>
              </a:ext>
            </a:extLst>
          </p:cNvPr>
          <p:cNvSpPr/>
          <p:nvPr/>
        </p:nvSpPr>
        <p:spPr>
          <a:xfrm>
            <a:off x="1032194" y="1958675"/>
            <a:ext cx="4320000" cy="648250"/>
          </a:xfrm>
          <a:prstGeom prst="round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just"/>
            <a:r>
              <a:rPr lang="zh-CN" altLang="en-US" sz="1600" dirty="0">
                <a:latin typeface="宋体" panose="02010600030101010101" pitchFamily="2" charset="-122"/>
                <a:ea typeface="宋体" panose="02010600030101010101" pitchFamily="2" charset="-122"/>
              </a:rPr>
              <a:t>“手机掉进水里怎么办？”</a:t>
            </a:r>
          </a:p>
        </p:txBody>
      </p:sp>
      <p:pic>
        <p:nvPicPr>
          <p:cNvPr id="17" name="图片 16">
            <a:extLst>
              <a:ext uri="{FF2B5EF4-FFF2-40B4-BE49-F238E27FC236}">
                <a16:creationId xmlns:a16="http://schemas.microsoft.com/office/drawing/2014/main" id="{2C23041A-4CD2-4793-8CCF-C25093E91AB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9633" y="2883007"/>
            <a:ext cx="536007" cy="523685"/>
          </a:xfrm>
          <a:prstGeom prst="rect">
            <a:avLst/>
          </a:prstGeom>
        </p:spPr>
      </p:pic>
      <p:sp>
        <p:nvSpPr>
          <p:cNvPr id="18" name="矩形: 圆角 17">
            <a:extLst>
              <a:ext uri="{FF2B5EF4-FFF2-40B4-BE49-F238E27FC236}">
                <a16:creationId xmlns:a16="http://schemas.microsoft.com/office/drawing/2014/main" id="{5FCEF781-941A-4A96-8FE6-226275EE4744}"/>
              </a:ext>
            </a:extLst>
          </p:cNvPr>
          <p:cNvSpPr/>
          <p:nvPr/>
        </p:nvSpPr>
        <p:spPr>
          <a:xfrm>
            <a:off x="995640" y="2933071"/>
            <a:ext cx="4320000" cy="991858"/>
          </a:xfrm>
          <a:prstGeom prst="roundRect">
            <a:avLst/>
          </a:prstGeom>
          <a:noFill/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just"/>
            <a:r>
              <a:rPr lang="zh-CN" altLang="en-US" sz="1600" dirty="0">
                <a:latin typeface="宋体" panose="02010600030101010101" pitchFamily="2" charset="-122"/>
                <a:ea typeface="宋体" panose="02010600030101010101" pitchFamily="2" charset="-122"/>
              </a:rPr>
              <a:t>“应先断开电源并停止充电。具体处理请查阅设备厂商指引，必要时联系</a:t>
            </a:r>
            <a:r>
              <a:rPr lang="en-US" altLang="zh-CN" sz="1600" dirty="0">
                <a:latin typeface="宋体" panose="02010600030101010101" pitchFamily="2" charset="-122"/>
                <a:ea typeface="宋体" panose="02010600030101010101" pitchFamily="2" charset="-122"/>
              </a:rPr>
              <a:t>维修</a:t>
            </a:r>
            <a:r>
              <a:rPr lang="zh-CN" altLang="en-US" sz="1600" dirty="0">
                <a:latin typeface="宋体" panose="02010600030101010101" pitchFamily="2" charset="-122"/>
                <a:ea typeface="宋体" panose="02010600030101010101" pitchFamily="2" charset="-122"/>
              </a:rPr>
              <a:t>人员。”</a:t>
            </a:r>
            <a:endParaRPr lang="zh-CN" altLang="zh-CN" sz="1600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pic>
        <p:nvPicPr>
          <p:cNvPr id="19" name="图片 18">
            <a:extLst>
              <a:ext uri="{FF2B5EF4-FFF2-40B4-BE49-F238E27FC236}">
                <a16:creationId xmlns:a16="http://schemas.microsoft.com/office/drawing/2014/main" id="{40D5870B-FA2F-4E2F-80D6-6209CA586A8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64265" y="1904097"/>
            <a:ext cx="547307" cy="540868"/>
          </a:xfrm>
          <a:prstGeom prst="rect">
            <a:avLst/>
          </a:prstGeom>
        </p:spPr>
      </p:pic>
      <p:sp>
        <p:nvSpPr>
          <p:cNvPr id="20" name="矩形: 圆角 19">
            <a:extLst>
              <a:ext uri="{FF2B5EF4-FFF2-40B4-BE49-F238E27FC236}">
                <a16:creationId xmlns:a16="http://schemas.microsoft.com/office/drawing/2014/main" id="{B95308BD-0027-49A6-AAA1-848F64663FA9}"/>
              </a:ext>
            </a:extLst>
          </p:cNvPr>
          <p:cNvSpPr/>
          <p:nvPr/>
        </p:nvSpPr>
        <p:spPr>
          <a:xfrm>
            <a:off x="6698739" y="1958675"/>
            <a:ext cx="4320000" cy="648250"/>
          </a:xfrm>
          <a:prstGeom prst="round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just"/>
            <a:r>
              <a:rPr lang="zh-CN" altLang="en-US" sz="1600" dirty="0">
                <a:latin typeface="宋体" panose="02010600030101010101" pitchFamily="2" charset="-122"/>
                <a:ea typeface="宋体" panose="02010600030101010101" pitchFamily="2" charset="-122"/>
              </a:rPr>
              <a:t>“什么是‘薛定谔的猫’？”</a:t>
            </a:r>
          </a:p>
        </p:txBody>
      </p:sp>
      <p:pic>
        <p:nvPicPr>
          <p:cNvPr id="21" name="图片 20">
            <a:extLst>
              <a:ext uri="{FF2B5EF4-FFF2-40B4-BE49-F238E27FC236}">
                <a16:creationId xmlns:a16="http://schemas.microsoft.com/office/drawing/2014/main" id="{CB7B0931-474A-4B8A-8753-72469900155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14585" y="2914628"/>
            <a:ext cx="536007" cy="523685"/>
          </a:xfrm>
          <a:prstGeom prst="rect">
            <a:avLst/>
          </a:prstGeom>
        </p:spPr>
      </p:pic>
      <p:sp>
        <p:nvSpPr>
          <p:cNvPr id="22" name="矩形: 圆角 21">
            <a:extLst>
              <a:ext uri="{FF2B5EF4-FFF2-40B4-BE49-F238E27FC236}">
                <a16:creationId xmlns:a16="http://schemas.microsoft.com/office/drawing/2014/main" id="{10722A7A-365D-435E-A0C4-39D116FE8DE6}"/>
              </a:ext>
            </a:extLst>
          </p:cNvPr>
          <p:cNvSpPr/>
          <p:nvPr/>
        </p:nvSpPr>
        <p:spPr>
          <a:xfrm>
            <a:off x="6698739" y="2943723"/>
            <a:ext cx="4320000" cy="991858"/>
          </a:xfrm>
          <a:prstGeom prst="roundRect">
            <a:avLst/>
          </a:prstGeom>
          <a:noFill/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just"/>
            <a:r>
              <a:rPr lang="zh-CN" altLang="en-US" sz="1600" dirty="0">
                <a:latin typeface="宋体" panose="02010600030101010101" pitchFamily="2" charset="-122"/>
                <a:ea typeface="宋体" panose="02010600030101010101" pitchFamily="2" charset="-122"/>
              </a:rPr>
              <a:t>“这是量子力学中的思想实验，用猫的状态与微观事件相联系，讨论量子叠加与测量问题。”</a:t>
            </a:r>
            <a:endParaRPr lang="zh-CN" altLang="zh-CN" sz="1600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cxnSp>
        <p:nvCxnSpPr>
          <p:cNvPr id="23" name="直接连接符 22">
            <a:extLst>
              <a:ext uri="{FF2B5EF4-FFF2-40B4-BE49-F238E27FC236}">
                <a16:creationId xmlns:a16="http://schemas.microsoft.com/office/drawing/2014/main" id="{CBE5F07A-5889-46C9-9A96-0EBF243F09E9}"/>
              </a:ext>
            </a:extLst>
          </p:cNvPr>
          <p:cNvCxnSpPr>
            <a:cxnSpLocks/>
          </p:cNvCxnSpPr>
          <p:nvPr/>
        </p:nvCxnSpPr>
        <p:spPr>
          <a:xfrm>
            <a:off x="6083292" y="918970"/>
            <a:ext cx="12708" cy="3126088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6176872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>
              <a:lnSpc>
                <a:spcPct val="130000"/>
              </a:lnSpc>
              <a:spcAft>
                <a:spcPts val="600"/>
              </a:spcAft>
            </a:pPr>
            <a:endParaRPr lang="en-US" altLang="zh-CN" sz="2400" dirty="0" smtClean="0">
              <a:solidFill>
                <a:srgbClr val="333333"/>
              </a:solidFill>
              <a:latin typeface="Microsoft YaHei"/>
              <a:ea typeface="Microsoft YaHei"/>
            </a:endParaRPr>
          </a:p>
          <a:p>
            <a:pPr lvl="0">
              <a:lnSpc>
                <a:spcPct val="130000"/>
              </a:lnSpc>
              <a:spcAft>
                <a:spcPts val="600"/>
              </a:spcAft>
            </a:pPr>
            <a:endParaRPr lang="en-US" altLang="zh-CN" sz="2400" dirty="0">
              <a:solidFill>
                <a:srgbClr val="333333"/>
              </a:solidFill>
              <a:latin typeface="Microsoft YaHei"/>
              <a:ea typeface="Microsoft YaHei"/>
            </a:endParaRPr>
          </a:p>
          <a:p>
            <a:pPr lvl="0">
              <a:lnSpc>
                <a:spcPct val="130000"/>
              </a:lnSpc>
              <a:spcAft>
                <a:spcPts val="600"/>
              </a:spcAft>
            </a:pPr>
            <a:endParaRPr lang="en-US" altLang="zh-CN" sz="2400" dirty="0" smtClean="0">
              <a:solidFill>
                <a:srgbClr val="333333"/>
              </a:solidFill>
              <a:latin typeface="Microsoft YaHei"/>
              <a:ea typeface="Microsoft YaHei"/>
            </a:endParaRPr>
          </a:p>
          <a:p>
            <a:pPr lvl="0">
              <a:lnSpc>
                <a:spcPct val="130000"/>
              </a:lnSpc>
              <a:spcAft>
                <a:spcPts val="600"/>
              </a:spcAft>
            </a:pPr>
            <a:endParaRPr lang="en-US" altLang="zh-CN" sz="2400" dirty="0">
              <a:solidFill>
                <a:srgbClr val="333333"/>
              </a:solidFill>
              <a:latin typeface="Microsoft YaHei"/>
              <a:ea typeface="Microsoft YaHei"/>
            </a:endParaRPr>
          </a:p>
          <a:p>
            <a:pPr lvl="0">
              <a:lnSpc>
                <a:spcPct val="130000"/>
              </a:lnSpc>
              <a:spcAft>
                <a:spcPts val="600"/>
              </a:spcAft>
            </a:pPr>
            <a:endParaRPr lang="en-US" altLang="zh-CN" sz="2400" dirty="0" smtClean="0">
              <a:solidFill>
                <a:srgbClr val="333333"/>
              </a:solidFill>
              <a:latin typeface="Microsoft YaHei"/>
              <a:ea typeface="Microsoft YaHei"/>
            </a:endParaRPr>
          </a:p>
          <a:p>
            <a:pPr lvl="0">
              <a:lnSpc>
                <a:spcPct val="130000"/>
              </a:lnSpc>
              <a:spcAft>
                <a:spcPts val="600"/>
              </a:spcAft>
            </a:pPr>
            <a:endParaRPr lang="en-US" altLang="zh-CN" sz="2400" dirty="0">
              <a:solidFill>
                <a:srgbClr val="333333"/>
              </a:solidFill>
              <a:latin typeface="Microsoft YaHei"/>
              <a:ea typeface="Microsoft YaHei"/>
            </a:endParaRPr>
          </a:p>
          <a:p>
            <a:pPr lvl="0">
              <a:lnSpc>
                <a:spcPct val="130000"/>
              </a:lnSpc>
              <a:spcAft>
                <a:spcPts val="600"/>
              </a:spcAft>
            </a:pPr>
            <a:endParaRPr lang="en-US" altLang="zh-CN" sz="2400" dirty="0" smtClean="0">
              <a:solidFill>
                <a:srgbClr val="333333"/>
              </a:solidFill>
              <a:latin typeface="Microsoft YaHei"/>
              <a:ea typeface="Microsoft YaHei"/>
            </a:endParaRPr>
          </a:p>
          <a:p>
            <a:pPr lvl="0">
              <a:lnSpc>
                <a:spcPct val="130000"/>
              </a:lnSpc>
              <a:spcAft>
                <a:spcPts val="600"/>
              </a:spcAft>
            </a:pPr>
            <a:endParaRPr lang="en-US" altLang="zh-CN" sz="2400" dirty="0">
              <a:solidFill>
                <a:srgbClr val="333333"/>
              </a:solidFill>
              <a:latin typeface="Microsoft YaHei"/>
              <a:ea typeface="Microsoft YaHei"/>
            </a:endParaRPr>
          </a:p>
          <a:p>
            <a:pPr lvl="0">
              <a:lnSpc>
                <a:spcPct val="130000"/>
              </a:lnSpc>
              <a:spcAft>
                <a:spcPts val="600"/>
              </a:spcAft>
            </a:pPr>
            <a:endParaRPr lang="en-US" altLang="zh-CN" sz="2400" dirty="0" smtClean="0">
              <a:solidFill>
                <a:srgbClr val="333333"/>
              </a:solidFill>
              <a:latin typeface="Microsoft YaHei"/>
              <a:ea typeface="Microsoft YaHei"/>
            </a:endParaRPr>
          </a:p>
          <a:p>
            <a:pPr lvl="0">
              <a:lnSpc>
                <a:spcPct val="130000"/>
              </a:lnSpc>
              <a:spcAft>
                <a:spcPts val="600"/>
              </a:spcAft>
            </a:pPr>
            <a:endParaRPr lang="en-US" altLang="zh-CN" sz="2400" dirty="0">
              <a:solidFill>
                <a:srgbClr val="333333"/>
              </a:solidFill>
              <a:latin typeface="Microsoft YaHei"/>
              <a:ea typeface="Microsoft YaHei"/>
            </a:endParaRPr>
          </a:p>
          <a:p>
            <a:pPr lvl="0">
              <a:lnSpc>
                <a:spcPct val="130000"/>
              </a:lnSpc>
              <a:spcAft>
                <a:spcPts val="600"/>
              </a:spcAft>
            </a:pPr>
            <a:endParaRPr lang="en-US" altLang="zh-CN" sz="2400" dirty="0" smtClean="0">
              <a:solidFill>
                <a:srgbClr val="333333"/>
              </a:solidFill>
              <a:latin typeface="Microsoft YaHei"/>
              <a:ea typeface="Microsoft YaHei"/>
            </a:endParaRPr>
          </a:p>
          <a:p>
            <a:pPr lvl="0">
              <a:lnSpc>
                <a:spcPct val="130000"/>
              </a:lnSpc>
              <a:spcAft>
                <a:spcPts val="600"/>
              </a:spcAft>
            </a:pPr>
            <a:r>
              <a:rPr lang="en-US" altLang="zh-CN" sz="2400" b="1" dirty="0">
                <a:solidFill>
                  <a:srgbClr val="004CA0"/>
                </a:solidFill>
                <a:latin typeface="Microsoft YaHei"/>
                <a:ea typeface="Microsoft YaHei"/>
              </a:rPr>
              <a:t> </a:t>
            </a:r>
            <a:r>
              <a:rPr lang="en-US" altLang="zh-CN" sz="2400" b="1" dirty="0">
                <a:solidFill>
                  <a:srgbClr val="004CA0"/>
                </a:solidFill>
                <a:latin typeface="Microsoft YaHei"/>
                <a:ea typeface="Microsoft YaHei"/>
              </a:rPr>
              <a:t>   </a:t>
            </a:r>
            <a:r>
              <a:rPr lang="zh-CN" altLang="en-US" sz="2400" b="1" dirty="0">
                <a:solidFill>
                  <a:srgbClr val="004CA0"/>
                </a:solidFill>
                <a:latin typeface="Microsoft YaHei"/>
                <a:ea typeface="Microsoft YaHei"/>
              </a:rPr>
              <a:t>未</a:t>
            </a:r>
            <a:r>
              <a:rPr lang="zh-CN" altLang="en-US" sz="2400" b="1" dirty="0">
                <a:solidFill>
                  <a:srgbClr val="004CA0"/>
                </a:solidFill>
                <a:latin typeface="Microsoft YaHei"/>
                <a:ea typeface="Microsoft YaHei"/>
              </a:rPr>
              <a:t>公开的课题组</a:t>
            </a:r>
            <a:r>
              <a:rPr lang="zh-CN" altLang="en-US" sz="2400" b="1" dirty="0">
                <a:solidFill>
                  <a:srgbClr val="004CA0"/>
                </a:solidFill>
                <a:latin typeface="Microsoft YaHei"/>
                <a:ea typeface="Microsoft YaHei"/>
              </a:rPr>
              <a:t>数据和内部文件，通常需经授权提供后才能分析</a:t>
            </a:r>
            <a:r>
              <a:rPr lang="zh-CN" altLang="en-US" sz="2400" dirty="0">
                <a:solidFill>
                  <a:srgbClr val="333333"/>
                </a:solidFill>
                <a:latin typeface="Microsoft YaHei"/>
                <a:ea typeface="Microsoft YaHei"/>
              </a:rPr>
              <a:t>。</a:t>
            </a:r>
            <a:endParaRPr lang="zh-CN" altLang="en-US" sz="2400" dirty="0">
              <a:solidFill>
                <a:srgbClr val="333333"/>
              </a:solidFill>
              <a:latin typeface="Microsoft YaHei"/>
              <a:ea typeface="Microsoft YaHei"/>
            </a:endParaRPr>
          </a:p>
        </p:txBody>
      </p:sp>
      <p:pic>
        <p:nvPicPr>
          <p:cNvPr id="3" name="Picture 2" descr="yzu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17175" y="246888"/>
            <a:ext cx="1691640" cy="54864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274320"/>
            <a:ext cx="960120" cy="502920"/>
          </a:xfrm>
          <a:prstGeom prst="rect">
            <a:avLst/>
          </a:prstGeom>
          <a:solidFill>
            <a:srgbClr val="006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" y="341114"/>
            <a:ext cx="914400" cy="3693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400" b="1" i="0" dirty="0">
                <a:solidFill>
                  <a:srgbClr val="FFFFFF"/>
                </a:solidFill>
                <a:latin typeface="Microsoft YaHei"/>
                <a:ea typeface="Microsoft YaHei"/>
              </a:rPr>
              <a:t>2.2.1</a:t>
            </a:r>
          </a:p>
        </p:txBody>
      </p:sp>
      <p:sp>
        <p:nvSpPr>
          <p:cNvPr id="6" name="Rectangle 5"/>
          <p:cNvSpPr/>
          <p:nvPr/>
        </p:nvSpPr>
        <p:spPr>
          <a:xfrm>
            <a:off x="960120" y="274320"/>
            <a:ext cx="9052560" cy="502920"/>
          </a:xfrm>
          <a:prstGeom prst="rect">
            <a:avLst/>
          </a:prstGeom>
          <a:solidFill>
            <a:srgbClr val="3A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234440" y="341114"/>
            <a:ext cx="8686800" cy="3693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400" b="1" i="0" dirty="0" err="1">
                <a:solidFill>
                  <a:srgbClr val="FFFFFF"/>
                </a:solidFill>
                <a:latin typeface="Microsoft YaHei"/>
                <a:ea typeface="Microsoft YaHei"/>
              </a:rPr>
              <a:t>预训练数</a:t>
            </a:r>
            <a:r>
              <a:rPr sz="2400" b="1" i="0" dirty="0">
                <a:solidFill>
                  <a:srgbClr val="FFFFFF"/>
                </a:solidFill>
                <a:latin typeface="Microsoft YaHei"/>
                <a:ea typeface="Microsoft YaHei"/>
              </a:rPr>
              <a:t>据的来</a:t>
            </a:r>
            <a:r>
              <a:rPr sz="2400" b="1" i="0" dirty="0" err="1">
                <a:solidFill>
                  <a:srgbClr val="FFFFFF"/>
                </a:solidFill>
                <a:latin typeface="Microsoft YaHei"/>
                <a:ea typeface="Microsoft YaHei"/>
              </a:rPr>
              <a:t>源与局限</a:t>
            </a:r>
            <a:endParaRPr sz="2400" b="1" i="0" dirty="0">
              <a:solidFill>
                <a:srgbClr val="FFFFFF"/>
              </a:solidFill>
              <a:latin typeface="Microsoft YaHei"/>
              <a:ea typeface="Microsoft YaHei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366065" y="854857"/>
            <a:ext cx="6799665" cy="5489571"/>
          </a:xfrm>
          <a:prstGeom prst="rect">
            <a:avLst/>
          </a:prstGeom>
          <a:noFill/>
        </p:spPr>
        <p:txBody>
          <a:bodyPr wrap="square" lIns="36000" tIns="36000" rIns="36000" bIns="36000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2400" b="1" dirty="0" err="1">
                <a:solidFill>
                  <a:srgbClr val="0066CC"/>
                </a:solidFill>
                <a:latin typeface="Microsoft YaHei"/>
                <a:ea typeface="Microsoft YaHei"/>
              </a:rPr>
              <a:t>常见语</a:t>
            </a:r>
            <a:r>
              <a:rPr sz="2400" b="1" dirty="0">
                <a:solidFill>
                  <a:srgbClr val="0066CC"/>
                </a:solidFill>
                <a:latin typeface="Microsoft YaHei"/>
                <a:ea typeface="Microsoft YaHei"/>
              </a:rPr>
              <a:t>料</a:t>
            </a:r>
            <a:r>
              <a:rPr sz="2400" b="1" dirty="0" err="1">
                <a:solidFill>
                  <a:srgbClr val="0066CC"/>
                </a:solidFill>
                <a:latin typeface="Microsoft YaHei"/>
                <a:ea typeface="Microsoft YaHei"/>
              </a:rPr>
              <a:t>类型（</a:t>
            </a:r>
            <a:r>
              <a:rPr sz="2400" b="1" dirty="0">
                <a:solidFill>
                  <a:srgbClr val="0066CC"/>
                </a:solidFill>
                <a:latin typeface="Microsoft YaHei"/>
                <a:ea typeface="Microsoft YaHei"/>
              </a:rPr>
              <a:t>具体构成以模型公开说明为</a:t>
            </a:r>
            <a:r>
              <a:rPr sz="2400" b="1" dirty="0" err="1">
                <a:solidFill>
                  <a:srgbClr val="0066CC"/>
                </a:solidFill>
                <a:latin typeface="Microsoft YaHei"/>
                <a:ea typeface="Microsoft YaHei"/>
              </a:rPr>
              <a:t>准）</a:t>
            </a:r>
            <a:r>
              <a:rPr sz="2400" b="1" dirty="0">
                <a:solidFill>
                  <a:srgbClr val="0066CC"/>
                </a:solidFill>
                <a:latin typeface="Microsoft YaHei"/>
                <a:ea typeface="Microsoft YaHei"/>
              </a:rPr>
              <a:t>：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2400" b="0" dirty="0">
                <a:solidFill>
                  <a:srgbClr val="333333"/>
                </a:solidFill>
                <a:latin typeface="Microsoft YaHei"/>
                <a:ea typeface="Microsoft YaHei"/>
              </a:rPr>
              <a:t>•</a:t>
            </a:r>
            <a:r>
              <a:rPr sz="2400" b="1" dirty="0" err="1">
                <a:solidFill>
                  <a:srgbClr val="0066CC"/>
                </a:solidFill>
                <a:latin typeface="Microsoft YaHei"/>
                <a:ea typeface="Microsoft YaHei"/>
              </a:rPr>
              <a:t> </a:t>
            </a:r>
            <a:r>
              <a:rPr sz="2400" dirty="0" err="1">
                <a:solidFill>
                  <a:srgbClr val="333333"/>
                </a:solidFill>
                <a:latin typeface="Microsoft YaHei"/>
                <a:ea typeface="Microsoft YaHei"/>
              </a:rPr>
              <a:t>网页、</a:t>
            </a:r>
            <a:r>
              <a:rPr sz="2400" dirty="0">
                <a:solidFill>
                  <a:srgbClr val="333333"/>
                </a:solidFill>
                <a:latin typeface="Microsoft YaHei"/>
                <a:ea typeface="Microsoft YaHei"/>
              </a:rPr>
              <a:t>社区讨论和技术问答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2400" dirty="0">
                <a:solidFill>
                  <a:srgbClr val="333333"/>
                </a:solidFill>
                <a:latin typeface="Microsoft YaHei"/>
                <a:ea typeface="Microsoft YaHei"/>
              </a:rPr>
              <a:t>•</a:t>
            </a:r>
            <a:r>
              <a:rPr sz="2400" dirty="0" err="1">
                <a:solidFill>
                  <a:srgbClr val="333333"/>
                </a:solidFill>
                <a:latin typeface="Microsoft YaHei"/>
                <a:ea typeface="Microsoft YaHei"/>
              </a:rPr>
              <a:t> </a:t>
            </a:r>
            <a:r>
              <a:rPr sz="2400" dirty="0">
                <a:solidFill>
                  <a:srgbClr val="333333"/>
                </a:solidFill>
                <a:latin typeface="Microsoft YaHei"/>
                <a:ea typeface="Microsoft YaHei"/>
              </a:rPr>
              <a:t>百</a:t>
            </a:r>
            <a:r>
              <a:rPr sz="2400" dirty="0" err="1">
                <a:solidFill>
                  <a:srgbClr val="333333"/>
                </a:solidFill>
                <a:latin typeface="Microsoft YaHei"/>
                <a:ea typeface="Microsoft YaHei"/>
              </a:rPr>
              <a:t>科、书籍及</a:t>
            </a:r>
            <a:r>
              <a:rPr sz="2400" dirty="0">
                <a:solidFill>
                  <a:srgbClr val="333333"/>
                </a:solidFill>
                <a:latin typeface="Microsoft YaHei"/>
                <a:ea typeface="Microsoft YaHei"/>
              </a:rPr>
              <a:t>其他授权文本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2400" dirty="0">
                <a:solidFill>
                  <a:srgbClr val="333333"/>
                </a:solidFill>
                <a:latin typeface="Microsoft YaHei"/>
                <a:ea typeface="Microsoft YaHei"/>
              </a:rPr>
              <a:t>•</a:t>
            </a:r>
            <a:r>
              <a:rPr sz="2400" dirty="0" err="1">
                <a:solidFill>
                  <a:srgbClr val="333333"/>
                </a:solidFill>
                <a:latin typeface="Microsoft YaHei"/>
                <a:ea typeface="Microsoft YaHei"/>
              </a:rPr>
              <a:t> </a:t>
            </a:r>
            <a:r>
              <a:rPr sz="2400" dirty="0">
                <a:solidFill>
                  <a:srgbClr val="333333"/>
                </a:solidFill>
                <a:latin typeface="Microsoft YaHei"/>
                <a:ea typeface="Microsoft YaHei"/>
              </a:rPr>
              <a:t>新</a:t>
            </a:r>
            <a:r>
              <a:rPr sz="2400" dirty="0" err="1">
                <a:solidFill>
                  <a:srgbClr val="333333"/>
                </a:solidFill>
                <a:latin typeface="Microsoft YaHei"/>
                <a:ea typeface="Microsoft YaHei"/>
              </a:rPr>
              <a:t>闻、论文</a:t>
            </a:r>
            <a:r>
              <a:rPr sz="2400" dirty="0">
                <a:solidFill>
                  <a:srgbClr val="333333"/>
                </a:solidFill>
                <a:latin typeface="Microsoft YaHei"/>
                <a:ea typeface="Microsoft YaHei"/>
              </a:rPr>
              <a:t>、</a:t>
            </a:r>
            <a:r>
              <a:rPr sz="2400" dirty="0" err="1">
                <a:solidFill>
                  <a:srgbClr val="333333"/>
                </a:solidFill>
                <a:latin typeface="Microsoft YaHei"/>
                <a:ea typeface="Microsoft YaHei"/>
              </a:rPr>
              <a:t>代码</a:t>
            </a:r>
            <a:r>
              <a:rPr sz="2400" dirty="0">
                <a:solidFill>
                  <a:srgbClr val="333333"/>
                </a:solidFill>
                <a:latin typeface="Microsoft YaHei"/>
                <a:ea typeface="Microsoft YaHei"/>
              </a:rPr>
              <a:t>等材料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2400" b="1" dirty="0">
                <a:solidFill>
                  <a:srgbClr val="F58020"/>
                </a:solidFill>
                <a:latin typeface="Microsoft YaHei"/>
                <a:ea typeface="Microsoft YaHei"/>
              </a:rPr>
              <a:t>局</a:t>
            </a:r>
            <a:r>
              <a:rPr sz="2400" b="1" dirty="0" err="1">
                <a:solidFill>
                  <a:srgbClr val="F58020"/>
                </a:solidFill>
                <a:latin typeface="Microsoft YaHei"/>
                <a:ea typeface="Microsoft YaHei"/>
              </a:rPr>
              <a:t>限①</a:t>
            </a:r>
            <a:r>
              <a:rPr sz="2400" b="1" dirty="0">
                <a:solidFill>
                  <a:srgbClr val="F58020"/>
                </a:solidFill>
                <a:latin typeface="Microsoft YaHei"/>
                <a:ea typeface="Microsoft YaHei"/>
              </a:rPr>
              <a:t>：参数</a:t>
            </a:r>
            <a:r>
              <a:rPr sz="2400" b="1" dirty="0" err="1">
                <a:solidFill>
                  <a:srgbClr val="F58020"/>
                </a:solidFill>
                <a:latin typeface="Microsoft YaHei"/>
                <a:ea typeface="Microsoft YaHei"/>
              </a:rPr>
              <a:t>知识不会实时更</a:t>
            </a:r>
            <a:r>
              <a:rPr sz="2400" b="1" dirty="0">
                <a:solidFill>
                  <a:srgbClr val="F58020"/>
                </a:solidFill>
                <a:latin typeface="Microsoft YaHei"/>
                <a:ea typeface="Microsoft YaHei"/>
              </a:rPr>
              <a:t>新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2400" b="0" dirty="0" err="1">
                <a:solidFill>
                  <a:srgbClr val="333333"/>
                </a:solidFill>
                <a:latin typeface="Microsoft YaHei"/>
                <a:ea typeface="Microsoft YaHei"/>
              </a:rPr>
              <a:t>训练完成后，</a:t>
            </a:r>
            <a:r>
              <a:rPr sz="2400" b="0" dirty="0" err="1" smtClean="0">
                <a:solidFill>
                  <a:srgbClr val="333333"/>
                </a:solidFill>
                <a:latin typeface="Microsoft YaHei"/>
                <a:ea typeface="Microsoft YaHei"/>
              </a:rPr>
              <a:t>参数中的知识不会随网页变化</a:t>
            </a:r>
            <a:endParaRPr lang="en-US" sz="2400" b="0" dirty="0" smtClean="0">
              <a:solidFill>
                <a:srgbClr val="333333"/>
              </a:solidFill>
              <a:latin typeface="Microsoft YaHei"/>
              <a:ea typeface="Microsoft YaHei"/>
            </a:endParaRP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2400" b="0" dirty="0" err="1" smtClean="0">
                <a:solidFill>
                  <a:srgbClr val="333333"/>
                </a:solidFill>
                <a:latin typeface="Microsoft YaHei"/>
                <a:ea typeface="Microsoft YaHei"/>
              </a:rPr>
              <a:t>自动更新</a:t>
            </a:r>
            <a:r>
              <a:rPr sz="2400" b="0" dirty="0">
                <a:solidFill>
                  <a:srgbClr val="333333"/>
                </a:solidFill>
                <a:latin typeface="Microsoft YaHei"/>
                <a:ea typeface="Microsoft YaHei"/>
              </a:rPr>
              <a:t>。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2400" b="1" dirty="0">
                <a:solidFill>
                  <a:srgbClr val="004CA0"/>
                </a:solidFill>
                <a:latin typeface="Microsoft YaHei"/>
                <a:ea typeface="Microsoft YaHei"/>
              </a:rPr>
              <a:t>新事</a:t>
            </a:r>
            <a:r>
              <a:rPr sz="2400" b="1" dirty="0" err="1">
                <a:solidFill>
                  <a:srgbClr val="004CA0"/>
                </a:solidFill>
                <a:latin typeface="Microsoft YaHei"/>
                <a:ea typeface="Microsoft YaHei"/>
              </a:rPr>
              <a:t>件和新论文通常需要通过检索或用户提供的资料补充</a:t>
            </a:r>
            <a:r>
              <a:rPr sz="2400" b="0" dirty="0">
                <a:solidFill>
                  <a:srgbClr val="333333"/>
                </a:solidFill>
                <a:latin typeface="Microsoft YaHei"/>
                <a:ea typeface="Microsoft YaHei"/>
              </a:rPr>
              <a:t>。</a:t>
            </a:r>
            <a:endParaRPr sz="1800" b="0" dirty="0">
              <a:solidFill>
                <a:srgbClr val="333333"/>
              </a:solidFill>
              <a:latin typeface="Microsoft YaHei"/>
              <a:ea typeface="Microsoft YaHei"/>
            </a:endParaRP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2400" b="1" dirty="0" err="1">
                <a:solidFill>
                  <a:srgbClr val="F58020"/>
                </a:solidFill>
                <a:latin typeface="Microsoft YaHei"/>
                <a:ea typeface="Microsoft YaHei"/>
              </a:rPr>
              <a:t>局限</a:t>
            </a:r>
            <a:r>
              <a:rPr sz="2400" b="1" dirty="0">
                <a:solidFill>
                  <a:srgbClr val="F58020"/>
                </a:solidFill>
                <a:latin typeface="Microsoft YaHei"/>
                <a:ea typeface="Microsoft YaHei"/>
              </a:rPr>
              <a:t>②：</a:t>
            </a:r>
            <a:r>
              <a:rPr sz="2400" b="1" dirty="0" err="1" smtClean="0">
                <a:solidFill>
                  <a:srgbClr val="F58020"/>
                </a:solidFill>
                <a:latin typeface="Microsoft YaHei"/>
                <a:ea typeface="Microsoft YaHei"/>
              </a:rPr>
              <a:t>训练数据覆盖有限</a:t>
            </a:r>
            <a:endParaRPr sz="2400" b="1" dirty="0">
              <a:solidFill>
                <a:srgbClr val="F58020"/>
              </a:solidFill>
              <a:latin typeface="Microsoft YaHei"/>
              <a:ea typeface="Microsoft YaHei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7429643" y="5371301"/>
            <a:ext cx="4297680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b="0" dirty="0">
                <a:solidFill>
                  <a:srgbClr val="333333"/>
                </a:solidFill>
                <a:latin typeface="Microsoft YaHei"/>
                <a:ea typeface="Microsoft YaHei"/>
              </a:rPr>
              <a:t>图 2-8  </a:t>
            </a:r>
            <a:r>
              <a:rPr b="0" dirty="0" err="1">
                <a:solidFill>
                  <a:srgbClr val="333333"/>
                </a:solidFill>
                <a:latin typeface="Microsoft YaHei"/>
                <a:ea typeface="Microsoft YaHei"/>
              </a:rPr>
              <a:t>预训练知识的多元来源</a:t>
            </a:r>
            <a:endParaRPr b="0" dirty="0">
              <a:solidFill>
                <a:srgbClr val="333333"/>
              </a:solidFill>
              <a:latin typeface="Microsoft YaHei"/>
              <a:ea typeface="Microsoft YaHei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11094415" y="6446520"/>
            <a:ext cx="914400" cy="320040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pPr algn="r"/>
            <a:r>
              <a:rPr sz="1100">
                <a:solidFill>
                  <a:srgbClr val="999999"/>
                </a:solidFill>
                <a:latin typeface="Arial"/>
              </a:rPr>
              <a:t>25 / 50</a:t>
            </a:r>
          </a:p>
        </p:txBody>
      </p:sp>
      <p:pic>
        <p:nvPicPr>
          <p:cNvPr id="12" name="图片 11">
            <a:extLst>
              <a:ext uri="{FF2B5EF4-FFF2-40B4-BE49-F238E27FC236}">
                <a16:creationId xmlns:a16="http://schemas.microsoft.com/office/drawing/2014/main" id="{CD988E8A-A35A-FDF6-A84A-9C8FFBBF8FC7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55910" y="1495335"/>
            <a:ext cx="4875803" cy="3034717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yzu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17175" y="246888"/>
            <a:ext cx="1691640" cy="54864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274320"/>
            <a:ext cx="960120" cy="502920"/>
          </a:xfrm>
          <a:prstGeom prst="rect">
            <a:avLst/>
          </a:prstGeom>
          <a:solidFill>
            <a:srgbClr val="006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" y="341114"/>
            <a:ext cx="914400" cy="3693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400" b="1" i="0" dirty="0">
                <a:solidFill>
                  <a:srgbClr val="FFFFFF"/>
                </a:solidFill>
                <a:latin typeface="Microsoft YaHei"/>
                <a:ea typeface="Microsoft YaHei"/>
              </a:rPr>
              <a:t>2.2.2</a:t>
            </a:r>
          </a:p>
        </p:txBody>
      </p:sp>
      <p:sp>
        <p:nvSpPr>
          <p:cNvPr id="6" name="Rectangle 5"/>
          <p:cNvSpPr/>
          <p:nvPr/>
        </p:nvSpPr>
        <p:spPr>
          <a:xfrm>
            <a:off x="960120" y="274320"/>
            <a:ext cx="9052560" cy="502920"/>
          </a:xfrm>
          <a:prstGeom prst="rect">
            <a:avLst/>
          </a:prstGeom>
          <a:solidFill>
            <a:srgbClr val="3A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234440" y="341114"/>
            <a:ext cx="8686800" cy="3693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400" b="1" i="0" dirty="0" err="1">
                <a:solidFill>
                  <a:srgbClr val="FFFFFF"/>
                </a:solidFill>
                <a:latin typeface="Microsoft YaHei"/>
                <a:ea typeface="Microsoft YaHei"/>
              </a:rPr>
              <a:t>训练数据与</a:t>
            </a:r>
            <a:r>
              <a:rPr sz="2400" b="1" i="0" dirty="0">
                <a:solidFill>
                  <a:srgbClr val="FFFFFF"/>
                </a:solidFill>
                <a:latin typeface="Microsoft YaHei"/>
                <a:ea typeface="Microsoft YaHei"/>
              </a:rPr>
              <a:t>模型</a:t>
            </a:r>
            <a:r>
              <a:rPr sz="2400" b="1" i="0" dirty="0" err="1">
                <a:solidFill>
                  <a:srgbClr val="FFFFFF"/>
                </a:solidFill>
                <a:latin typeface="Microsoft YaHei"/>
                <a:ea typeface="Microsoft YaHei"/>
              </a:rPr>
              <a:t>知识的可靠性</a:t>
            </a:r>
            <a:endParaRPr sz="2400" b="1" i="0" dirty="0">
              <a:solidFill>
                <a:srgbClr val="FFFFFF"/>
              </a:solidFill>
              <a:latin typeface="Microsoft YaHei"/>
              <a:ea typeface="Microsoft YaHei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422236" y="880854"/>
            <a:ext cx="6578893" cy="6046646"/>
          </a:xfrm>
          <a:prstGeom prst="rect">
            <a:avLst/>
          </a:prstGeom>
          <a:noFill/>
        </p:spPr>
        <p:txBody>
          <a:bodyPr wrap="square" lIns="36000" tIns="36000" rIns="36000" bIns="36000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2400" b="1" dirty="0" err="1">
                <a:solidFill>
                  <a:srgbClr val="0066CC"/>
                </a:solidFill>
                <a:latin typeface="Microsoft YaHei"/>
                <a:ea typeface="Microsoft YaHei"/>
              </a:rPr>
              <a:t>模型从</a:t>
            </a:r>
            <a:r>
              <a:rPr sz="2400" b="1" dirty="0">
                <a:solidFill>
                  <a:srgbClr val="0066CC"/>
                </a:solidFill>
                <a:latin typeface="Microsoft YaHei"/>
                <a:ea typeface="Microsoft YaHei"/>
              </a:rPr>
              <a:t>训练</a:t>
            </a:r>
            <a:r>
              <a:rPr sz="2400" b="1" dirty="0" err="1">
                <a:solidFill>
                  <a:srgbClr val="0066CC"/>
                </a:solidFill>
                <a:latin typeface="Microsoft YaHei"/>
                <a:ea typeface="Microsoft YaHei"/>
              </a:rPr>
              <a:t>数据中学习统计规律。</a:t>
            </a:r>
            <a:endParaRPr sz="2400" b="1" dirty="0">
              <a:solidFill>
                <a:srgbClr val="0066CC"/>
              </a:solidFill>
              <a:latin typeface="Microsoft YaHei"/>
              <a:ea typeface="Microsoft YaHei"/>
            </a:endParaRP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2400" b="0" dirty="0" err="1">
                <a:solidFill>
                  <a:srgbClr val="333333"/>
                </a:solidFill>
                <a:latin typeface="Microsoft YaHei"/>
                <a:ea typeface="Microsoft YaHei"/>
              </a:rPr>
              <a:t>对某主题的表现</a:t>
            </a:r>
            <a:r>
              <a:rPr sz="2400" b="0" dirty="0">
                <a:solidFill>
                  <a:srgbClr val="333333"/>
                </a:solidFill>
                <a:latin typeface="Microsoft YaHei"/>
                <a:ea typeface="Microsoft YaHei"/>
              </a:rPr>
              <a:t>，受到</a:t>
            </a:r>
            <a:r>
              <a:rPr sz="2400" b="0" dirty="0" err="1">
                <a:solidFill>
                  <a:srgbClr val="333333"/>
                </a:solidFill>
                <a:latin typeface="Microsoft YaHei"/>
                <a:ea typeface="Microsoft YaHei"/>
              </a:rPr>
              <a:t>数据数量、质量</a:t>
            </a:r>
            <a:r>
              <a:rPr sz="2400" b="0" dirty="0">
                <a:solidFill>
                  <a:srgbClr val="333333"/>
                </a:solidFill>
                <a:latin typeface="Microsoft YaHei"/>
                <a:ea typeface="Microsoft YaHei"/>
              </a:rPr>
              <a:t>与</a:t>
            </a:r>
            <a:endParaRPr lang="en-US" sz="2400" b="0" dirty="0">
              <a:solidFill>
                <a:srgbClr val="333333"/>
              </a:solidFill>
              <a:latin typeface="Microsoft YaHei"/>
              <a:ea typeface="Microsoft YaHei"/>
            </a:endParaRP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2400" dirty="0" err="1">
                <a:solidFill>
                  <a:srgbClr val="333333"/>
                </a:solidFill>
                <a:latin typeface="Microsoft YaHei"/>
                <a:ea typeface="Microsoft YaHei"/>
              </a:rPr>
              <a:t>训练方法等因素共</a:t>
            </a:r>
            <a:r>
              <a:rPr sz="2400" dirty="0">
                <a:solidFill>
                  <a:srgbClr val="333333"/>
                </a:solidFill>
                <a:latin typeface="Microsoft YaHei"/>
                <a:ea typeface="Microsoft YaHei"/>
              </a:rPr>
              <a:t>同</a:t>
            </a:r>
            <a:r>
              <a:rPr sz="2200" b="0" dirty="0">
                <a:solidFill>
                  <a:srgbClr val="333333"/>
                </a:solidFill>
                <a:latin typeface="Microsoft YaHei"/>
                <a:ea typeface="Microsoft YaHei"/>
              </a:rPr>
              <a:t>影响。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2400" b="1" dirty="0" err="1">
                <a:solidFill>
                  <a:srgbClr val="004CA0"/>
                </a:solidFill>
                <a:latin typeface="Microsoft YaHei"/>
                <a:ea typeface="Microsoft YaHei"/>
              </a:rPr>
              <a:t>不同主题的数据覆盖并不均衡</a:t>
            </a:r>
            <a:r>
              <a:rPr sz="2400" b="1" dirty="0">
                <a:solidFill>
                  <a:srgbClr val="004CA0"/>
                </a:solidFill>
                <a:latin typeface="Microsoft YaHei"/>
                <a:ea typeface="Microsoft YaHei"/>
              </a:rPr>
              <a:t>：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2400" dirty="0">
                <a:latin typeface="Microsoft YaHei"/>
                <a:ea typeface="Microsoft YaHei"/>
              </a:rPr>
              <a:t>常</a:t>
            </a:r>
            <a:r>
              <a:rPr sz="2400" dirty="0" err="1">
                <a:latin typeface="Microsoft YaHei"/>
                <a:ea typeface="Microsoft YaHei"/>
              </a:rPr>
              <a:t>见主题：烹</a:t>
            </a:r>
            <a:r>
              <a:rPr sz="2400" dirty="0">
                <a:latin typeface="Microsoft YaHei"/>
                <a:ea typeface="Microsoft YaHei"/>
              </a:rPr>
              <a:t>饪、电</a:t>
            </a:r>
            <a:r>
              <a:rPr sz="2400" dirty="0" err="1">
                <a:latin typeface="Microsoft YaHei"/>
                <a:ea typeface="Microsoft YaHei"/>
              </a:rPr>
              <a:t>影</a:t>
            </a:r>
            <a:r>
              <a:rPr sz="2400" dirty="0">
                <a:latin typeface="Microsoft YaHei"/>
                <a:ea typeface="Microsoft YaHei"/>
              </a:rPr>
              <a:t>等，</a:t>
            </a:r>
            <a:r>
              <a:rPr sz="2400" dirty="0" err="1">
                <a:latin typeface="Microsoft YaHei"/>
                <a:ea typeface="Microsoft YaHei"/>
              </a:rPr>
              <a:t>相关</a:t>
            </a:r>
            <a:r>
              <a:rPr sz="2400" dirty="0">
                <a:latin typeface="Microsoft YaHei"/>
                <a:ea typeface="Microsoft YaHei"/>
              </a:rPr>
              <a:t>语料通</a:t>
            </a:r>
            <a:r>
              <a:rPr sz="2400" dirty="0" err="1">
                <a:latin typeface="Microsoft YaHei"/>
                <a:ea typeface="Microsoft YaHei"/>
              </a:rPr>
              <a:t>常</a:t>
            </a:r>
            <a:endParaRPr lang="en-US" sz="2400" dirty="0">
              <a:latin typeface="Microsoft YaHei"/>
              <a:ea typeface="Microsoft YaHei"/>
            </a:endParaRP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2400" dirty="0" err="1">
                <a:latin typeface="Microsoft YaHei"/>
                <a:ea typeface="Microsoft YaHei"/>
              </a:rPr>
              <a:t>较多，但回答仍可能出错。</a:t>
            </a:r>
            <a:endParaRPr sz="1900" dirty="0">
              <a:latin typeface="Microsoft YaHei"/>
              <a:ea typeface="Microsoft YaHei"/>
            </a:endParaRP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2400" dirty="0">
                <a:latin typeface="Microsoft YaHei"/>
                <a:ea typeface="Microsoft YaHei"/>
              </a:rPr>
              <a:t>专业</a:t>
            </a:r>
            <a:r>
              <a:rPr sz="2400" dirty="0" err="1">
                <a:latin typeface="Microsoft YaHei"/>
                <a:ea typeface="Microsoft YaHei"/>
              </a:rPr>
              <a:t>主题：</a:t>
            </a:r>
            <a:r>
              <a:rPr sz="2400" dirty="0">
                <a:latin typeface="Microsoft YaHei"/>
                <a:ea typeface="Microsoft YaHei"/>
              </a:rPr>
              <a:t>资料</a:t>
            </a:r>
            <a:r>
              <a:rPr sz="2400" dirty="0" err="1">
                <a:latin typeface="Microsoft YaHei"/>
                <a:ea typeface="Microsoft YaHei"/>
              </a:rPr>
              <a:t>覆盖和准</a:t>
            </a:r>
            <a:r>
              <a:rPr sz="2400" dirty="0">
                <a:latin typeface="Microsoft YaHei"/>
                <a:ea typeface="Microsoft YaHei"/>
              </a:rPr>
              <a:t>确性需要</a:t>
            </a:r>
            <a:r>
              <a:rPr sz="2400" dirty="0" err="1">
                <a:latin typeface="Microsoft YaHei"/>
                <a:ea typeface="Microsoft YaHei"/>
              </a:rPr>
              <a:t>具体核查。</a:t>
            </a:r>
            <a:endParaRPr sz="1900" dirty="0">
              <a:latin typeface="Microsoft YaHei"/>
              <a:ea typeface="Microsoft YaHei"/>
            </a:endParaRP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2400" dirty="0">
                <a:latin typeface="Microsoft YaHei"/>
                <a:ea typeface="Microsoft YaHei"/>
              </a:rPr>
              <a:t>内部</a:t>
            </a:r>
            <a:r>
              <a:rPr sz="2400" dirty="0" err="1">
                <a:latin typeface="Microsoft YaHei"/>
                <a:ea typeface="Microsoft YaHei"/>
              </a:rPr>
              <a:t>数据：未提供时，模型通常</a:t>
            </a:r>
            <a:r>
              <a:rPr sz="1900" dirty="0">
                <a:latin typeface="Microsoft YaHei"/>
                <a:ea typeface="Microsoft YaHei"/>
              </a:rPr>
              <a:t>无法</a:t>
            </a:r>
            <a:r>
              <a:rPr sz="2400" dirty="0">
                <a:latin typeface="Microsoft YaHei"/>
                <a:ea typeface="Microsoft YaHei"/>
              </a:rPr>
              <a:t>据此</a:t>
            </a:r>
            <a:r>
              <a:rPr sz="2400" dirty="0" err="1">
                <a:latin typeface="Microsoft YaHei"/>
                <a:ea typeface="Microsoft YaHei"/>
              </a:rPr>
              <a:t>作答。</a:t>
            </a:r>
            <a:endParaRPr sz="1900" dirty="0">
              <a:latin typeface="Microsoft YaHei"/>
              <a:ea typeface="Microsoft YaHei"/>
            </a:endParaRP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2400" b="1" dirty="0" err="1">
                <a:solidFill>
                  <a:srgbClr val="004CA0"/>
                </a:solidFill>
                <a:latin typeface="Microsoft YaHei"/>
                <a:ea typeface="Microsoft YaHei"/>
              </a:rPr>
              <a:t>判</a:t>
            </a:r>
            <a:r>
              <a:rPr sz="2400" b="1" dirty="0">
                <a:solidFill>
                  <a:srgbClr val="004CA0"/>
                </a:solidFill>
                <a:latin typeface="Microsoft YaHei"/>
                <a:ea typeface="Microsoft YaHei"/>
              </a:rPr>
              <a:t>断可靠</a:t>
            </a:r>
            <a:r>
              <a:rPr sz="2400" b="1" dirty="0" err="1">
                <a:solidFill>
                  <a:srgbClr val="004CA0"/>
                </a:solidFill>
                <a:latin typeface="Microsoft YaHei"/>
                <a:ea typeface="Microsoft YaHei"/>
              </a:rPr>
              <a:t>性时，应查看</a:t>
            </a:r>
            <a:r>
              <a:rPr sz="2400" b="1" dirty="0">
                <a:solidFill>
                  <a:srgbClr val="004CA0"/>
                </a:solidFill>
                <a:latin typeface="Microsoft YaHei"/>
                <a:ea typeface="Microsoft YaHei"/>
              </a:rPr>
              <a:t>：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2400" dirty="0">
                <a:latin typeface="Microsoft YaHei"/>
                <a:ea typeface="Microsoft YaHei"/>
              </a:rPr>
              <a:t>内容</a:t>
            </a:r>
            <a:r>
              <a:rPr sz="2400" dirty="0" err="1">
                <a:latin typeface="Microsoft YaHei"/>
                <a:ea typeface="Microsoft YaHei"/>
              </a:rPr>
              <a:t>是否有可核查的</a:t>
            </a:r>
            <a:r>
              <a:rPr sz="2400" dirty="0">
                <a:latin typeface="Microsoft YaHei"/>
                <a:ea typeface="Microsoft YaHei"/>
              </a:rPr>
              <a:t>依</a:t>
            </a:r>
            <a:r>
              <a:rPr sz="2400" dirty="0" err="1">
                <a:latin typeface="Microsoft YaHei"/>
                <a:ea typeface="Microsoft YaHei"/>
              </a:rPr>
              <a:t>据，是否与原始资料一致</a:t>
            </a:r>
            <a:r>
              <a:rPr sz="2400" dirty="0">
                <a:latin typeface="Microsoft YaHei"/>
                <a:ea typeface="Microsoft YaHei"/>
              </a:rPr>
              <a:t>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23365" y="4264867"/>
            <a:ext cx="4297680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b="0" dirty="0">
                <a:solidFill>
                  <a:srgbClr val="333333"/>
                </a:solidFill>
                <a:latin typeface="Microsoft YaHei"/>
                <a:ea typeface="Microsoft YaHei"/>
              </a:rPr>
              <a:t>图 2-9  </a:t>
            </a:r>
            <a:r>
              <a:rPr b="0" dirty="0" err="1">
                <a:solidFill>
                  <a:srgbClr val="333333"/>
                </a:solidFill>
                <a:latin typeface="Microsoft YaHei"/>
                <a:ea typeface="Microsoft YaHei"/>
              </a:rPr>
              <a:t>预训练知识反映训练数据的规律</a:t>
            </a:r>
            <a:endParaRPr b="0" dirty="0">
              <a:solidFill>
                <a:srgbClr val="333333"/>
              </a:solidFill>
              <a:latin typeface="Microsoft YaHei"/>
              <a:ea typeface="Microsoft YaHei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11094415" y="6446520"/>
            <a:ext cx="914400" cy="320040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pPr algn="r"/>
            <a:r>
              <a:rPr sz="1100">
                <a:solidFill>
                  <a:srgbClr val="999999"/>
                </a:solidFill>
                <a:latin typeface="Arial"/>
              </a:rPr>
              <a:t>26 / 50</a:t>
            </a:r>
          </a:p>
        </p:txBody>
      </p:sp>
      <p:pic>
        <p:nvPicPr>
          <p:cNvPr id="13" name="图片 12">
            <a:extLst>
              <a:ext uri="{FF2B5EF4-FFF2-40B4-BE49-F238E27FC236}">
                <a16:creationId xmlns:a16="http://schemas.microsoft.com/office/drawing/2014/main" id="{3255017D-4ED3-5783-2F86-83A343D36BA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21830" y="899142"/>
            <a:ext cx="5769865" cy="3243823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图片 12">
            <a:extLst>
              <a:ext uri="{FF2B5EF4-FFF2-40B4-BE49-F238E27FC236}">
                <a16:creationId xmlns:a16="http://schemas.microsoft.com/office/drawing/2014/main" id="{F56F0B58-B6DF-2858-F521-F3F9664E6C2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9619"/>
          <a:stretch>
            <a:fillRect/>
          </a:stretch>
        </p:blipFill>
        <p:spPr>
          <a:xfrm>
            <a:off x="6722282" y="1760220"/>
            <a:ext cx="5058588" cy="3429000"/>
          </a:xfrm>
          <a:prstGeom prst="rect">
            <a:avLst/>
          </a:prstGeom>
        </p:spPr>
      </p:pic>
      <p:pic>
        <p:nvPicPr>
          <p:cNvPr id="3" name="Picture 2" descr="yzu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17175" y="246888"/>
            <a:ext cx="1691640" cy="54864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274320"/>
            <a:ext cx="960120" cy="502920"/>
          </a:xfrm>
          <a:prstGeom prst="rect">
            <a:avLst/>
          </a:prstGeom>
          <a:solidFill>
            <a:srgbClr val="006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" y="341114"/>
            <a:ext cx="914400" cy="3693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400" b="1" i="0" dirty="0">
                <a:solidFill>
                  <a:srgbClr val="FFFFFF"/>
                </a:solidFill>
                <a:latin typeface="Microsoft YaHei"/>
                <a:ea typeface="Microsoft YaHei"/>
              </a:rPr>
              <a:t>2.2.2</a:t>
            </a:r>
          </a:p>
        </p:txBody>
      </p:sp>
      <p:sp>
        <p:nvSpPr>
          <p:cNvPr id="6" name="Rectangle 5"/>
          <p:cNvSpPr/>
          <p:nvPr/>
        </p:nvSpPr>
        <p:spPr>
          <a:xfrm>
            <a:off x="960120" y="274320"/>
            <a:ext cx="9052560" cy="502920"/>
          </a:xfrm>
          <a:prstGeom prst="rect">
            <a:avLst/>
          </a:prstGeom>
          <a:solidFill>
            <a:srgbClr val="3A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234440" y="341114"/>
            <a:ext cx="8686800" cy="3693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400" b="1" i="0" dirty="0" err="1">
                <a:solidFill>
                  <a:srgbClr val="FFFFFF"/>
                </a:solidFill>
                <a:latin typeface="Microsoft YaHei"/>
                <a:ea typeface="Microsoft YaHei"/>
              </a:rPr>
              <a:t>语义容错</a:t>
            </a:r>
            <a:r>
              <a:rPr sz="2400" b="1" i="0" dirty="0">
                <a:solidFill>
                  <a:srgbClr val="FFFFFF"/>
                </a:solidFill>
                <a:latin typeface="Microsoft YaHei"/>
                <a:ea typeface="Microsoft YaHei"/>
              </a:rPr>
              <a:t>与</a:t>
            </a:r>
            <a:r>
              <a:rPr sz="2400" b="1" i="0" dirty="0" err="1">
                <a:solidFill>
                  <a:srgbClr val="FFFFFF"/>
                </a:solidFill>
                <a:latin typeface="Microsoft YaHei"/>
                <a:ea typeface="Microsoft YaHei"/>
              </a:rPr>
              <a:t>文</a:t>
            </a:r>
            <a:r>
              <a:rPr sz="2400" b="1" i="0" dirty="0">
                <a:solidFill>
                  <a:srgbClr val="FFFFFF"/>
                </a:solidFill>
                <a:latin typeface="Microsoft YaHei"/>
                <a:ea typeface="Microsoft YaHei"/>
              </a:rPr>
              <a:t>献幻</a:t>
            </a:r>
            <a:r>
              <a:rPr sz="2400" b="1" i="0" dirty="0" err="1">
                <a:solidFill>
                  <a:srgbClr val="FFFFFF"/>
                </a:solidFill>
                <a:latin typeface="Microsoft YaHei"/>
                <a:ea typeface="Microsoft YaHei"/>
              </a:rPr>
              <a:t>觉</a:t>
            </a:r>
            <a:endParaRPr sz="2400" b="1" i="0" dirty="0">
              <a:solidFill>
                <a:srgbClr val="FFFFFF"/>
              </a:solidFill>
              <a:latin typeface="Microsoft YaHei"/>
              <a:ea typeface="Microsoft YaHei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251011" y="844034"/>
            <a:ext cx="8749554" cy="5723481"/>
          </a:xfrm>
          <a:prstGeom prst="rect">
            <a:avLst/>
          </a:prstGeom>
          <a:noFill/>
        </p:spPr>
        <p:txBody>
          <a:bodyPr wrap="square" lIns="36000" tIns="36000" rIns="36000" bIns="36000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2400" b="1" dirty="0">
                <a:solidFill>
                  <a:srgbClr val="0066CC"/>
                </a:solidFill>
                <a:latin typeface="Microsoft YaHei"/>
                <a:ea typeface="Microsoft YaHei"/>
              </a:rPr>
              <a:t>模型通</a:t>
            </a:r>
            <a:r>
              <a:rPr sz="2400" b="1" dirty="0" err="1">
                <a:solidFill>
                  <a:srgbClr val="0066CC"/>
                </a:solidFill>
                <a:latin typeface="Microsoft YaHei"/>
                <a:ea typeface="Microsoft YaHei"/>
              </a:rPr>
              <a:t>常能理解部分输入错误</a:t>
            </a:r>
            <a:endParaRPr sz="2400" b="1" dirty="0">
              <a:solidFill>
                <a:srgbClr val="0066CC"/>
              </a:solidFill>
              <a:latin typeface="Microsoft YaHei"/>
              <a:ea typeface="Microsoft YaHei"/>
            </a:endParaRP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2200" b="1" dirty="0" err="1">
                <a:solidFill>
                  <a:srgbClr val="004CA0"/>
                </a:solidFill>
                <a:latin typeface="Consolas"/>
                <a:ea typeface="Consolas"/>
              </a:rPr>
              <a:t>输入</a:t>
            </a:r>
            <a:r>
              <a:rPr sz="2200" b="1" dirty="0">
                <a:solidFill>
                  <a:srgbClr val="004CA0"/>
                </a:solidFill>
                <a:latin typeface="Consolas"/>
                <a:ea typeface="Consolas"/>
              </a:rPr>
              <a:t>：</a:t>
            </a:r>
            <a:r>
              <a:rPr sz="2200" b="1" dirty="0" err="1">
                <a:solidFill>
                  <a:srgbClr val="004CA0"/>
                </a:solidFill>
                <a:latin typeface="Consolas"/>
                <a:ea typeface="Consolas"/>
              </a:rPr>
              <a:t>“咖啡撒电脑上了</a:t>
            </a:r>
            <a:r>
              <a:rPr sz="2200" b="1" dirty="0">
                <a:solidFill>
                  <a:srgbClr val="004CA0"/>
                </a:solidFill>
                <a:latin typeface="Consolas"/>
                <a:ea typeface="Consolas"/>
              </a:rPr>
              <a:t> 咋搞 急</a:t>
            </a:r>
            <a:r>
              <a:rPr sz="2200" b="1" dirty="0" err="1">
                <a:solidFill>
                  <a:srgbClr val="004CA0"/>
                </a:solidFill>
                <a:latin typeface="Consolas"/>
                <a:ea typeface="Consolas"/>
              </a:rPr>
              <a:t>”</a:t>
            </a:r>
            <a:r>
              <a:rPr sz="2200" b="1" dirty="0">
                <a:solidFill>
                  <a:srgbClr val="004CA0"/>
                </a:solidFill>
                <a:latin typeface="Consolas"/>
                <a:ea typeface="Consolas"/>
              </a:rPr>
              <a:t>，包</a:t>
            </a:r>
            <a:r>
              <a:rPr sz="2200" b="1" dirty="0" err="1">
                <a:solidFill>
                  <a:srgbClr val="004CA0"/>
                </a:solidFill>
                <a:latin typeface="Consolas"/>
                <a:ea typeface="Consolas"/>
              </a:rPr>
              <a:t>含错字</a:t>
            </a:r>
            <a:r>
              <a:rPr sz="2200" b="1" dirty="0">
                <a:solidFill>
                  <a:srgbClr val="004CA0"/>
                </a:solidFill>
                <a:latin typeface="Consolas"/>
                <a:ea typeface="Consolas"/>
              </a:rPr>
              <a:t>和口</a:t>
            </a:r>
            <a:r>
              <a:rPr sz="2200" b="1" dirty="0" err="1">
                <a:solidFill>
                  <a:srgbClr val="004CA0"/>
                </a:solidFill>
                <a:latin typeface="Consolas"/>
                <a:ea typeface="Consolas"/>
              </a:rPr>
              <a:t>语表达。</a:t>
            </a:r>
            <a:endParaRPr sz="2200" b="1" dirty="0">
              <a:solidFill>
                <a:srgbClr val="004CA0"/>
              </a:solidFill>
              <a:latin typeface="Consolas"/>
              <a:ea typeface="Consolas"/>
            </a:endParaRP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2200" b="0" dirty="0">
                <a:solidFill>
                  <a:srgbClr val="333333"/>
                </a:solidFill>
                <a:latin typeface="Microsoft YaHei"/>
                <a:ea typeface="Microsoft YaHei"/>
              </a:rPr>
              <a:t>模型可</a:t>
            </a:r>
            <a:r>
              <a:rPr sz="2200" b="0" dirty="0" err="1">
                <a:solidFill>
                  <a:srgbClr val="333333"/>
                </a:solidFill>
                <a:latin typeface="Microsoft YaHei"/>
                <a:ea typeface="Microsoft YaHei"/>
              </a:rPr>
              <a:t>结合上下文推测用户意图，但建议仍需核查</a:t>
            </a:r>
            <a:r>
              <a:rPr sz="2200" b="0" dirty="0">
                <a:solidFill>
                  <a:srgbClr val="333333"/>
                </a:solidFill>
                <a:latin typeface="Microsoft YaHei"/>
                <a:ea typeface="Microsoft YaHei"/>
              </a:rPr>
              <a:t>。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2200" dirty="0">
                <a:latin typeface="Microsoft YaHei"/>
                <a:ea typeface="Microsoft YaHei"/>
              </a:rPr>
              <a:t>这种</a:t>
            </a:r>
            <a:r>
              <a:rPr sz="2200" dirty="0" err="1">
                <a:latin typeface="Microsoft YaHei"/>
                <a:ea typeface="Microsoft YaHei"/>
              </a:rPr>
              <a:t>能力与训练中学到的多样</a:t>
            </a:r>
            <a:r>
              <a:rPr sz="2200" dirty="0">
                <a:latin typeface="Microsoft YaHei"/>
                <a:ea typeface="Microsoft YaHei"/>
              </a:rPr>
              <a:t>表</a:t>
            </a:r>
            <a:r>
              <a:rPr sz="2200" dirty="0" err="1">
                <a:latin typeface="Microsoft YaHei"/>
                <a:ea typeface="Microsoft YaHei"/>
              </a:rPr>
              <a:t>达和上下文关系有关</a:t>
            </a:r>
            <a:r>
              <a:rPr sz="2200" dirty="0">
                <a:latin typeface="Microsoft YaHei"/>
                <a:ea typeface="Microsoft YaHei"/>
              </a:rPr>
              <a:t>。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2400" dirty="0" err="1">
                <a:latin typeface="Microsoft YaHei"/>
                <a:ea typeface="Microsoft YaHei"/>
              </a:rPr>
              <a:t>提问</a:t>
            </a:r>
            <a:r>
              <a:rPr sz="2200" dirty="0" err="1">
                <a:latin typeface="Microsoft YaHei"/>
                <a:ea typeface="Microsoft YaHei"/>
              </a:rPr>
              <a:t>时应把需</a:t>
            </a:r>
            <a:r>
              <a:rPr sz="2200" dirty="0">
                <a:latin typeface="Microsoft YaHei"/>
                <a:ea typeface="Microsoft YaHei"/>
              </a:rPr>
              <a:t>求</a:t>
            </a:r>
            <a:r>
              <a:rPr sz="2200" dirty="0" err="1">
                <a:latin typeface="Microsoft YaHei"/>
                <a:ea typeface="Microsoft YaHei"/>
              </a:rPr>
              <a:t>表达清楚</a:t>
            </a:r>
            <a:r>
              <a:rPr sz="2200" dirty="0">
                <a:latin typeface="Microsoft YaHei"/>
                <a:ea typeface="Microsoft YaHei"/>
              </a:rPr>
              <a:t>，</a:t>
            </a:r>
            <a:endParaRPr lang="en-US" sz="2200" dirty="0">
              <a:latin typeface="Microsoft YaHei"/>
              <a:ea typeface="Microsoft YaHei"/>
            </a:endParaRP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lang="en-US" sz="2200" dirty="0">
                <a:solidFill>
                  <a:srgbClr val="333333"/>
                </a:solidFill>
                <a:latin typeface="Microsoft YaHei"/>
                <a:ea typeface="Microsoft YaHei"/>
              </a:rPr>
              <a:t>专业</a:t>
            </a:r>
            <a:r>
              <a:rPr sz="2200" b="0" dirty="0" err="1">
                <a:solidFill>
                  <a:srgbClr val="333333"/>
                </a:solidFill>
                <a:latin typeface="Microsoft YaHei"/>
                <a:ea typeface="Microsoft YaHei"/>
              </a:rPr>
              <a:t>术语、数值和单位尤其需要准确</a:t>
            </a:r>
            <a:r>
              <a:rPr sz="2200" b="0" dirty="0">
                <a:solidFill>
                  <a:srgbClr val="333333"/>
                </a:solidFill>
                <a:latin typeface="Microsoft YaHei"/>
                <a:ea typeface="Microsoft YaHei"/>
              </a:rPr>
              <a:t>。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2400" b="1" dirty="0">
                <a:solidFill>
                  <a:srgbClr val="F58020"/>
                </a:solidFill>
                <a:latin typeface="Microsoft YaHei"/>
                <a:ea typeface="Microsoft YaHei"/>
              </a:rPr>
              <a:t>需要</a:t>
            </a:r>
            <a:r>
              <a:rPr sz="2400" b="1" dirty="0" err="1">
                <a:solidFill>
                  <a:srgbClr val="F58020"/>
                </a:solidFill>
                <a:latin typeface="Microsoft YaHei"/>
                <a:ea typeface="Microsoft YaHei"/>
              </a:rPr>
              <a:t>警惕：</a:t>
            </a:r>
            <a:r>
              <a:rPr sz="2400" b="1" dirty="0">
                <a:solidFill>
                  <a:srgbClr val="F58020"/>
                </a:solidFill>
                <a:latin typeface="Microsoft YaHei"/>
                <a:ea typeface="Microsoft YaHei"/>
              </a:rPr>
              <a:t>不存在的</a:t>
            </a:r>
            <a:r>
              <a:rPr sz="2400" b="1" dirty="0" err="1">
                <a:solidFill>
                  <a:srgbClr val="F58020"/>
                </a:solidFill>
                <a:latin typeface="Microsoft YaHei"/>
                <a:ea typeface="Microsoft YaHei"/>
              </a:rPr>
              <a:t>参考文</a:t>
            </a:r>
            <a:r>
              <a:rPr sz="2400" b="1" dirty="0">
                <a:solidFill>
                  <a:srgbClr val="F58020"/>
                </a:solidFill>
                <a:latin typeface="Microsoft YaHei"/>
                <a:ea typeface="Microsoft YaHei"/>
              </a:rPr>
              <a:t>献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2000" dirty="0" err="1">
                <a:latin typeface="Microsoft YaHei"/>
                <a:ea typeface="Microsoft YaHei"/>
              </a:rPr>
              <a:t>缺少可靠信息时</a:t>
            </a:r>
            <a:r>
              <a:rPr sz="2000" dirty="0">
                <a:latin typeface="Microsoft YaHei"/>
                <a:ea typeface="Microsoft YaHei"/>
              </a:rPr>
              <a:t>，模型</a:t>
            </a:r>
            <a:r>
              <a:rPr sz="2000" dirty="0" err="1">
                <a:latin typeface="Microsoft YaHei"/>
                <a:ea typeface="Microsoft YaHei"/>
              </a:rPr>
              <a:t>仍可能生成回答</a:t>
            </a:r>
            <a:r>
              <a:rPr sz="2000" dirty="0">
                <a:latin typeface="Microsoft YaHei"/>
                <a:ea typeface="Microsoft YaHei"/>
              </a:rPr>
              <a:t>，</a:t>
            </a:r>
            <a:endParaRPr lang="en-US" sz="2000" dirty="0">
              <a:latin typeface="Microsoft YaHei"/>
              <a:ea typeface="Microsoft YaHei"/>
            </a:endParaRP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2000" dirty="0">
                <a:latin typeface="Microsoft YaHei"/>
                <a:ea typeface="Microsoft YaHei"/>
              </a:rPr>
              <a:t>文</a:t>
            </a:r>
            <a:r>
              <a:rPr sz="2000" dirty="0" err="1">
                <a:latin typeface="Microsoft YaHei"/>
                <a:ea typeface="Microsoft YaHei"/>
              </a:rPr>
              <a:t>本流畅、格</a:t>
            </a:r>
            <a:r>
              <a:rPr sz="2000" dirty="0">
                <a:latin typeface="Microsoft YaHei"/>
                <a:ea typeface="Microsoft YaHei"/>
              </a:rPr>
              <a:t>式</a:t>
            </a:r>
            <a:r>
              <a:rPr sz="2000" dirty="0" err="1">
                <a:latin typeface="Microsoft YaHei"/>
                <a:ea typeface="Microsoft YaHei"/>
              </a:rPr>
              <a:t>完整，并</a:t>
            </a:r>
            <a:r>
              <a:rPr sz="2000" dirty="0">
                <a:latin typeface="Microsoft YaHei"/>
                <a:ea typeface="Microsoft YaHei"/>
              </a:rPr>
              <a:t>不意</a:t>
            </a:r>
            <a:r>
              <a:rPr sz="2000" dirty="0" err="1">
                <a:latin typeface="Microsoft YaHei"/>
                <a:ea typeface="Microsoft YaHei"/>
              </a:rPr>
              <a:t>味</a:t>
            </a:r>
            <a:r>
              <a:rPr sz="2000" dirty="0">
                <a:latin typeface="Microsoft YaHei"/>
                <a:ea typeface="Microsoft YaHei"/>
              </a:rPr>
              <a:t>着内</a:t>
            </a:r>
            <a:r>
              <a:rPr sz="2000" dirty="0" err="1">
                <a:latin typeface="Microsoft YaHei"/>
                <a:ea typeface="Microsoft YaHei"/>
              </a:rPr>
              <a:t>容真实</a:t>
            </a:r>
            <a:r>
              <a:rPr sz="2000" dirty="0">
                <a:latin typeface="Microsoft YaHei"/>
                <a:ea typeface="Microsoft YaHei"/>
              </a:rPr>
              <a:t>。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2000" dirty="0">
                <a:latin typeface="Microsoft YaHei"/>
                <a:ea typeface="Microsoft YaHei"/>
              </a:rPr>
              <a:t>例</a:t>
            </a:r>
            <a:r>
              <a:rPr sz="2000" dirty="0" err="1">
                <a:latin typeface="Microsoft YaHei"/>
                <a:ea typeface="Microsoft YaHei"/>
              </a:rPr>
              <a:t>如，模型可能</a:t>
            </a:r>
            <a:r>
              <a:rPr sz="2000" dirty="0">
                <a:latin typeface="Microsoft YaHei"/>
                <a:ea typeface="Microsoft YaHei"/>
              </a:rPr>
              <a:t>组</a:t>
            </a:r>
            <a:r>
              <a:rPr sz="2000" dirty="0" err="1">
                <a:latin typeface="Microsoft YaHei"/>
                <a:ea typeface="Microsoft YaHei"/>
              </a:rPr>
              <a:t>合作者</a:t>
            </a:r>
            <a:r>
              <a:rPr sz="2000" dirty="0">
                <a:latin typeface="Microsoft YaHei"/>
                <a:ea typeface="Microsoft YaHei"/>
              </a:rPr>
              <a:t>、题名</a:t>
            </a:r>
            <a:r>
              <a:rPr sz="2000" dirty="0" err="1">
                <a:latin typeface="Microsoft YaHei"/>
                <a:ea typeface="Microsoft YaHei"/>
              </a:rPr>
              <a:t>和期刊名称，生成实际不存在</a:t>
            </a:r>
            <a:r>
              <a:rPr lang="zh-CN" altLang="en-US" sz="2000" dirty="0">
                <a:latin typeface="Microsoft YaHei"/>
                <a:ea typeface="Microsoft YaHei"/>
              </a:rPr>
              <a:t>的</a:t>
            </a:r>
            <a:r>
              <a:rPr sz="2000" dirty="0" err="1">
                <a:latin typeface="Microsoft YaHei"/>
                <a:ea typeface="Microsoft YaHei"/>
              </a:rPr>
              <a:t>论文</a:t>
            </a:r>
            <a:r>
              <a:rPr sz="2000" dirty="0">
                <a:latin typeface="Microsoft YaHei"/>
                <a:ea typeface="Microsoft YaHei"/>
              </a:rPr>
              <a:t>。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2400" b="1" dirty="0">
                <a:solidFill>
                  <a:srgbClr val="004CA0"/>
                </a:solidFill>
                <a:latin typeface="Microsoft YaHei"/>
                <a:ea typeface="Microsoft YaHei"/>
              </a:rPr>
              <a:t>引</a:t>
            </a:r>
            <a:r>
              <a:rPr sz="2400" b="1" dirty="0" err="1">
                <a:solidFill>
                  <a:srgbClr val="004CA0"/>
                </a:solidFill>
                <a:latin typeface="Microsoft YaHei"/>
                <a:ea typeface="Microsoft YaHei"/>
              </a:rPr>
              <a:t>用前</a:t>
            </a:r>
            <a:r>
              <a:rPr sz="2400" b="1" dirty="0">
                <a:solidFill>
                  <a:srgbClr val="F58020"/>
                </a:solidFill>
                <a:latin typeface="Microsoft YaHei"/>
                <a:ea typeface="Microsoft YaHei"/>
              </a:rPr>
              <a:t>应</a:t>
            </a:r>
            <a:r>
              <a:rPr sz="2400" b="1" dirty="0" err="1">
                <a:solidFill>
                  <a:srgbClr val="F58020"/>
                </a:solidFill>
                <a:latin typeface="Microsoft YaHei"/>
                <a:ea typeface="Microsoft YaHei"/>
              </a:rPr>
              <a:t>核</a:t>
            </a:r>
            <a:r>
              <a:rPr sz="2400" b="1" dirty="0">
                <a:solidFill>
                  <a:srgbClr val="F58020"/>
                </a:solidFill>
                <a:latin typeface="Microsoft YaHei"/>
                <a:ea typeface="Microsoft YaHei"/>
              </a:rPr>
              <a:t>对论文原文、作者、</a:t>
            </a:r>
            <a:r>
              <a:rPr sz="2400" b="1" dirty="0">
                <a:solidFill>
                  <a:srgbClr val="004CA0"/>
                </a:solidFill>
                <a:latin typeface="Microsoft YaHei"/>
                <a:ea typeface="Microsoft YaHei"/>
              </a:rPr>
              <a:t>发</a:t>
            </a:r>
            <a:r>
              <a:rPr sz="2400" b="1" dirty="0" err="1">
                <a:solidFill>
                  <a:srgbClr val="004CA0"/>
                </a:solidFill>
                <a:latin typeface="Microsoft YaHei"/>
                <a:ea typeface="Microsoft YaHei"/>
              </a:rPr>
              <a:t>表</a:t>
            </a:r>
            <a:r>
              <a:rPr sz="2400" b="1" dirty="0">
                <a:solidFill>
                  <a:srgbClr val="004CA0"/>
                </a:solidFill>
                <a:latin typeface="Microsoft YaHei"/>
                <a:ea typeface="Microsoft YaHei"/>
              </a:rPr>
              <a:t>信</a:t>
            </a:r>
            <a:r>
              <a:rPr sz="2400" b="1" dirty="0" err="1">
                <a:solidFill>
                  <a:srgbClr val="004CA0"/>
                </a:solidFill>
                <a:latin typeface="Microsoft YaHei"/>
                <a:ea typeface="Microsoft YaHei"/>
              </a:rPr>
              <a:t>息和标</a:t>
            </a:r>
            <a:r>
              <a:rPr sz="2400" b="1" dirty="0">
                <a:solidFill>
                  <a:srgbClr val="004CA0"/>
                </a:solidFill>
                <a:latin typeface="Microsoft YaHei"/>
                <a:ea typeface="Microsoft YaHei"/>
              </a:rPr>
              <a:t>识</a:t>
            </a:r>
            <a:r>
              <a:rPr sz="2400" b="1" dirty="0" err="1">
                <a:solidFill>
                  <a:srgbClr val="004CA0"/>
                </a:solidFill>
                <a:latin typeface="Microsoft YaHei"/>
                <a:ea typeface="Microsoft YaHei"/>
              </a:rPr>
              <a:t>符</a:t>
            </a:r>
            <a:r>
              <a:rPr sz="2400" b="1" dirty="0">
                <a:solidFill>
                  <a:srgbClr val="004CA0"/>
                </a:solidFill>
                <a:latin typeface="Microsoft YaHei"/>
                <a:ea typeface="Microsoft YaHei"/>
              </a:rPr>
              <a:t>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83190" y="5189220"/>
            <a:ext cx="4297680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b="0" dirty="0">
                <a:solidFill>
                  <a:srgbClr val="333333"/>
                </a:solidFill>
                <a:latin typeface="Microsoft YaHei"/>
                <a:ea typeface="Microsoft YaHei"/>
              </a:rPr>
              <a:t>图 2-10  模型</a:t>
            </a:r>
            <a:r>
              <a:rPr b="0" dirty="0" err="1">
                <a:solidFill>
                  <a:srgbClr val="333333"/>
                </a:solidFill>
                <a:latin typeface="Microsoft YaHei"/>
                <a:ea typeface="Microsoft YaHei"/>
              </a:rPr>
              <a:t>对口语和输入错误的理解</a:t>
            </a:r>
            <a:endParaRPr b="0" dirty="0">
              <a:solidFill>
                <a:srgbClr val="333333"/>
              </a:solidFill>
              <a:latin typeface="Microsoft YaHei"/>
              <a:ea typeface="Microsoft YaHei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11094415" y="6446520"/>
            <a:ext cx="914400" cy="320040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pPr algn="r"/>
            <a:r>
              <a:rPr sz="1100">
                <a:solidFill>
                  <a:srgbClr val="999999"/>
                </a:solidFill>
                <a:latin typeface="Arial"/>
              </a:rPr>
              <a:t>27 / 50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yzu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17175" y="246888"/>
            <a:ext cx="1691640" cy="54864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274320"/>
            <a:ext cx="960120" cy="502920"/>
          </a:xfrm>
          <a:prstGeom prst="rect">
            <a:avLst/>
          </a:prstGeom>
          <a:solidFill>
            <a:srgbClr val="006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" y="341114"/>
            <a:ext cx="914400" cy="3693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400" b="1" i="0" dirty="0">
                <a:solidFill>
                  <a:srgbClr val="FFFFFF"/>
                </a:solidFill>
                <a:latin typeface="Microsoft YaHei"/>
                <a:ea typeface="Microsoft YaHei"/>
              </a:rPr>
              <a:t>2.2.3</a:t>
            </a:r>
          </a:p>
        </p:txBody>
      </p:sp>
      <p:sp>
        <p:nvSpPr>
          <p:cNvPr id="6" name="Rectangle 5"/>
          <p:cNvSpPr/>
          <p:nvPr/>
        </p:nvSpPr>
        <p:spPr>
          <a:xfrm>
            <a:off x="960120" y="274320"/>
            <a:ext cx="9052560" cy="502920"/>
          </a:xfrm>
          <a:prstGeom prst="rect">
            <a:avLst/>
          </a:prstGeom>
          <a:solidFill>
            <a:srgbClr val="3A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234440" y="341114"/>
            <a:ext cx="8686800" cy="3693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400" b="1" i="0" dirty="0" err="1">
                <a:solidFill>
                  <a:srgbClr val="FFFFFF"/>
                </a:solidFill>
                <a:latin typeface="Microsoft YaHei"/>
                <a:ea typeface="Microsoft YaHei"/>
              </a:rPr>
              <a:t>模型输出可靠性</a:t>
            </a:r>
            <a:r>
              <a:rPr sz="2400" b="1" i="0" dirty="0">
                <a:solidFill>
                  <a:srgbClr val="FFFFFF"/>
                </a:solidFill>
                <a:latin typeface="Microsoft YaHei"/>
                <a:ea typeface="Microsoft YaHei"/>
              </a:rPr>
              <a:t>的检</a:t>
            </a:r>
            <a:r>
              <a:rPr sz="2400" b="1" i="0" dirty="0" err="1">
                <a:solidFill>
                  <a:srgbClr val="FFFFFF"/>
                </a:solidFill>
                <a:latin typeface="Microsoft YaHei"/>
                <a:ea typeface="Microsoft YaHei"/>
              </a:rPr>
              <a:t>查要点</a:t>
            </a:r>
            <a:endParaRPr sz="2400" b="1" i="0" dirty="0">
              <a:solidFill>
                <a:srgbClr val="FFFFFF"/>
              </a:solidFill>
              <a:latin typeface="Microsoft YaHei"/>
              <a:ea typeface="Microsoft YaHei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502920" y="914400"/>
            <a:ext cx="11247120" cy="5011876"/>
          </a:xfrm>
          <a:prstGeom prst="rect">
            <a:avLst/>
          </a:prstGeom>
          <a:noFill/>
        </p:spPr>
        <p:txBody>
          <a:bodyPr wrap="square" lIns="36000" tIns="36000" rIns="36000" bIns="36000" anchor="t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2400" b="1" dirty="0" err="1">
                <a:solidFill>
                  <a:srgbClr val="0066CC"/>
                </a:solidFill>
                <a:latin typeface="Microsoft YaHei"/>
                <a:ea typeface="Microsoft YaHei"/>
              </a:rPr>
              <a:t>需要关注以下问题</a:t>
            </a:r>
            <a:r>
              <a:rPr sz="2400" b="1" dirty="0">
                <a:solidFill>
                  <a:srgbClr val="0066CC"/>
                </a:solidFill>
                <a:latin typeface="Microsoft YaHei"/>
                <a:ea typeface="Microsoft YaHei"/>
              </a:rPr>
              <a:t>：</a:t>
            </a:r>
          </a:p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2400" b="1" dirty="0">
                <a:solidFill>
                  <a:srgbClr val="004CA0"/>
                </a:solidFill>
                <a:latin typeface="Microsoft YaHei"/>
                <a:ea typeface="Microsoft YaHei"/>
              </a:rPr>
              <a:t>①</a:t>
            </a:r>
            <a:r>
              <a:rPr sz="2200" b="1" dirty="0">
                <a:solidFill>
                  <a:srgbClr val="004CA0"/>
                </a:solidFill>
                <a:latin typeface="Microsoft YaHei"/>
                <a:ea typeface="Microsoft YaHei"/>
              </a:rPr>
              <a:t> </a:t>
            </a:r>
            <a:r>
              <a:rPr sz="2400" dirty="0" err="1">
                <a:solidFill>
                  <a:srgbClr val="333333"/>
                </a:solidFill>
                <a:latin typeface="Microsoft YaHei"/>
                <a:ea typeface="Microsoft YaHei"/>
              </a:rPr>
              <a:t>输入是否</a:t>
            </a:r>
            <a:r>
              <a:rPr sz="2400" dirty="0">
                <a:solidFill>
                  <a:srgbClr val="333333"/>
                </a:solidFill>
                <a:latin typeface="Microsoft YaHei"/>
                <a:ea typeface="Microsoft YaHei"/>
              </a:rPr>
              <a:t>准确</a:t>
            </a:r>
            <a:r>
              <a:rPr sz="2400" b="0" dirty="0">
                <a:solidFill>
                  <a:srgbClr val="333333"/>
                </a:solidFill>
                <a:latin typeface="Microsoft YaHei"/>
                <a:ea typeface="Microsoft YaHei"/>
              </a:rPr>
              <a:t>：</a:t>
            </a:r>
            <a:r>
              <a:rPr sz="2400" b="0" dirty="0" err="1">
                <a:solidFill>
                  <a:srgbClr val="333333"/>
                </a:solidFill>
                <a:latin typeface="Microsoft YaHei"/>
                <a:ea typeface="Microsoft YaHei"/>
              </a:rPr>
              <a:t>尤其检查术语、数值和单位</a:t>
            </a:r>
            <a:r>
              <a:rPr sz="2400" b="0" dirty="0">
                <a:solidFill>
                  <a:srgbClr val="333333"/>
                </a:solidFill>
                <a:latin typeface="Microsoft YaHei"/>
                <a:ea typeface="Microsoft YaHei"/>
              </a:rPr>
              <a:t>。</a:t>
            </a:r>
          </a:p>
          <a:p>
            <a:pPr algn="l">
              <a:lnSpc>
                <a:spcPct val="110000"/>
              </a:lnSpc>
              <a:spcAft>
                <a:spcPts val="300"/>
              </a:spcAft>
            </a:pPr>
            <a:endParaRPr sz="1900" b="0" dirty="0">
              <a:solidFill>
                <a:srgbClr val="333333"/>
              </a:solidFill>
              <a:latin typeface="Microsoft YaHei"/>
              <a:ea typeface="Microsoft YaHei"/>
            </a:endParaRPr>
          </a:p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2400" b="1" dirty="0">
                <a:solidFill>
                  <a:srgbClr val="F58020"/>
                </a:solidFill>
                <a:latin typeface="Microsoft YaHei"/>
                <a:ea typeface="Microsoft YaHei"/>
              </a:rPr>
              <a:t>② </a:t>
            </a:r>
            <a:r>
              <a:rPr sz="2400" b="1" dirty="0" err="1">
                <a:solidFill>
                  <a:srgbClr val="F58020"/>
                </a:solidFill>
                <a:latin typeface="Microsoft YaHei"/>
                <a:ea typeface="Microsoft YaHei"/>
              </a:rPr>
              <a:t>错误认知与偏见</a:t>
            </a:r>
            <a:endParaRPr sz="2400" b="1" dirty="0">
              <a:solidFill>
                <a:srgbClr val="F58020"/>
              </a:solidFill>
              <a:latin typeface="Microsoft YaHei"/>
              <a:ea typeface="Microsoft YaHei"/>
            </a:endParaRPr>
          </a:p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2400" b="0" dirty="0" err="1">
                <a:solidFill>
                  <a:srgbClr val="333333"/>
                </a:solidFill>
                <a:latin typeface="Microsoft YaHei"/>
                <a:ea typeface="Microsoft YaHei"/>
              </a:rPr>
              <a:t>训练材料可能包含</a:t>
            </a:r>
            <a:r>
              <a:rPr sz="2400" b="0" dirty="0">
                <a:solidFill>
                  <a:srgbClr val="333333"/>
                </a:solidFill>
                <a:latin typeface="Microsoft YaHei"/>
                <a:ea typeface="Microsoft YaHei"/>
              </a:rPr>
              <a:t>错</a:t>
            </a:r>
            <a:r>
              <a:rPr sz="2400" b="0" dirty="0" err="1">
                <a:solidFill>
                  <a:srgbClr val="333333"/>
                </a:solidFill>
                <a:latin typeface="Microsoft YaHei"/>
                <a:ea typeface="Microsoft YaHei"/>
              </a:rPr>
              <a:t>误信息和偏</a:t>
            </a:r>
            <a:r>
              <a:rPr sz="2400" b="0" dirty="0">
                <a:solidFill>
                  <a:srgbClr val="333333"/>
                </a:solidFill>
                <a:latin typeface="Microsoft YaHei"/>
                <a:ea typeface="Microsoft YaHei"/>
              </a:rPr>
              <a:t>见，</a:t>
            </a:r>
            <a:r>
              <a:rPr sz="2400" b="0" dirty="0" err="1">
                <a:solidFill>
                  <a:srgbClr val="333333"/>
                </a:solidFill>
                <a:latin typeface="Microsoft YaHei"/>
                <a:ea typeface="Microsoft YaHei"/>
              </a:rPr>
              <a:t>模型也可</a:t>
            </a:r>
            <a:r>
              <a:rPr sz="2400" b="0" dirty="0">
                <a:solidFill>
                  <a:srgbClr val="333333"/>
                </a:solidFill>
                <a:latin typeface="Microsoft YaHei"/>
                <a:ea typeface="Microsoft YaHei"/>
              </a:rPr>
              <a:t>能复</a:t>
            </a:r>
            <a:r>
              <a:rPr sz="2400" b="0" dirty="0" err="1">
                <a:solidFill>
                  <a:srgbClr val="333333"/>
                </a:solidFill>
                <a:latin typeface="Microsoft YaHei"/>
                <a:ea typeface="Microsoft YaHei"/>
              </a:rPr>
              <a:t>述这些内容</a:t>
            </a:r>
            <a:r>
              <a:rPr sz="2400" b="0" dirty="0">
                <a:solidFill>
                  <a:srgbClr val="333333"/>
                </a:solidFill>
                <a:latin typeface="Microsoft YaHei"/>
                <a:ea typeface="Microsoft YaHei"/>
              </a:rPr>
              <a:t>。</a:t>
            </a:r>
            <a:r>
              <a:rPr sz="2400" b="1" dirty="0" err="1">
                <a:solidFill>
                  <a:srgbClr val="004CA0"/>
                </a:solidFill>
                <a:latin typeface="Microsoft YaHei"/>
                <a:ea typeface="Microsoft YaHei"/>
              </a:rPr>
              <a:t>出现</a:t>
            </a:r>
            <a:r>
              <a:rPr sz="2400" b="1" dirty="0">
                <a:solidFill>
                  <a:srgbClr val="004CA0"/>
                </a:solidFill>
                <a:latin typeface="Microsoft YaHei"/>
                <a:ea typeface="Microsoft YaHei"/>
              </a:rPr>
              <a:t>频</a:t>
            </a:r>
            <a:r>
              <a:rPr sz="2400" b="1" dirty="0" err="1">
                <a:solidFill>
                  <a:srgbClr val="004CA0"/>
                </a:solidFill>
                <a:latin typeface="Microsoft YaHei"/>
                <a:ea typeface="Microsoft YaHei"/>
              </a:rPr>
              <a:t>率高</a:t>
            </a:r>
            <a:r>
              <a:rPr sz="2400" b="1" dirty="0" err="1">
                <a:solidFill>
                  <a:srgbClr val="F58020"/>
                </a:solidFill>
                <a:latin typeface="Microsoft YaHei"/>
                <a:ea typeface="Microsoft YaHei"/>
              </a:rPr>
              <a:t>，</a:t>
            </a:r>
            <a:r>
              <a:rPr sz="2400" b="1" dirty="0" err="1">
                <a:solidFill>
                  <a:srgbClr val="004CA0"/>
                </a:solidFill>
                <a:latin typeface="Microsoft YaHei"/>
                <a:ea typeface="Microsoft YaHei"/>
              </a:rPr>
              <a:t>不能证明观点正确</a:t>
            </a:r>
            <a:r>
              <a:rPr sz="2400" b="1" dirty="0">
                <a:solidFill>
                  <a:srgbClr val="004CA0"/>
                </a:solidFill>
                <a:latin typeface="Microsoft YaHei"/>
                <a:ea typeface="Microsoft YaHei"/>
              </a:rPr>
              <a:t>。</a:t>
            </a:r>
          </a:p>
          <a:p>
            <a:pPr algn="l">
              <a:lnSpc>
                <a:spcPct val="110000"/>
              </a:lnSpc>
              <a:spcAft>
                <a:spcPts val="300"/>
              </a:spcAft>
            </a:pPr>
            <a:endParaRPr sz="1900" b="1" dirty="0">
              <a:solidFill>
                <a:srgbClr val="004CA0"/>
              </a:solidFill>
              <a:latin typeface="Microsoft YaHei"/>
              <a:ea typeface="Microsoft YaHei"/>
            </a:endParaRPr>
          </a:p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2400" b="1" dirty="0">
                <a:solidFill>
                  <a:srgbClr val="F58020"/>
                </a:solidFill>
                <a:latin typeface="Microsoft YaHei"/>
                <a:ea typeface="Microsoft YaHei"/>
              </a:rPr>
              <a:t>③ </a:t>
            </a:r>
            <a:r>
              <a:rPr sz="2400" b="1" dirty="0" err="1">
                <a:solidFill>
                  <a:srgbClr val="F58020"/>
                </a:solidFill>
                <a:latin typeface="Microsoft YaHei"/>
                <a:ea typeface="Microsoft YaHei"/>
              </a:rPr>
              <a:t>过时信息</a:t>
            </a:r>
            <a:r>
              <a:rPr sz="2400" b="1" dirty="0">
                <a:solidFill>
                  <a:srgbClr val="F58020"/>
                </a:solidFill>
                <a:latin typeface="Microsoft YaHei"/>
                <a:ea typeface="Microsoft YaHei"/>
              </a:rPr>
              <a:t> · </a:t>
            </a:r>
            <a:r>
              <a:rPr sz="2400" b="1" dirty="0" err="1">
                <a:solidFill>
                  <a:srgbClr val="F58020"/>
                </a:solidFill>
                <a:latin typeface="Microsoft YaHei"/>
                <a:ea typeface="Microsoft YaHei"/>
              </a:rPr>
              <a:t>知识截断</a:t>
            </a:r>
            <a:endParaRPr sz="2400" b="1" dirty="0">
              <a:solidFill>
                <a:srgbClr val="F58020"/>
              </a:solidFill>
              <a:latin typeface="Microsoft YaHei"/>
              <a:ea typeface="Microsoft YaHei"/>
            </a:endParaRPr>
          </a:p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2400" dirty="0" err="1">
                <a:latin typeface="Microsoft YaHei"/>
                <a:ea typeface="Microsoft YaHei"/>
              </a:rPr>
              <a:t>模型知识存在</a:t>
            </a:r>
            <a:r>
              <a:rPr sz="2400" dirty="0">
                <a:latin typeface="Microsoft YaHei"/>
                <a:ea typeface="Microsoft YaHei"/>
              </a:rPr>
              <a:t>时</a:t>
            </a:r>
            <a:r>
              <a:rPr sz="2400" dirty="0" err="1">
                <a:latin typeface="Microsoft YaHei"/>
                <a:ea typeface="Microsoft YaHei"/>
              </a:rPr>
              <a:t>间边界</a:t>
            </a:r>
            <a:r>
              <a:rPr sz="2400" dirty="0">
                <a:latin typeface="Microsoft YaHei"/>
                <a:ea typeface="Microsoft YaHei"/>
              </a:rPr>
              <a:t>。询问</a:t>
            </a:r>
            <a:r>
              <a:rPr sz="2400" dirty="0" err="1">
                <a:latin typeface="Microsoft YaHei"/>
                <a:ea typeface="Microsoft YaHei"/>
              </a:rPr>
              <a:t>近期研究时，应确认是否</a:t>
            </a:r>
            <a:r>
              <a:rPr sz="2400" dirty="0">
                <a:latin typeface="Microsoft YaHei"/>
                <a:ea typeface="Microsoft YaHei"/>
              </a:rPr>
              <a:t>进行</a:t>
            </a:r>
            <a:r>
              <a:rPr sz="2400" dirty="0" err="1">
                <a:latin typeface="Microsoft YaHei"/>
                <a:ea typeface="Microsoft YaHei"/>
              </a:rPr>
              <a:t>了检索，并核</a:t>
            </a:r>
            <a:r>
              <a:rPr sz="2400" dirty="0">
                <a:latin typeface="Microsoft YaHei"/>
                <a:ea typeface="Microsoft YaHei"/>
              </a:rPr>
              <a:t>对</a:t>
            </a:r>
            <a:r>
              <a:rPr sz="2400" dirty="0" err="1">
                <a:latin typeface="Microsoft YaHei"/>
                <a:ea typeface="Microsoft YaHei"/>
              </a:rPr>
              <a:t>论</a:t>
            </a:r>
            <a:r>
              <a:rPr sz="2400" dirty="0">
                <a:latin typeface="Microsoft YaHei"/>
                <a:ea typeface="Microsoft YaHei"/>
              </a:rPr>
              <a:t>文</a:t>
            </a:r>
            <a:r>
              <a:rPr sz="2400" dirty="0" err="1">
                <a:latin typeface="Microsoft YaHei"/>
                <a:ea typeface="Microsoft YaHei"/>
              </a:rPr>
              <a:t>及</a:t>
            </a:r>
            <a:r>
              <a:rPr sz="2400" dirty="0">
                <a:latin typeface="Microsoft YaHei"/>
                <a:ea typeface="Microsoft YaHei"/>
              </a:rPr>
              <a:t>发</a:t>
            </a:r>
            <a:r>
              <a:rPr sz="2400" dirty="0" err="1">
                <a:latin typeface="Microsoft YaHei"/>
                <a:ea typeface="Microsoft YaHei"/>
              </a:rPr>
              <a:t>布日期</a:t>
            </a:r>
            <a:r>
              <a:rPr sz="2400" dirty="0">
                <a:latin typeface="Microsoft YaHei"/>
                <a:ea typeface="Microsoft YaHei"/>
              </a:rPr>
              <a:t>。</a:t>
            </a:r>
          </a:p>
          <a:p>
            <a:pPr algn="l">
              <a:lnSpc>
                <a:spcPct val="110000"/>
              </a:lnSpc>
              <a:spcAft>
                <a:spcPts val="300"/>
              </a:spcAft>
            </a:pPr>
            <a:endParaRPr sz="1900" b="1" dirty="0">
              <a:solidFill>
                <a:srgbClr val="004CA0"/>
              </a:solidFill>
              <a:latin typeface="Microsoft YaHei"/>
              <a:ea typeface="Microsoft YaHei"/>
            </a:endParaRPr>
          </a:p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2400" b="1" dirty="0">
                <a:solidFill>
                  <a:srgbClr val="0066CC"/>
                </a:solidFill>
                <a:latin typeface="Microsoft YaHei"/>
                <a:ea typeface="Microsoft YaHei"/>
              </a:rPr>
              <a:t>清晰</a:t>
            </a:r>
            <a:r>
              <a:rPr sz="2400" b="1" dirty="0" err="1">
                <a:solidFill>
                  <a:srgbClr val="0066CC"/>
                </a:solidFill>
                <a:latin typeface="Microsoft YaHei"/>
                <a:ea typeface="Microsoft YaHei"/>
              </a:rPr>
              <a:t>提示有助</a:t>
            </a:r>
            <a:r>
              <a:rPr sz="2200" b="1" dirty="0" err="1">
                <a:solidFill>
                  <a:srgbClr val="0066CC"/>
                </a:solidFill>
                <a:latin typeface="Microsoft YaHei"/>
                <a:ea typeface="Microsoft YaHei"/>
              </a:rPr>
              <a:t>于</a:t>
            </a:r>
            <a:r>
              <a:rPr sz="2400" b="1" dirty="0" err="1">
                <a:solidFill>
                  <a:srgbClr val="0066CC"/>
                </a:solidFill>
                <a:latin typeface="Microsoft YaHei"/>
                <a:ea typeface="Microsoft YaHei"/>
              </a:rPr>
              <a:t>约束回答，可靠性仍需通过原始资料和专业判断检验</a:t>
            </a:r>
            <a:r>
              <a:rPr sz="2400" b="1" dirty="0">
                <a:solidFill>
                  <a:srgbClr val="0066CC"/>
                </a:solidFill>
                <a:latin typeface="Microsoft YaHei"/>
                <a:ea typeface="Microsoft YaHei"/>
              </a:rPr>
              <a:t>。</a:t>
            </a:r>
            <a:endParaRPr sz="1900" b="1" dirty="0">
              <a:solidFill>
                <a:srgbClr val="0066CC"/>
              </a:solidFill>
              <a:latin typeface="Microsoft YaHei"/>
              <a:ea typeface="Microsoft YaHei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11094415" y="6446520"/>
            <a:ext cx="914400" cy="320040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pPr algn="r"/>
            <a:r>
              <a:rPr sz="1100">
                <a:solidFill>
                  <a:srgbClr val="999999"/>
                </a:solidFill>
                <a:latin typeface="Arial"/>
              </a:rPr>
              <a:t>28 / 50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389120" cy="6858000"/>
          </a:xfrm>
          <a:prstGeom prst="rect">
            <a:avLst/>
          </a:prstGeom>
          <a:solidFill>
            <a:srgbClr val="006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4389120" y="0"/>
            <a:ext cx="91440" cy="6858000"/>
          </a:xfrm>
          <a:prstGeom prst="rect">
            <a:avLst/>
          </a:prstGeom>
          <a:solidFill>
            <a:srgbClr val="004C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65760" y="1828800"/>
            <a:ext cx="3657600" cy="2286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6000" b="1" i="0">
                <a:solidFill>
                  <a:srgbClr val="FFFFFF"/>
                </a:solidFill>
                <a:latin typeface="Arial"/>
                <a:ea typeface="Arial"/>
              </a:rPr>
              <a:t>2.3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939553" y="2412576"/>
            <a:ext cx="640080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4200" b="1" i="0" dirty="0" err="1">
                <a:solidFill>
                  <a:srgbClr val="333333"/>
                </a:solidFill>
                <a:latin typeface="Microsoft YaHei"/>
                <a:ea typeface="Microsoft YaHei"/>
              </a:rPr>
              <a:t>联网查找最新信息</a:t>
            </a:r>
            <a:endParaRPr sz="4200" b="1" i="0" dirty="0">
              <a:solidFill>
                <a:srgbClr val="333333"/>
              </a:solidFill>
              <a:latin typeface="Microsoft YaHei"/>
              <a:ea typeface="Microsoft YaHei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5029200" y="3657600"/>
            <a:ext cx="1371600" cy="38000"/>
          </a:xfrm>
          <a:prstGeom prst="rect">
            <a:avLst/>
          </a:prstGeom>
          <a:solidFill>
            <a:srgbClr val="006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029200" y="3840480"/>
            <a:ext cx="6766560" cy="61555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" b="0" i="0" dirty="0" err="1">
                <a:solidFill>
                  <a:srgbClr val="333333"/>
                </a:solidFill>
                <a:latin typeface="Microsoft YaHei"/>
                <a:ea typeface="Microsoft YaHei"/>
              </a:rPr>
              <a:t>联网检索可补充预训</a:t>
            </a:r>
            <a:r>
              <a:rPr sz="2000" b="0" i="0" dirty="0">
                <a:solidFill>
                  <a:srgbClr val="333333"/>
                </a:solidFill>
                <a:latin typeface="Microsoft YaHei"/>
                <a:ea typeface="Microsoft YaHei"/>
              </a:rPr>
              <a:t>练知识之外的信息</a:t>
            </a:r>
            <a:r>
              <a:rPr sz="2000" b="0" i="0" dirty="0" err="1">
                <a:solidFill>
                  <a:srgbClr val="333333"/>
                </a:solidFill>
                <a:latin typeface="Microsoft YaHei"/>
                <a:ea typeface="Microsoft YaHei"/>
              </a:rPr>
              <a:t>。使</a:t>
            </a:r>
            <a:r>
              <a:rPr sz="2000" b="0" i="0" dirty="0">
                <a:solidFill>
                  <a:srgbClr val="333333"/>
                </a:solidFill>
                <a:latin typeface="Microsoft YaHei"/>
                <a:ea typeface="Microsoft YaHei"/>
              </a:rPr>
              <a:t>用时</a:t>
            </a:r>
            <a:r>
              <a:rPr sz="2000" b="0" i="0" dirty="0" err="1">
                <a:solidFill>
                  <a:srgbClr val="333333"/>
                </a:solidFill>
                <a:latin typeface="Microsoft YaHei"/>
                <a:ea typeface="Microsoft YaHei"/>
              </a:rPr>
              <a:t>需要确认来</a:t>
            </a:r>
            <a:r>
              <a:rPr sz="2000" b="0" i="0" dirty="0">
                <a:solidFill>
                  <a:srgbClr val="333333"/>
                </a:solidFill>
                <a:latin typeface="Microsoft YaHei"/>
                <a:ea typeface="Microsoft YaHei"/>
              </a:rPr>
              <a:t>源是</a:t>
            </a:r>
            <a:r>
              <a:rPr sz="2000" b="0" i="0" dirty="0" err="1">
                <a:solidFill>
                  <a:srgbClr val="333333"/>
                </a:solidFill>
                <a:latin typeface="Microsoft YaHei"/>
                <a:ea typeface="Microsoft YaHei"/>
              </a:rPr>
              <a:t>否可靠、内容是否仍然有效</a:t>
            </a:r>
            <a:r>
              <a:rPr sz="2000" b="0" i="0" dirty="0">
                <a:solidFill>
                  <a:srgbClr val="333333"/>
                </a:solidFill>
                <a:latin typeface="Microsoft YaHei"/>
                <a:ea typeface="Microsoft YaHei"/>
              </a:rPr>
              <a:t>。</a:t>
            </a:r>
          </a:p>
        </p:txBody>
      </p:sp>
      <p:pic>
        <p:nvPicPr>
          <p:cNvPr id="10" name="Picture 9" descr="yzu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17175" y="246888"/>
            <a:ext cx="1691640" cy="54864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11094415" y="6446520"/>
            <a:ext cx="914400" cy="320040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pPr algn="r"/>
            <a:r>
              <a:rPr sz="1100">
                <a:solidFill>
                  <a:srgbClr val="999999"/>
                </a:solidFill>
                <a:latin typeface="Arial"/>
              </a:rPr>
              <a:t>29 / 50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yzu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17175" y="246888"/>
            <a:ext cx="1691640" cy="54864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274320"/>
            <a:ext cx="960120" cy="502920"/>
          </a:xfrm>
          <a:prstGeom prst="rect">
            <a:avLst/>
          </a:prstGeom>
          <a:solidFill>
            <a:srgbClr val="006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" y="341114"/>
            <a:ext cx="914400" cy="3693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400" b="1" i="0" dirty="0">
                <a:solidFill>
                  <a:srgbClr val="FFFFFF"/>
                </a:solidFill>
                <a:latin typeface="Microsoft YaHei"/>
                <a:ea typeface="Microsoft YaHei"/>
              </a:rPr>
              <a:t>2.3.1</a:t>
            </a:r>
          </a:p>
        </p:txBody>
      </p:sp>
      <p:sp>
        <p:nvSpPr>
          <p:cNvPr id="6" name="Rectangle 5"/>
          <p:cNvSpPr/>
          <p:nvPr/>
        </p:nvSpPr>
        <p:spPr>
          <a:xfrm>
            <a:off x="960120" y="274320"/>
            <a:ext cx="9052560" cy="502920"/>
          </a:xfrm>
          <a:prstGeom prst="rect">
            <a:avLst/>
          </a:prstGeom>
          <a:solidFill>
            <a:srgbClr val="3A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234440" y="341114"/>
            <a:ext cx="8686800" cy="3693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400" b="1" i="0" dirty="0" err="1">
                <a:solidFill>
                  <a:srgbClr val="FFFFFF"/>
                </a:solidFill>
                <a:latin typeface="Microsoft YaHei"/>
                <a:ea typeface="Microsoft YaHei"/>
              </a:rPr>
              <a:t>知识截</a:t>
            </a:r>
            <a:r>
              <a:rPr sz="2400" b="1" i="0" dirty="0">
                <a:solidFill>
                  <a:srgbClr val="FFFFFF"/>
                </a:solidFill>
                <a:latin typeface="Microsoft YaHei"/>
                <a:ea typeface="Microsoft YaHei"/>
              </a:rPr>
              <a:t>止日</a:t>
            </a:r>
            <a:r>
              <a:rPr sz="2400" b="1" i="0" dirty="0" err="1">
                <a:solidFill>
                  <a:srgbClr val="FFFFFF"/>
                </a:solidFill>
                <a:latin typeface="Microsoft YaHei"/>
                <a:ea typeface="Microsoft YaHei"/>
              </a:rPr>
              <a:t>期</a:t>
            </a:r>
            <a:r>
              <a:rPr sz="2400" b="1" i="0" dirty="0">
                <a:solidFill>
                  <a:srgbClr val="FFFFFF"/>
                </a:solidFill>
                <a:latin typeface="Microsoft YaHei"/>
                <a:ea typeface="Microsoft YaHei"/>
              </a:rPr>
              <a:t>与信</a:t>
            </a:r>
            <a:r>
              <a:rPr sz="2400" b="1" i="0" dirty="0" err="1">
                <a:solidFill>
                  <a:srgbClr val="FFFFFF"/>
                </a:solidFill>
                <a:latin typeface="Microsoft YaHei"/>
                <a:ea typeface="Microsoft YaHei"/>
              </a:rPr>
              <a:t>息更</a:t>
            </a:r>
            <a:r>
              <a:rPr sz="2400" b="1" i="0" dirty="0">
                <a:solidFill>
                  <a:srgbClr val="FFFFFF"/>
                </a:solidFill>
                <a:latin typeface="Microsoft YaHei"/>
                <a:ea typeface="Microsoft YaHei"/>
              </a:rPr>
              <a:t>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6065" y="934122"/>
            <a:ext cx="7601175" cy="5319652"/>
          </a:xfrm>
          <a:prstGeom prst="rect">
            <a:avLst/>
          </a:prstGeom>
          <a:noFill/>
        </p:spPr>
        <p:txBody>
          <a:bodyPr wrap="square" lIns="36000" tIns="36000" rIns="36000" bIns="36000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2400" b="1" dirty="0" err="1">
                <a:solidFill>
                  <a:srgbClr val="0066CC"/>
                </a:solidFill>
                <a:latin typeface="Arial"/>
                <a:ea typeface="Arial"/>
              </a:rPr>
              <a:t>知识截断日期</a:t>
            </a:r>
            <a:r>
              <a:rPr sz="2400" b="1" dirty="0">
                <a:solidFill>
                  <a:srgbClr val="0066CC"/>
                </a:solidFill>
                <a:latin typeface="Arial"/>
                <a:ea typeface="Arial"/>
              </a:rPr>
              <a:t> (Knowledge Cutoff)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2200" b="0" dirty="0" err="1">
                <a:solidFill>
                  <a:srgbClr val="333333"/>
                </a:solidFill>
                <a:latin typeface="Microsoft YaHei"/>
                <a:ea typeface="Microsoft YaHei"/>
              </a:rPr>
              <a:t>知识截止日期描述</a:t>
            </a:r>
            <a:r>
              <a:rPr sz="2200" b="0" dirty="0">
                <a:solidFill>
                  <a:srgbClr val="333333"/>
                </a:solidFill>
                <a:latin typeface="Microsoft YaHei"/>
                <a:ea typeface="Microsoft YaHei"/>
              </a:rPr>
              <a:t>模</a:t>
            </a:r>
            <a:r>
              <a:rPr sz="2200" b="1" dirty="0" err="1">
                <a:solidFill>
                  <a:srgbClr val="0066CC"/>
                </a:solidFill>
                <a:latin typeface="Microsoft YaHei"/>
                <a:ea typeface="Microsoft YaHei"/>
              </a:rPr>
              <a:t>型训练信息</a:t>
            </a:r>
            <a:r>
              <a:rPr sz="2200" b="0" dirty="0" err="1">
                <a:solidFill>
                  <a:srgbClr val="333333"/>
                </a:solidFill>
                <a:latin typeface="Microsoft YaHei"/>
                <a:ea typeface="Microsoft YaHei"/>
              </a:rPr>
              <a:t>的时间范围</a:t>
            </a:r>
            <a:r>
              <a:rPr sz="2200" b="0" dirty="0">
                <a:solidFill>
                  <a:srgbClr val="333333"/>
                </a:solidFill>
                <a:latin typeface="Microsoft YaHei"/>
                <a:ea typeface="Microsoft YaHei"/>
              </a:rPr>
              <a:t>，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2200" b="0" dirty="0">
                <a:solidFill>
                  <a:srgbClr val="333333"/>
                </a:solidFill>
                <a:latin typeface="Microsoft YaHei"/>
                <a:ea typeface="Microsoft YaHei"/>
              </a:rPr>
              <a:t>不等</a:t>
            </a:r>
            <a:r>
              <a:rPr sz="2200" b="0" dirty="0" err="1">
                <a:solidFill>
                  <a:srgbClr val="333333"/>
                </a:solidFill>
                <a:latin typeface="Microsoft YaHei"/>
                <a:ea typeface="Microsoft YaHei"/>
              </a:rPr>
              <a:t>于发布日期，也不保证该日期之前的信息全部覆盖</a:t>
            </a:r>
            <a:r>
              <a:rPr sz="2200" b="0" dirty="0">
                <a:solidFill>
                  <a:srgbClr val="333333"/>
                </a:solidFill>
                <a:latin typeface="Microsoft YaHei"/>
                <a:ea typeface="Microsoft YaHei"/>
              </a:rPr>
              <a:t>。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2400" b="1" dirty="0">
                <a:solidFill>
                  <a:srgbClr val="004CA0"/>
                </a:solidFill>
                <a:latin typeface="Microsoft YaHei"/>
                <a:ea typeface="Microsoft YaHei"/>
              </a:rPr>
              <a:t>以两类问题为例</a:t>
            </a:r>
            <a:r>
              <a:rPr lang="zh-CN" altLang="en-US" sz="2400" b="1" dirty="0">
                <a:solidFill>
                  <a:srgbClr val="004CA0"/>
                </a:solidFill>
                <a:latin typeface="Microsoft YaHei"/>
                <a:ea typeface="Microsoft YaHei"/>
              </a:rPr>
              <a:t>：</a:t>
            </a:r>
            <a:endParaRPr sz="2200" b="1" dirty="0">
              <a:solidFill>
                <a:srgbClr val="004CA0"/>
              </a:solidFill>
              <a:latin typeface="Microsoft YaHei"/>
              <a:ea typeface="Microsoft YaHei"/>
            </a:endParaRP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2400" b="1" dirty="0">
                <a:solidFill>
                  <a:srgbClr val="0066CC"/>
                </a:solidFill>
                <a:latin typeface="Consolas"/>
                <a:ea typeface="Consolas"/>
              </a:rPr>
              <a:t>✓ "</a:t>
            </a:r>
            <a:r>
              <a:rPr sz="2400" b="1" dirty="0" err="1">
                <a:solidFill>
                  <a:srgbClr val="0066CC"/>
                </a:solidFill>
                <a:latin typeface="Consolas"/>
                <a:ea typeface="Consolas"/>
              </a:rPr>
              <a:t>什么是牛顿三大定律</a:t>
            </a:r>
            <a:r>
              <a:rPr sz="2400" b="1" dirty="0">
                <a:solidFill>
                  <a:srgbClr val="0066CC"/>
                </a:solidFill>
                <a:latin typeface="Consolas"/>
                <a:ea typeface="Consolas"/>
              </a:rPr>
              <a:t>？"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800" b="0" dirty="0">
                <a:solidFill>
                  <a:srgbClr val="333333"/>
                </a:solidFill>
                <a:latin typeface="Microsoft YaHei"/>
                <a:ea typeface="Microsoft YaHei"/>
              </a:rPr>
              <a:t>       可</a:t>
            </a:r>
            <a:r>
              <a:rPr sz="2400" b="0" dirty="0">
                <a:solidFill>
                  <a:srgbClr val="333333"/>
                </a:solidFill>
                <a:latin typeface="Microsoft YaHei"/>
                <a:ea typeface="Microsoft YaHei"/>
              </a:rPr>
              <a:t>先解</a:t>
            </a:r>
            <a:r>
              <a:rPr sz="2400" b="0" dirty="0" err="1">
                <a:solidFill>
                  <a:srgbClr val="333333"/>
                </a:solidFill>
                <a:latin typeface="Microsoft YaHei"/>
                <a:ea typeface="Microsoft YaHei"/>
              </a:rPr>
              <a:t>释，再根据教材核对表述</a:t>
            </a:r>
            <a:r>
              <a:rPr sz="2400" b="0" dirty="0">
                <a:solidFill>
                  <a:srgbClr val="333333"/>
                </a:solidFill>
                <a:latin typeface="Microsoft YaHei"/>
                <a:ea typeface="Microsoft YaHei"/>
              </a:rPr>
              <a:t>。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endParaRPr sz="1800" b="0" dirty="0">
              <a:solidFill>
                <a:srgbClr val="333333"/>
              </a:solidFill>
              <a:latin typeface="Microsoft YaHei"/>
              <a:ea typeface="Microsoft YaHei"/>
            </a:endParaRP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2400" b="1" dirty="0">
                <a:solidFill>
                  <a:srgbClr val="F58020"/>
                </a:solidFill>
                <a:latin typeface="Consolas"/>
                <a:ea typeface="Consolas"/>
              </a:rPr>
              <a:t>“最近一个电影</a:t>
            </a:r>
            <a:r>
              <a:rPr sz="2400" b="1" dirty="0" err="1">
                <a:solidFill>
                  <a:srgbClr val="F58020"/>
                </a:solidFill>
                <a:latin typeface="Consolas"/>
                <a:ea typeface="Consolas"/>
              </a:rPr>
              <a:t>档期的票房冠军是哪部</a:t>
            </a:r>
            <a:r>
              <a:rPr sz="2400" b="1" dirty="0">
                <a:solidFill>
                  <a:srgbClr val="F58020"/>
                </a:solidFill>
                <a:latin typeface="Consolas"/>
                <a:ea typeface="Consolas"/>
              </a:rPr>
              <a:t>？”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2400" b="0" dirty="0">
                <a:solidFill>
                  <a:srgbClr val="333333"/>
                </a:solidFill>
                <a:latin typeface="Microsoft YaHei"/>
                <a:ea typeface="Microsoft YaHei"/>
              </a:rPr>
              <a:t>       </a:t>
            </a:r>
            <a:r>
              <a:rPr sz="2400" b="0" dirty="0" err="1">
                <a:solidFill>
                  <a:srgbClr val="333333"/>
                </a:solidFill>
                <a:latin typeface="Microsoft YaHei"/>
                <a:ea typeface="Microsoft YaHei"/>
              </a:rPr>
              <a:t>这类问题需要近期票房数据支持</a:t>
            </a:r>
            <a:r>
              <a:rPr sz="2400" b="0" dirty="0">
                <a:solidFill>
                  <a:srgbClr val="333333"/>
                </a:solidFill>
                <a:latin typeface="Microsoft YaHei"/>
                <a:ea typeface="Microsoft YaHei"/>
              </a:rPr>
              <a:t>。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2400" b="1" dirty="0">
                <a:solidFill>
                  <a:srgbClr val="0066CC"/>
                </a:solidFill>
                <a:latin typeface="Microsoft YaHei"/>
                <a:ea typeface="Microsoft YaHei"/>
              </a:rPr>
              <a:t>       </a:t>
            </a:r>
            <a:r>
              <a:rPr sz="2400" b="1" dirty="0" err="1">
                <a:solidFill>
                  <a:srgbClr val="0066CC"/>
                </a:solidFill>
                <a:latin typeface="Microsoft YaHei"/>
                <a:ea typeface="Microsoft YaHei"/>
              </a:rPr>
              <a:t>应确认</a:t>
            </a:r>
            <a:r>
              <a:rPr sz="2400" b="1" dirty="0">
                <a:solidFill>
                  <a:srgbClr val="0066CC"/>
                </a:solidFill>
                <a:latin typeface="Microsoft YaHei"/>
                <a:ea typeface="Microsoft YaHei"/>
              </a:rPr>
              <a:t>检索功</a:t>
            </a:r>
            <a:r>
              <a:rPr sz="2400" b="1" dirty="0" err="1">
                <a:solidFill>
                  <a:srgbClr val="0066CC"/>
                </a:solidFill>
                <a:latin typeface="Microsoft YaHei"/>
                <a:ea typeface="Microsoft YaHei"/>
              </a:rPr>
              <a:t>能可用，并</a:t>
            </a:r>
            <a:r>
              <a:rPr sz="2400" b="1" dirty="0">
                <a:solidFill>
                  <a:srgbClr val="0066CC"/>
                </a:solidFill>
                <a:latin typeface="Microsoft YaHei"/>
                <a:ea typeface="Microsoft YaHei"/>
              </a:rPr>
              <a:t>核对数</a:t>
            </a:r>
            <a:r>
              <a:rPr sz="2400" b="1" dirty="0" err="1">
                <a:solidFill>
                  <a:srgbClr val="F58020"/>
                </a:solidFill>
                <a:latin typeface="Microsoft YaHei"/>
                <a:ea typeface="Microsoft YaHei"/>
              </a:rPr>
              <a:t>据来源与日期</a:t>
            </a:r>
            <a:r>
              <a:rPr sz="2400" b="1" dirty="0">
                <a:solidFill>
                  <a:srgbClr val="0066CC"/>
                </a:solidFill>
                <a:latin typeface="Microsoft YaHei"/>
                <a:ea typeface="Microsoft YaHei"/>
              </a:rPr>
              <a:t>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097949" y="4895287"/>
            <a:ext cx="4297680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b="0" dirty="0">
                <a:solidFill>
                  <a:srgbClr val="333333"/>
                </a:solidFill>
                <a:latin typeface="Microsoft YaHei"/>
                <a:ea typeface="Microsoft YaHei"/>
              </a:rPr>
              <a:t>图 2-11  </a:t>
            </a:r>
            <a:r>
              <a:rPr b="0" dirty="0" err="1">
                <a:solidFill>
                  <a:srgbClr val="333333"/>
                </a:solidFill>
                <a:latin typeface="Microsoft YaHei"/>
                <a:ea typeface="Microsoft YaHei"/>
              </a:rPr>
              <a:t>知识截断与联网检索的时间线</a:t>
            </a:r>
            <a:endParaRPr b="0" dirty="0">
              <a:solidFill>
                <a:srgbClr val="333333"/>
              </a:solidFill>
              <a:latin typeface="Microsoft YaHei"/>
              <a:ea typeface="Microsoft YaHei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11094415" y="6446520"/>
            <a:ext cx="914400" cy="320040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pPr algn="r"/>
            <a:r>
              <a:rPr sz="1100">
                <a:solidFill>
                  <a:srgbClr val="999999"/>
                </a:solidFill>
                <a:latin typeface="Arial"/>
              </a:rPr>
              <a:t>30 / 50</a:t>
            </a:r>
          </a:p>
        </p:txBody>
      </p:sp>
      <p:pic>
        <p:nvPicPr>
          <p:cNvPr id="12" name="图片 11">
            <a:extLst>
              <a:ext uri="{FF2B5EF4-FFF2-40B4-BE49-F238E27FC236}">
                <a16:creationId xmlns:a16="http://schemas.microsoft.com/office/drawing/2014/main" id="{ADBD08DA-6D8C-D315-5016-497F63E4C97D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4870" b="11735"/>
          <a:stretch>
            <a:fillRect/>
          </a:stretch>
        </p:blipFill>
        <p:spPr bwMode="auto">
          <a:xfrm>
            <a:off x="5629835" y="2177804"/>
            <a:ext cx="6378980" cy="2553870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yzu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17175" y="246888"/>
            <a:ext cx="1691640" cy="54864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274320"/>
            <a:ext cx="960120" cy="502920"/>
          </a:xfrm>
          <a:prstGeom prst="rect">
            <a:avLst/>
          </a:prstGeom>
          <a:solidFill>
            <a:srgbClr val="006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" y="341114"/>
            <a:ext cx="914400" cy="3693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400" b="1" i="0" dirty="0">
                <a:solidFill>
                  <a:srgbClr val="FFFFFF"/>
                </a:solidFill>
                <a:latin typeface="Microsoft YaHei"/>
                <a:ea typeface="Microsoft YaHei"/>
              </a:rPr>
              <a:t>2.3.2</a:t>
            </a:r>
          </a:p>
        </p:txBody>
      </p:sp>
      <p:sp>
        <p:nvSpPr>
          <p:cNvPr id="6" name="Rectangle 5"/>
          <p:cNvSpPr/>
          <p:nvPr/>
        </p:nvSpPr>
        <p:spPr>
          <a:xfrm>
            <a:off x="960120" y="274320"/>
            <a:ext cx="9052560" cy="502920"/>
          </a:xfrm>
          <a:prstGeom prst="rect">
            <a:avLst/>
          </a:prstGeom>
          <a:solidFill>
            <a:srgbClr val="3A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234440" y="341114"/>
            <a:ext cx="8686800" cy="3693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400" b="1" i="0" dirty="0" err="1">
                <a:solidFill>
                  <a:srgbClr val="FFFFFF"/>
                </a:solidFill>
                <a:latin typeface="Microsoft YaHei"/>
                <a:ea typeface="Microsoft YaHei"/>
              </a:rPr>
              <a:t>不同问题的信息</a:t>
            </a:r>
            <a:r>
              <a:rPr sz="2400" b="1" i="0" dirty="0">
                <a:solidFill>
                  <a:srgbClr val="FFFFFF"/>
                </a:solidFill>
                <a:latin typeface="Microsoft YaHei"/>
                <a:ea typeface="Microsoft YaHei"/>
              </a:rPr>
              <a:t>获取</a:t>
            </a:r>
            <a:r>
              <a:rPr sz="2400" b="1" i="0" dirty="0" err="1">
                <a:solidFill>
                  <a:srgbClr val="FFFFFF"/>
                </a:solidFill>
                <a:latin typeface="Microsoft YaHei"/>
                <a:ea typeface="Microsoft YaHei"/>
              </a:rPr>
              <a:t>方式</a:t>
            </a:r>
            <a:endParaRPr sz="2400" b="1" i="0" dirty="0">
              <a:solidFill>
                <a:srgbClr val="FFFFFF"/>
              </a:solidFill>
              <a:latin typeface="Microsoft YaHei"/>
              <a:ea typeface="Microsoft YaHei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502920" y="960120"/>
            <a:ext cx="11247120" cy="3693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400" b="1" i="0" dirty="0">
                <a:solidFill>
                  <a:srgbClr val="0066CC"/>
                </a:solidFill>
                <a:latin typeface="Microsoft YaHei"/>
                <a:ea typeface="Microsoft YaHei"/>
              </a:rPr>
              <a:t>表 2-2   </a:t>
            </a:r>
            <a:r>
              <a:rPr sz="2400" b="1" i="0" dirty="0" err="1">
                <a:solidFill>
                  <a:srgbClr val="0066CC"/>
                </a:solidFill>
                <a:latin typeface="Microsoft YaHei"/>
                <a:ea typeface="Microsoft YaHei"/>
              </a:rPr>
              <a:t>大模型应对不同类型提问的信息获取策略</a:t>
            </a:r>
            <a:endParaRPr sz="2400" b="1" i="0" dirty="0">
              <a:solidFill>
                <a:srgbClr val="0066CC"/>
              </a:solidFill>
              <a:latin typeface="Microsoft YaHei"/>
              <a:ea typeface="Microsoft YaHei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365760" y="1554480"/>
            <a:ext cx="2194560" cy="502920"/>
          </a:xfrm>
          <a:prstGeom prst="rect">
            <a:avLst/>
          </a:prstGeom>
          <a:solidFill>
            <a:srgbClr val="006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65760" y="1652051"/>
            <a:ext cx="2194560" cy="30777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000" b="1" i="0" dirty="0" err="1">
                <a:solidFill>
                  <a:srgbClr val="FFFFFF"/>
                </a:solidFill>
                <a:latin typeface="Microsoft YaHei"/>
                <a:ea typeface="Microsoft YaHei"/>
              </a:rPr>
              <a:t>提问类型</a:t>
            </a:r>
            <a:endParaRPr sz="2000" b="1" i="0" dirty="0">
              <a:solidFill>
                <a:srgbClr val="FFFFFF"/>
              </a:solidFill>
              <a:latin typeface="Microsoft YaHei"/>
              <a:ea typeface="Microsoft YaHei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2560320" y="1554480"/>
            <a:ext cx="2194560" cy="502920"/>
          </a:xfrm>
          <a:prstGeom prst="rect">
            <a:avLst/>
          </a:prstGeom>
          <a:solidFill>
            <a:srgbClr val="006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2560320" y="1652051"/>
            <a:ext cx="2194560" cy="30777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000" b="1" i="0" dirty="0" err="1">
                <a:solidFill>
                  <a:srgbClr val="FFFFFF"/>
                </a:solidFill>
                <a:latin typeface="Microsoft YaHei"/>
                <a:ea typeface="Microsoft YaHei"/>
              </a:rPr>
              <a:t>信息来源</a:t>
            </a:r>
            <a:endParaRPr sz="2000" b="1" i="0" dirty="0">
              <a:solidFill>
                <a:srgbClr val="FFFFFF"/>
              </a:solidFill>
              <a:latin typeface="Microsoft YaHei"/>
              <a:ea typeface="Microsoft YaHei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4754880" y="1554480"/>
            <a:ext cx="3291840" cy="502920"/>
          </a:xfrm>
          <a:prstGeom prst="rect">
            <a:avLst/>
          </a:prstGeom>
          <a:solidFill>
            <a:srgbClr val="006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754880" y="1652051"/>
            <a:ext cx="3291840" cy="30777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000" b="1" i="0" dirty="0">
                <a:solidFill>
                  <a:srgbClr val="FFFFFF"/>
                </a:solidFill>
                <a:latin typeface="Microsoft YaHei"/>
                <a:ea typeface="Microsoft YaHei"/>
              </a:rPr>
              <a:t>AI </a:t>
            </a:r>
            <a:r>
              <a:rPr sz="2000" b="1" i="0" dirty="0" err="1">
                <a:solidFill>
                  <a:srgbClr val="FFFFFF"/>
                </a:solidFill>
                <a:latin typeface="Microsoft YaHei"/>
                <a:ea typeface="Microsoft YaHei"/>
              </a:rPr>
              <a:t>应对策略</a:t>
            </a:r>
            <a:endParaRPr sz="2000" b="1" i="0" dirty="0">
              <a:solidFill>
                <a:srgbClr val="FFFFFF"/>
              </a:solidFill>
              <a:latin typeface="Microsoft YaHei"/>
              <a:ea typeface="Microsoft YaHei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8046720" y="1554480"/>
            <a:ext cx="3749039" cy="502920"/>
          </a:xfrm>
          <a:prstGeom prst="rect">
            <a:avLst/>
          </a:prstGeom>
          <a:solidFill>
            <a:srgbClr val="006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046720" y="1652051"/>
            <a:ext cx="3749039" cy="30777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000" b="1" i="0" dirty="0" err="1">
                <a:solidFill>
                  <a:srgbClr val="FFFFFF"/>
                </a:solidFill>
                <a:latin typeface="Microsoft YaHei"/>
                <a:ea typeface="Microsoft YaHei"/>
              </a:rPr>
              <a:t>举例</a:t>
            </a:r>
            <a:endParaRPr sz="2000" b="1" i="0" dirty="0">
              <a:solidFill>
                <a:srgbClr val="FFFFFF"/>
              </a:solidFill>
              <a:latin typeface="Microsoft YaHei"/>
              <a:ea typeface="Microsoft YaHei"/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365760" y="2057400"/>
            <a:ext cx="2194560" cy="685800"/>
          </a:xfrm>
          <a:prstGeom prst="rect">
            <a:avLst/>
          </a:prstGeom>
          <a:solidFill>
            <a:srgbClr val="E6F2FC"/>
          </a:solidFill>
          <a:ln w="6350">
            <a:solidFill>
              <a:srgbClr val="E5E5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502920" y="2246411"/>
            <a:ext cx="1920240" cy="30777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000" b="1" i="0" dirty="0" err="1">
                <a:solidFill>
                  <a:srgbClr val="333333"/>
                </a:solidFill>
                <a:latin typeface="Microsoft YaHei"/>
                <a:ea typeface="Microsoft YaHei"/>
              </a:rPr>
              <a:t>静态经典理论</a:t>
            </a:r>
            <a:endParaRPr sz="2000" b="1" i="0" dirty="0">
              <a:solidFill>
                <a:srgbClr val="333333"/>
              </a:solidFill>
              <a:latin typeface="Microsoft YaHei"/>
              <a:ea typeface="Microsoft YaHei"/>
            </a:endParaRPr>
          </a:p>
        </p:txBody>
      </p:sp>
      <p:sp>
        <p:nvSpPr>
          <p:cNvPr id="19" name="Rectangle 18"/>
          <p:cNvSpPr/>
          <p:nvPr/>
        </p:nvSpPr>
        <p:spPr>
          <a:xfrm>
            <a:off x="2560320" y="2057400"/>
            <a:ext cx="2194560" cy="685800"/>
          </a:xfrm>
          <a:prstGeom prst="rect">
            <a:avLst/>
          </a:prstGeom>
          <a:solidFill>
            <a:srgbClr val="E6F2FC"/>
          </a:solidFill>
          <a:ln w="6350">
            <a:solidFill>
              <a:srgbClr val="E5E5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2697480" y="2261800"/>
            <a:ext cx="1920240" cy="27699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b="0" i="0" dirty="0" err="1">
                <a:solidFill>
                  <a:srgbClr val="333333"/>
                </a:solidFill>
                <a:latin typeface="Microsoft YaHei"/>
                <a:ea typeface="Microsoft YaHei"/>
              </a:rPr>
              <a:t>内部参数知识</a:t>
            </a:r>
            <a:endParaRPr b="0" i="0" dirty="0">
              <a:solidFill>
                <a:srgbClr val="333333"/>
              </a:solidFill>
              <a:latin typeface="Microsoft YaHei"/>
              <a:ea typeface="Microsoft YaHei"/>
            </a:endParaRPr>
          </a:p>
        </p:txBody>
      </p:sp>
      <p:sp>
        <p:nvSpPr>
          <p:cNvPr id="21" name="Rectangle 20"/>
          <p:cNvSpPr/>
          <p:nvPr/>
        </p:nvSpPr>
        <p:spPr>
          <a:xfrm>
            <a:off x="4754880" y="2057400"/>
            <a:ext cx="3291840" cy="685800"/>
          </a:xfrm>
          <a:prstGeom prst="rect">
            <a:avLst/>
          </a:prstGeom>
          <a:solidFill>
            <a:srgbClr val="E6F2FC"/>
          </a:solidFill>
          <a:ln w="6350">
            <a:solidFill>
              <a:srgbClr val="E5E5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4892040" y="2261800"/>
            <a:ext cx="3017520" cy="27699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b="0" i="0" dirty="0" err="1">
                <a:solidFill>
                  <a:srgbClr val="333333"/>
                </a:solidFill>
                <a:latin typeface="Microsoft YaHei"/>
                <a:ea typeface="Microsoft YaHei"/>
              </a:rPr>
              <a:t>可依据模型知识回答，必要时核对教材</a:t>
            </a:r>
            <a:endParaRPr b="0" i="0" dirty="0">
              <a:solidFill>
                <a:srgbClr val="333333"/>
              </a:solidFill>
              <a:latin typeface="Microsoft YaHei"/>
              <a:ea typeface="Microsoft YaHei"/>
            </a:endParaRPr>
          </a:p>
        </p:txBody>
      </p:sp>
      <p:sp>
        <p:nvSpPr>
          <p:cNvPr id="23" name="Rectangle 22"/>
          <p:cNvSpPr/>
          <p:nvPr/>
        </p:nvSpPr>
        <p:spPr>
          <a:xfrm>
            <a:off x="8046720" y="2057400"/>
            <a:ext cx="3749039" cy="685800"/>
          </a:xfrm>
          <a:prstGeom prst="rect">
            <a:avLst/>
          </a:prstGeom>
          <a:solidFill>
            <a:srgbClr val="E6F2FC"/>
          </a:solidFill>
          <a:ln w="6350">
            <a:solidFill>
              <a:srgbClr val="E5E5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8183880" y="2261800"/>
            <a:ext cx="3474719" cy="27699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b="0" i="0" dirty="0" err="1">
                <a:solidFill>
                  <a:srgbClr val="333333"/>
                </a:solidFill>
                <a:latin typeface="Microsoft YaHei"/>
                <a:ea typeface="Microsoft YaHei"/>
              </a:rPr>
              <a:t>牛顿三大定律</a:t>
            </a:r>
            <a:r>
              <a:rPr b="0" i="0" dirty="0">
                <a:solidFill>
                  <a:srgbClr val="333333"/>
                </a:solidFill>
                <a:latin typeface="Microsoft YaHei"/>
                <a:ea typeface="Microsoft YaHei"/>
              </a:rPr>
              <a:t> / </a:t>
            </a:r>
            <a:r>
              <a:rPr b="0" i="0" dirty="0" err="1">
                <a:solidFill>
                  <a:srgbClr val="333333"/>
                </a:solidFill>
                <a:latin typeface="Microsoft YaHei"/>
                <a:ea typeface="Microsoft YaHei"/>
              </a:rPr>
              <a:t>经典哲学</a:t>
            </a:r>
            <a:endParaRPr b="0" i="0" dirty="0">
              <a:solidFill>
                <a:srgbClr val="333333"/>
              </a:solidFill>
              <a:latin typeface="Microsoft YaHei"/>
              <a:ea typeface="Microsoft YaHei"/>
            </a:endParaRPr>
          </a:p>
        </p:txBody>
      </p:sp>
      <p:sp>
        <p:nvSpPr>
          <p:cNvPr id="25" name="Rectangle 24"/>
          <p:cNvSpPr/>
          <p:nvPr/>
        </p:nvSpPr>
        <p:spPr>
          <a:xfrm>
            <a:off x="365760" y="2743200"/>
            <a:ext cx="2194560" cy="685800"/>
          </a:xfrm>
          <a:prstGeom prst="rect">
            <a:avLst/>
          </a:prstGeom>
          <a:solidFill>
            <a:srgbClr val="FFFFFF"/>
          </a:solidFill>
          <a:ln w="6350">
            <a:solidFill>
              <a:srgbClr val="E5E5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502920" y="2932211"/>
            <a:ext cx="1920240" cy="30777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000" b="1" i="0" dirty="0" err="1">
                <a:solidFill>
                  <a:srgbClr val="333333"/>
                </a:solidFill>
                <a:latin typeface="Microsoft YaHei"/>
                <a:ea typeface="Microsoft YaHei"/>
              </a:rPr>
              <a:t>实时近期动态</a:t>
            </a:r>
            <a:endParaRPr sz="2000" b="1" i="0" dirty="0">
              <a:solidFill>
                <a:srgbClr val="333333"/>
              </a:solidFill>
              <a:latin typeface="Microsoft YaHei"/>
              <a:ea typeface="Microsoft YaHei"/>
            </a:endParaRPr>
          </a:p>
        </p:txBody>
      </p:sp>
      <p:sp>
        <p:nvSpPr>
          <p:cNvPr id="27" name="Rectangle 26"/>
          <p:cNvSpPr/>
          <p:nvPr/>
        </p:nvSpPr>
        <p:spPr>
          <a:xfrm>
            <a:off x="2560320" y="2743200"/>
            <a:ext cx="2194560" cy="685800"/>
          </a:xfrm>
          <a:prstGeom prst="rect">
            <a:avLst/>
          </a:prstGeom>
          <a:solidFill>
            <a:srgbClr val="FFFFFF"/>
          </a:solidFill>
          <a:ln w="6350">
            <a:solidFill>
              <a:srgbClr val="E5E5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2697480" y="2947600"/>
            <a:ext cx="1920240" cy="27699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b="0" i="0" dirty="0" err="1">
                <a:solidFill>
                  <a:srgbClr val="333333"/>
                </a:solidFill>
                <a:latin typeface="Microsoft YaHei"/>
                <a:ea typeface="Microsoft YaHei"/>
              </a:rPr>
              <a:t>外部检索增强</a:t>
            </a:r>
            <a:endParaRPr b="0" i="0" dirty="0">
              <a:solidFill>
                <a:srgbClr val="333333"/>
              </a:solidFill>
              <a:latin typeface="Microsoft YaHei"/>
              <a:ea typeface="Microsoft YaHei"/>
            </a:endParaRPr>
          </a:p>
        </p:txBody>
      </p:sp>
      <p:sp>
        <p:nvSpPr>
          <p:cNvPr id="29" name="Rectangle 28"/>
          <p:cNvSpPr/>
          <p:nvPr/>
        </p:nvSpPr>
        <p:spPr>
          <a:xfrm>
            <a:off x="4754880" y="2743200"/>
            <a:ext cx="3291840" cy="685800"/>
          </a:xfrm>
          <a:prstGeom prst="rect">
            <a:avLst/>
          </a:prstGeom>
          <a:solidFill>
            <a:srgbClr val="FFFFFF"/>
          </a:solidFill>
          <a:ln w="6350">
            <a:solidFill>
              <a:srgbClr val="E5E5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4892040" y="2947600"/>
            <a:ext cx="3017520" cy="27699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b="0" i="0" dirty="0" err="1">
                <a:solidFill>
                  <a:srgbClr val="333333"/>
                </a:solidFill>
                <a:latin typeface="Microsoft YaHei"/>
                <a:ea typeface="Microsoft YaHei"/>
              </a:rPr>
              <a:t>检索并核对近期来源</a:t>
            </a:r>
            <a:endParaRPr b="0" i="0" dirty="0">
              <a:solidFill>
                <a:srgbClr val="333333"/>
              </a:solidFill>
              <a:latin typeface="Microsoft YaHei"/>
              <a:ea typeface="Microsoft YaHei"/>
            </a:endParaRPr>
          </a:p>
        </p:txBody>
      </p:sp>
      <p:sp>
        <p:nvSpPr>
          <p:cNvPr id="31" name="Rectangle 30"/>
          <p:cNvSpPr/>
          <p:nvPr/>
        </p:nvSpPr>
        <p:spPr>
          <a:xfrm>
            <a:off x="8046720" y="2743200"/>
            <a:ext cx="3749039" cy="685800"/>
          </a:xfrm>
          <a:prstGeom prst="rect">
            <a:avLst/>
          </a:prstGeom>
          <a:solidFill>
            <a:srgbClr val="FFFFFF"/>
          </a:solidFill>
          <a:ln w="6350">
            <a:solidFill>
              <a:srgbClr val="E5E5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8183880" y="2809102"/>
            <a:ext cx="3474719" cy="55399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b="0" i="0" dirty="0" err="1">
                <a:solidFill>
                  <a:srgbClr val="333333"/>
                </a:solidFill>
                <a:latin typeface="Microsoft YaHei"/>
                <a:ea typeface="Microsoft YaHei"/>
              </a:rPr>
              <a:t>昨日新闻</a:t>
            </a:r>
            <a:r>
              <a:rPr b="0" i="0" dirty="0">
                <a:solidFill>
                  <a:srgbClr val="333333"/>
                </a:solidFill>
                <a:latin typeface="Microsoft YaHei"/>
                <a:ea typeface="Microsoft YaHei"/>
              </a:rPr>
              <a:t> / </a:t>
            </a:r>
            <a:r>
              <a:rPr b="0" i="0" dirty="0" err="1">
                <a:solidFill>
                  <a:srgbClr val="333333"/>
                </a:solidFill>
                <a:latin typeface="Microsoft YaHei"/>
                <a:ea typeface="Microsoft YaHei"/>
              </a:rPr>
              <a:t>最新股市</a:t>
            </a:r>
            <a:r>
              <a:rPr b="0" i="0" dirty="0">
                <a:solidFill>
                  <a:srgbClr val="333333"/>
                </a:solidFill>
                <a:latin typeface="Microsoft YaHei"/>
                <a:ea typeface="Microsoft YaHei"/>
              </a:rPr>
              <a:t> / </a:t>
            </a:r>
            <a:r>
              <a:rPr b="0" i="0" dirty="0" err="1">
                <a:solidFill>
                  <a:srgbClr val="333333"/>
                </a:solidFill>
                <a:latin typeface="Microsoft YaHei"/>
                <a:ea typeface="Microsoft YaHei"/>
              </a:rPr>
              <a:t>期刊投稿要求变更</a:t>
            </a:r>
            <a:endParaRPr b="0" i="0" dirty="0">
              <a:solidFill>
                <a:srgbClr val="333333"/>
              </a:solidFill>
              <a:latin typeface="Microsoft YaHei"/>
              <a:ea typeface="Microsoft YaHei"/>
            </a:endParaRPr>
          </a:p>
        </p:txBody>
      </p:sp>
      <p:sp>
        <p:nvSpPr>
          <p:cNvPr id="33" name="Rectangle 32"/>
          <p:cNvSpPr/>
          <p:nvPr/>
        </p:nvSpPr>
        <p:spPr>
          <a:xfrm>
            <a:off x="365760" y="3429000"/>
            <a:ext cx="2194560" cy="685800"/>
          </a:xfrm>
          <a:prstGeom prst="rect">
            <a:avLst/>
          </a:prstGeom>
          <a:solidFill>
            <a:srgbClr val="E6F2FC"/>
          </a:solidFill>
          <a:ln w="6350">
            <a:solidFill>
              <a:srgbClr val="E5E5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502920" y="3618011"/>
            <a:ext cx="1920240" cy="30777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000" b="1" i="0" dirty="0" err="1">
                <a:solidFill>
                  <a:srgbClr val="333333"/>
                </a:solidFill>
                <a:latin typeface="Microsoft YaHei"/>
                <a:ea typeface="Microsoft YaHei"/>
              </a:rPr>
              <a:t>位置动态信息</a:t>
            </a:r>
            <a:endParaRPr sz="2000" b="1" i="0" dirty="0">
              <a:solidFill>
                <a:srgbClr val="333333"/>
              </a:solidFill>
              <a:latin typeface="Microsoft YaHei"/>
              <a:ea typeface="Microsoft YaHei"/>
            </a:endParaRPr>
          </a:p>
        </p:txBody>
      </p:sp>
      <p:sp>
        <p:nvSpPr>
          <p:cNvPr id="35" name="Rectangle 34"/>
          <p:cNvSpPr/>
          <p:nvPr/>
        </p:nvSpPr>
        <p:spPr>
          <a:xfrm>
            <a:off x="2560320" y="3429000"/>
            <a:ext cx="2194560" cy="685800"/>
          </a:xfrm>
          <a:prstGeom prst="rect">
            <a:avLst/>
          </a:prstGeom>
          <a:solidFill>
            <a:srgbClr val="E6F2FC"/>
          </a:solidFill>
          <a:ln w="6350">
            <a:solidFill>
              <a:srgbClr val="E5E5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2697480" y="3633400"/>
            <a:ext cx="1920240" cy="27699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b="0" i="0" dirty="0" err="1">
                <a:solidFill>
                  <a:srgbClr val="333333"/>
                </a:solidFill>
                <a:latin typeface="Microsoft YaHei"/>
                <a:ea typeface="Microsoft YaHei"/>
              </a:rPr>
              <a:t>外部检索增强</a:t>
            </a:r>
            <a:endParaRPr b="0" i="0" dirty="0">
              <a:solidFill>
                <a:srgbClr val="333333"/>
              </a:solidFill>
              <a:latin typeface="Microsoft YaHei"/>
              <a:ea typeface="Microsoft YaHei"/>
            </a:endParaRPr>
          </a:p>
        </p:txBody>
      </p:sp>
      <p:sp>
        <p:nvSpPr>
          <p:cNvPr id="37" name="Rectangle 36"/>
          <p:cNvSpPr/>
          <p:nvPr/>
        </p:nvSpPr>
        <p:spPr>
          <a:xfrm>
            <a:off x="4754880" y="3429000"/>
            <a:ext cx="3291840" cy="685800"/>
          </a:xfrm>
          <a:prstGeom prst="rect">
            <a:avLst/>
          </a:prstGeom>
          <a:solidFill>
            <a:srgbClr val="E6F2FC"/>
          </a:solidFill>
          <a:ln w="6350">
            <a:solidFill>
              <a:srgbClr val="E5E5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4892040" y="3633400"/>
            <a:ext cx="3017520" cy="27699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b="0" i="0" dirty="0" err="1">
                <a:solidFill>
                  <a:srgbClr val="333333"/>
                </a:solidFill>
                <a:latin typeface="Microsoft YaHei"/>
                <a:ea typeface="Microsoft YaHei"/>
              </a:rPr>
              <a:t>查阅地图</a:t>
            </a:r>
            <a:r>
              <a:rPr b="0" i="0" dirty="0">
                <a:solidFill>
                  <a:srgbClr val="333333"/>
                </a:solidFill>
                <a:latin typeface="Microsoft YaHei"/>
                <a:ea typeface="Microsoft YaHei"/>
              </a:rPr>
              <a:t>与场所</a:t>
            </a:r>
            <a:r>
              <a:rPr b="0" i="0" dirty="0" err="1">
                <a:solidFill>
                  <a:srgbClr val="333333"/>
                </a:solidFill>
                <a:latin typeface="Microsoft YaHei"/>
                <a:ea typeface="Microsoft YaHei"/>
              </a:rPr>
              <a:t>官方信息</a:t>
            </a:r>
            <a:endParaRPr b="0" i="0" dirty="0">
              <a:solidFill>
                <a:srgbClr val="333333"/>
              </a:solidFill>
              <a:latin typeface="Microsoft YaHei"/>
              <a:ea typeface="Microsoft YaHei"/>
            </a:endParaRPr>
          </a:p>
        </p:txBody>
      </p:sp>
      <p:sp>
        <p:nvSpPr>
          <p:cNvPr id="39" name="Rectangle 38"/>
          <p:cNvSpPr/>
          <p:nvPr/>
        </p:nvSpPr>
        <p:spPr>
          <a:xfrm>
            <a:off x="8046720" y="3429000"/>
            <a:ext cx="3749039" cy="685800"/>
          </a:xfrm>
          <a:prstGeom prst="rect">
            <a:avLst/>
          </a:prstGeom>
          <a:solidFill>
            <a:srgbClr val="E6F2FC"/>
          </a:solidFill>
          <a:ln w="6350">
            <a:solidFill>
              <a:srgbClr val="E5E5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8183880" y="3633400"/>
            <a:ext cx="3474719" cy="27699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b="0" i="0" dirty="0" err="1">
                <a:solidFill>
                  <a:srgbClr val="333333"/>
                </a:solidFill>
                <a:latin typeface="Microsoft YaHei"/>
                <a:ea typeface="Microsoft YaHei"/>
              </a:rPr>
              <a:t>海淀区通宵自习室</a:t>
            </a:r>
            <a:r>
              <a:rPr b="0" i="0" dirty="0">
                <a:solidFill>
                  <a:srgbClr val="333333"/>
                </a:solidFill>
                <a:latin typeface="Microsoft YaHei"/>
                <a:ea typeface="Microsoft YaHei"/>
              </a:rPr>
              <a:t> / </a:t>
            </a:r>
            <a:r>
              <a:rPr b="0" i="0" dirty="0" err="1">
                <a:solidFill>
                  <a:srgbClr val="333333"/>
                </a:solidFill>
                <a:latin typeface="Microsoft YaHei"/>
                <a:ea typeface="Microsoft YaHei"/>
              </a:rPr>
              <a:t>附近店铺</a:t>
            </a:r>
            <a:endParaRPr b="0" i="0" dirty="0">
              <a:solidFill>
                <a:srgbClr val="333333"/>
              </a:solidFill>
              <a:latin typeface="Microsoft YaHei"/>
              <a:ea typeface="Microsoft YaHei"/>
            </a:endParaRPr>
          </a:p>
        </p:txBody>
      </p:sp>
      <p:sp>
        <p:nvSpPr>
          <p:cNvPr id="41" name="Rectangle 40"/>
          <p:cNvSpPr/>
          <p:nvPr/>
        </p:nvSpPr>
        <p:spPr>
          <a:xfrm>
            <a:off x="365760" y="4114800"/>
            <a:ext cx="2194560" cy="685800"/>
          </a:xfrm>
          <a:prstGeom prst="rect">
            <a:avLst/>
          </a:prstGeom>
          <a:solidFill>
            <a:srgbClr val="FFFFFF"/>
          </a:solidFill>
          <a:ln w="6350">
            <a:solidFill>
              <a:srgbClr val="E5E5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502920" y="4303811"/>
            <a:ext cx="1920240" cy="30777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000" b="1" i="0" dirty="0" err="1">
                <a:solidFill>
                  <a:srgbClr val="333333"/>
                </a:solidFill>
                <a:latin typeface="Microsoft YaHei"/>
                <a:ea typeface="Microsoft YaHei"/>
              </a:rPr>
              <a:t>小众冷门动态</a:t>
            </a:r>
            <a:endParaRPr sz="2000" b="1" i="0" dirty="0">
              <a:solidFill>
                <a:srgbClr val="333333"/>
              </a:solidFill>
              <a:latin typeface="Microsoft YaHei"/>
              <a:ea typeface="Microsoft YaHei"/>
            </a:endParaRPr>
          </a:p>
        </p:txBody>
      </p:sp>
      <p:sp>
        <p:nvSpPr>
          <p:cNvPr id="43" name="Rectangle 42"/>
          <p:cNvSpPr/>
          <p:nvPr/>
        </p:nvSpPr>
        <p:spPr>
          <a:xfrm>
            <a:off x="2560320" y="4114800"/>
            <a:ext cx="2194560" cy="685800"/>
          </a:xfrm>
          <a:prstGeom prst="rect">
            <a:avLst/>
          </a:prstGeom>
          <a:solidFill>
            <a:srgbClr val="FFFFFF"/>
          </a:solidFill>
          <a:ln w="6350">
            <a:solidFill>
              <a:srgbClr val="E5E5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2697480" y="4319200"/>
            <a:ext cx="1920240" cy="27699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b="0" i="0" dirty="0" err="1">
                <a:solidFill>
                  <a:srgbClr val="333333"/>
                </a:solidFill>
                <a:latin typeface="Microsoft YaHei"/>
                <a:ea typeface="Microsoft YaHei"/>
              </a:rPr>
              <a:t>外部检索增强</a:t>
            </a:r>
            <a:endParaRPr b="0" i="0" dirty="0">
              <a:solidFill>
                <a:srgbClr val="333333"/>
              </a:solidFill>
              <a:latin typeface="Microsoft YaHei"/>
              <a:ea typeface="Microsoft YaHei"/>
            </a:endParaRPr>
          </a:p>
        </p:txBody>
      </p:sp>
      <p:sp>
        <p:nvSpPr>
          <p:cNvPr id="45" name="Rectangle 44"/>
          <p:cNvSpPr/>
          <p:nvPr/>
        </p:nvSpPr>
        <p:spPr>
          <a:xfrm>
            <a:off x="4754880" y="4114800"/>
            <a:ext cx="3291840" cy="685800"/>
          </a:xfrm>
          <a:prstGeom prst="rect">
            <a:avLst/>
          </a:prstGeom>
          <a:solidFill>
            <a:srgbClr val="FFFFFF"/>
          </a:solidFill>
          <a:ln w="6350">
            <a:solidFill>
              <a:srgbClr val="E5E5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4892040" y="4319200"/>
            <a:ext cx="3017520" cy="27699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b="0" i="0" dirty="0" err="1">
                <a:solidFill>
                  <a:srgbClr val="333333"/>
                </a:solidFill>
                <a:latin typeface="Microsoft YaHei"/>
                <a:ea typeface="Microsoft YaHei"/>
              </a:rPr>
              <a:t>查阅官方通告与垂类源</a:t>
            </a:r>
            <a:endParaRPr b="0" i="0" dirty="0">
              <a:solidFill>
                <a:srgbClr val="333333"/>
              </a:solidFill>
              <a:latin typeface="Microsoft YaHei"/>
              <a:ea typeface="Microsoft YaHei"/>
            </a:endParaRPr>
          </a:p>
        </p:txBody>
      </p:sp>
      <p:sp>
        <p:nvSpPr>
          <p:cNvPr id="47" name="Rectangle 46"/>
          <p:cNvSpPr/>
          <p:nvPr/>
        </p:nvSpPr>
        <p:spPr>
          <a:xfrm>
            <a:off x="8046720" y="4114800"/>
            <a:ext cx="3749039" cy="685800"/>
          </a:xfrm>
          <a:prstGeom prst="rect">
            <a:avLst/>
          </a:prstGeom>
          <a:solidFill>
            <a:srgbClr val="FFFFFF"/>
          </a:solidFill>
          <a:ln w="6350">
            <a:solidFill>
              <a:srgbClr val="E5E5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8183880" y="4319200"/>
            <a:ext cx="3474719" cy="27699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b="0" i="0" dirty="0" err="1">
                <a:solidFill>
                  <a:srgbClr val="333333"/>
                </a:solidFill>
                <a:latin typeface="Microsoft YaHei"/>
                <a:ea typeface="Microsoft YaHei"/>
              </a:rPr>
              <a:t>贵州村超本周赛程</a:t>
            </a:r>
            <a:r>
              <a:rPr b="0" i="0" dirty="0">
                <a:solidFill>
                  <a:srgbClr val="333333"/>
                </a:solidFill>
                <a:latin typeface="Microsoft YaHei"/>
                <a:ea typeface="Microsoft YaHei"/>
              </a:rPr>
              <a:t> / </a:t>
            </a:r>
            <a:r>
              <a:rPr b="0" i="0" dirty="0" err="1">
                <a:solidFill>
                  <a:srgbClr val="333333"/>
                </a:solidFill>
                <a:latin typeface="Microsoft YaHei"/>
                <a:ea typeface="Microsoft YaHei"/>
              </a:rPr>
              <a:t>小众活动</a:t>
            </a:r>
            <a:endParaRPr b="0" i="0" dirty="0">
              <a:solidFill>
                <a:srgbClr val="333333"/>
              </a:solidFill>
              <a:latin typeface="Microsoft YaHei"/>
              <a:ea typeface="Microsoft YaHei"/>
            </a:endParaRPr>
          </a:p>
        </p:txBody>
      </p:sp>
      <p:sp>
        <p:nvSpPr>
          <p:cNvPr id="49" name="Rectangle 48"/>
          <p:cNvSpPr/>
          <p:nvPr/>
        </p:nvSpPr>
        <p:spPr>
          <a:xfrm>
            <a:off x="365760" y="4800600"/>
            <a:ext cx="2194560" cy="685800"/>
          </a:xfrm>
          <a:prstGeom prst="rect">
            <a:avLst/>
          </a:prstGeom>
          <a:solidFill>
            <a:srgbClr val="E6F2FC"/>
          </a:solidFill>
          <a:ln w="6350">
            <a:solidFill>
              <a:srgbClr val="E5E5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502920" y="4989611"/>
            <a:ext cx="1920240" cy="30777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000" b="1" i="0" dirty="0" err="1">
                <a:solidFill>
                  <a:srgbClr val="333333"/>
                </a:solidFill>
                <a:latin typeface="Microsoft YaHei"/>
                <a:ea typeface="Microsoft YaHei"/>
              </a:rPr>
              <a:t>专有内部数据</a:t>
            </a:r>
            <a:endParaRPr sz="2000" b="1" i="0" dirty="0">
              <a:solidFill>
                <a:srgbClr val="333333"/>
              </a:solidFill>
              <a:latin typeface="Microsoft YaHei"/>
              <a:ea typeface="Microsoft YaHei"/>
            </a:endParaRPr>
          </a:p>
        </p:txBody>
      </p:sp>
      <p:sp>
        <p:nvSpPr>
          <p:cNvPr id="51" name="Rectangle 50"/>
          <p:cNvSpPr/>
          <p:nvPr/>
        </p:nvSpPr>
        <p:spPr>
          <a:xfrm>
            <a:off x="2560320" y="4800600"/>
            <a:ext cx="2194560" cy="685800"/>
          </a:xfrm>
          <a:prstGeom prst="rect">
            <a:avLst/>
          </a:prstGeom>
          <a:solidFill>
            <a:srgbClr val="E6F2FC"/>
          </a:solidFill>
          <a:ln w="6350">
            <a:solidFill>
              <a:srgbClr val="E5E5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2697480" y="5005000"/>
            <a:ext cx="1920240" cy="27699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b="0" i="0" dirty="0" err="1">
                <a:solidFill>
                  <a:srgbClr val="333333"/>
                </a:solidFill>
                <a:latin typeface="Microsoft YaHei"/>
                <a:ea typeface="Microsoft YaHei"/>
              </a:rPr>
              <a:t>需提供授权资料</a:t>
            </a:r>
            <a:endParaRPr b="0" i="0" dirty="0">
              <a:solidFill>
                <a:srgbClr val="333333"/>
              </a:solidFill>
              <a:latin typeface="Microsoft YaHei"/>
              <a:ea typeface="Microsoft YaHei"/>
            </a:endParaRPr>
          </a:p>
        </p:txBody>
      </p:sp>
      <p:sp>
        <p:nvSpPr>
          <p:cNvPr id="53" name="Rectangle 52"/>
          <p:cNvSpPr/>
          <p:nvPr/>
        </p:nvSpPr>
        <p:spPr>
          <a:xfrm>
            <a:off x="4754880" y="4800600"/>
            <a:ext cx="3291840" cy="685800"/>
          </a:xfrm>
          <a:prstGeom prst="rect">
            <a:avLst/>
          </a:prstGeom>
          <a:solidFill>
            <a:srgbClr val="E6F2FC"/>
          </a:solidFill>
          <a:ln w="6350">
            <a:solidFill>
              <a:srgbClr val="E5E5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4892040" y="5005000"/>
            <a:ext cx="3017520" cy="27699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b="0" i="0" dirty="0" err="1">
                <a:solidFill>
                  <a:srgbClr val="333333"/>
                </a:solidFill>
                <a:latin typeface="Microsoft YaHei"/>
                <a:ea typeface="Microsoft YaHei"/>
              </a:rPr>
              <a:t>经授权上传文档</a:t>
            </a:r>
            <a:r>
              <a:rPr b="0" i="0" dirty="0">
                <a:solidFill>
                  <a:srgbClr val="333333"/>
                </a:solidFill>
                <a:latin typeface="Microsoft YaHei"/>
                <a:ea typeface="Microsoft YaHei"/>
              </a:rPr>
              <a:t>或接入知识库</a:t>
            </a:r>
          </a:p>
        </p:txBody>
      </p:sp>
      <p:sp>
        <p:nvSpPr>
          <p:cNvPr id="55" name="Rectangle 54"/>
          <p:cNvSpPr/>
          <p:nvPr/>
        </p:nvSpPr>
        <p:spPr>
          <a:xfrm>
            <a:off x="8046720" y="4800600"/>
            <a:ext cx="3749039" cy="685800"/>
          </a:xfrm>
          <a:prstGeom prst="rect">
            <a:avLst/>
          </a:prstGeom>
          <a:solidFill>
            <a:srgbClr val="E6F2FC"/>
          </a:solidFill>
          <a:ln w="6350">
            <a:solidFill>
              <a:srgbClr val="E5E5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8183880" y="5005000"/>
            <a:ext cx="3474719" cy="27699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b="0" i="0" dirty="0" err="1">
                <a:solidFill>
                  <a:srgbClr val="333333"/>
                </a:solidFill>
                <a:latin typeface="Microsoft YaHei"/>
                <a:ea typeface="Microsoft YaHei"/>
              </a:rPr>
              <a:t>课题组未发表数据</a:t>
            </a:r>
            <a:r>
              <a:rPr b="0" i="0" dirty="0">
                <a:solidFill>
                  <a:srgbClr val="333333"/>
                </a:solidFill>
                <a:latin typeface="Microsoft YaHei"/>
                <a:ea typeface="Microsoft YaHei"/>
              </a:rPr>
              <a:t> / </a:t>
            </a:r>
            <a:r>
              <a:rPr b="0" i="0" dirty="0" err="1">
                <a:solidFill>
                  <a:srgbClr val="333333"/>
                </a:solidFill>
                <a:latin typeface="Microsoft YaHei"/>
                <a:ea typeface="Microsoft YaHei"/>
              </a:rPr>
              <a:t>内部文档</a:t>
            </a:r>
            <a:endParaRPr b="0" i="0" dirty="0">
              <a:solidFill>
                <a:srgbClr val="333333"/>
              </a:solidFill>
              <a:latin typeface="Microsoft YaHei"/>
              <a:ea typeface="Microsoft YaHei"/>
            </a:endParaRPr>
          </a:p>
        </p:txBody>
      </p:sp>
      <p:sp>
        <p:nvSpPr>
          <p:cNvPr id="57" name="TextBox 56"/>
          <p:cNvSpPr txBox="1"/>
          <p:nvPr/>
        </p:nvSpPr>
        <p:spPr>
          <a:xfrm>
            <a:off x="11094415" y="6446520"/>
            <a:ext cx="914400" cy="320040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pPr algn="r"/>
            <a:r>
              <a:rPr sz="1100">
                <a:solidFill>
                  <a:srgbClr val="999999"/>
                </a:solidFill>
                <a:latin typeface="Arial"/>
              </a:rPr>
              <a:t>31 / 50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yzu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17175" y="246888"/>
            <a:ext cx="1691640" cy="54864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274320"/>
            <a:ext cx="960120" cy="502920"/>
          </a:xfrm>
          <a:prstGeom prst="rect">
            <a:avLst/>
          </a:prstGeom>
          <a:solidFill>
            <a:srgbClr val="006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" y="341114"/>
            <a:ext cx="914400" cy="3693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400" b="1" i="0" dirty="0">
                <a:solidFill>
                  <a:srgbClr val="FFFFFF"/>
                </a:solidFill>
                <a:latin typeface="Microsoft YaHei"/>
                <a:ea typeface="Microsoft YaHei"/>
              </a:rPr>
              <a:t>2.3.2</a:t>
            </a:r>
          </a:p>
        </p:txBody>
      </p:sp>
      <p:sp>
        <p:nvSpPr>
          <p:cNvPr id="6" name="Rectangle 5"/>
          <p:cNvSpPr/>
          <p:nvPr/>
        </p:nvSpPr>
        <p:spPr>
          <a:xfrm>
            <a:off x="960120" y="274320"/>
            <a:ext cx="9052560" cy="502920"/>
          </a:xfrm>
          <a:prstGeom prst="rect">
            <a:avLst/>
          </a:prstGeom>
          <a:solidFill>
            <a:srgbClr val="3A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234440" y="341114"/>
            <a:ext cx="8686800" cy="3693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400" b="1" i="0" dirty="0" err="1">
                <a:solidFill>
                  <a:srgbClr val="FFFFFF"/>
                </a:solidFill>
                <a:latin typeface="Microsoft YaHei"/>
                <a:ea typeface="Microsoft YaHei"/>
              </a:rPr>
              <a:t>如何使用联网检索？</a:t>
            </a:r>
            <a:endParaRPr sz="2400" b="1" i="0" dirty="0">
              <a:solidFill>
                <a:srgbClr val="FFFFFF"/>
              </a:solidFill>
              <a:latin typeface="Microsoft YaHei"/>
              <a:ea typeface="Microsoft YaHei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761695" y="1109968"/>
            <a:ext cx="11247120" cy="5004181"/>
          </a:xfrm>
          <a:prstGeom prst="rect">
            <a:avLst/>
          </a:prstGeom>
          <a:noFill/>
        </p:spPr>
        <p:txBody>
          <a:bodyPr wrap="square" lIns="36000" tIns="36000" rIns="36000" bIns="36000" anchor="t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2600" b="1" dirty="0" err="1">
                <a:solidFill>
                  <a:srgbClr val="0066CC"/>
                </a:solidFill>
                <a:latin typeface="Microsoft YaHei"/>
                <a:ea typeface="Microsoft YaHei"/>
              </a:rPr>
              <a:t>具备联网功能的产品，通常有以下使用方式</a:t>
            </a:r>
            <a:r>
              <a:rPr sz="2600" b="1" dirty="0">
                <a:solidFill>
                  <a:srgbClr val="0066CC"/>
                </a:solidFill>
                <a:latin typeface="Microsoft YaHei"/>
                <a:ea typeface="Microsoft YaHei"/>
              </a:rPr>
              <a:t>：</a:t>
            </a:r>
          </a:p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2400" b="1" dirty="0">
                <a:solidFill>
                  <a:srgbClr val="004CA0"/>
                </a:solidFill>
                <a:latin typeface="Microsoft YaHei"/>
                <a:ea typeface="Microsoft YaHei"/>
              </a:rPr>
              <a:t>①</a:t>
            </a:r>
            <a:r>
              <a:rPr sz="2400" b="1" dirty="0" err="1">
                <a:solidFill>
                  <a:srgbClr val="004CA0"/>
                </a:solidFill>
                <a:latin typeface="Microsoft YaHei"/>
                <a:ea typeface="Microsoft YaHei"/>
              </a:rPr>
              <a:t> 系</a:t>
            </a:r>
            <a:r>
              <a:rPr sz="2400" b="1" dirty="0">
                <a:solidFill>
                  <a:srgbClr val="004CA0"/>
                </a:solidFill>
                <a:latin typeface="Microsoft YaHei"/>
                <a:ea typeface="Microsoft YaHei"/>
              </a:rPr>
              <a:t>统</a:t>
            </a:r>
            <a:r>
              <a:rPr sz="2200" b="1" dirty="0">
                <a:solidFill>
                  <a:srgbClr val="004CA0"/>
                </a:solidFill>
                <a:latin typeface="Arial"/>
                <a:ea typeface="Arial"/>
              </a:rPr>
              <a:t>自动选择搜索</a:t>
            </a:r>
          </a:p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2200" b="0" dirty="0" err="1">
                <a:solidFill>
                  <a:srgbClr val="333333"/>
                </a:solidFill>
                <a:latin typeface="Microsoft YaHei"/>
                <a:ea typeface="Microsoft YaHei"/>
              </a:rPr>
              <a:t>系统可能根据时效性需求</a:t>
            </a:r>
            <a:r>
              <a:rPr sz="2200" b="0" dirty="0">
                <a:solidFill>
                  <a:srgbClr val="333333"/>
                </a:solidFill>
                <a:latin typeface="Microsoft YaHei"/>
                <a:ea typeface="Microsoft YaHei"/>
              </a:rPr>
              <a:t>调用搜</a:t>
            </a:r>
            <a:r>
              <a:rPr sz="2200" b="0" dirty="0" err="1">
                <a:solidFill>
                  <a:srgbClr val="333333"/>
                </a:solidFill>
                <a:latin typeface="Microsoft YaHei"/>
                <a:ea typeface="Microsoft YaHei"/>
              </a:rPr>
              <a:t>索，例如问题中包含</a:t>
            </a:r>
            <a:r>
              <a:rPr sz="2200" b="0" dirty="0">
                <a:solidFill>
                  <a:srgbClr val="333333"/>
                </a:solidFill>
                <a:latin typeface="Microsoft YaHei"/>
                <a:ea typeface="Microsoft YaHei"/>
              </a:rPr>
              <a:t>：</a:t>
            </a:r>
          </a:p>
          <a:p>
            <a:pPr algn="l">
              <a:lnSpc>
                <a:spcPct val="110000"/>
              </a:lnSpc>
              <a:spcAft>
                <a:spcPts val="300"/>
              </a:spcAft>
            </a:pPr>
            <a:endParaRPr sz="2000" b="0" dirty="0">
              <a:solidFill>
                <a:srgbClr val="333333"/>
              </a:solidFill>
              <a:latin typeface="Microsoft YaHei"/>
              <a:ea typeface="Microsoft YaHei"/>
            </a:endParaRPr>
          </a:p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2000" b="1" dirty="0">
                <a:solidFill>
                  <a:srgbClr val="0066CC"/>
                </a:solidFill>
                <a:latin typeface="Consolas"/>
                <a:ea typeface="Consolas"/>
              </a:rPr>
              <a:t>        </a:t>
            </a:r>
            <a:r>
              <a:rPr sz="2400" b="1" dirty="0">
                <a:solidFill>
                  <a:srgbClr val="0066CC"/>
                </a:solidFill>
                <a:latin typeface="Consolas"/>
                <a:ea typeface="Consolas"/>
              </a:rPr>
              <a:t>"</a:t>
            </a:r>
            <a:r>
              <a:rPr sz="2400" b="1" dirty="0" err="1">
                <a:solidFill>
                  <a:srgbClr val="0066CC"/>
                </a:solidFill>
                <a:latin typeface="Consolas"/>
                <a:ea typeface="Consolas"/>
              </a:rPr>
              <a:t>最新</a:t>
            </a:r>
            <a:r>
              <a:rPr sz="2400" b="1" dirty="0">
                <a:solidFill>
                  <a:srgbClr val="0066CC"/>
                </a:solidFill>
                <a:latin typeface="Consolas"/>
                <a:ea typeface="Consolas"/>
              </a:rPr>
              <a:t>" · "2026 年" · "</a:t>
            </a:r>
            <a:r>
              <a:rPr sz="2400" b="1" dirty="0" err="1">
                <a:solidFill>
                  <a:srgbClr val="0066CC"/>
                </a:solidFill>
                <a:latin typeface="Consolas"/>
                <a:ea typeface="Consolas"/>
              </a:rPr>
              <a:t>今天</a:t>
            </a:r>
            <a:r>
              <a:rPr sz="2400" b="1" dirty="0">
                <a:solidFill>
                  <a:srgbClr val="0066CC"/>
                </a:solidFill>
                <a:latin typeface="Consolas"/>
                <a:ea typeface="Consolas"/>
              </a:rPr>
              <a:t>" · "</a:t>
            </a:r>
            <a:r>
              <a:rPr sz="2400" b="1" dirty="0" err="1">
                <a:solidFill>
                  <a:srgbClr val="0066CC"/>
                </a:solidFill>
                <a:latin typeface="Consolas"/>
                <a:ea typeface="Consolas"/>
              </a:rPr>
              <a:t>附近</a:t>
            </a:r>
            <a:r>
              <a:rPr sz="2400" b="1" dirty="0">
                <a:solidFill>
                  <a:srgbClr val="0066CC"/>
                </a:solidFill>
                <a:latin typeface="Consolas"/>
                <a:ea typeface="Consolas"/>
              </a:rPr>
              <a:t>" · "</a:t>
            </a:r>
            <a:r>
              <a:rPr sz="2400" b="1" dirty="0" err="1">
                <a:solidFill>
                  <a:srgbClr val="0066CC"/>
                </a:solidFill>
                <a:latin typeface="Consolas"/>
                <a:ea typeface="Consolas"/>
              </a:rPr>
              <a:t>刚刚</a:t>
            </a:r>
            <a:r>
              <a:rPr sz="2400" b="1" dirty="0">
                <a:solidFill>
                  <a:srgbClr val="0066CC"/>
                </a:solidFill>
                <a:latin typeface="Consolas"/>
                <a:ea typeface="Consolas"/>
              </a:rPr>
              <a:t>"</a:t>
            </a:r>
          </a:p>
          <a:p>
            <a:pPr algn="l">
              <a:lnSpc>
                <a:spcPct val="110000"/>
              </a:lnSpc>
              <a:spcAft>
                <a:spcPts val="300"/>
              </a:spcAft>
            </a:pPr>
            <a:endParaRPr sz="2000" b="1" dirty="0">
              <a:solidFill>
                <a:srgbClr val="0066CC"/>
              </a:solidFill>
              <a:latin typeface="Consolas"/>
              <a:ea typeface="Consolas"/>
            </a:endParaRPr>
          </a:p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2400" b="1" dirty="0">
                <a:solidFill>
                  <a:srgbClr val="004CA0"/>
                </a:solidFill>
                <a:latin typeface="Microsoft YaHei"/>
                <a:ea typeface="Microsoft YaHei"/>
              </a:rPr>
              <a:t>②</a:t>
            </a:r>
            <a:r>
              <a:rPr sz="2400" b="1" dirty="0" err="1">
                <a:solidFill>
                  <a:srgbClr val="004CA0"/>
                </a:solidFill>
                <a:latin typeface="Microsoft YaHei"/>
                <a:ea typeface="Microsoft YaHei"/>
              </a:rPr>
              <a:t> 用</a:t>
            </a:r>
            <a:r>
              <a:rPr sz="2200" b="1" dirty="0">
                <a:solidFill>
                  <a:srgbClr val="004CA0"/>
                </a:solidFill>
                <a:latin typeface="Arial"/>
                <a:ea typeface="Arial"/>
              </a:rPr>
              <a:t>户明确要求搜索</a:t>
            </a:r>
          </a:p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2200" b="0" dirty="0" err="1">
                <a:solidFill>
                  <a:srgbClr val="333333"/>
                </a:solidFill>
                <a:latin typeface="Microsoft YaHei"/>
                <a:ea typeface="Microsoft YaHei"/>
              </a:rPr>
              <a:t>可在提示词中说明检索需求，并要</a:t>
            </a:r>
            <a:r>
              <a:rPr sz="2200" b="0" dirty="0">
                <a:solidFill>
                  <a:srgbClr val="333333"/>
                </a:solidFill>
                <a:latin typeface="Microsoft YaHei"/>
                <a:ea typeface="Microsoft YaHei"/>
              </a:rPr>
              <a:t>求给出</a:t>
            </a:r>
            <a:r>
              <a:rPr sz="2200" b="0" dirty="0" err="1">
                <a:solidFill>
                  <a:srgbClr val="333333"/>
                </a:solidFill>
                <a:latin typeface="Microsoft YaHei"/>
                <a:ea typeface="Microsoft YaHei"/>
              </a:rPr>
              <a:t>来源与日期</a:t>
            </a:r>
            <a:r>
              <a:rPr sz="2200" b="0" dirty="0">
                <a:solidFill>
                  <a:srgbClr val="333333"/>
                </a:solidFill>
                <a:latin typeface="Microsoft YaHei"/>
                <a:ea typeface="Microsoft YaHei"/>
              </a:rPr>
              <a:t>：</a:t>
            </a:r>
          </a:p>
          <a:p>
            <a:pPr algn="l">
              <a:lnSpc>
                <a:spcPct val="110000"/>
              </a:lnSpc>
              <a:spcAft>
                <a:spcPts val="300"/>
              </a:spcAft>
            </a:pPr>
            <a:endParaRPr sz="2000" b="0" dirty="0">
              <a:solidFill>
                <a:srgbClr val="333333"/>
              </a:solidFill>
              <a:latin typeface="Microsoft YaHei"/>
              <a:ea typeface="Microsoft YaHei"/>
            </a:endParaRPr>
          </a:p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800" b="1" dirty="0">
                <a:solidFill>
                  <a:srgbClr val="0066CC"/>
                </a:solidFill>
                <a:latin typeface="Consolas"/>
                <a:ea typeface="Consolas"/>
              </a:rPr>
              <a:t>        </a:t>
            </a:r>
            <a:r>
              <a:rPr sz="2400" b="1" dirty="0">
                <a:solidFill>
                  <a:srgbClr val="0066CC"/>
                </a:solidFill>
                <a:latin typeface="Consolas"/>
                <a:ea typeface="Consolas"/>
              </a:rPr>
              <a:t>"</a:t>
            </a:r>
            <a:r>
              <a:rPr sz="2400" b="1" dirty="0" err="1">
                <a:solidFill>
                  <a:srgbClr val="0066CC"/>
                </a:solidFill>
                <a:latin typeface="Consolas"/>
                <a:ea typeface="Consolas"/>
              </a:rPr>
              <a:t>请务必先进行联网搜索，再告诉我这项技术的最新进展</a:t>
            </a:r>
            <a:r>
              <a:rPr sz="2400" b="1" dirty="0">
                <a:solidFill>
                  <a:srgbClr val="0066CC"/>
                </a:solidFill>
                <a:latin typeface="Consolas"/>
                <a:ea typeface="Consolas"/>
              </a:rPr>
              <a:t>。"</a:t>
            </a:r>
          </a:p>
          <a:p>
            <a:pPr algn="l">
              <a:lnSpc>
                <a:spcPct val="110000"/>
              </a:lnSpc>
              <a:spcAft>
                <a:spcPts val="300"/>
              </a:spcAft>
            </a:pPr>
            <a:endParaRPr sz="1800" b="1" dirty="0">
              <a:solidFill>
                <a:srgbClr val="0066CC"/>
              </a:solidFill>
              <a:latin typeface="Consolas"/>
              <a:ea typeface="Consolas"/>
            </a:endParaRPr>
          </a:p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2400" b="1" dirty="0" err="1">
                <a:solidFill>
                  <a:srgbClr val="004CA0"/>
                </a:solidFill>
                <a:latin typeface="Microsoft YaHei"/>
                <a:ea typeface="Microsoft YaHei"/>
              </a:rPr>
              <a:t>也可使用界面中的搜索入</a:t>
            </a:r>
            <a:r>
              <a:rPr sz="2400" b="1" dirty="0">
                <a:solidFill>
                  <a:srgbClr val="004CA0"/>
                </a:solidFill>
                <a:latin typeface="Microsoft YaHei"/>
                <a:ea typeface="Microsoft YaHei"/>
              </a:rPr>
              <a:t>口</a:t>
            </a:r>
            <a:r>
              <a:rPr sz="2400" b="1" dirty="0">
                <a:solidFill>
                  <a:srgbClr val="004CA0"/>
                </a:solidFill>
                <a:latin typeface="Microsoft YaHei"/>
                <a:ea typeface="Microsoft YaHei"/>
              </a:rPr>
              <a:t>，</a:t>
            </a:r>
            <a:r>
              <a:rPr sz="2400" b="1" dirty="0" err="1">
                <a:solidFill>
                  <a:srgbClr val="004CA0"/>
                </a:solidFill>
                <a:latin typeface="Microsoft YaHei"/>
                <a:ea typeface="Microsoft YaHei"/>
              </a:rPr>
              <a:t>具体功能</a:t>
            </a:r>
            <a:r>
              <a:rPr sz="2400" b="1" dirty="0">
                <a:solidFill>
                  <a:srgbClr val="004CA0"/>
                </a:solidFill>
                <a:latin typeface="Microsoft YaHei"/>
                <a:ea typeface="Microsoft YaHei"/>
              </a:rPr>
              <a:t>取</a:t>
            </a:r>
            <a:r>
              <a:rPr sz="2400" b="1" dirty="0" err="1">
                <a:solidFill>
                  <a:srgbClr val="004CA0"/>
                </a:solidFill>
                <a:latin typeface="Microsoft YaHei"/>
                <a:ea typeface="Microsoft YaHei"/>
              </a:rPr>
              <a:t>决于产</a:t>
            </a:r>
            <a:r>
              <a:rPr sz="2400" b="1" dirty="0">
                <a:solidFill>
                  <a:srgbClr val="004CA0"/>
                </a:solidFill>
                <a:latin typeface="Microsoft YaHei"/>
                <a:ea typeface="Microsoft YaHei"/>
              </a:rPr>
              <a:t>品和</a:t>
            </a:r>
            <a:r>
              <a:rPr sz="2400" b="1" dirty="0" err="1">
                <a:solidFill>
                  <a:srgbClr val="004CA0"/>
                </a:solidFill>
                <a:latin typeface="Microsoft YaHei"/>
                <a:ea typeface="Microsoft YaHei"/>
              </a:rPr>
              <a:t>设置</a:t>
            </a:r>
            <a:r>
              <a:rPr sz="2400" b="1" dirty="0">
                <a:solidFill>
                  <a:srgbClr val="004CA0"/>
                </a:solidFill>
                <a:latin typeface="Microsoft YaHei"/>
                <a:ea typeface="Microsoft YaHei"/>
              </a:rPr>
              <a:t>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94415" y="6446520"/>
            <a:ext cx="914400" cy="320040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pPr algn="r"/>
            <a:r>
              <a:rPr sz="1100">
                <a:solidFill>
                  <a:srgbClr val="999999"/>
                </a:solidFill>
                <a:latin typeface="Arial"/>
              </a:rPr>
              <a:t>32 / 50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yzu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17175" y="246888"/>
            <a:ext cx="1691640" cy="54864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274320"/>
            <a:ext cx="960120" cy="502920"/>
          </a:xfrm>
          <a:prstGeom prst="rect">
            <a:avLst/>
          </a:prstGeom>
          <a:solidFill>
            <a:srgbClr val="006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" y="341114"/>
            <a:ext cx="914400" cy="3693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400" b="1" i="0" dirty="0">
                <a:solidFill>
                  <a:srgbClr val="FFFFFF"/>
                </a:solidFill>
                <a:latin typeface="Microsoft YaHei"/>
                <a:ea typeface="Microsoft YaHei"/>
              </a:rPr>
              <a:t>2.3.3</a:t>
            </a:r>
          </a:p>
        </p:txBody>
      </p:sp>
      <p:sp>
        <p:nvSpPr>
          <p:cNvPr id="6" name="Rectangle 5"/>
          <p:cNvSpPr/>
          <p:nvPr/>
        </p:nvSpPr>
        <p:spPr>
          <a:xfrm>
            <a:off x="960120" y="274320"/>
            <a:ext cx="9052560" cy="502920"/>
          </a:xfrm>
          <a:prstGeom prst="rect">
            <a:avLst/>
          </a:prstGeom>
          <a:solidFill>
            <a:srgbClr val="3A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234440" y="341114"/>
            <a:ext cx="8686800" cy="3693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400" b="1" i="0" dirty="0" err="1">
                <a:solidFill>
                  <a:srgbClr val="FFFFFF"/>
                </a:solidFill>
                <a:latin typeface="Microsoft YaHei"/>
                <a:ea typeface="Microsoft YaHei"/>
              </a:rPr>
              <a:t>联网</a:t>
            </a:r>
            <a:r>
              <a:rPr sz="2400" b="1" i="0" dirty="0">
                <a:solidFill>
                  <a:srgbClr val="FFFFFF"/>
                </a:solidFill>
                <a:latin typeface="Microsoft YaHei"/>
                <a:ea typeface="Microsoft YaHei"/>
              </a:rPr>
              <a:t>结</a:t>
            </a:r>
            <a:r>
              <a:rPr sz="2400" b="1" i="0" dirty="0" err="1">
                <a:solidFill>
                  <a:srgbClr val="FFFFFF"/>
                </a:solidFill>
                <a:latin typeface="Microsoft YaHei"/>
                <a:ea typeface="Microsoft YaHei"/>
              </a:rPr>
              <a:t>果仍</a:t>
            </a:r>
            <a:r>
              <a:rPr sz="2400" b="1" i="0" dirty="0">
                <a:solidFill>
                  <a:srgbClr val="FFFFFF"/>
                </a:solidFill>
                <a:latin typeface="Microsoft YaHei"/>
                <a:ea typeface="Microsoft YaHei"/>
              </a:rPr>
              <a:t>需</a:t>
            </a:r>
            <a:r>
              <a:rPr sz="2400" b="1" i="0" dirty="0" err="1">
                <a:solidFill>
                  <a:srgbClr val="FFFFFF"/>
                </a:solidFill>
                <a:latin typeface="Microsoft YaHei"/>
                <a:ea typeface="Microsoft YaHei"/>
              </a:rPr>
              <a:t>核验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914400"/>
            <a:ext cx="10789920" cy="4824773"/>
          </a:xfrm>
          <a:prstGeom prst="rect">
            <a:avLst/>
          </a:prstGeom>
          <a:noFill/>
        </p:spPr>
        <p:txBody>
          <a:bodyPr wrap="square" lIns="36000" tIns="36000" rIns="36000" bIns="36000" anchor="t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2400" b="1" dirty="0" err="1">
                <a:solidFill>
                  <a:srgbClr val="0066CC"/>
                </a:solidFill>
                <a:latin typeface="Microsoft YaHei"/>
                <a:ea typeface="Microsoft YaHei"/>
              </a:rPr>
              <a:t>联网检索</a:t>
            </a:r>
            <a:r>
              <a:rPr sz="2400" b="1" dirty="0">
                <a:solidFill>
                  <a:srgbClr val="0066CC"/>
                </a:solidFill>
                <a:latin typeface="Microsoft YaHei"/>
                <a:ea typeface="Microsoft YaHei"/>
              </a:rPr>
              <a:t>为回答提供</a:t>
            </a:r>
            <a:r>
              <a:rPr sz="2400" b="1" dirty="0" err="1">
                <a:solidFill>
                  <a:srgbClr val="0066CC"/>
                </a:solidFill>
                <a:latin typeface="Microsoft YaHei"/>
                <a:ea typeface="Microsoft YaHei"/>
              </a:rPr>
              <a:t>外部信息</a:t>
            </a:r>
            <a:r>
              <a:rPr sz="2400" b="1" dirty="0">
                <a:solidFill>
                  <a:srgbClr val="0066CC"/>
                </a:solidFill>
                <a:latin typeface="Microsoft YaHei"/>
                <a:ea typeface="Microsoft YaHei"/>
              </a:rPr>
              <a:t>。</a:t>
            </a:r>
          </a:p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2200" b="0" dirty="0">
                <a:solidFill>
                  <a:srgbClr val="333333"/>
                </a:solidFill>
                <a:latin typeface="Microsoft YaHei"/>
                <a:ea typeface="Microsoft YaHei"/>
              </a:rPr>
              <a:t>它有</a:t>
            </a:r>
            <a:r>
              <a:rPr sz="2200" b="0" dirty="0" err="1">
                <a:solidFill>
                  <a:srgbClr val="333333"/>
                </a:solidFill>
                <a:latin typeface="Microsoft YaHei"/>
                <a:ea typeface="Microsoft YaHei"/>
              </a:rPr>
              <a:t>助于补充知识，但不能保证内容最新或准确</a:t>
            </a:r>
            <a:r>
              <a:rPr sz="2200" b="0" dirty="0">
                <a:solidFill>
                  <a:srgbClr val="333333"/>
                </a:solidFill>
                <a:latin typeface="Microsoft YaHei"/>
                <a:ea typeface="Microsoft YaHei"/>
              </a:rPr>
              <a:t>。</a:t>
            </a:r>
          </a:p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2400" b="1" dirty="0" err="1">
                <a:solidFill>
                  <a:srgbClr val="004CA0"/>
                </a:solidFill>
                <a:latin typeface="Microsoft YaHei"/>
                <a:ea typeface="Microsoft YaHei"/>
              </a:rPr>
              <a:t>使用检索结果时，应注意</a:t>
            </a:r>
            <a:r>
              <a:rPr sz="2400" b="1" dirty="0">
                <a:solidFill>
                  <a:srgbClr val="004CA0"/>
                </a:solidFill>
                <a:latin typeface="Microsoft YaHei"/>
                <a:ea typeface="Microsoft YaHei"/>
              </a:rPr>
              <a:t>：</a:t>
            </a:r>
          </a:p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2400" b="1" dirty="0">
                <a:solidFill>
                  <a:srgbClr val="004CA0"/>
                </a:solidFill>
                <a:latin typeface="Microsoft YaHei"/>
                <a:ea typeface="Microsoft YaHei"/>
              </a:rPr>
              <a:t>搜</a:t>
            </a:r>
            <a:r>
              <a:rPr sz="2400" b="1" dirty="0" err="1">
                <a:solidFill>
                  <a:srgbClr val="004CA0"/>
                </a:solidFill>
                <a:latin typeface="Microsoft YaHei"/>
                <a:ea typeface="Microsoft YaHei"/>
              </a:rPr>
              <a:t>索结果</a:t>
            </a:r>
            <a:r>
              <a:rPr sz="2400" b="1" dirty="0">
                <a:solidFill>
                  <a:srgbClr val="004CA0"/>
                </a:solidFill>
                <a:latin typeface="Microsoft YaHei"/>
                <a:ea typeface="Microsoft YaHei"/>
              </a:rPr>
              <a:t>可</a:t>
            </a:r>
            <a:r>
              <a:rPr sz="2400" b="1" dirty="0" err="1">
                <a:solidFill>
                  <a:srgbClr val="004CA0"/>
                </a:solidFill>
                <a:latin typeface="Microsoft YaHei"/>
                <a:ea typeface="Microsoft YaHei"/>
              </a:rPr>
              <a:t>能包</a:t>
            </a:r>
            <a:r>
              <a:rPr sz="2400" b="1" dirty="0">
                <a:solidFill>
                  <a:srgbClr val="004CA0"/>
                </a:solidFill>
                <a:latin typeface="Microsoft YaHei"/>
                <a:ea typeface="Microsoft YaHei"/>
              </a:rPr>
              <a:t>含</a:t>
            </a:r>
          </a:p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2200" b="0" dirty="0">
                <a:solidFill>
                  <a:srgbClr val="333333"/>
                </a:solidFill>
                <a:latin typeface="Microsoft YaHei"/>
                <a:ea typeface="Microsoft YaHei"/>
              </a:rPr>
              <a:t>        </a:t>
            </a:r>
            <a:r>
              <a:rPr sz="2400" b="0" dirty="0" err="1">
                <a:solidFill>
                  <a:srgbClr val="333333"/>
                </a:solidFill>
                <a:latin typeface="Microsoft YaHei"/>
                <a:ea typeface="Microsoft YaHei"/>
              </a:rPr>
              <a:t>过时、错误或带有偏见的内容，</a:t>
            </a:r>
            <a:endParaRPr sz="2000" b="0" dirty="0">
              <a:solidFill>
                <a:srgbClr val="333333"/>
              </a:solidFill>
              <a:latin typeface="Microsoft YaHei"/>
              <a:ea typeface="Microsoft YaHei"/>
            </a:endParaRPr>
          </a:p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2200" b="0" dirty="0">
                <a:solidFill>
                  <a:srgbClr val="333333"/>
                </a:solidFill>
                <a:latin typeface="Microsoft YaHei"/>
                <a:ea typeface="Microsoft YaHei"/>
              </a:rPr>
              <a:t>       </a:t>
            </a:r>
            <a:r>
              <a:rPr sz="2400" b="1" dirty="0" err="1">
                <a:solidFill>
                  <a:srgbClr val="F58020"/>
                </a:solidFill>
                <a:latin typeface="Microsoft YaHei"/>
                <a:ea typeface="Microsoft YaHei"/>
              </a:rPr>
              <a:t> </a:t>
            </a:r>
            <a:r>
              <a:rPr sz="2400" dirty="0" err="1">
                <a:solidFill>
                  <a:srgbClr val="333333"/>
                </a:solidFill>
                <a:latin typeface="Microsoft YaHei"/>
                <a:ea typeface="Microsoft YaHei"/>
              </a:rPr>
              <a:t>也</a:t>
            </a:r>
            <a:r>
              <a:rPr sz="2400" dirty="0">
                <a:solidFill>
                  <a:srgbClr val="333333"/>
                </a:solidFill>
                <a:latin typeface="Microsoft YaHei"/>
                <a:ea typeface="Microsoft YaHei"/>
              </a:rPr>
              <a:t>可能</a:t>
            </a:r>
            <a:r>
              <a:rPr sz="2400" dirty="0" err="1">
                <a:solidFill>
                  <a:srgbClr val="333333"/>
                </a:solidFill>
                <a:latin typeface="Microsoft YaHei"/>
                <a:ea typeface="Microsoft YaHei"/>
              </a:rPr>
              <a:t>混入</a:t>
            </a:r>
            <a:r>
              <a:rPr sz="2400" dirty="0">
                <a:solidFill>
                  <a:srgbClr val="333333"/>
                </a:solidFill>
                <a:latin typeface="Microsoft YaHei"/>
                <a:ea typeface="Microsoft YaHei"/>
              </a:rPr>
              <a:t>广告</a:t>
            </a:r>
            <a:r>
              <a:rPr sz="2400" dirty="0" err="1">
                <a:solidFill>
                  <a:srgbClr val="333333"/>
                </a:solidFill>
                <a:latin typeface="Microsoft YaHei"/>
                <a:ea typeface="Microsoft YaHei"/>
              </a:rPr>
              <a:t>与未经核实的转述</a:t>
            </a:r>
            <a:r>
              <a:rPr sz="2400" dirty="0">
                <a:solidFill>
                  <a:srgbClr val="333333"/>
                </a:solidFill>
                <a:latin typeface="Microsoft YaHei"/>
                <a:ea typeface="Microsoft YaHei"/>
              </a:rPr>
              <a:t>。</a:t>
            </a:r>
          </a:p>
          <a:p>
            <a:pPr algn="l">
              <a:lnSpc>
                <a:spcPct val="110000"/>
              </a:lnSpc>
              <a:spcAft>
                <a:spcPts val="300"/>
              </a:spcAft>
            </a:pPr>
            <a:endParaRPr sz="2200" b="0" dirty="0">
              <a:solidFill>
                <a:srgbClr val="333333"/>
              </a:solidFill>
              <a:latin typeface="Microsoft YaHei"/>
              <a:ea typeface="Microsoft YaHei"/>
            </a:endParaRPr>
          </a:p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2400" b="1" dirty="0" err="1">
                <a:solidFill>
                  <a:srgbClr val="004CA0"/>
                </a:solidFill>
                <a:latin typeface="Microsoft YaHei"/>
                <a:ea typeface="Microsoft YaHei"/>
              </a:rPr>
              <a:t>如</a:t>
            </a:r>
            <a:r>
              <a:rPr sz="2400" b="1" dirty="0">
                <a:solidFill>
                  <a:srgbClr val="004CA0"/>
                </a:solidFill>
                <a:latin typeface="Microsoft YaHei"/>
                <a:ea typeface="Microsoft YaHei"/>
              </a:rPr>
              <a:t>果来源</a:t>
            </a:r>
            <a:r>
              <a:rPr sz="2400" b="1" dirty="0" err="1">
                <a:solidFill>
                  <a:srgbClr val="004CA0"/>
                </a:solidFill>
                <a:latin typeface="Microsoft YaHei"/>
                <a:ea typeface="Microsoft YaHei"/>
              </a:rPr>
              <a:t>不可靠，或模型</a:t>
            </a:r>
            <a:r>
              <a:rPr sz="2400" b="1" dirty="0">
                <a:solidFill>
                  <a:srgbClr val="004CA0"/>
                </a:solidFill>
                <a:latin typeface="Microsoft YaHei"/>
                <a:ea typeface="Microsoft YaHei"/>
              </a:rPr>
              <a:t>误读</a:t>
            </a:r>
            <a:r>
              <a:rPr sz="2400" b="1" dirty="0" err="1">
                <a:solidFill>
                  <a:srgbClr val="004CA0"/>
                </a:solidFill>
                <a:latin typeface="Microsoft YaHei"/>
                <a:ea typeface="Microsoft YaHei"/>
              </a:rPr>
              <a:t>了原文，</a:t>
            </a:r>
            <a:r>
              <a:rPr sz="2400" b="1" dirty="0">
                <a:solidFill>
                  <a:srgbClr val="004CA0"/>
                </a:solidFill>
                <a:latin typeface="Microsoft YaHei"/>
                <a:ea typeface="Microsoft YaHei"/>
              </a:rPr>
              <a:t>生成</a:t>
            </a:r>
            <a:r>
              <a:rPr sz="2400" b="1" dirty="0" err="1">
                <a:solidFill>
                  <a:srgbClr val="004CA0"/>
                </a:solidFill>
                <a:latin typeface="Microsoft YaHei"/>
                <a:ea typeface="Microsoft YaHei"/>
              </a:rPr>
              <a:t>的总结仍</a:t>
            </a:r>
            <a:r>
              <a:rPr sz="2400" b="1" dirty="0">
                <a:solidFill>
                  <a:srgbClr val="004CA0"/>
                </a:solidFill>
                <a:latin typeface="Microsoft YaHei"/>
                <a:ea typeface="Microsoft YaHei"/>
              </a:rPr>
              <a:t>可</a:t>
            </a:r>
            <a:r>
              <a:rPr sz="2400" b="1" dirty="0" err="1">
                <a:solidFill>
                  <a:srgbClr val="004CA0"/>
                </a:solidFill>
                <a:latin typeface="Microsoft YaHei"/>
                <a:ea typeface="Microsoft YaHei"/>
              </a:rPr>
              <a:t>能出错</a:t>
            </a:r>
            <a:r>
              <a:rPr sz="2400" b="1" dirty="0">
                <a:solidFill>
                  <a:srgbClr val="004CA0"/>
                </a:solidFill>
                <a:latin typeface="Microsoft YaHei"/>
                <a:ea typeface="Microsoft YaHei"/>
              </a:rPr>
              <a:t>。</a:t>
            </a:r>
          </a:p>
          <a:p>
            <a:pPr algn="l">
              <a:lnSpc>
                <a:spcPct val="110000"/>
              </a:lnSpc>
              <a:spcAft>
                <a:spcPts val="300"/>
              </a:spcAft>
            </a:pPr>
            <a:endParaRPr sz="2200" b="1" dirty="0">
              <a:solidFill>
                <a:srgbClr val="004CA0"/>
              </a:solidFill>
              <a:latin typeface="Microsoft YaHei"/>
              <a:ea typeface="Microsoft YaHei"/>
            </a:endParaRPr>
          </a:p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2400" b="1" dirty="0">
                <a:solidFill>
                  <a:srgbClr val="0066CC"/>
                </a:solidFill>
                <a:latin typeface="Microsoft YaHei"/>
                <a:ea typeface="Microsoft YaHei"/>
              </a:rPr>
              <a:t>应同</a:t>
            </a:r>
            <a:r>
              <a:rPr sz="2400" b="1" dirty="0" err="1">
                <a:solidFill>
                  <a:srgbClr val="0066CC"/>
                </a:solidFill>
                <a:latin typeface="Microsoft YaHei"/>
                <a:ea typeface="Microsoft YaHei"/>
              </a:rPr>
              <a:t>时检</a:t>
            </a:r>
            <a:r>
              <a:rPr sz="2400" b="1" dirty="0">
                <a:solidFill>
                  <a:srgbClr val="0066CC"/>
                </a:solidFill>
                <a:latin typeface="Microsoft YaHei"/>
                <a:ea typeface="Microsoft YaHei"/>
              </a:rPr>
              <a:t>查</a:t>
            </a:r>
            <a:r>
              <a:rPr sz="2400" b="1" dirty="0" err="1">
                <a:solidFill>
                  <a:srgbClr val="0066CC"/>
                </a:solidFill>
                <a:latin typeface="Microsoft YaHei"/>
                <a:ea typeface="Microsoft YaHei"/>
              </a:rPr>
              <a:t>发布机</a:t>
            </a:r>
            <a:r>
              <a:rPr sz="2400" b="1" dirty="0">
                <a:solidFill>
                  <a:srgbClr val="0066CC"/>
                </a:solidFill>
                <a:latin typeface="Microsoft YaHei"/>
                <a:ea typeface="Microsoft YaHei"/>
              </a:rPr>
              <a:t>构</a:t>
            </a:r>
            <a:r>
              <a:rPr sz="2400" b="1" dirty="0" err="1">
                <a:solidFill>
                  <a:srgbClr val="0066CC"/>
                </a:solidFill>
                <a:latin typeface="Microsoft YaHei"/>
                <a:ea typeface="Microsoft YaHei"/>
              </a:rPr>
              <a:t>、</a:t>
            </a:r>
            <a:r>
              <a:rPr sz="2400" b="1" dirty="0" err="1">
                <a:solidFill>
                  <a:srgbClr val="0066CC"/>
                </a:solidFill>
                <a:latin typeface="Microsoft YaHei"/>
                <a:ea typeface="Microsoft YaHei"/>
              </a:rPr>
              <a:t>信息</a:t>
            </a:r>
            <a:r>
              <a:rPr sz="2400" b="1" dirty="0">
                <a:solidFill>
                  <a:srgbClr val="0066CC"/>
                </a:solidFill>
                <a:latin typeface="Microsoft YaHei"/>
                <a:ea typeface="Microsoft YaHei"/>
              </a:rPr>
              <a:t>日期和证</a:t>
            </a:r>
            <a:r>
              <a:rPr sz="2400" b="1" dirty="0" err="1">
                <a:solidFill>
                  <a:srgbClr val="0066CC"/>
                </a:solidFill>
                <a:latin typeface="Microsoft YaHei"/>
                <a:ea typeface="Microsoft YaHei"/>
              </a:rPr>
              <a:t>据是</a:t>
            </a:r>
            <a:r>
              <a:rPr sz="2400" b="1" dirty="0">
                <a:solidFill>
                  <a:srgbClr val="0066CC"/>
                </a:solidFill>
                <a:latin typeface="Microsoft YaHei"/>
                <a:ea typeface="Microsoft YaHei"/>
              </a:rPr>
              <a:t>否支</a:t>
            </a:r>
            <a:r>
              <a:rPr sz="2400" b="1" dirty="0" err="1">
                <a:solidFill>
                  <a:srgbClr val="0066CC"/>
                </a:solidFill>
                <a:latin typeface="Microsoft YaHei"/>
                <a:ea typeface="Microsoft YaHei"/>
              </a:rPr>
              <a:t>持结</a:t>
            </a:r>
            <a:r>
              <a:rPr sz="2400" b="1" dirty="0">
                <a:solidFill>
                  <a:srgbClr val="0066CC"/>
                </a:solidFill>
                <a:latin typeface="Microsoft YaHei"/>
                <a:ea typeface="Microsoft YaHei"/>
              </a:rPr>
              <a:t>论。</a:t>
            </a:r>
          </a:p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2400" b="1" dirty="0" err="1">
                <a:solidFill>
                  <a:srgbClr val="0066CC"/>
                </a:solidFill>
                <a:latin typeface="Microsoft YaHei"/>
                <a:ea typeface="Microsoft YaHei"/>
              </a:rPr>
              <a:t>下一节将探讨如何引导大模型使用</a:t>
            </a:r>
            <a:r>
              <a:rPr sz="2400" b="1" dirty="0">
                <a:solidFill>
                  <a:srgbClr val="0066CC"/>
                </a:solidFill>
                <a:latin typeface="Microsoft YaHei"/>
                <a:ea typeface="Microsoft YaHei"/>
              </a:rPr>
              <a:t> </a:t>
            </a:r>
            <a:r>
              <a:rPr sz="2400" b="1" dirty="0" err="1">
                <a:solidFill>
                  <a:srgbClr val="0066CC"/>
                </a:solidFill>
                <a:latin typeface="Microsoft YaHei"/>
                <a:ea typeface="Microsoft YaHei"/>
              </a:rPr>
              <a:t>更可靠、更权威</a:t>
            </a:r>
            <a:r>
              <a:rPr sz="2400" b="1" dirty="0">
                <a:solidFill>
                  <a:srgbClr val="0066CC"/>
                </a:solidFill>
                <a:latin typeface="Microsoft YaHei"/>
                <a:ea typeface="Microsoft YaHei"/>
              </a:rPr>
              <a:t> </a:t>
            </a:r>
            <a:r>
              <a:rPr sz="2400" b="1" dirty="0" err="1">
                <a:solidFill>
                  <a:srgbClr val="004CA0"/>
                </a:solidFill>
                <a:latin typeface="Microsoft YaHei"/>
                <a:ea typeface="Microsoft YaHei"/>
              </a:rPr>
              <a:t>的学术信源</a:t>
            </a:r>
            <a:r>
              <a:rPr sz="2400" b="1" dirty="0">
                <a:solidFill>
                  <a:srgbClr val="004CA0"/>
                </a:solidFill>
                <a:latin typeface="Microsoft YaHei"/>
                <a:ea typeface="Microsoft YaHei"/>
              </a:rPr>
              <a:t>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94415" y="6446520"/>
            <a:ext cx="914400" cy="320040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pPr algn="r"/>
            <a:r>
              <a:rPr sz="1100">
                <a:solidFill>
                  <a:srgbClr val="999999"/>
                </a:solidFill>
                <a:latin typeface="Arial"/>
              </a:rPr>
              <a:t>33 / 50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389120" cy="6858000"/>
          </a:xfrm>
          <a:prstGeom prst="rect">
            <a:avLst/>
          </a:prstGeom>
          <a:solidFill>
            <a:srgbClr val="006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4389120" y="0"/>
            <a:ext cx="91440" cy="6858000"/>
          </a:xfrm>
          <a:prstGeom prst="rect">
            <a:avLst/>
          </a:prstGeom>
          <a:solidFill>
            <a:srgbClr val="004C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65760" y="1828800"/>
            <a:ext cx="3657600" cy="2286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6000" b="1" i="0">
                <a:solidFill>
                  <a:srgbClr val="FFFFFF"/>
                </a:solidFill>
                <a:latin typeface="Arial"/>
                <a:ea typeface="Arial"/>
              </a:rPr>
              <a:t>2.4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0" y="2514600"/>
            <a:ext cx="640080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4200" b="1" i="0" dirty="0" err="1">
                <a:solidFill>
                  <a:srgbClr val="333333"/>
                </a:solidFill>
                <a:latin typeface="Microsoft YaHei"/>
                <a:ea typeface="Microsoft YaHei"/>
              </a:rPr>
              <a:t>读取网页和本地资料</a:t>
            </a:r>
            <a:endParaRPr sz="4200" b="1" i="0" dirty="0">
              <a:solidFill>
                <a:srgbClr val="333333"/>
              </a:solidFill>
              <a:latin typeface="Microsoft YaHei"/>
              <a:ea typeface="Microsoft YaHei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5029200" y="3657600"/>
            <a:ext cx="1371600" cy="38000"/>
          </a:xfrm>
          <a:prstGeom prst="rect">
            <a:avLst/>
          </a:prstGeom>
          <a:solidFill>
            <a:srgbClr val="006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029200" y="3840480"/>
            <a:ext cx="6766560" cy="61555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" b="0" i="0" dirty="0" err="1">
                <a:solidFill>
                  <a:srgbClr val="333333"/>
                </a:solidFill>
                <a:latin typeface="Microsoft YaHei"/>
                <a:ea typeface="Microsoft YaHei"/>
              </a:rPr>
              <a:t>本节介绍如何限定信源、检查网页日期，以及</a:t>
            </a:r>
            <a:r>
              <a:rPr sz="2000" b="0" i="0" dirty="0">
                <a:solidFill>
                  <a:srgbClr val="333333"/>
                </a:solidFill>
                <a:latin typeface="Microsoft YaHei"/>
                <a:ea typeface="Microsoft YaHei"/>
              </a:rPr>
              <a:t>核对模</a:t>
            </a:r>
            <a:r>
              <a:rPr sz="2000" b="0" i="0" dirty="0" err="1">
                <a:solidFill>
                  <a:srgbClr val="333333"/>
                </a:solidFill>
                <a:latin typeface="Microsoft YaHei"/>
                <a:ea typeface="Microsoft YaHei"/>
              </a:rPr>
              <a:t>型从</a:t>
            </a:r>
            <a:r>
              <a:rPr sz="2000" b="0" i="0" dirty="0">
                <a:solidFill>
                  <a:srgbClr val="333333"/>
                </a:solidFill>
                <a:latin typeface="Microsoft YaHei"/>
                <a:ea typeface="Microsoft YaHei"/>
              </a:rPr>
              <a:t>外部资</a:t>
            </a:r>
            <a:r>
              <a:rPr sz="2000" b="0" i="0" dirty="0" err="1">
                <a:solidFill>
                  <a:srgbClr val="333333"/>
                </a:solidFill>
                <a:latin typeface="Microsoft YaHei"/>
                <a:ea typeface="Microsoft YaHei"/>
              </a:rPr>
              <a:t>料中提取的信息</a:t>
            </a:r>
            <a:r>
              <a:rPr sz="2000" b="0" i="0" dirty="0">
                <a:solidFill>
                  <a:srgbClr val="333333"/>
                </a:solidFill>
                <a:latin typeface="Microsoft YaHei"/>
                <a:ea typeface="Microsoft YaHei"/>
              </a:rPr>
              <a:t>。</a:t>
            </a:r>
          </a:p>
        </p:txBody>
      </p:sp>
      <p:pic>
        <p:nvPicPr>
          <p:cNvPr id="10" name="Picture 9" descr="yzu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17175" y="246888"/>
            <a:ext cx="1691640" cy="54864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11094415" y="6446520"/>
            <a:ext cx="914400" cy="320040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pPr algn="r"/>
            <a:r>
              <a:rPr sz="1100">
                <a:solidFill>
                  <a:srgbClr val="999999"/>
                </a:solidFill>
                <a:latin typeface="Arial"/>
              </a:rPr>
              <a:t>34 / 50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yzu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17175" y="246888"/>
            <a:ext cx="1691640" cy="54864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274320"/>
            <a:ext cx="960120" cy="502920"/>
          </a:xfrm>
          <a:prstGeom prst="rect">
            <a:avLst/>
          </a:prstGeom>
          <a:solidFill>
            <a:srgbClr val="006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" y="341114"/>
            <a:ext cx="914400" cy="3693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400" b="1" i="0" dirty="0">
                <a:solidFill>
                  <a:srgbClr val="FFFFFF"/>
                </a:solidFill>
                <a:latin typeface="Microsoft YaHei"/>
                <a:ea typeface="Microsoft YaHei"/>
              </a:rPr>
              <a:t>2.4.1</a:t>
            </a:r>
          </a:p>
        </p:txBody>
      </p:sp>
      <p:sp>
        <p:nvSpPr>
          <p:cNvPr id="6" name="Rectangle 5"/>
          <p:cNvSpPr/>
          <p:nvPr/>
        </p:nvSpPr>
        <p:spPr>
          <a:xfrm>
            <a:off x="960120" y="274320"/>
            <a:ext cx="9052560" cy="502920"/>
          </a:xfrm>
          <a:prstGeom prst="rect">
            <a:avLst/>
          </a:prstGeom>
          <a:solidFill>
            <a:srgbClr val="3A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234440" y="341114"/>
            <a:ext cx="8686800" cy="3693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400" b="1" i="0" dirty="0" err="1">
                <a:solidFill>
                  <a:srgbClr val="FFFFFF"/>
                </a:solidFill>
                <a:latin typeface="Microsoft YaHei"/>
                <a:ea typeface="Microsoft YaHei"/>
              </a:rPr>
              <a:t>主动设定信源约束</a:t>
            </a:r>
            <a:endParaRPr sz="2400" b="1" i="0" dirty="0">
              <a:solidFill>
                <a:srgbClr val="FFFFFF"/>
              </a:solidFill>
              <a:latin typeface="Microsoft YaHei"/>
              <a:ea typeface="Microsoft YaHei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960120" y="892304"/>
            <a:ext cx="9665441" cy="4212298"/>
          </a:xfrm>
          <a:prstGeom prst="rect">
            <a:avLst/>
          </a:prstGeom>
          <a:noFill/>
        </p:spPr>
        <p:txBody>
          <a:bodyPr wrap="square" lIns="36000" tIns="36000" rIns="36000" bIns="36000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2400" b="1" dirty="0">
                <a:solidFill>
                  <a:srgbClr val="0066CC"/>
                </a:solidFill>
                <a:latin typeface="Microsoft YaHei"/>
                <a:ea typeface="Microsoft YaHei"/>
              </a:rPr>
              <a:t>联网搜</a:t>
            </a:r>
            <a:r>
              <a:rPr sz="2400" b="1" dirty="0" err="1">
                <a:solidFill>
                  <a:srgbClr val="0066CC"/>
                </a:solidFill>
                <a:latin typeface="Microsoft YaHei"/>
                <a:ea typeface="Microsoft YaHei"/>
              </a:rPr>
              <a:t>索可能返回社区、百科、视频平台等来源</a:t>
            </a:r>
            <a:r>
              <a:rPr sz="2400" b="1" dirty="0" err="1">
                <a:solidFill>
                  <a:srgbClr val="F58020"/>
                </a:solidFill>
                <a:latin typeface="Microsoft YaHei"/>
                <a:ea typeface="Microsoft YaHei"/>
              </a:rPr>
              <a:t>，</a:t>
            </a:r>
            <a:endParaRPr sz="2400" b="1" dirty="0">
              <a:solidFill>
                <a:srgbClr val="F58020"/>
              </a:solidFill>
              <a:latin typeface="Microsoft YaHei"/>
              <a:ea typeface="Microsoft YaHei"/>
            </a:endParaRP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800" b="0" dirty="0">
                <a:solidFill>
                  <a:srgbClr val="333333"/>
                </a:solidFill>
                <a:latin typeface="Microsoft YaHei"/>
                <a:ea typeface="Microsoft YaHei"/>
              </a:rPr>
              <a:t>不同来源的证据质量和适用</a:t>
            </a:r>
            <a:r>
              <a:rPr sz="1800" b="0" dirty="0" err="1">
                <a:solidFill>
                  <a:srgbClr val="333333"/>
                </a:solidFill>
                <a:latin typeface="Microsoft YaHei"/>
                <a:ea typeface="Microsoft YaHei"/>
              </a:rPr>
              <a:t>用</a:t>
            </a:r>
            <a:r>
              <a:rPr sz="1800" b="0" dirty="0">
                <a:solidFill>
                  <a:srgbClr val="333333"/>
                </a:solidFill>
                <a:latin typeface="Microsoft YaHei"/>
                <a:ea typeface="Microsoft YaHei"/>
              </a:rPr>
              <a:t>途</a:t>
            </a:r>
            <a:r>
              <a:rPr sz="1800" b="0" dirty="0" err="1">
                <a:solidFill>
                  <a:srgbClr val="333333"/>
                </a:solidFill>
                <a:latin typeface="Microsoft YaHei"/>
                <a:ea typeface="Microsoft YaHei"/>
              </a:rPr>
              <a:t>有</a:t>
            </a:r>
            <a:r>
              <a:rPr sz="1800" b="0" dirty="0">
                <a:solidFill>
                  <a:srgbClr val="333333"/>
                </a:solidFill>
                <a:latin typeface="Microsoft YaHei"/>
                <a:ea typeface="Microsoft YaHei"/>
              </a:rPr>
              <a:t>所不同</a:t>
            </a:r>
            <a:r>
              <a:rPr sz="1800" b="0" dirty="0" err="1">
                <a:solidFill>
                  <a:srgbClr val="333333"/>
                </a:solidFill>
                <a:latin typeface="Microsoft YaHei"/>
                <a:ea typeface="Microsoft YaHei"/>
              </a:rPr>
              <a:t>。</a:t>
            </a:r>
            <a:endParaRPr lang="en-US" sz="2200" b="1" dirty="0">
              <a:solidFill>
                <a:srgbClr val="F58020"/>
              </a:solidFill>
              <a:latin typeface="Microsoft YaHei"/>
              <a:ea typeface="Microsoft YaHei"/>
            </a:endParaRP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2400" b="1" dirty="0">
                <a:solidFill>
                  <a:srgbClr val="F58020"/>
                </a:solidFill>
                <a:latin typeface="Microsoft YaHei"/>
                <a:ea typeface="Microsoft YaHei"/>
              </a:rPr>
              <a:t>未</a:t>
            </a:r>
            <a:r>
              <a:rPr sz="2400" b="1" dirty="0" err="1">
                <a:solidFill>
                  <a:srgbClr val="F58020"/>
                </a:solidFill>
                <a:latin typeface="Microsoft YaHei"/>
                <a:ea typeface="Microsoft YaHei"/>
              </a:rPr>
              <a:t>限定信</a:t>
            </a:r>
            <a:r>
              <a:rPr sz="2400" b="1" dirty="0">
                <a:solidFill>
                  <a:srgbClr val="F58020"/>
                </a:solidFill>
                <a:latin typeface="Microsoft YaHei"/>
                <a:ea typeface="Microsoft YaHei"/>
              </a:rPr>
              <a:t>源时</a:t>
            </a:r>
            <a:r>
              <a:rPr sz="2400" b="1" dirty="0" err="1">
                <a:solidFill>
                  <a:srgbClr val="F58020"/>
                </a:solidFill>
                <a:latin typeface="Microsoft YaHei"/>
                <a:ea typeface="Microsoft YaHei"/>
              </a:rPr>
              <a:t>，回答可能引用易于获取、但缺少学术依据的材料</a:t>
            </a:r>
            <a:r>
              <a:rPr sz="2400" b="1" dirty="0">
                <a:solidFill>
                  <a:srgbClr val="F58020"/>
                </a:solidFill>
                <a:latin typeface="Microsoft YaHei"/>
                <a:ea typeface="Microsoft YaHei"/>
              </a:rPr>
              <a:t>。</a:t>
            </a:r>
            <a:endParaRPr lang="en-US" sz="2200" b="1" dirty="0">
              <a:solidFill>
                <a:srgbClr val="0066CC"/>
              </a:solidFill>
              <a:latin typeface="Microsoft YaHei"/>
              <a:ea typeface="Microsoft YaHei"/>
            </a:endParaRP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2400" b="1" dirty="0">
                <a:solidFill>
                  <a:srgbClr val="0066CC"/>
                </a:solidFill>
                <a:latin typeface="Microsoft YaHei"/>
                <a:ea typeface="Microsoft YaHei"/>
              </a:rPr>
              <a:t>可采</a:t>
            </a:r>
            <a:r>
              <a:rPr sz="2400" b="1" dirty="0" err="1">
                <a:solidFill>
                  <a:srgbClr val="0066CC"/>
                </a:solidFill>
                <a:latin typeface="Microsoft YaHei"/>
                <a:ea typeface="Microsoft YaHei"/>
              </a:rPr>
              <a:t>用的做法</a:t>
            </a:r>
            <a:r>
              <a:rPr sz="2400" b="1" dirty="0">
                <a:solidFill>
                  <a:srgbClr val="0066CC"/>
                </a:solidFill>
                <a:latin typeface="Microsoft YaHei"/>
                <a:ea typeface="Microsoft YaHei"/>
              </a:rPr>
              <a:t>：</a:t>
            </a:r>
            <a:endParaRPr lang="en-US" sz="2400" b="1" dirty="0">
              <a:solidFill>
                <a:srgbClr val="0066CC"/>
              </a:solidFill>
              <a:latin typeface="Microsoft YaHei"/>
              <a:ea typeface="Microsoft YaHei"/>
            </a:endParaRP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lang="en-US" sz="2400" b="1" dirty="0">
                <a:solidFill>
                  <a:srgbClr val="0066CC"/>
                </a:solidFill>
                <a:latin typeface="Microsoft YaHei"/>
                <a:ea typeface="Microsoft YaHei"/>
              </a:rPr>
              <a:t>在提</a:t>
            </a:r>
            <a:r>
              <a:rPr sz="2400" b="1" dirty="0" err="1">
                <a:solidFill>
                  <a:srgbClr val="0066CC"/>
                </a:solidFill>
                <a:latin typeface="Microsoft YaHei"/>
                <a:ea typeface="Microsoft YaHei"/>
              </a:rPr>
              <a:t>示词中说明来源类</a:t>
            </a:r>
            <a:r>
              <a:rPr sz="2400" b="1" dirty="0">
                <a:solidFill>
                  <a:srgbClr val="0066CC"/>
                </a:solidFill>
                <a:latin typeface="Microsoft YaHei"/>
                <a:ea typeface="Microsoft YaHei"/>
              </a:rPr>
              <a:t>型，并</a:t>
            </a:r>
            <a:r>
              <a:rPr sz="2400" b="1" dirty="0" err="1">
                <a:solidFill>
                  <a:srgbClr val="0066CC"/>
                </a:solidFill>
                <a:latin typeface="Microsoft YaHei"/>
                <a:ea typeface="Microsoft YaHei"/>
              </a:rPr>
              <a:t>要求</a:t>
            </a:r>
            <a:r>
              <a:rPr sz="2400" b="1" dirty="0">
                <a:solidFill>
                  <a:srgbClr val="0066CC"/>
                </a:solidFill>
                <a:latin typeface="Microsoft YaHei"/>
                <a:ea typeface="Microsoft YaHei"/>
              </a:rPr>
              <a:t>提供</a:t>
            </a:r>
            <a:r>
              <a:rPr sz="2400" b="1" dirty="0" err="1">
                <a:solidFill>
                  <a:srgbClr val="0066CC"/>
                </a:solidFill>
                <a:latin typeface="Microsoft YaHei"/>
                <a:ea typeface="Microsoft YaHei"/>
              </a:rPr>
              <a:t>原文链接。</a:t>
            </a:r>
            <a:endParaRPr sz="2400" b="1" dirty="0">
              <a:solidFill>
                <a:srgbClr val="0066CC"/>
              </a:solidFill>
              <a:latin typeface="Microsoft YaHei"/>
              <a:ea typeface="Microsoft YaHei"/>
            </a:endParaRP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2200" b="1" dirty="0" err="1">
                <a:solidFill>
                  <a:srgbClr val="004CA0"/>
                </a:solidFill>
                <a:latin typeface="Microsoft YaHei"/>
                <a:ea typeface="Microsoft YaHei"/>
              </a:rPr>
              <a:t>示例：查询实验试剂的使用与安全资料</a:t>
            </a:r>
            <a:endParaRPr sz="2200" b="1" dirty="0">
              <a:solidFill>
                <a:srgbClr val="004CA0"/>
              </a:solidFill>
              <a:latin typeface="Microsoft YaHei"/>
              <a:ea typeface="Microsoft YaHei"/>
            </a:endParaRP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2200" dirty="0" err="1">
                <a:solidFill>
                  <a:srgbClr val="333333"/>
                </a:solidFill>
                <a:latin typeface="Microsoft YaHei"/>
                <a:ea typeface="Microsoft YaHei"/>
              </a:rPr>
              <a:t>优先</a:t>
            </a:r>
            <a:r>
              <a:rPr sz="2200" dirty="0">
                <a:solidFill>
                  <a:srgbClr val="333333"/>
                </a:solidFill>
                <a:latin typeface="Microsoft YaHei"/>
                <a:ea typeface="Microsoft YaHei"/>
              </a:rPr>
              <a:t>查阅厂</a:t>
            </a:r>
            <a:r>
              <a:rPr sz="2200" dirty="0" err="1">
                <a:solidFill>
                  <a:srgbClr val="333333"/>
                </a:solidFill>
                <a:latin typeface="Microsoft YaHei"/>
                <a:ea typeface="Microsoft YaHei"/>
              </a:rPr>
              <a:t>商</a:t>
            </a:r>
            <a:r>
              <a:rPr sz="2200" b="0" dirty="0" err="1">
                <a:solidFill>
                  <a:srgbClr val="333333"/>
                </a:solidFill>
                <a:latin typeface="Microsoft YaHei"/>
                <a:ea typeface="Microsoft YaHei"/>
              </a:rPr>
              <a:t>说明、官方文</a:t>
            </a:r>
            <a:r>
              <a:rPr sz="2200" b="0" dirty="0">
                <a:solidFill>
                  <a:srgbClr val="333333"/>
                </a:solidFill>
                <a:latin typeface="Microsoft YaHei"/>
                <a:ea typeface="Microsoft YaHei"/>
              </a:rPr>
              <a:t>件和</a:t>
            </a:r>
            <a:r>
              <a:rPr sz="2200" b="0" dirty="0" err="1">
                <a:solidFill>
                  <a:srgbClr val="333333"/>
                </a:solidFill>
                <a:latin typeface="Microsoft YaHei"/>
                <a:ea typeface="Microsoft YaHei"/>
              </a:rPr>
              <a:t>相关研究。</a:t>
            </a:r>
            <a:endParaRPr sz="1800" b="0" dirty="0">
              <a:solidFill>
                <a:srgbClr val="333333"/>
              </a:solidFill>
              <a:latin typeface="Microsoft YaHei"/>
              <a:ea typeface="Microsoft YaHei"/>
            </a:endParaRP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2200" b="1" dirty="0" err="1">
                <a:solidFill>
                  <a:srgbClr val="0066CC"/>
                </a:solidFill>
                <a:latin typeface="Microsoft YaHei"/>
                <a:ea typeface="Microsoft YaHei"/>
              </a:rPr>
              <a:t>要求</a:t>
            </a:r>
            <a:r>
              <a:rPr sz="2200" b="1" dirty="0">
                <a:solidFill>
                  <a:srgbClr val="0066CC"/>
                </a:solidFill>
                <a:latin typeface="Microsoft YaHei"/>
                <a:ea typeface="Microsoft YaHei"/>
              </a:rPr>
              <a:t>区分</a:t>
            </a:r>
            <a:r>
              <a:rPr sz="2200" b="1" dirty="0" err="1">
                <a:solidFill>
                  <a:srgbClr val="0066CC"/>
                </a:solidFill>
                <a:latin typeface="Consolas"/>
                <a:ea typeface="Consolas"/>
              </a:rPr>
              <a:t>研究证据、个人经验和商业宣传</a:t>
            </a:r>
            <a:r>
              <a:rPr sz="2200" b="1" dirty="0">
                <a:solidFill>
                  <a:srgbClr val="004CA0"/>
                </a:solidFill>
                <a:latin typeface="Microsoft YaHei"/>
                <a:ea typeface="Microsoft YaHei"/>
              </a:rPr>
              <a:t>，并核</a:t>
            </a:r>
            <a:r>
              <a:rPr sz="2200" b="1" dirty="0">
                <a:solidFill>
                  <a:srgbClr val="0066CC"/>
                </a:solidFill>
                <a:latin typeface="Consolas"/>
                <a:ea typeface="Consolas"/>
              </a:rPr>
              <a:t>对</a:t>
            </a:r>
            <a:r>
              <a:rPr sz="2200" b="1" dirty="0" err="1">
                <a:solidFill>
                  <a:srgbClr val="0066CC"/>
                </a:solidFill>
                <a:latin typeface="Consolas"/>
                <a:ea typeface="Consolas"/>
              </a:rPr>
              <a:t>原文是否支持结论</a:t>
            </a:r>
            <a:r>
              <a:rPr sz="2200" b="1" dirty="0">
                <a:solidFill>
                  <a:srgbClr val="004CA0"/>
                </a:solidFill>
                <a:latin typeface="Microsoft YaHei"/>
                <a:ea typeface="Microsoft YaHei"/>
              </a:rPr>
              <a:t>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94415" y="6446520"/>
            <a:ext cx="914400" cy="320040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pPr algn="r"/>
            <a:r>
              <a:rPr sz="1100">
                <a:solidFill>
                  <a:srgbClr val="999999"/>
                </a:solidFill>
                <a:latin typeface="Arial"/>
              </a:rPr>
              <a:t>35 / 50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5879CA-45E4-2A38-D3E5-2BA9F2E399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5B25CBBE-6595-B722-C156-ED662B1DBCB1}"/>
              </a:ext>
            </a:extLst>
          </p:cNvPr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yzu_logo.png">
            <a:extLst>
              <a:ext uri="{FF2B5EF4-FFF2-40B4-BE49-F238E27FC236}">
                <a16:creationId xmlns:a16="http://schemas.microsoft.com/office/drawing/2014/main" id="{B4AF1D29-6660-B476-BA75-74ADF61346A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17175" y="246888"/>
            <a:ext cx="1691640" cy="548640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B893186C-8C15-DC0A-6043-B712EC42B548}"/>
              </a:ext>
            </a:extLst>
          </p:cNvPr>
          <p:cNvSpPr/>
          <p:nvPr/>
        </p:nvSpPr>
        <p:spPr>
          <a:xfrm>
            <a:off x="0" y="274320"/>
            <a:ext cx="960120" cy="502920"/>
          </a:xfrm>
          <a:prstGeom prst="rect">
            <a:avLst/>
          </a:prstGeom>
          <a:solidFill>
            <a:srgbClr val="006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67C1982-DB6C-C8B8-D79E-8BCCECD43AF8}"/>
              </a:ext>
            </a:extLst>
          </p:cNvPr>
          <p:cNvSpPr txBox="1"/>
          <p:nvPr/>
        </p:nvSpPr>
        <p:spPr>
          <a:xfrm>
            <a:off x="45720" y="341114"/>
            <a:ext cx="914400" cy="3693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400" b="1" i="0" dirty="0">
                <a:solidFill>
                  <a:srgbClr val="FFFFFF"/>
                </a:solidFill>
                <a:latin typeface="Microsoft YaHei"/>
                <a:ea typeface="Microsoft YaHei"/>
              </a:rPr>
              <a:t>2.4.1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C550D89-AE68-1D94-8783-34F14BBC6924}"/>
              </a:ext>
            </a:extLst>
          </p:cNvPr>
          <p:cNvSpPr/>
          <p:nvPr/>
        </p:nvSpPr>
        <p:spPr>
          <a:xfrm>
            <a:off x="960120" y="274320"/>
            <a:ext cx="9052560" cy="502920"/>
          </a:xfrm>
          <a:prstGeom prst="rect">
            <a:avLst/>
          </a:prstGeom>
          <a:solidFill>
            <a:srgbClr val="3A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4428B22-B85D-6972-A85B-1D02209B6697}"/>
              </a:ext>
            </a:extLst>
          </p:cNvPr>
          <p:cNvSpPr txBox="1"/>
          <p:nvPr/>
        </p:nvSpPr>
        <p:spPr>
          <a:xfrm>
            <a:off x="1234440" y="341114"/>
            <a:ext cx="8686800" cy="3693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400" b="1" i="0" dirty="0" err="1">
                <a:solidFill>
                  <a:srgbClr val="FFFFFF"/>
                </a:solidFill>
                <a:latin typeface="Microsoft YaHei"/>
                <a:ea typeface="Microsoft YaHei"/>
              </a:rPr>
              <a:t>主动设定信源约束</a:t>
            </a:r>
            <a:endParaRPr sz="2400" b="1" i="0" dirty="0">
              <a:solidFill>
                <a:srgbClr val="FFFFFF"/>
              </a:solidFill>
              <a:latin typeface="Microsoft YaHei"/>
              <a:ea typeface="Microsoft YaHei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09434E9-B029-7ADB-4707-2732AF21AC1F}"/>
              </a:ext>
            </a:extLst>
          </p:cNvPr>
          <p:cNvSpPr txBox="1"/>
          <p:nvPr/>
        </p:nvSpPr>
        <p:spPr>
          <a:xfrm>
            <a:off x="3869001" y="6257008"/>
            <a:ext cx="4897971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b="0" dirty="0">
                <a:solidFill>
                  <a:srgbClr val="333333"/>
                </a:solidFill>
                <a:latin typeface="Microsoft YaHei"/>
                <a:ea typeface="Microsoft YaHei"/>
              </a:rPr>
              <a:t>图 2-12  </a:t>
            </a:r>
            <a:r>
              <a:rPr b="0" dirty="0" err="1">
                <a:solidFill>
                  <a:srgbClr val="333333"/>
                </a:solidFill>
                <a:latin typeface="Microsoft YaHei"/>
                <a:ea typeface="Microsoft YaHei"/>
              </a:rPr>
              <a:t>提示词信源约束对</a:t>
            </a:r>
            <a:r>
              <a:rPr b="0" dirty="0">
                <a:solidFill>
                  <a:srgbClr val="333333"/>
                </a:solidFill>
                <a:latin typeface="Microsoft YaHei"/>
                <a:ea typeface="Microsoft YaHei"/>
              </a:rPr>
              <a:t> AI </a:t>
            </a:r>
            <a:r>
              <a:rPr b="0" dirty="0" err="1">
                <a:solidFill>
                  <a:srgbClr val="333333"/>
                </a:solidFill>
                <a:latin typeface="Microsoft YaHei"/>
                <a:ea typeface="Microsoft YaHei"/>
              </a:rPr>
              <a:t>检索结果的影响</a:t>
            </a:r>
            <a:endParaRPr b="0" dirty="0">
              <a:solidFill>
                <a:srgbClr val="333333"/>
              </a:solidFill>
              <a:latin typeface="Microsoft YaHei"/>
              <a:ea typeface="Microsoft YaHei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EF0AC70-C2D0-D9C8-68F4-EDCD1A369866}"/>
              </a:ext>
            </a:extLst>
          </p:cNvPr>
          <p:cNvSpPr txBox="1"/>
          <p:nvPr/>
        </p:nvSpPr>
        <p:spPr>
          <a:xfrm>
            <a:off x="11094415" y="6446520"/>
            <a:ext cx="914400" cy="320040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pPr algn="r"/>
            <a:r>
              <a:rPr sz="1100">
                <a:solidFill>
                  <a:srgbClr val="999999"/>
                </a:solidFill>
                <a:latin typeface="Arial"/>
              </a:rPr>
              <a:t>36 / 50</a:t>
            </a:r>
          </a:p>
        </p:txBody>
      </p:sp>
      <p:pic>
        <p:nvPicPr>
          <p:cNvPr id="13" name="内容占位符 22">
            <a:extLst>
              <a:ext uri="{FF2B5EF4-FFF2-40B4-BE49-F238E27FC236}">
                <a16:creationId xmlns:a16="http://schemas.microsoft.com/office/drawing/2014/main" id="{454F11F3-B9E3-448A-B07F-8BD717239D0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378" r="22260"/>
          <a:stretch>
            <a:fillRect/>
          </a:stretch>
        </p:blipFill>
        <p:spPr>
          <a:xfrm>
            <a:off x="1251977" y="4763145"/>
            <a:ext cx="758434" cy="736610"/>
          </a:xfrm>
          <a:prstGeom prst="rect">
            <a:avLst/>
          </a:prstGeom>
        </p:spPr>
      </p:pic>
      <p:sp>
        <p:nvSpPr>
          <p:cNvPr id="14" name="矩形: 圆角 13">
            <a:extLst>
              <a:ext uri="{FF2B5EF4-FFF2-40B4-BE49-F238E27FC236}">
                <a16:creationId xmlns:a16="http://schemas.microsoft.com/office/drawing/2014/main" id="{3842D787-1985-4304-AF09-8B65C055FC43}"/>
              </a:ext>
            </a:extLst>
          </p:cNvPr>
          <p:cNvSpPr/>
          <p:nvPr/>
        </p:nvSpPr>
        <p:spPr>
          <a:xfrm>
            <a:off x="734901" y="926574"/>
            <a:ext cx="5040000" cy="720000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提问</a:t>
            </a:r>
            <a:r>
              <a:rPr lang="zh-CN" altLang="en-US" sz="2000" b="1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较笼统</a:t>
            </a:r>
            <a:endParaRPr lang="en-US" altLang="zh-CN" sz="2000" b="1" dirty="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ctr"/>
            <a:r>
              <a:rPr lang="zh-CN" altLang="en-US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核心特征标签：无信源约束。</a:t>
            </a:r>
          </a:p>
        </p:txBody>
      </p:sp>
      <p:pic>
        <p:nvPicPr>
          <p:cNvPr id="15" name="图片 14">
            <a:extLst>
              <a:ext uri="{FF2B5EF4-FFF2-40B4-BE49-F238E27FC236}">
                <a16:creationId xmlns:a16="http://schemas.microsoft.com/office/drawing/2014/main" id="{C8D570E0-DABB-47FF-9D36-962289E381A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70136" y="1755406"/>
            <a:ext cx="547307" cy="540868"/>
          </a:xfrm>
          <a:prstGeom prst="rect">
            <a:avLst/>
          </a:prstGeom>
        </p:spPr>
      </p:pic>
      <p:sp>
        <p:nvSpPr>
          <p:cNvPr id="16" name="矩形: 圆角 15">
            <a:extLst>
              <a:ext uri="{FF2B5EF4-FFF2-40B4-BE49-F238E27FC236}">
                <a16:creationId xmlns:a16="http://schemas.microsoft.com/office/drawing/2014/main" id="{83B125B3-209A-4732-A06A-E2195D1B7C1D}"/>
              </a:ext>
            </a:extLst>
          </p:cNvPr>
          <p:cNvSpPr/>
          <p:nvPr/>
        </p:nvSpPr>
        <p:spPr>
          <a:xfrm>
            <a:off x="1033690" y="1798527"/>
            <a:ext cx="4320000" cy="819373"/>
          </a:xfrm>
          <a:prstGeom prst="round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just"/>
            <a:r>
              <a:rPr lang="zh-CN" altLang="en-US" sz="1600" dirty="0">
                <a:latin typeface="宋体" panose="02010600030101010101" pitchFamily="2" charset="-122"/>
                <a:ea typeface="宋体" panose="02010600030101010101" pitchFamily="2" charset="-122"/>
              </a:rPr>
              <a:t>“请查询某种</a:t>
            </a:r>
            <a:r>
              <a:rPr lang="en-US" altLang="zh-CN" sz="1600" dirty="0">
                <a:latin typeface="宋体" panose="02010600030101010101" pitchFamily="2" charset="-122"/>
                <a:ea typeface="宋体" panose="02010600030101010101" pitchFamily="2" charset="-122"/>
              </a:rPr>
              <a:t>新型营</a:t>
            </a:r>
            <a:r>
              <a:rPr lang="zh-CN" altLang="en-US" sz="1600" dirty="0">
                <a:latin typeface="宋体" panose="02010600030101010101" pitchFamily="2" charset="-122"/>
                <a:ea typeface="宋体" panose="02010600030101010101" pitchFamily="2" charset="-122"/>
              </a:rPr>
              <a:t>养补充剂的人体安全性证据。”</a:t>
            </a:r>
          </a:p>
        </p:txBody>
      </p:sp>
      <p:pic>
        <p:nvPicPr>
          <p:cNvPr id="17" name="图片 16">
            <a:extLst>
              <a:ext uri="{FF2B5EF4-FFF2-40B4-BE49-F238E27FC236}">
                <a16:creationId xmlns:a16="http://schemas.microsoft.com/office/drawing/2014/main" id="{F574D59C-52DC-43E2-89DC-ED52A43DCF8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9234" y="3585953"/>
            <a:ext cx="536007" cy="523685"/>
          </a:xfrm>
          <a:prstGeom prst="rect">
            <a:avLst/>
          </a:prstGeom>
        </p:spPr>
      </p:pic>
      <p:sp>
        <p:nvSpPr>
          <p:cNvPr id="18" name="矩形: 圆角 17">
            <a:extLst>
              <a:ext uri="{FF2B5EF4-FFF2-40B4-BE49-F238E27FC236}">
                <a16:creationId xmlns:a16="http://schemas.microsoft.com/office/drawing/2014/main" id="{7FC59568-D921-4F9B-A004-BCFE2D69C52E}"/>
              </a:ext>
            </a:extLst>
          </p:cNvPr>
          <p:cNvSpPr/>
          <p:nvPr/>
        </p:nvSpPr>
        <p:spPr>
          <a:xfrm>
            <a:off x="1093509" y="3610016"/>
            <a:ext cx="4320000" cy="745452"/>
          </a:xfrm>
          <a:prstGeom prst="roundRect">
            <a:avLst/>
          </a:prstGeom>
          <a:noFill/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just"/>
            <a:r>
              <a:rPr lang="zh-CN" altLang="en-US" sz="1600" dirty="0">
                <a:latin typeface="宋体" panose="02010600030101010101" pitchFamily="2" charset="-122"/>
                <a:ea typeface="宋体" panose="02010600030101010101" pitchFamily="2" charset="-122"/>
              </a:rPr>
              <a:t>“有网友称使用后感觉良好，所以它应该很安全。”（缺乏依据的示例</a:t>
            </a:r>
            <a:r>
              <a:rPr lang="en-US" altLang="zh-CN" sz="1600" dirty="0">
                <a:latin typeface="宋体" panose="02010600030101010101" pitchFamily="2" charset="-122"/>
                <a:ea typeface="宋体" panose="02010600030101010101" pitchFamily="2" charset="-122"/>
              </a:rPr>
              <a:t>回答）</a:t>
            </a:r>
            <a:endParaRPr lang="zh-CN" altLang="zh-CN" sz="1600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9" name="思想气泡: 云 18">
            <a:extLst>
              <a:ext uri="{FF2B5EF4-FFF2-40B4-BE49-F238E27FC236}">
                <a16:creationId xmlns:a16="http://schemas.microsoft.com/office/drawing/2014/main" id="{3C17C553-5DA4-40F0-AA84-A098C6C09B1E}"/>
              </a:ext>
            </a:extLst>
          </p:cNvPr>
          <p:cNvSpPr/>
          <p:nvPr/>
        </p:nvSpPr>
        <p:spPr>
          <a:xfrm>
            <a:off x="2376923" y="4634093"/>
            <a:ext cx="3060000" cy="1080000"/>
          </a:xfrm>
          <a:prstGeom prst="cloudCallout">
            <a:avLst>
              <a:gd name="adj1" fmla="val -62779"/>
              <a:gd name="adj2" fmla="val -19301"/>
            </a:avLst>
          </a:prstGeom>
          <a:solidFill>
            <a:schemeClr val="bg1"/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“</a:t>
            </a:r>
            <a:r>
              <a:rPr lang="zh-CN" altLang="zh-CN" sz="1400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个人</a:t>
            </a:r>
            <a:r>
              <a:rPr lang="zh-CN" altLang="en-US" sz="1400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体验不能代替人体安全性证据</a:t>
            </a:r>
            <a:r>
              <a:rPr lang="en-US" altLang="zh-CN" sz="1400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。”</a:t>
            </a:r>
            <a:endParaRPr lang="zh-CN" altLang="zh-CN" sz="1400" dirty="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20" name="矩形: 圆角 19">
            <a:extLst>
              <a:ext uri="{FF2B5EF4-FFF2-40B4-BE49-F238E27FC236}">
                <a16:creationId xmlns:a16="http://schemas.microsoft.com/office/drawing/2014/main" id="{6F61F3CD-057F-4554-9A07-23DCE839A13D}"/>
              </a:ext>
            </a:extLst>
          </p:cNvPr>
          <p:cNvSpPr/>
          <p:nvPr/>
        </p:nvSpPr>
        <p:spPr>
          <a:xfrm>
            <a:off x="6418491" y="902240"/>
            <a:ext cx="5040000" cy="720000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要求</a:t>
            </a:r>
            <a:r>
              <a:rPr lang="zh-CN" altLang="en-US" sz="2000" b="1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更明确</a:t>
            </a:r>
            <a:endParaRPr lang="en-US" altLang="zh-CN" sz="2000" b="1" dirty="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ctr"/>
            <a:r>
              <a:rPr lang="zh-CN" altLang="en-US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核心特征标签：有信源约束。</a:t>
            </a:r>
          </a:p>
        </p:txBody>
      </p:sp>
      <p:pic>
        <p:nvPicPr>
          <p:cNvPr id="21" name="图片 20">
            <a:extLst>
              <a:ext uri="{FF2B5EF4-FFF2-40B4-BE49-F238E27FC236}">
                <a16:creationId xmlns:a16="http://schemas.microsoft.com/office/drawing/2014/main" id="{0D2923C0-F1A3-4D3D-ADC1-B0C467C7B4D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58604" y="1768543"/>
            <a:ext cx="547307" cy="540868"/>
          </a:xfrm>
          <a:prstGeom prst="rect">
            <a:avLst/>
          </a:prstGeom>
        </p:spPr>
      </p:pic>
      <p:sp>
        <p:nvSpPr>
          <p:cNvPr id="22" name="矩形: 圆角 21">
            <a:extLst>
              <a:ext uri="{FF2B5EF4-FFF2-40B4-BE49-F238E27FC236}">
                <a16:creationId xmlns:a16="http://schemas.microsoft.com/office/drawing/2014/main" id="{68E8E4EF-8FA7-4453-94B4-DD8EC2F884D9}"/>
              </a:ext>
            </a:extLst>
          </p:cNvPr>
          <p:cNvSpPr/>
          <p:nvPr/>
        </p:nvSpPr>
        <p:spPr>
          <a:xfrm>
            <a:off x="6728019" y="1798527"/>
            <a:ext cx="4320000" cy="1351120"/>
          </a:xfrm>
          <a:prstGeom prst="round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just"/>
            <a:r>
              <a:rPr lang="zh-CN" altLang="en-US" sz="1600" dirty="0">
                <a:latin typeface="宋体" panose="02010600030101010101" pitchFamily="2" charset="-122"/>
                <a:ea typeface="宋体" panose="02010600030101010101" pitchFamily="2" charset="-122"/>
              </a:rPr>
              <a:t>“请查</a:t>
            </a:r>
            <a:r>
              <a:rPr lang="en-US" altLang="zh-CN" sz="1600" dirty="0">
                <a:latin typeface="宋体" panose="02010600030101010101" pitchFamily="2" charset="-122"/>
                <a:ea typeface="宋体" panose="02010600030101010101" pitchFamily="2" charset="-122"/>
              </a:rPr>
              <a:t>询该</a:t>
            </a:r>
            <a:r>
              <a:rPr lang="zh-CN" altLang="en-US" sz="1600" dirty="0">
                <a:latin typeface="宋体" panose="02010600030101010101" pitchFamily="2" charset="-122"/>
                <a:ea typeface="宋体" panose="02010600030101010101" pitchFamily="2" charset="-122"/>
              </a:rPr>
              <a:t>补充剂的人体安全性证据，优先检索监管机构</a:t>
            </a:r>
            <a:r>
              <a:rPr lang="en-US" altLang="zh-CN" sz="1600" dirty="0">
                <a:latin typeface="宋体" panose="02010600030101010101" pitchFamily="2" charset="-122"/>
                <a:ea typeface="宋体" panose="02010600030101010101" pitchFamily="2" charset="-122"/>
              </a:rPr>
              <a:t>文件和</a:t>
            </a:r>
            <a:r>
              <a:rPr lang="zh-CN" altLang="en-US" sz="1600" dirty="0">
                <a:latin typeface="宋体" panose="02010600030101010101" pitchFamily="2" charset="-122"/>
                <a:ea typeface="宋体" panose="02010600030101010101" pitchFamily="2" charset="-122"/>
              </a:rPr>
              <a:t>同行评审研究。</a:t>
            </a:r>
            <a:r>
              <a:rPr lang="en-US" altLang="zh-CN" sz="1600" dirty="0">
                <a:latin typeface="宋体" panose="02010600030101010101" pitchFamily="2" charset="-122"/>
                <a:ea typeface="宋体" panose="02010600030101010101" pitchFamily="2" charset="-122"/>
              </a:rPr>
              <a:t>注明</a:t>
            </a:r>
            <a:r>
              <a:rPr lang="zh-CN" altLang="en-US" sz="1600" dirty="0">
                <a:latin typeface="宋体" panose="02010600030101010101" pitchFamily="2" charset="-122"/>
                <a:ea typeface="宋体" panose="02010600030101010101" pitchFamily="2" charset="-122"/>
              </a:rPr>
              <a:t>研究对象、剂量、随访时</a:t>
            </a:r>
            <a:r>
              <a:rPr lang="en-US" altLang="zh-CN" sz="1600" dirty="0">
                <a:latin typeface="宋体" panose="02010600030101010101" pitchFamily="2" charset="-122"/>
                <a:ea typeface="宋体" panose="02010600030101010101" pitchFamily="2" charset="-122"/>
              </a:rPr>
              <a:t>间</a:t>
            </a:r>
            <a:r>
              <a:rPr lang="zh-CN" altLang="en-US" sz="1600" dirty="0">
                <a:latin typeface="宋体" panose="02010600030101010101" pitchFamily="2" charset="-122"/>
                <a:ea typeface="宋体" panose="02010600030101010101" pitchFamily="2" charset="-122"/>
              </a:rPr>
              <a:t>与局限</a:t>
            </a:r>
            <a:r>
              <a:rPr lang="en-US" altLang="zh-CN" sz="1600" dirty="0">
                <a:latin typeface="宋体" panose="02010600030101010101" pitchFamily="2" charset="-122"/>
                <a:ea typeface="宋体" panose="02010600030101010101" pitchFamily="2" charset="-122"/>
              </a:rPr>
              <a:t>，</a:t>
            </a:r>
            <a:r>
              <a:rPr lang="zh-CN" altLang="en-US" sz="1600" dirty="0">
                <a:latin typeface="宋体" panose="02010600030101010101" pitchFamily="2" charset="-122"/>
                <a:ea typeface="宋体" panose="02010600030101010101" pitchFamily="2" charset="-122"/>
              </a:rPr>
              <a:t>找</a:t>
            </a:r>
            <a:r>
              <a:rPr lang="en-US" altLang="zh-CN" sz="1600" dirty="0">
                <a:latin typeface="宋体" panose="02010600030101010101" pitchFamily="2" charset="-122"/>
                <a:ea typeface="宋体" panose="02010600030101010101" pitchFamily="2" charset="-122"/>
              </a:rPr>
              <a:t>不</a:t>
            </a:r>
            <a:r>
              <a:rPr lang="zh-CN" altLang="en-US" sz="1600" dirty="0">
                <a:latin typeface="宋体" panose="02010600030101010101" pitchFamily="2" charset="-122"/>
                <a:ea typeface="宋体" panose="02010600030101010101" pitchFamily="2" charset="-122"/>
              </a:rPr>
              <a:t>到依据时明确说明。”</a:t>
            </a:r>
          </a:p>
        </p:txBody>
      </p:sp>
      <p:pic>
        <p:nvPicPr>
          <p:cNvPr id="23" name="图片 22">
            <a:extLst>
              <a:ext uri="{FF2B5EF4-FFF2-40B4-BE49-F238E27FC236}">
                <a16:creationId xmlns:a16="http://schemas.microsoft.com/office/drawing/2014/main" id="{D5703E8B-C164-42C4-AE4C-DFF8C77B03DD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03632" y="5067285"/>
            <a:ext cx="829034" cy="838618"/>
          </a:xfrm>
          <a:prstGeom prst="rect">
            <a:avLst/>
          </a:prstGeom>
        </p:spPr>
      </p:pic>
      <p:sp>
        <p:nvSpPr>
          <p:cNvPr id="24" name="思想气泡: 云 23">
            <a:extLst>
              <a:ext uri="{FF2B5EF4-FFF2-40B4-BE49-F238E27FC236}">
                <a16:creationId xmlns:a16="http://schemas.microsoft.com/office/drawing/2014/main" id="{85E48965-F6A5-4280-9DA1-965FF2B32AC4}"/>
              </a:ext>
            </a:extLst>
          </p:cNvPr>
          <p:cNvSpPr/>
          <p:nvPr/>
        </p:nvSpPr>
        <p:spPr>
          <a:xfrm>
            <a:off x="6811378" y="5129711"/>
            <a:ext cx="3060000" cy="1080000"/>
          </a:xfrm>
          <a:prstGeom prst="cloudCallout">
            <a:avLst>
              <a:gd name="adj1" fmla="val 64241"/>
              <a:gd name="adj2" fmla="val -30822"/>
            </a:avLst>
          </a:prstGeom>
          <a:solidFill>
            <a:schemeClr val="bg1"/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“可以据此核对原文，并进一步判断证据是否充分。”</a:t>
            </a:r>
            <a:endParaRPr lang="zh-CN" altLang="zh-CN" sz="1400" dirty="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pic>
        <p:nvPicPr>
          <p:cNvPr id="25" name="图片 24">
            <a:extLst>
              <a:ext uri="{FF2B5EF4-FFF2-40B4-BE49-F238E27FC236}">
                <a16:creationId xmlns:a16="http://schemas.microsoft.com/office/drawing/2014/main" id="{6B747D4F-033D-425F-99F5-93F59F5F6097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875986" y="2801895"/>
            <a:ext cx="2757830" cy="696665"/>
          </a:xfrm>
          <a:prstGeom prst="rect">
            <a:avLst/>
          </a:prstGeom>
        </p:spPr>
      </p:pic>
      <p:pic>
        <p:nvPicPr>
          <p:cNvPr id="26" name="图片 25">
            <a:extLst>
              <a:ext uri="{FF2B5EF4-FFF2-40B4-BE49-F238E27FC236}">
                <a16:creationId xmlns:a16="http://schemas.microsoft.com/office/drawing/2014/main" id="{DE0B9578-BEA3-4D19-A119-76A090CB906C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885960" y="3227606"/>
            <a:ext cx="4016726" cy="684098"/>
          </a:xfrm>
          <a:prstGeom prst="rect">
            <a:avLst/>
          </a:prstGeom>
        </p:spPr>
      </p:pic>
      <p:pic>
        <p:nvPicPr>
          <p:cNvPr id="27" name="图片 26">
            <a:extLst>
              <a:ext uri="{FF2B5EF4-FFF2-40B4-BE49-F238E27FC236}">
                <a16:creationId xmlns:a16="http://schemas.microsoft.com/office/drawing/2014/main" id="{0725B783-75DA-4D72-ABCD-B7F5A74292A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43215" y="3997022"/>
            <a:ext cx="536007" cy="523685"/>
          </a:xfrm>
          <a:prstGeom prst="rect">
            <a:avLst/>
          </a:prstGeom>
        </p:spPr>
      </p:pic>
      <p:sp>
        <p:nvSpPr>
          <p:cNvPr id="28" name="矩形: 圆角 27">
            <a:extLst>
              <a:ext uri="{FF2B5EF4-FFF2-40B4-BE49-F238E27FC236}">
                <a16:creationId xmlns:a16="http://schemas.microsoft.com/office/drawing/2014/main" id="{A57A1491-B6AB-433A-B8BB-C541172DD2CB}"/>
              </a:ext>
            </a:extLst>
          </p:cNvPr>
          <p:cNvSpPr/>
          <p:nvPr/>
        </p:nvSpPr>
        <p:spPr>
          <a:xfrm>
            <a:off x="6778491" y="4004161"/>
            <a:ext cx="4320000" cy="1058918"/>
          </a:xfrm>
          <a:prstGeom prst="roundRect">
            <a:avLst/>
          </a:prstGeom>
          <a:noFill/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just"/>
            <a:r>
              <a:rPr lang="zh-CN" altLang="en-US" sz="1600" dirty="0">
                <a:latin typeface="宋体" panose="02010600030101010101" pitchFamily="2" charset="-122"/>
                <a:ea typeface="宋体" panose="02010600030101010101" pitchFamily="2" charset="-122"/>
              </a:rPr>
              <a:t>“请逐项列出已查到的研究</a:t>
            </a:r>
            <a:r>
              <a:rPr lang="en-US" altLang="zh-CN" sz="1600" dirty="0">
                <a:latin typeface="宋体" panose="02010600030101010101" pitchFamily="2" charset="-122"/>
                <a:ea typeface="宋体" panose="02010600030101010101" pitchFamily="2" charset="-122"/>
              </a:rPr>
              <a:t>及其局</a:t>
            </a:r>
            <a:r>
              <a:rPr lang="zh-CN" altLang="en-US" sz="1600" dirty="0">
                <a:latin typeface="宋体" panose="02010600030101010101" pitchFamily="2" charset="-122"/>
                <a:ea typeface="宋体" panose="02010600030101010101" pitchFamily="2" charset="-122"/>
              </a:rPr>
              <a:t>限，不能用短期结果推断长期安全性。”（回答要求示</a:t>
            </a:r>
            <a:r>
              <a:rPr lang="en-US" altLang="zh-CN" sz="1600" dirty="0">
                <a:latin typeface="宋体" panose="02010600030101010101" pitchFamily="2" charset="-122"/>
                <a:ea typeface="宋体" panose="02010600030101010101" pitchFamily="2" charset="-122"/>
              </a:rPr>
              <a:t>例）</a:t>
            </a:r>
            <a:endParaRPr lang="zh-CN" altLang="zh-CN" sz="1600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cxnSp>
        <p:nvCxnSpPr>
          <p:cNvPr id="29" name="直接连接符 28">
            <a:extLst>
              <a:ext uri="{FF2B5EF4-FFF2-40B4-BE49-F238E27FC236}">
                <a16:creationId xmlns:a16="http://schemas.microsoft.com/office/drawing/2014/main" id="{0B94A7BB-F01E-4668-BA65-DEE682562706}"/>
              </a:ext>
            </a:extLst>
          </p:cNvPr>
          <p:cNvCxnSpPr>
            <a:cxnSpLocks/>
          </p:cNvCxnSpPr>
          <p:nvPr/>
        </p:nvCxnSpPr>
        <p:spPr>
          <a:xfrm>
            <a:off x="6083292" y="918970"/>
            <a:ext cx="12708" cy="468000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28710256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yzu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17175" y="246888"/>
            <a:ext cx="1691640" cy="54864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274320"/>
            <a:ext cx="960120" cy="502920"/>
          </a:xfrm>
          <a:prstGeom prst="rect">
            <a:avLst/>
          </a:prstGeom>
          <a:solidFill>
            <a:srgbClr val="006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" y="341114"/>
            <a:ext cx="914400" cy="3693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400" b="1" i="0" dirty="0">
                <a:solidFill>
                  <a:srgbClr val="FFFFFF"/>
                </a:solidFill>
                <a:latin typeface="Microsoft YaHei"/>
                <a:ea typeface="Microsoft YaHei"/>
              </a:rPr>
              <a:t>2.4.2</a:t>
            </a:r>
          </a:p>
        </p:txBody>
      </p:sp>
      <p:sp>
        <p:nvSpPr>
          <p:cNvPr id="6" name="Rectangle 5"/>
          <p:cNvSpPr/>
          <p:nvPr/>
        </p:nvSpPr>
        <p:spPr>
          <a:xfrm>
            <a:off x="960120" y="274320"/>
            <a:ext cx="9052560" cy="502920"/>
          </a:xfrm>
          <a:prstGeom prst="rect">
            <a:avLst/>
          </a:prstGeom>
          <a:solidFill>
            <a:srgbClr val="3A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234440" y="341114"/>
            <a:ext cx="8686800" cy="3693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400" b="1" i="0" dirty="0" err="1">
                <a:solidFill>
                  <a:srgbClr val="FFFFFF"/>
                </a:solidFill>
                <a:latin typeface="Microsoft YaHei"/>
                <a:ea typeface="Microsoft YaHei"/>
              </a:rPr>
              <a:t>网页时效性：旧</a:t>
            </a:r>
            <a:r>
              <a:rPr sz="2400" b="1" i="0" dirty="0">
                <a:solidFill>
                  <a:srgbClr val="FFFFFF"/>
                </a:solidFill>
                <a:latin typeface="Microsoft YaHei"/>
                <a:ea typeface="Microsoft YaHei"/>
              </a:rPr>
              <a:t>信息可</a:t>
            </a:r>
            <a:r>
              <a:rPr sz="2400" b="1" i="0" dirty="0" err="1">
                <a:solidFill>
                  <a:srgbClr val="FFFFFF"/>
                </a:solidFill>
                <a:latin typeface="Microsoft YaHei"/>
                <a:ea typeface="Microsoft YaHei"/>
              </a:rPr>
              <a:t>能仍出现在结果中</a:t>
            </a:r>
            <a:endParaRPr sz="2400" b="1" i="0" dirty="0">
              <a:solidFill>
                <a:srgbClr val="FFFFFF"/>
              </a:solidFill>
              <a:latin typeface="Microsoft YaHei"/>
              <a:ea typeface="Microsoft YaHei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655320" y="862322"/>
            <a:ext cx="10344374" cy="5409742"/>
          </a:xfrm>
          <a:prstGeom prst="rect">
            <a:avLst/>
          </a:prstGeom>
          <a:noFill/>
        </p:spPr>
        <p:txBody>
          <a:bodyPr wrap="square" lIns="36000" tIns="36000" rIns="36000" bIns="36000" anchor="t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2400" b="1" dirty="0" err="1">
                <a:solidFill>
                  <a:srgbClr val="004CA0"/>
                </a:solidFill>
                <a:latin typeface="Consolas"/>
                <a:ea typeface="Consolas"/>
              </a:rPr>
              <a:t>提问</a:t>
            </a:r>
            <a:r>
              <a:rPr sz="2400" b="1" dirty="0">
                <a:solidFill>
                  <a:srgbClr val="004CA0"/>
                </a:solidFill>
                <a:latin typeface="Consolas"/>
                <a:ea typeface="Consolas"/>
              </a:rPr>
              <a:t>："</a:t>
            </a:r>
            <a:r>
              <a:rPr sz="2400" b="1" dirty="0" err="1">
                <a:solidFill>
                  <a:srgbClr val="004CA0"/>
                </a:solidFill>
                <a:latin typeface="Consolas"/>
                <a:ea typeface="Consolas"/>
              </a:rPr>
              <a:t>北京海淀黄庄附近通宵自习场地</a:t>
            </a:r>
            <a:r>
              <a:rPr sz="2400" b="1" dirty="0">
                <a:solidFill>
                  <a:srgbClr val="004CA0"/>
                </a:solidFill>
                <a:latin typeface="Consolas"/>
                <a:ea typeface="Consolas"/>
              </a:rPr>
              <a:t>"</a:t>
            </a:r>
          </a:p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2200" b="0" dirty="0">
                <a:solidFill>
                  <a:srgbClr val="333333"/>
                </a:solidFill>
                <a:latin typeface="Microsoft YaHei"/>
                <a:ea typeface="Microsoft YaHei"/>
              </a:rPr>
              <a:t>假设</a:t>
            </a:r>
            <a:r>
              <a:rPr sz="2200" b="0" dirty="0" err="1">
                <a:solidFill>
                  <a:srgbClr val="333333"/>
                </a:solidFill>
                <a:latin typeface="Microsoft YaHei"/>
                <a:ea typeface="Microsoft YaHei"/>
              </a:rPr>
              <a:t>检索结果列出</a:t>
            </a:r>
            <a:r>
              <a:rPr sz="2200" b="0" dirty="0">
                <a:solidFill>
                  <a:srgbClr val="333333"/>
                </a:solidFill>
                <a:latin typeface="Microsoft YaHei"/>
                <a:ea typeface="Microsoft YaHei"/>
              </a:rPr>
              <a:t>：</a:t>
            </a:r>
          </a:p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800" b="1" dirty="0">
                <a:solidFill>
                  <a:srgbClr val="0066CC"/>
                </a:solidFill>
                <a:latin typeface="Consolas"/>
                <a:ea typeface="Consolas"/>
              </a:rPr>
              <a:t>     </a:t>
            </a:r>
            <a:r>
              <a:rPr sz="2200" b="1" dirty="0">
                <a:solidFill>
                  <a:srgbClr val="0066CC"/>
                </a:solidFill>
                <a:latin typeface="Consolas"/>
                <a:ea typeface="Consolas"/>
              </a:rPr>
              <a:t> </a:t>
            </a:r>
            <a:r>
              <a:rPr sz="2200" b="1" dirty="0" err="1">
                <a:solidFill>
                  <a:srgbClr val="0066CC"/>
                </a:solidFill>
                <a:latin typeface="Consolas"/>
                <a:ea typeface="Consolas"/>
              </a:rPr>
              <a:t>  “某大学附</a:t>
            </a:r>
            <a:r>
              <a:rPr sz="2200" b="1" dirty="0">
                <a:solidFill>
                  <a:srgbClr val="0066CC"/>
                </a:solidFill>
                <a:latin typeface="Consolas"/>
                <a:ea typeface="Consolas"/>
              </a:rPr>
              <a:t>近图</a:t>
            </a:r>
            <a:r>
              <a:rPr sz="2200" b="1" dirty="0" err="1">
                <a:solidFill>
                  <a:srgbClr val="0066CC"/>
                </a:solidFill>
                <a:latin typeface="Consolas"/>
                <a:ea typeface="Consolas"/>
              </a:rPr>
              <a:t>书馆，全天开放</a:t>
            </a:r>
            <a:r>
              <a:rPr sz="2200" b="1" dirty="0">
                <a:solidFill>
                  <a:srgbClr val="0066CC"/>
                </a:solidFill>
                <a:latin typeface="Consolas"/>
                <a:ea typeface="Consolas"/>
              </a:rPr>
              <a:t>。”</a:t>
            </a:r>
            <a:endParaRPr sz="1800" b="1" dirty="0">
              <a:solidFill>
                <a:srgbClr val="0066CC"/>
              </a:solidFill>
              <a:latin typeface="Consolas"/>
              <a:ea typeface="Consolas"/>
            </a:endParaRPr>
          </a:p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2200" b="1" dirty="0" err="1">
                <a:solidFill>
                  <a:srgbClr val="F58020"/>
                </a:solidFill>
                <a:latin typeface="Microsoft YaHei"/>
                <a:ea typeface="Microsoft YaHei"/>
              </a:rPr>
              <a:t>实际到达后，可</a:t>
            </a:r>
            <a:r>
              <a:rPr sz="2200" b="1" dirty="0">
                <a:solidFill>
                  <a:srgbClr val="F58020"/>
                </a:solidFill>
                <a:latin typeface="Microsoft YaHei"/>
                <a:ea typeface="Microsoft YaHei"/>
              </a:rPr>
              <a:t>能发现开放</a:t>
            </a:r>
            <a:r>
              <a:rPr sz="2200" b="1" dirty="0" err="1">
                <a:solidFill>
                  <a:srgbClr val="F58020"/>
                </a:solidFill>
                <a:latin typeface="Microsoft YaHei"/>
                <a:ea typeface="Microsoft YaHei"/>
              </a:rPr>
              <a:t>安排已经改变</a:t>
            </a:r>
            <a:r>
              <a:rPr sz="2200" b="1" dirty="0">
                <a:solidFill>
                  <a:srgbClr val="F58020"/>
                </a:solidFill>
                <a:latin typeface="Microsoft YaHei"/>
                <a:ea typeface="Microsoft YaHei"/>
              </a:rPr>
              <a:t>。</a:t>
            </a:r>
          </a:p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2200" b="0" dirty="0" err="1">
                <a:solidFill>
                  <a:srgbClr val="333333"/>
                </a:solidFill>
                <a:latin typeface="Microsoft YaHei"/>
                <a:ea typeface="Microsoft YaHei"/>
              </a:rPr>
              <a:t>核</a:t>
            </a:r>
            <a:r>
              <a:rPr sz="2200" b="0" dirty="0">
                <a:solidFill>
                  <a:srgbClr val="333333"/>
                </a:solidFill>
                <a:latin typeface="Microsoft YaHei"/>
                <a:ea typeface="Microsoft YaHei"/>
              </a:rPr>
              <a:t>对链接</a:t>
            </a:r>
            <a:r>
              <a:rPr sz="2200" b="0" dirty="0" err="1">
                <a:solidFill>
                  <a:srgbClr val="333333"/>
                </a:solidFill>
                <a:latin typeface="Microsoft YaHei"/>
                <a:ea typeface="Microsoft YaHei"/>
              </a:rPr>
              <a:t>发现：引用的</a:t>
            </a:r>
            <a:r>
              <a:rPr sz="2200" b="1" dirty="0" err="1">
                <a:solidFill>
                  <a:srgbClr val="F58020"/>
                </a:solidFill>
                <a:latin typeface="Microsoft YaHei"/>
                <a:ea typeface="Microsoft YaHei"/>
              </a:rPr>
              <a:t>是2</a:t>
            </a:r>
            <a:r>
              <a:rPr sz="2200" b="1" dirty="0">
                <a:solidFill>
                  <a:srgbClr val="F58020"/>
                </a:solidFill>
                <a:latin typeface="Microsoft YaHei"/>
                <a:ea typeface="Microsoft YaHei"/>
              </a:rPr>
              <a:t>016年</a:t>
            </a:r>
            <a:r>
              <a:rPr sz="2200" b="1" dirty="0" err="1">
                <a:solidFill>
                  <a:srgbClr val="F58020"/>
                </a:solidFill>
                <a:latin typeface="Microsoft YaHei"/>
                <a:ea typeface="Microsoft YaHei"/>
              </a:rPr>
              <a:t>的论坛旧帖</a:t>
            </a:r>
            <a:r>
              <a:rPr sz="2200" b="0" dirty="0">
                <a:solidFill>
                  <a:srgbClr val="333333"/>
                </a:solidFill>
                <a:latin typeface="Microsoft YaHei"/>
                <a:ea typeface="Microsoft YaHei"/>
              </a:rPr>
              <a:t>。</a:t>
            </a:r>
            <a:endParaRPr sz="2000" b="0" dirty="0">
              <a:solidFill>
                <a:srgbClr val="333333"/>
              </a:solidFill>
              <a:latin typeface="Microsoft YaHei"/>
              <a:ea typeface="Microsoft YaHei"/>
            </a:endParaRPr>
          </a:p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2400" b="1" dirty="0" err="1">
                <a:solidFill>
                  <a:srgbClr val="0066CC"/>
                </a:solidFill>
                <a:latin typeface="Microsoft YaHei"/>
                <a:ea typeface="Microsoft YaHei"/>
              </a:rPr>
              <a:t>原因：相关网页不一定是最新网页</a:t>
            </a:r>
            <a:endParaRPr sz="2400" b="1" dirty="0">
              <a:solidFill>
                <a:srgbClr val="0066CC"/>
              </a:solidFill>
              <a:latin typeface="Microsoft YaHei"/>
              <a:ea typeface="Microsoft YaHei"/>
            </a:endParaRPr>
          </a:p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2200" b="0" dirty="0">
                <a:solidFill>
                  <a:srgbClr val="333333"/>
                </a:solidFill>
                <a:latin typeface="Microsoft YaHei"/>
                <a:ea typeface="Microsoft YaHei"/>
              </a:rPr>
              <a:t>旧网</a:t>
            </a:r>
            <a:r>
              <a:rPr sz="2200" b="0" dirty="0" err="1">
                <a:solidFill>
                  <a:srgbClr val="333333"/>
                </a:solidFill>
                <a:latin typeface="Microsoft YaHei"/>
                <a:ea typeface="Microsoft YaHei"/>
              </a:rPr>
              <a:t>页可能仍被检索</a:t>
            </a:r>
            <a:r>
              <a:rPr sz="2200" b="0" dirty="0">
                <a:solidFill>
                  <a:srgbClr val="333333"/>
                </a:solidFill>
                <a:latin typeface="Microsoft YaHei"/>
                <a:ea typeface="Microsoft YaHei"/>
              </a:rPr>
              <a:t>到。</a:t>
            </a:r>
            <a:r>
              <a:rPr sz="2200" b="1" dirty="0" err="1">
                <a:solidFill>
                  <a:srgbClr val="0066CC"/>
                </a:solidFill>
                <a:latin typeface="Microsoft YaHei"/>
                <a:ea typeface="Microsoft YaHei"/>
              </a:rPr>
              <a:t>如果没有检</a:t>
            </a:r>
            <a:r>
              <a:rPr sz="2200" b="0" dirty="0">
                <a:solidFill>
                  <a:srgbClr val="333333"/>
                </a:solidFill>
                <a:latin typeface="Microsoft YaHei"/>
                <a:ea typeface="Microsoft YaHei"/>
              </a:rPr>
              <a:t>查日</a:t>
            </a:r>
            <a:r>
              <a:rPr sz="2200" b="0" dirty="0" err="1">
                <a:solidFill>
                  <a:srgbClr val="333333"/>
                </a:solidFill>
                <a:latin typeface="Microsoft YaHei"/>
                <a:ea typeface="Microsoft YaHei"/>
              </a:rPr>
              <a:t>期和适用范围，</a:t>
            </a:r>
            <a:r>
              <a:rPr sz="2200" b="0" dirty="0">
                <a:solidFill>
                  <a:srgbClr val="333333"/>
                </a:solidFill>
                <a:latin typeface="Microsoft YaHei"/>
                <a:ea typeface="Microsoft YaHei"/>
              </a:rPr>
              <a:t>模型</a:t>
            </a:r>
            <a:r>
              <a:rPr sz="2200" b="0" dirty="0" err="1">
                <a:solidFill>
                  <a:srgbClr val="333333"/>
                </a:solidFill>
                <a:latin typeface="Microsoft YaHei"/>
                <a:ea typeface="Microsoft YaHei"/>
              </a:rPr>
              <a:t>就可能将旧信息用于当前问题</a:t>
            </a:r>
            <a:r>
              <a:rPr sz="2200" b="0" dirty="0">
                <a:solidFill>
                  <a:srgbClr val="333333"/>
                </a:solidFill>
                <a:latin typeface="Microsoft YaHei"/>
                <a:ea typeface="Microsoft YaHei"/>
              </a:rPr>
              <a:t>。</a:t>
            </a:r>
          </a:p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2200" b="1" dirty="0">
                <a:solidFill>
                  <a:srgbClr val="F58020"/>
                </a:solidFill>
                <a:latin typeface="Microsoft YaHei"/>
                <a:ea typeface="Microsoft YaHei"/>
              </a:rPr>
              <a:t>科研</a:t>
            </a:r>
            <a:r>
              <a:rPr sz="2200" b="1" dirty="0" err="1">
                <a:solidFill>
                  <a:srgbClr val="F58020"/>
                </a:solidFill>
                <a:latin typeface="Microsoft YaHei"/>
                <a:ea typeface="Microsoft YaHei"/>
              </a:rPr>
              <a:t>中也可能遇到类似情况</a:t>
            </a:r>
            <a:r>
              <a:rPr sz="2200" b="1" dirty="0">
                <a:solidFill>
                  <a:srgbClr val="F58020"/>
                </a:solidFill>
                <a:latin typeface="Microsoft YaHei"/>
                <a:ea typeface="Microsoft YaHei"/>
              </a:rPr>
              <a:t>：</a:t>
            </a:r>
          </a:p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2200" b="0" dirty="0">
                <a:solidFill>
                  <a:srgbClr val="333333"/>
                </a:solidFill>
                <a:latin typeface="Microsoft YaHei"/>
                <a:ea typeface="Microsoft YaHei"/>
              </a:rPr>
              <a:t>• </a:t>
            </a:r>
            <a:r>
              <a:rPr sz="2200" b="0" dirty="0" err="1">
                <a:solidFill>
                  <a:srgbClr val="333333"/>
                </a:solidFill>
                <a:latin typeface="Microsoft YaHei"/>
                <a:ea typeface="Microsoft YaHei"/>
              </a:rPr>
              <a:t>核心期刊投稿格式</a:t>
            </a:r>
            <a:r>
              <a:rPr sz="2200" b="0" dirty="0">
                <a:solidFill>
                  <a:srgbClr val="333333"/>
                </a:solidFill>
                <a:latin typeface="Microsoft YaHei"/>
                <a:ea typeface="Microsoft YaHei"/>
              </a:rPr>
              <a:t> → </a:t>
            </a:r>
            <a:r>
              <a:rPr sz="2200" b="0" dirty="0" err="1">
                <a:solidFill>
                  <a:srgbClr val="333333"/>
                </a:solidFill>
                <a:latin typeface="Microsoft YaHei"/>
                <a:ea typeface="Microsoft YaHei"/>
              </a:rPr>
              <a:t>抓到几年前的旧通告</a:t>
            </a:r>
            <a:endParaRPr sz="2200" b="0" dirty="0">
              <a:solidFill>
                <a:srgbClr val="333333"/>
              </a:solidFill>
              <a:latin typeface="Microsoft YaHei"/>
              <a:ea typeface="Microsoft YaHei"/>
            </a:endParaRPr>
          </a:p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2200" b="0" dirty="0">
                <a:solidFill>
                  <a:srgbClr val="333333"/>
                </a:solidFill>
                <a:latin typeface="Microsoft YaHei"/>
                <a:ea typeface="Microsoft YaHei"/>
              </a:rPr>
              <a:t>• </a:t>
            </a:r>
            <a:r>
              <a:rPr sz="2200" b="0" dirty="0" err="1">
                <a:solidFill>
                  <a:srgbClr val="333333"/>
                </a:solidFill>
                <a:latin typeface="Microsoft YaHei"/>
                <a:ea typeface="Microsoft YaHei"/>
              </a:rPr>
              <a:t>学术会议延期截稿</a:t>
            </a:r>
            <a:r>
              <a:rPr sz="2200" b="0" dirty="0">
                <a:solidFill>
                  <a:srgbClr val="333333"/>
                </a:solidFill>
                <a:latin typeface="Microsoft YaHei"/>
                <a:ea typeface="Microsoft YaHei"/>
              </a:rPr>
              <a:t> → </a:t>
            </a:r>
            <a:r>
              <a:rPr sz="2200" b="0" dirty="0" err="1">
                <a:solidFill>
                  <a:srgbClr val="333333"/>
                </a:solidFill>
                <a:latin typeface="Microsoft YaHei"/>
                <a:ea typeface="Microsoft YaHei"/>
              </a:rPr>
              <a:t>错过真实截止日期</a:t>
            </a:r>
            <a:endParaRPr sz="2200" b="0" dirty="0">
              <a:solidFill>
                <a:srgbClr val="333333"/>
              </a:solidFill>
              <a:latin typeface="Microsoft YaHei"/>
              <a:ea typeface="Microsoft YaHei"/>
            </a:endParaRPr>
          </a:p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2200" b="0" dirty="0">
                <a:solidFill>
                  <a:srgbClr val="333333"/>
                </a:solidFill>
                <a:latin typeface="Microsoft YaHei"/>
                <a:ea typeface="Microsoft YaHei"/>
              </a:rPr>
              <a:t>• </a:t>
            </a:r>
            <a:r>
              <a:rPr sz="2200" b="0" dirty="0" err="1">
                <a:solidFill>
                  <a:srgbClr val="333333"/>
                </a:solidFill>
                <a:latin typeface="Microsoft YaHei"/>
                <a:ea typeface="Microsoft YaHei"/>
              </a:rPr>
              <a:t>学位论文盲审规定</a:t>
            </a:r>
            <a:r>
              <a:rPr sz="2200" b="0" dirty="0">
                <a:solidFill>
                  <a:srgbClr val="333333"/>
                </a:solidFill>
                <a:latin typeface="Microsoft YaHei"/>
                <a:ea typeface="Microsoft YaHei"/>
              </a:rPr>
              <a:t> → </a:t>
            </a:r>
            <a:r>
              <a:rPr sz="2200" b="0" dirty="0" err="1">
                <a:solidFill>
                  <a:srgbClr val="333333"/>
                </a:solidFill>
                <a:latin typeface="Microsoft YaHei"/>
                <a:ea typeface="Microsoft YaHei"/>
              </a:rPr>
              <a:t>按过时格式排版</a:t>
            </a:r>
            <a:endParaRPr sz="2200" b="0" dirty="0">
              <a:solidFill>
                <a:srgbClr val="333333"/>
              </a:solidFill>
              <a:latin typeface="Microsoft YaHei"/>
              <a:ea typeface="Microsoft YaHei"/>
            </a:endParaRPr>
          </a:p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2400" b="1" dirty="0">
                <a:solidFill>
                  <a:srgbClr val="0066CC"/>
                </a:solidFill>
                <a:latin typeface="Microsoft YaHei"/>
                <a:ea typeface="Microsoft YaHei"/>
              </a:rPr>
              <a:t>对时</a:t>
            </a:r>
            <a:r>
              <a:rPr sz="2400" b="1" dirty="0" err="1">
                <a:solidFill>
                  <a:srgbClr val="0066CC"/>
                </a:solidFill>
                <a:latin typeface="Microsoft YaHei"/>
                <a:ea typeface="Microsoft YaHei"/>
              </a:rPr>
              <a:t>效性要求</a:t>
            </a:r>
            <a:r>
              <a:rPr sz="2400" b="1" dirty="0" err="1">
                <a:solidFill>
                  <a:srgbClr val="004CA0"/>
                </a:solidFill>
                <a:latin typeface="Microsoft YaHei"/>
                <a:ea typeface="Microsoft YaHei"/>
              </a:rPr>
              <a:t>高的信息，应打开官方原文核对</a:t>
            </a:r>
            <a:r>
              <a:rPr sz="2400" b="1" dirty="0">
                <a:solidFill>
                  <a:srgbClr val="004CA0"/>
                </a:solidFill>
                <a:latin typeface="Microsoft YaHei"/>
                <a:ea typeface="Microsoft YaHei"/>
              </a:rPr>
              <a:t>发布日</a:t>
            </a:r>
            <a:r>
              <a:rPr sz="2400" b="1" dirty="0" err="1">
                <a:solidFill>
                  <a:srgbClr val="004CA0"/>
                </a:solidFill>
                <a:latin typeface="Microsoft YaHei"/>
                <a:ea typeface="Microsoft YaHei"/>
              </a:rPr>
              <a:t>期与</a:t>
            </a:r>
            <a:r>
              <a:rPr sz="2400" b="1" dirty="0" err="1">
                <a:solidFill>
                  <a:srgbClr val="F58020"/>
                </a:solidFill>
                <a:latin typeface="Microsoft YaHei"/>
                <a:ea typeface="Microsoft YaHei"/>
              </a:rPr>
              <a:t>生效范围</a:t>
            </a:r>
            <a:r>
              <a:rPr sz="2400" b="1" dirty="0">
                <a:solidFill>
                  <a:srgbClr val="004CA0"/>
                </a:solidFill>
                <a:latin typeface="Microsoft YaHei"/>
                <a:ea typeface="Microsoft YaHei"/>
              </a:rPr>
              <a:t>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94415" y="6446520"/>
            <a:ext cx="914400" cy="320040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pPr algn="r"/>
            <a:r>
              <a:rPr sz="1100">
                <a:solidFill>
                  <a:srgbClr val="999999"/>
                </a:solidFill>
                <a:latin typeface="Arial"/>
              </a:rPr>
              <a:t>37 / 50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yzu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17175" y="246888"/>
            <a:ext cx="1691640" cy="54864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274320"/>
            <a:ext cx="960120" cy="502920"/>
          </a:xfrm>
          <a:prstGeom prst="rect">
            <a:avLst/>
          </a:prstGeom>
          <a:solidFill>
            <a:srgbClr val="006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" y="341114"/>
            <a:ext cx="914400" cy="3693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400" b="1" i="0" dirty="0">
                <a:solidFill>
                  <a:srgbClr val="FFFFFF"/>
                </a:solidFill>
                <a:latin typeface="Microsoft YaHei"/>
                <a:ea typeface="Microsoft YaHei"/>
              </a:rPr>
              <a:t>2.4.3</a:t>
            </a:r>
          </a:p>
        </p:txBody>
      </p:sp>
      <p:sp>
        <p:nvSpPr>
          <p:cNvPr id="6" name="Rectangle 5"/>
          <p:cNvSpPr/>
          <p:nvPr/>
        </p:nvSpPr>
        <p:spPr>
          <a:xfrm>
            <a:off x="960120" y="274320"/>
            <a:ext cx="9052560" cy="502920"/>
          </a:xfrm>
          <a:prstGeom prst="rect">
            <a:avLst/>
          </a:prstGeom>
          <a:solidFill>
            <a:srgbClr val="3A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234440" y="341114"/>
            <a:ext cx="8686800" cy="3693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400" b="1" i="0" dirty="0">
                <a:solidFill>
                  <a:srgbClr val="FFFFFF"/>
                </a:solidFill>
                <a:latin typeface="Microsoft YaHei"/>
                <a:ea typeface="Microsoft YaHei"/>
              </a:rPr>
              <a:t>AI</a:t>
            </a:r>
            <a:r>
              <a:rPr sz="2400" b="1" i="0" dirty="0" err="1">
                <a:solidFill>
                  <a:srgbClr val="FFFFFF"/>
                </a:solidFill>
                <a:latin typeface="Microsoft YaHei"/>
                <a:ea typeface="Microsoft YaHei"/>
              </a:rPr>
              <a:t>检索与读</a:t>
            </a:r>
            <a:r>
              <a:rPr sz="2400" b="1" i="0" dirty="0">
                <a:solidFill>
                  <a:srgbClr val="FFFFFF"/>
                </a:solidFill>
                <a:latin typeface="Microsoft YaHei"/>
                <a:ea typeface="Microsoft YaHei"/>
              </a:rPr>
              <a:t>取网</a:t>
            </a:r>
            <a:r>
              <a:rPr sz="2400" b="1" i="0" dirty="0" err="1">
                <a:solidFill>
                  <a:srgbClr val="FFFFFF"/>
                </a:solidFill>
                <a:latin typeface="Microsoft YaHei"/>
                <a:ea typeface="Microsoft YaHei"/>
              </a:rPr>
              <a:t>页的</a:t>
            </a:r>
            <a:r>
              <a:rPr sz="2400" b="1" i="0" dirty="0">
                <a:solidFill>
                  <a:srgbClr val="FFFFFF"/>
                </a:solidFill>
                <a:latin typeface="Microsoft YaHei"/>
                <a:ea typeface="Microsoft YaHei"/>
              </a:rPr>
              <a:t>常见</a:t>
            </a:r>
            <a:r>
              <a:rPr sz="2400" b="1" i="0" dirty="0" err="1">
                <a:solidFill>
                  <a:srgbClr val="FFFFFF"/>
                </a:solidFill>
                <a:latin typeface="Microsoft YaHei"/>
                <a:ea typeface="Microsoft YaHei"/>
              </a:rPr>
              <a:t>过程</a:t>
            </a:r>
            <a:endParaRPr sz="2400" b="1" i="0" dirty="0">
              <a:solidFill>
                <a:srgbClr val="FFFFFF"/>
              </a:solidFill>
              <a:latin typeface="Microsoft YaHei"/>
              <a:ea typeface="Microsoft YaHei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502920" y="960120"/>
            <a:ext cx="11247120" cy="3693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400" b="1" i="0" dirty="0" err="1">
                <a:solidFill>
                  <a:srgbClr val="0066CC"/>
                </a:solidFill>
                <a:latin typeface="Microsoft YaHei"/>
                <a:ea typeface="Microsoft YaHei"/>
              </a:rPr>
              <a:t>以下</a:t>
            </a:r>
            <a:r>
              <a:rPr sz="2400" b="1" i="0" dirty="0">
                <a:solidFill>
                  <a:srgbClr val="0066CC"/>
                </a:solidFill>
                <a:latin typeface="Microsoft YaHei"/>
                <a:ea typeface="Microsoft YaHei"/>
              </a:rPr>
              <a:t>为简化示意，具体系统实</a:t>
            </a:r>
            <a:r>
              <a:rPr sz="2400" b="1" i="0" dirty="0" err="1">
                <a:solidFill>
                  <a:srgbClr val="0066CC"/>
                </a:solidFill>
                <a:latin typeface="Microsoft YaHei"/>
                <a:ea typeface="Microsoft YaHei"/>
              </a:rPr>
              <a:t>现可能不同</a:t>
            </a:r>
            <a:endParaRPr sz="2400" b="1" i="0" dirty="0">
              <a:solidFill>
                <a:srgbClr val="0066CC"/>
              </a:solidFill>
              <a:latin typeface="Microsoft YaHei"/>
              <a:ea typeface="Microsoft YaHei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365760" y="1554480"/>
            <a:ext cx="2286000" cy="640080"/>
          </a:xfrm>
          <a:prstGeom prst="rect">
            <a:avLst/>
          </a:prstGeom>
          <a:solidFill>
            <a:srgbClr val="006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65760" y="1689854"/>
            <a:ext cx="2286000" cy="3693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400" b="1" i="0" dirty="0">
                <a:solidFill>
                  <a:srgbClr val="FFFFFF"/>
                </a:solidFill>
                <a:latin typeface="Microsoft YaHei"/>
                <a:ea typeface="Microsoft YaHei"/>
              </a:rPr>
              <a:t>① </a:t>
            </a:r>
            <a:r>
              <a:rPr sz="2400" b="1" i="0" dirty="0" err="1">
                <a:solidFill>
                  <a:srgbClr val="FFFFFF"/>
                </a:solidFill>
                <a:latin typeface="Microsoft YaHei"/>
                <a:ea typeface="Microsoft YaHei"/>
              </a:rPr>
              <a:t>任务下发</a:t>
            </a:r>
            <a:endParaRPr sz="2400" b="1" i="0" dirty="0">
              <a:solidFill>
                <a:srgbClr val="FFFFFF"/>
              </a:solidFill>
              <a:latin typeface="Microsoft YaHei"/>
              <a:ea typeface="Microsoft YaHei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365760" y="2194560"/>
            <a:ext cx="2286000" cy="2286000"/>
          </a:xfrm>
          <a:prstGeom prst="rect">
            <a:avLst/>
          </a:prstGeom>
          <a:solidFill>
            <a:srgbClr val="FFFFFF"/>
          </a:solidFill>
          <a:ln w="19050">
            <a:solidFill>
              <a:srgbClr val="0066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02920" y="2331720"/>
            <a:ext cx="2011680" cy="135421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200" b="0" i="0" dirty="0" err="1">
                <a:solidFill>
                  <a:srgbClr val="333333"/>
                </a:solidFill>
                <a:latin typeface="Microsoft YaHei"/>
                <a:ea typeface="Microsoft YaHei"/>
              </a:rPr>
              <a:t>判断是</a:t>
            </a:r>
            <a:r>
              <a:rPr sz="2200" b="0" i="0" dirty="0">
                <a:solidFill>
                  <a:srgbClr val="333333"/>
                </a:solidFill>
                <a:latin typeface="Microsoft YaHei"/>
                <a:ea typeface="Microsoft YaHei"/>
              </a:rPr>
              <a:t>否需</a:t>
            </a:r>
            <a:r>
              <a:rPr sz="2200" b="0" i="0" dirty="0" err="1">
                <a:solidFill>
                  <a:srgbClr val="333333"/>
                </a:solidFill>
                <a:latin typeface="Microsoft YaHei"/>
                <a:ea typeface="Microsoft YaHei"/>
              </a:rPr>
              <a:t>要外部资料，再</a:t>
            </a:r>
            <a:r>
              <a:rPr sz="2200" b="0" i="0" dirty="0">
                <a:solidFill>
                  <a:srgbClr val="333333"/>
                </a:solidFill>
                <a:latin typeface="Microsoft YaHei"/>
                <a:ea typeface="Microsoft YaHei"/>
              </a:rPr>
              <a:t>调用</a:t>
            </a:r>
            <a:r>
              <a:rPr sz="2200" b="0" i="0" dirty="0" err="1">
                <a:solidFill>
                  <a:srgbClr val="333333"/>
                </a:solidFill>
                <a:latin typeface="Microsoft YaHei"/>
                <a:ea typeface="Microsoft YaHei"/>
              </a:rPr>
              <a:t>搜索工具</a:t>
            </a:r>
            <a:endParaRPr sz="2200" b="0" i="0" dirty="0">
              <a:solidFill>
                <a:srgbClr val="333333"/>
              </a:solidFill>
              <a:latin typeface="Microsoft YaHei"/>
              <a:ea typeface="Microsoft YaHei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2697480" y="1554480"/>
            <a:ext cx="2286000" cy="640080"/>
          </a:xfrm>
          <a:prstGeom prst="rect">
            <a:avLst/>
          </a:prstGeom>
          <a:solidFill>
            <a:srgbClr val="004C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2697480" y="1689854"/>
            <a:ext cx="2286000" cy="3693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400" b="1" i="0" dirty="0">
                <a:solidFill>
                  <a:srgbClr val="FFFFFF"/>
                </a:solidFill>
                <a:latin typeface="Microsoft YaHei"/>
                <a:ea typeface="Microsoft YaHei"/>
              </a:rPr>
              <a:t>② </a:t>
            </a:r>
            <a:r>
              <a:rPr sz="2400" b="1" i="0" dirty="0" err="1">
                <a:solidFill>
                  <a:srgbClr val="FFFFFF"/>
                </a:solidFill>
                <a:latin typeface="Microsoft YaHei"/>
                <a:ea typeface="Microsoft YaHei"/>
              </a:rPr>
              <a:t>生成搜索词</a:t>
            </a:r>
            <a:endParaRPr sz="2400" b="1" i="0" dirty="0">
              <a:solidFill>
                <a:srgbClr val="FFFFFF"/>
              </a:solidFill>
              <a:latin typeface="Microsoft YaHei"/>
              <a:ea typeface="Microsoft YaHei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2697480" y="2194560"/>
            <a:ext cx="2286000" cy="2286000"/>
          </a:xfrm>
          <a:prstGeom prst="rect">
            <a:avLst/>
          </a:prstGeom>
          <a:solidFill>
            <a:srgbClr val="FFFFFF"/>
          </a:solidFill>
          <a:ln w="19050">
            <a:solidFill>
              <a:srgbClr val="004C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2834640" y="2331720"/>
            <a:ext cx="2011680" cy="135421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200" b="0" i="0" dirty="0" err="1">
                <a:solidFill>
                  <a:srgbClr val="333333"/>
                </a:solidFill>
                <a:latin typeface="Microsoft YaHei"/>
                <a:ea typeface="Microsoft YaHei"/>
              </a:rPr>
              <a:t>围绕问题生成关键词，并检索相关资料</a:t>
            </a:r>
            <a:endParaRPr sz="2200" b="0" i="0" dirty="0">
              <a:solidFill>
                <a:srgbClr val="333333"/>
              </a:solidFill>
              <a:latin typeface="Microsoft YaHei"/>
              <a:ea typeface="Microsoft YaHei"/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5029200" y="1554480"/>
            <a:ext cx="2286000" cy="640080"/>
          </a:xfrm>
          <a:prstGeom prst="rect">
            <a:avLst/>
          </a:prstGeom>
          <a:solidFill>
            <a:srgbClr val="006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5029200" y="1689854"/>
            <a:ext cx="2286000" cy="3693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400" b="1" i="0" dirty="0">
                <a:solidFill>
                  <a:srgbClr val="FFFFFF"/>
                </a:solidFill>
                <a:latin typeface="Microsoft YaHei"/>
                <a:ea typeface="Microsoft YaHei"/>
              </a:rPr>
              <a:t>③ </a:t>
            </a:r>
            <a:r>
              <a:rPr sz="2400" b="1" i="0" dirty="0" err="1">
                <a:solidFill>
                  <a:srgbClr val="FFFFFF"/>
                </a:solidFill>
                <a:latin typeface="Microsoft YaHei"/>
                <a:ea typeface="Microsoft YaHei"/>
              </a:rPr>
              <a:t>筛选过滤</a:t>
            </a:r>
            <a:endParaRPr sz="2400" b="1" i="0" dirty="0">
              <a:solidFill>
                <a:srgbClr val="FFFFFF"/>
              </a:solidFill>
              <a:latin typeface="Microsoft YaHei"/>
              <a:ea typeface="Microsoft YaHei"/>
            </a:endParaRPr>
          </a:p>
        </p:txBody>
      </p:sp>
      <p:sp>
        <p:nvSpPr>
          <p:cNvPr id="19" name="Rectangle 18"/>
          <p:cNvSpPr/>
          <p:nvPr/>
        </p:nvSpPr>
        <p:spPr>
          <a:xfrm>
            <a:off x="5029200" y="2194560"/>
            <a:ext cx="2286000" cy="2286000"/>
          </a:xfrm>
          <a:prstGeom prst="rect">
            <a:avLst/>
          </a:prstGeom>
          <a:solidFill>
            <a:srgbClr val="FFFFFF"/>
          </a:solidFill>
          <a:ln w="19050">
            <a:solidFill>
              <a:srgbClr val="0066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5166360" y="2331720"/>
            <a:ext cx="2011680" cy="101566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200" b="0" i="0" dirty="0" err="1">
                <a:solidFill>
                  <a:srgbClr val="333333"/>
                </a:solidFill>
                <a:latin typeface="Microsoft YaHei"/>
                <a:ea typeface="Microsoft YaHei"/>
              </a:rPr>
              <a:t>检查来源与相</a:t>
            </a:r>
            <a:r>
              <a:rPr sz="2200" b="0" i="0" dirty="0">
                <a:solidFill>
                  <a:srgbClr val="333333"/>
                </a:solidFill>
                <a:latin typeface="Microsoft YaHei"/>
                <a:ea typeface="Microsoft YaHei"/>
              </a:rPr>
              <a:t>关性</a:t>
            </a:r>
            <a:r>
              <a:rPr sz="2200" b="0" i="0" dirty="0" err="1">
                <a:solidFill>
                  <a:srgbClr val="333333"/>
                </a:solidFill>
                <a:latin typeface="Microsoft YaHei"/>
                <a:ea typeface="Microsoft YaHei"/>
              </a:rPr>
              <a:t>，筛</a:t>
            </a:r>
            <a:r>
              <a:rPr sz="2200" b="0" i="0" dirty="0">
                <a:solidFill>
                  <a:srgbClr val="333333"/>
                </a:solidFill>
                <a:latin typeface="Microsoft YaHei"/>
                <a:ea typeface="Microsoft YaHei"/>
              </a:rPr>
              <a:t>选可</a:t>
            </a:r>
            <a:r>
              <a:rPr sz="2200" b="0" i="0" dirty="0" err="1">
                <a:solidFill>
                  <a:srgbClr val="333333"/>
                </a:solidFill>
                <a:latin typeface="Microsoft YaHei"/>
                <a:ea typeface="Microsoft YaHei"/>
              </a:rPr>
              <a:t>用材料</a:t>
            </a:r>
            <a:endParaRPr sz="2200" b="0" i="0" dirty="0">
              <a:solidFill>
                <a:srgbClr val="333333"/>
              </a:solidFill>
              <a:latin typeface="Microsoft YaHei"/>
              <a:ea typeface="Microsoft YaHei"/>
            </a:endParaRPr>
          </a:p>
        </p:txBody>
      </p:sp>
      <p:sp>
        <p:nvSpPr>
          <p:cNvPr id="21" name="Rectangle 20"/>
          <p:cNvSpPr/>
          <p:nvPr/>
        </p:nvSpPr>
        <p:spPr>
          <a:xfrm>
            <a:off x="7360920" y="1554480"/>
            <a:ext cx="2286000" cy="640080"/>
          </a:xfrm>
          <a:prstGeom prst="rect">
            <a:avLst/>
          </a:prstGeom>
          <a:solidFill>
            <a:srgbClr val="004C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7360920" y="1689854"/>
            <a:ext cx="2286000" cy="3693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400" b="1" i="0" dirty="0">
                <a:solidFill>
                  <a:srgbClr val="FFFFFF"/>
                </a:solidFill>
                <a:latin typeface="Microsoft YaHei"/>
                <a:ea typeface="Microsoft YaHei"/>
              </a:rPr>
              <a:t>④ </a:t>
            </a:r>
            <a:r>
              <a:rPr sz="2400" b="1" i="0" dirty="0" err="1">
                <a:solidFill>
                  <a:srgbClr val="FFFFFF"/>
                </a:solidFill>
                <a:latin typeface="Microsoft YaHei"/>
                <a:ea typeface="Microsoft YaHei"/>
              </a:rPr>
              <a:t>提取摘要</a:t>
            </a:r>
            <a:endParaRPr sz="2400" b="1" i="0" dirty="0">
              <a:solidFill>
                <a:srgbClr val="FFFFFF"/>
              </a:solidFill>
              <a:latin typeface="Microsoft YaHei"/>
              <a:ea typeface="Microsoft YaHei"/>
            </a:endParaRPr>
          </a:p>
        </p:txBody>
      </p:sp>
      <p:sp>
        <p:nvSpPr>
          <p:cNvPr id="23" name="Rectangle 22"/>
          <p:cNvSpPr/>
          <p:nvPr/>
        </p:nvSpPr>
        <p:spPr>
          <a:xfrm>
            <a:off x="7360920" y="2194560"/>
            <a:ext cx="2286000" cy="2286000"/>
          </a:xfrm>
          <a:prstGeom prst="rect">
            <a:avLst/>
          </a:prstGeom>
          <a:solidFill>
            <a:srgbClr val="FFFFFF"/>
          </a:solidFill>
          <a:ln w="19050">
            <a:solidFill>
              <a:srgbClr val="004C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7498080" y="2331720"/>
            <a:ext cx="2011680" cy="101566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200" b="0" i="0" dirty="0" err="1">
                <a:solidFill>
                  <a:srgbClr val="333333"/>
                </a:solidFill>
                <a:latin typeface="Microsoft YaHei"/>
                <a:ea typeface="Microsoft YaHei"/>
              </a:rPr>
              <a:t>提取相</a:t>
            </a:r>
            <a:r>
              <a:rPr sz="2200" b="0" i="0" dirty="0">
                <a:solidFill>
                  <a:srgbClr val="333333"/>
                </a:solidFill>
                <a:latin typeface="Microsoft YaHei"/>
                <a:ea typeface="Microsoft YaHei"/>
              </a:rPr>
              <a:t>关片段</a:t>
            </a:r>
            <a:r>
              <a:rPr sz="2200" b="0" i="0" dirty="0" err="1">
                <a:solidFill>
                  <a:srgbClr val="333333"/>
                </a:solidFill>
                <a:latin typeface="Microsoft YaHei"/>
                <a:ea typeface="Microsoft YaHei"/>
              </a:rPr>
              <a:t>或摘要，保留必要上下</a:t>
            </a:r>
            <a:r>
              <a:rPr sz="2200" b="0" i="0" dirty="0">
                <a:solidFill>
                  <a:srgbClr val="333333"/>
                </a:solidFill>
                <a:latin typeface="Microsoft YaHei"/>
                <a:ea typeface="Microsoft YaHei"/>
              </a:rPr>
              <a:t>文</a:t>
            </a:r>
          </a:p>
        </p:txBody>
      </p:sp>
      <p:sp>
        <p:nvSpPr>
          <p:cNvPr id="25" name="Rectangle 24"/>
          <p:cNvSpPr/>
          <p:nvPr/>
        </p:nvSpPr>
        <p:spPr>
          <a:xfrm>
            <a:off x="9692640" y="1554480"/>
            <a:ext cx="2286000" cy="640080"/>
          </a:xfrm>
          <a:prstGeom prst="rect">
            <a:avLst/>
          </a:prstGeom>
          <a:solidFill>
            <a:srgbClr val="006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9692640" y="1689854"/>
            <a:ext cx="2286000" cy="3693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400" b="1" i="0" dirty="0">
                <a:solidFill>
                  <a:srgbClr val="FFFFFF"/>
                </a:solidFill>
                <a:latin typeface="Microsoft YaHei"/>
                <a:ea typeface="Microsoft YaHei"/>
              </a:rPr>
              <a:t>⑤ </a:t>
            </a:r>
            <a:r>
              <a:rPr sz="2400" b="1" i="0" dirty="0" err="1">
                <a:solidFill>
                  <a:srgbClr val="FFFFFF"/>
                </a:solidFill>
                <a:latin typeface="Microsoft YaHei"/>
                <a:ea typeface="Microsoft YaHei"/>
              </a:rPr>
              <a:t>生成结果</a:t>
            </a:r>
            <a:endParaRPr sz="2400" b="1" i="0" dirty="0">
              <a:solidFill>
                <a:srgbClr val="FFFFFF"/>
              </a:solidFill>
              <a:latin typeface="Microsoft YaHei"/>
              <a:ea typeface="Microsoft YaHei"/>
            </a:endParaRPr>
          </a:p>
        </p:txBody>
      </p:sp>
      <p:sp>
        <p:nvSpPr>
          <p:cNvPr id="27" name="Rectangle 26"/>
          <p:cNvSpPr/>
          <p:nvPr/>
        </p:nvSpPr>
        <p:spPr>
          <a:xfrm>
            <a:off x="9692640" y="2194560"/>
            <a:ext cx="2286000" cy="2286000"/>
          </a:xfrm>
          <a:prstGeom prst="rect">
            <a:avLst/>
          </a:prstGeom>
          <a:solidFill>
            <a:srgbClr val="FFFFFF"/>
          </a:solidFill>
          <a:ln w="19050">
            <a:solidFill>
              <a:srgbClr val="0066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9829800" y="2331720"/>
            <a:ext cx="2011680" cy="101566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200" b="0" i="0" dirty="0" err="1">
                <a:solidFill>
                  <a:srgbClr val="333333"/>
                </a:solidFill>
                <a:latin typeface="Microsoft YaHei"/>
                <a:ea typeface="Microsoft YaHei"/>
              </a:rPr>
              <a:t>根据检索材料</a:t>
            </a:r>
            <a:r>
              <a:rPr sz="2200" b="0" i="0" dirty="0">
                <a:solidFill>
                  <a:srgbClr val="333333"/>
                </a:solidFill>
                <a:latin typeface="Microsoft YaHei"/>
                <a:ea typeface="Microsoft YaHei"/>
              </a:rPr>
              <a:t>组织</a:t>
            </a:r>
            <a:r>
              <a:rPr sz="2200" b="0" i="0" dirty="0" err="1">
                <a:solidFill>
                  <a:srgbClr val="333333"/>
                </a:solidFill>
                <a:latin typeface="Microsoft YaHei"/>
                <a:ea typeface="Microsoft YaHei"/>
              </a:rPr>
              <a:t>回答，并标注来源</a:t>
            </a:r>
            <a:endParaRPr sz="2200" b="0" i="0" dirty="0">
              <a:solidFill>
                <a:srgbClr val="333333"/>
              </a:solidFill>
              <a:latin typeface="Microsoft YaHei"/>
              <a:ea typeface="Microsoft YaHei"/>
            </a:endParaRPr>
          </a:p>
        </p:txBody>
      </p:sp>
      <p:sp>
        <p:nvSpPr>
          <p:cNvPr id="29" name="Rectangle 28"/>
          <p:cNvSpPr/>
          <p:nvPr/>
        </p:nvSpPr>
        <p:spPr>
          <a:xfrm>
            <a:off x="365760" y="4754880"/>
            <a:ext cx="11430000" cy="1554480"/>
          </a:xfrm>
          <a:prstGeom prst="rect">
            <a:avLst/>
          </a:prstGeom>
          <a:solidFill>
            <a:srgbClr val="F58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548640" y="4846320"/>
            <a:ext cx="11064240" cy="3693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400" b="1" i="0" dirty="0">
                <a:solidFill>
                  <a:srgbClr val="FFFFFF"/>
                </a:solidFill>
                <a:latin typeface="Microsoft YaHei"/>
                <a:ea typeface="Microsoft YaHei"/>
              </a:rPr>
              <a:t>注意：</a:t>
            </a:r>
            <a:r>
              <a:rPr sz="2400" b="1" i="0" dirty="0" err="1">
                <a:solidFill>
                  <a:srgbClr val="FFFFFF"/>
                </a:solidFill>
                <a:latin typeface="Microsoft YaHei"/>
                <a:ea typeface="Microsoft YaHei"/>
              </a:rPr>
              <a:t>引用内容可能出现误读</a:t>
            </a:r>
            <a:endParaRPr sz="2400" b="1" i="0" dirty="0">
              <a:solidFill>
                <a:srgbClr val="FFFFFF"/>
              </a:solidFill>
              <a:latin typeface="Microsoft YaHei"/>
              <a:ea typeface="Microsoft YaHei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548640" y="5257800"/>
            <a:ext cx="11064240" cy="101566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200" b="0" i="0" dirty="0" err="1">
                <a:solidFill>
                  <a:srgbClr val="FFFFFF"/>
                </a:solidFill>
                <a:latin typeface="Microsoft YaHei"/>
                <a:ea typeface="Microsoft YaHei"/>
              </a:rPr>
              <a:t>系统可能只读取网页片段</a:t>
            </a:r>
            <a:r>
              <a:rPr sz="2200" b="0" i="0" dirty="0">
                <a:solidFill>
                  <a:srgbClr val="FFFFFF"/>
                </a:solidFill>
                <a:latin typeface="Microsoft YaHei"/>
                <a:ea typeface="Microsoft YaHei"/>
              </a:rPr>
              <a:t>或</a:t>
            </a:r>
            <a:r>
              <a:rPr sz="2200" b="0" i="0" dirty="0" err="1">
                <a:solidFill>
                  <a:srgbClr val="FFFFFF"/>
                </a:solidFill>
                <a:latin typeface="Microsoft YaHei"/>
                <a:ea typeface="Microsoft YaHei"/>
              </a:rPr>
              <a:t>摘要，</a:t>
            </a:r>
            <a:r>
              <a:rPr sz="2200" b="0" i="0" dirty="0">
                <a:solidFill>
                  <a:srgbClr val="FFFFFF"/>
                </a:solidFill>
                <a:latin typeface="Microsoft YaHei"/>
                <a:ea typeface="Microsoft YaHei"/>
              </a:rPr>
              <a:t>遗</a:t>
            </a:r>
            <a:r>
              <a:rPr sz="2200" b="0" i="0" dirty="0" err="1">
                <a:solidFill>
                  <a:srgbClr val="FFFFFF"/>
                </a:solidFill>
                <a:latin typeface="Microsoft YaHei"/>
                <a:ea typeface="Microsoft YaHei"/>
              </a:rPr>
              <a:t>漏原</a:t>
            </a:r>
            <a:r>
              <a:rPr sz="2200" b="0" i="0" dirty="0">
                <a:solidFill>
                  <a:srgbClr val="FFFFFF"/>
                </a:solidFill>
                <a:latin typeface="Microsoft YaHei"/>
                <a:ea typeface="Microsoft YaHei"/>
              </a:rPr>
              <a:t>文</a:t>
            </a:r>
            <a:r>
              <a:rPr sz="2200" b="0" i="0" dirty="0" err="1">
                <a:solidFill>
                  <a:srgbClr val="FFFFFF"/>
                </a:solidFill>
                <a:latin typeface="Microsoft YaHei"/>
                <a:ea typeface="Microsoft YaHei"/>
              </a:rPr>
              <a:t>条件。</a:t>
            </a:r>
            <a:r>
              <a:rPr sz="2200" b="0" i="0" dirty="0">
                <a:solidFill>
                  <a:srgbClr val="FFFFFF"/>
                </a:solidFill>
                <a:latin typeface="Microsoft YaHei"/>
                <a:ea typeface="Microsoft YaHei"/>
              </a:rPr>
              <a:t>引用</a:t>
            </a:r>
            <a:r>
              <a:rPr sz="2200" b="0" i="0" dirty="0" err="1">
                <a:solidFill>
                  <a:srgbClr val="FFFFFF"/>
                </a:solidFill>
                <a:latin typeface="Microsoft YaHei"/>
                <a:ea typeface="Microsoft YaHei"/>
              </a:rPr>
              <a:t>链接</a:t>
            </a:r>
            <a:r>
              <a:rPr sz="2200" b="0" i="0" dirty="0">
                <a:solidFill>
                  <a:srgbClr val="FFFFFF"/>
                </a:solidFill>
                <a:latin typeface="Microsoft YaHei"/>
                <a:ea typeface="Microsoft YaHei"/>
              </a:rPr>
              <a:t>存在</a:t>
            </a:r>
            <a:r>
              <a:rPr sz="2200" b="0" i="0" dirty="0" err="1">
                <a:solidFill>
                  <a:srgbClr val="FFFFFF"/>
                </a:solidFill>
                <a:latin typeface="Microsoft YaHei"/>
                <a:ea typeface="Microsoft YaHei"/>
              </a:rPr>
              <a:t>，并不意味着结论有依据。应打开原文核对关键表述</a:t>
            </a:r>
            <a:r>
              <a:rPr sz="2200" b="0" i="0" dirty="0">
                <a:solidFill>
                  <a:srgbClr val="FFFFFF"/>
                </a:solidFill>
                <a:latin typeface="Microsoft YaHei"/>
                <a:ea typeface="Microsoft YaHei"/>
              </a:rPr>
              <a:t>。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094415" y="6446520"/>
            <a:ext cx="914400" cy="320040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pPr algn="r"/>
            <a:r>
              <a:rPr sz="1100">
                <a:solidFill>
                  <a:srgbClr val="999999"/>
                </a:solidFill>
                <a:latin typeface="Arial"/>
              </a:rPr>
              <a:t>38 / 50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yzu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17175" y="246888"/>
            <a:ext cx="1691640" cy="54864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274320"/>
            <a:ext cx="960120" cy="502920"/>
          </a:xfrm>
          <a:prstGeom prst="rect">
            <a:avLst/>
          </a:prstGeom>
          <a:solidFill>
            <a:srgbClr val="006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" y="341114"/>
            <a:ext cx="914400" cy="3693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400" b="1" i="0" dirty="0">
                <a:solidFill>
                  <a:srgbClr val="FFFFFF"/>
                </a:solidFill>
                <a:latin typeface="Microsoft YaHei"/>
                <a:ea typeface="Microsoft YaHei"/>
              </a:rPr>
              <a:t>2.4.4</a:t>
            </a:r>
          </a:p>
        </p:txBody>
      </p:sp>
      <p:sp>
        <p:nvSpPr>
          <p:cNvPr id="6" name="Rectangle 5"/>
          <p:cNvSpPr/>
          <p:nvPr/>
        </p:nvSpPr>
        <p:spPr>
          <a:xfrm>
            <a:off x="960120" y="274320"/>
            <a:ext cx="9052560" cy="502920"/>
          </a:xfrm>
          <a:prstGeom prst="rect">
            <a:avLst/>
          </a:prstGeom>
          <a:solidFill>
            <a:srgbClr val="3A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234440" y="341114"/>
            <a:ext cx="8686800" cy="3693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400" b="1" i="0" dirty="0" err="1">
                <a:solidFill>
                  <a:srgbClr val="FFFFFF"/>
                </a:solidFill>
                <a:latin typeface="Microsoft YaHei"/>
                <a:ea typeface="Microsoft YaHei"/>
              </a:rPr>
              <a:t>传统搜</a:t>
            </a:r>
            <a:r>
              <a:rPr sz="2400" b="1" i="0" dirty="0">
                <a:solidFill>
                  <a:srgbClr val="FFFFFF"/>
                </a:solidFill>
                <a:latin typeface="Microsoft YaHei"/>
                <a:ea typeface="Microsoft YaHei"/>
              </a:rPr>
              <a:t>索与联网</a:t>
            </a:r>
            <a:r>
              <a:rPr sz="2400" b="1" i="0" dirty="0" err="1">
                <a:solidFill>
                  <a:srgbClr val="FFFFFF"/>
                </a:solidFill>
                <a:latin typeface="Microsoft YaHei"/>
                <a:ea typeface="Microsoft YaHei"/>
              </a:rPr>
              <a:t>AI</a:t>
            </a:r>
            <a:r>
              <a:rPr sz="2400" b="1" i="0" dirty="0">
                <a:solidFill>
                  <a:srgbClr val="FFFFFF"/>
                </a:solidFill>
                <a:latin typeface="Microsoft YaHei"/>
                <a:ea typeface="Microsoft YaHei"/>
              </a:rPr>
              <a:t>的任</a:t>
            </a:r>
            <a:r>
              <a:rPr sz="2400" b="1" i="0" dirty="0" err="1">
                <a:solidFill>
                  <a:srgbClr val="FFFFFF"/>
                </a:solidFill>
                <a:latin typeface="Microsoft YaHei"/>
                <a:ea typeface="Microsoft YaHei"/>
              </a:rPr>
              <a:t>务分工</a:t>
            </a:r>
            <a:endParaRPr sz="2400" b="1" i="0" dirty="0">
              <a:solidFill>
                <a:srgbClr val="FFFFFF"/>
              </a:solidFill>
              <a:latin typeface="Microsoft YaHei"/>
              <a:ea typeface="Microsoft YaHei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502920" y="960120"/>
            <a:ext cx="11247120" cy="3693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400" b="1" i="0" dirty="0">
                <a:solidFill>
                  <a:srgbClr val="0066CC"/>
                </a:solidFill>
                <a:latin typeface="Microsoft YaHei"/>
                <a:ea typeface="Microsoft YaHei"/>
              </a:rPr>
              <a:t>表 2-3   </a:t>
            </a:r>
            <a:r>
              <a:rPr sz="2400" b="1" i="0" dirty="0" err="1">
                <a:solidFill>
                  <a:srgbClr val="0066CC"/>
                </a:solidFill>
                <a:latin typeface="Microsoft YaHei"/>
                <a:ea typeface="Microsoft YaHei"/>
              </a:rPr>
              <a:t>传统搜索引擎与</a:t>
            </a:r>
            <a:r>
              <a:rPr sz="2400" b="1" i="0" dirty="0">
                <a:solidFill>
                  <a:srgbClr val="0066CC"/>
                </a:solidFill>
                <a:latin typeface="Microsoft YaHei"/>
                <a:ea typeface="Microsoft YaHei"/>
              </a:rPr>
              <a:t> AI </a:t>
            </a:r>
            <a:r>
              <a:rPr sz="2400" b="1" i="0" dirty="0" err="1">
                <a:solidFill>
                  <a:srgbClr val="0066CC"/>
                </a:solidFill>
                <a:latin typeface="Microsoft YaHei"/>
                <a:ea typeface="Microsoft YaHei"/>
              </a:rPr>
              <a:t>联网大模型的选择策略</a:t>
            </a:r>
            <a:endParaRPr sz="2400" b="1" i="0" dirty="0">
              <a:solidFill>
                <a:srgbClr val="0066CC"/>
              </a:solidFill>
              <a:latin typeface="Microsoft YaHei"/>
              <a:ea typeface="Microsoft YaHei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365760" y="1554480"/>
            <a:ext cx="3108960" cy="502920"/>
          </a:xfrm>
          <a:prstGeom prst="rect">
            <a:avLst/>
          </a:prstGeom>
          <a:solidFill>
            <a:srgbClr val="006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65760" y="1621274"/>
            <a:ext cx="3108960" cy="3693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400" b="1" i="0" dirty="0" err="1">
                <a:solidFill>
                  <a:srgbClr val="FFFFFF"/>
                </a:solidFill>
                <a:latin typeface="Microsoft YaHei"/>
                <a:ea typeface="Microsoft YaHei"/>
              </a:rPr>
              <a:t>科研场景</a:t>
            </a:r>
            <a:endParaRPr sz="2400" b="1" i="0" dirty="0">
              <a:solidFill>
                <a:srgbClr val="FFFFFF"/>
              </a:solidFill>
              <a:latin typeface="Microsoft YaHei"/>
              <a:ea typeface="Microsoft YaHei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3474720" y="1554480"/>
            <a:ext cx="4206240" cy="502920"/>
          </a:xfrm>
          <a:prstGeom prst="rect">
            <a:avLst/>
          </a:prstGeom>
          <a:solidFill>
            <a:srgbClr val="006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474720" y="1621274"/>
            <a:ext cx="4206240" cy="3693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400" b="1" i="0" dirty="0" err="1">
                <a:solidFill>
                  <a:srgbClr val="FFFFFF"/>
                </a:solidFill>
                <a:latin typeface="Microsoft YaHei"/>
                <a:ea typeface="Microsoft YaHei"/>
              </a:rPr>
              <a:t>传统搜索引擎</a:t>
            </a:r>
            <a:endParaRPr sz="2400" b="1" i="0" dirty="0">
              <a:solidFill>
                <a:srgbClr val="FFFFFF"/>
              </a:solidFill>
              <a:latin typeface="Microsoft YaHei"/>
              <a:ea typeface="Microsoft YaHei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7680960" y="1554480"/>
            <a:ext cx="4206240" cy="502920"/>
          </a:xfrm>
          <a:prstGeom prst="rect">
            <a:avLst/>
          </a:prstGeom>
          <a:solidFill>
            <a:srgbClr val="006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680960" y="1621274"/>
            <a:ext cx="4206240" cy="3693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400" b="1" i="0" dirty="0">
                <a:solidFill>
                  <a:srgbClr val="FFFFFF"/>
                </a:solidFill>
                <a:latin typeface="Microsoft YaHei"/>
                <a:ea typeface="Microsoft YaHei"/>
              </a:rPr>
              <a:t>AI </a:t>
            </a:r>
            <a:r>
              <a:rPr sz="2400" b="1" i="0" dirty="0" err="1">
                <a:solidFill>
                  <a:srgbClr val="FFFFFF"/>
                </a:solidFill>
                <a:latin typeface="Microsoft YaHei"/>
                <a:ea typeface="Microsoft YaHei"/>
              </a:rPr>
              <a:t>联网大模型</a:t>
            </a:r>
            <a:endParaRPr sz="2400" b="1" i="0" dirty="0">
              <a:solidFill>
                <a:srgbClr val="FFFFFF"/>
              </a:solidFill>
              <a:latin typeface="Microsoft YaHei"/>
              <a:ea typeface="Microsoft YaHei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365760" y="2057400"/>
            <a:ext cx="3108960" cy="685800"/>
          </a:xfrm>
          <a:prstGeom prst="rect">
            <a:avLst/>
          </a:prstGeom>
          <a:solidFill>
            <a:srgbClr val="E6F2FC"/>
          </a:solidFill>
          <a:ln w="6350">
            <a:solidFill>
              <a:srgbClr val="E5E5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502920" y="2231023"/>
            <a:ext cx="2834640" cy="33855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200" b="1" i="0" dirty="0" err="1">
                <a:solidFill>
                  <a:srgbClr val="333333"/>
                </a:solidFill>
                <a:latin typeface="Microsoft YaHei"/>
                <a:ea typeface="Microsoft YaHei"/>
              </a:rPr>
              <a:t>寻找目标</a:t>
            </a:r>
            <a:r>
              <a:rPr sz="2200" b="1" i="0" dirty="0">
                <a:solidFill>
                  <a:srgbClr val="333333"/>
                </a:solidFill>
                <a:latin typeface="Microsoft YaHei"/>
                <a:ea typeface="Microsoft YaHei"/>
              </a:rPr>
              <a:t> · </a:t>
            </a:r>
            <a:r>
              <a:rPr sz="2200" b="1" i="0" dirty="0" err="1">
                <a:solidFill>
                  <a:srgbClr val="333333"/>
                </a:solidFill>
                <a:latin typeface="Microsoft YaHei"/>
                <a:ea typeface="Microsoft YaHei"/>
              </a:rPr>
              <a:t>链接定位</a:t>
            </a:r>
            <a:endParaRPr sz="2200" b="1" i="0" dirty="0">
              <a:solidFill>
                <a:srgbClr val="333333"/>
              </a:solidFill>
              <a:latin typeface="Microsoft YaHei"/>
              <a:ea typeface="Microsoft YaHei"/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3474720" y="2057400"/>
            <a:ext cx="4206240" cy="685800"/>
          </a:xfrm>
          <a:prstGeom prst="rect">
            <a:avLst/>
          </a:prstGeom>
          <a:solidFill>
            <a:srgbClr val="E6F2FC"/>
          </a:solidFill>
          <a:ln w="6350">
            <a:solidFill>
              <a:srgbClr val="E5E5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3611880" y="2261800"/>
            <a:ext cx="3931920" cy="27699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b="0" i="0" dirty="0">
                <a:solidFill>
                  <a:srgbClr val="333333"/>
                </a:solidFill>
                <a:latin typeface="Microsoft YaHei"/>
                <a:ea typeface="Microsoft YaHei"/>
              </a:rPr>
              <a:t>✅ </a:t>
            </a:r>
            <a:r>
              <a:rPr b="0" i="0" dirty="0" err="1">
                <a:solidFill>
                  <a:srgbClr val="333333"/>
                </a:solidFill>
                <a:latin typeface="Microsoft YaHei"/>
                <a:ea typeface="Microsoft YaHei"/>
              </a:rPr>
              <a:t>直接跳转期刊官网</a:t>
            </a:r>
            <a:r>
              <a:rPr b="0" i="0" dirty="0">
                <a:solidFill>
                  <a:srgbClr val="333333"/>
                </a:solidFill>
                <a:latin typeface="Microsoft YaHei"/>
                <a:ea typeface="Microsoft YaHei"/>
              </a:rPr>
              <a:t> / </a:t>
            </a:r>
            <a:r>
              <a:rPr b="0" i="0" dirty="0" err="1">
                <a:solidFill>
                  <a:srgbClr val="333333"/>
                </a:solidFill>
                <a:latin typeface="Microsoft YaHei"/>
                <a:ea typeface="Microsoft YaHei"/>
              </a:rPr>
              <a:t>数据集首页</a:t>
            </a:r>
            <a:endParaRPr b="0" i="0" dirty="0">
              <a:solidFill>
                <a:srgbClr val="333333"/>
              </a:solidFill>
              <a:latin typeface="Microsoft YaHei"/>
              <a:ea typeface="Microsoft YaHei"/>
            </a:endParaRPr>
          </a:p>
        </p:txBody>
      </p:sp>
      <p:sp>
        <p:nvSpPr>
          <p:cNvPr id="19" name="Rectangle 18"/>
          <p:cNvSpPr/>
          <p:nvPr/>
        </p:nvSpPr>
        <p:spPr>
          <a:xfrm>
            <a:off x="7680960" y="2057400"/>
            <a:ext cx="4206240" cy="685800"/>
          </a:xfrm>
          <a:prstGeom prst="rect">
            <a:avLst/>
          </a:prstGeom>
          <a:solidFill>
            <a:srgbClr val="E6F2FC"/>
          </a:solidFill>
          <a:ln w="6350">
            <a:solidFill>
              <a:srgbClr val="E5E5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7818120" y="2261800"/>
            <a:ext cx="3931920" cy="27699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b="0" i="0" dirty="0">
                <a:solidFill>
                  <a:srgbClr val="333333"/>
                </a:solidFill>
                <a:latin typeface="Microsoft YaHei"/>
                <a:ea typeface="Microsoft YaHei"/>
              </a:rPr>
              <a:t>可辅助</a:t>
            </a:r>
            <a:r>
              <a:rPr b="0" i="0" dirty="0" err="1">
                <a:solidFill>
                  <a:srgbClr val="333333"/>
                </a:solidFill>
                <a:latin typeface="Microsoft YaHei"/>
                <a:ea typeface="Microsoft YaHei"/>
              </a:rPr>
              <a:t>定位，仍需打开原网站</a:t>
            </a:r>
            <a:endParaRPr b="0" i="0" dirty="0">
              <a:solidFill>
                <a:srgbClr val="333333"/>
              </a:solidFill>
              <a:latin typeface="Microsoft YaHei"/>
              <a:ea typeface="Microsoft YaHei"/>
            </a:endParaRPr>
          </a:p>
        </p:txBody>
      </p:sp>
      <p:sp>
        <p:nvSpPr>
          <p:cNvPr id="21" name="Rectangle 20"/>
          <p:cNvSpPr/>
          <p:nvPr/>
        </p:nvSpPr>
        <p:spPr>
          <a:xfrm>
            <a:off x="365760" y="2743200"/>
            <a:ext cx="3108960" cy="685800"/>
          </a:xfrm>
          <a:prstGeom prst="rect">
            <a:avLst/>
          </a:prstGeom>
          <a:solidFill>
            <a:srgbClr val="FFFFFF"/>
          </a:solidFill>
          <a:ln w="6350">
            <a:solidFill>
              <a:srgbClr val="E5E5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502920" y="2916823"/>
            <a:ext cx="2834640" cy="33855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200" b="1" i="0" dirty="0" err="1">
                <a:solidFill>
                  <a:srgbClr val="333333"/>
                </a:solidFill>
                <a:latin typeface="Microsoft YaHei"/>
                <a:ea typeface="Microsoft YaHei"/>
              </a:rPr>
              <a:t>寻找目标</a:t>
            </a:r>
            <a:r>
              <a:rPr sz="2200" b="1" i="0" dirty="0">
                <a:solidFill>
                  <a:srgbClr val="333333"/>
                </a:solidFill>
                <a:latin typeface="Microsoft YaHei"/>
                <a:ea typeface="Microsoft YaHei"/>
              </a:rPr>
              <a:t> · </a:t>
            </a:r>
            <a:r>
              <a:rPr sz="2200" b="1" i="0" dirty="0" err="1">
                <a:solidFill>
                  <a:srgbClr val="333333"/>
                </a:solidFill>
                <a:latin typeface="Microsoft YaHei"/>
                <a:ea typeface="Microsoft YaHei"/>
              </a:rPr>
              <a:t>概念构建</a:t>
            </a:r>
            <a:endParaRPr sz="2200" b="1" i="0" dirty="0">
              <a:solidFill>
                <a:srgbClr val="333333"/>
              </a:solidFill>
              <a:latin typeface="Microsoft YaHei"/>
              <a:ea typeface="Microsoft YaHei"/>
            </a:endParaRPr>
          </a:p>
        </p:txBody>
      </p:sp>
      <p:sp>
        <p:nvSpPr>
          <p:cNvPr id="23" name="Rectangle 22"/>
          <p:cNvSpPr/>
          <p:nvPr/>
        </p:nvSpPr>
        <p:spPr>
          <a:xfrm>
            <a:off x="3474720" y="2743200"/>
            <a:ext cx="4206240" cy="685800"/>
          </a:xfrm>
          <a:prstGeom prst="rect">
            <a:avLst/>
          </a:prstGeom>
          <a:solidFill>
            <a:srgbClr val="FFFFFF"/>
          </a:solidFill>
          <a:ln w="6350">
            <a:solidFill>
              <a:srgbClr val="E5E5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3611880" y="2947600"/>
            <a:ext cx="3931920" cy="27699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b="0" i="0" dirty="0">
                <a:solidFill>
                  <a:srgbClr val="333333"/>
                </a:solidFill>
                <a:latin typeface="Microsoft YaHei"/>
                <a:ea typeface="Microsoft YaHei"/>
              </a:rPr>
              <a:t>△ </a:t>
            </a:r>
            <a:r>
              <a:rPr b="0" i="0" dirty="0" err="1">
                <a:solidFill>
                  <a:srgbClr val="333333"/>
                </a:solidFill>
                <a:latin typeface="Microsoft YaHei"/>
                <a:ea typeface="Microsoft YaHei"/>
              </a:rPr>
              <a:t>几十个零散链接需自己阅读</a:t>
            </a:r>
            <a:endParaRPr b="0" i="0" dirty="0">
              <a:solidFill>
                <a:srgbClr val="333333"/>
              </a:solidFill>
              <a:latin typeface="Microsoft YaHei"/>
              <a:ea typeface="Microsoft YaHei"/>
            </a:endParaRPr>
          </a:p>
        </p:txBody>
      </p:sp>
      <p:sp>
        <p:nvSpPr>
          <p:cNvPr id="25" name="Rectangle 24"/>
          <p:cNvSpPr/>
          <p:nvPr/>
        </p:nvSpPr>
        <p:spPr>
          <a:xfrm>
            <a:off x="7680960" y="2743200"/>
            <a:ext cx="4206240" cy="685800"/>
          </a:xfrm>
          <a:prstGeom prst="rect">
            <a:avLst/>
          </a:prstGeom>
          <a:solidFill>
            <a:srgbClr val="FFFFFF"/>
          </a:solidFill>
          <a:ln w="6350">
            <a:solidFill>
              <a:srgbClr val="E5E5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7818120" y="2947600"/>
            <a:ext cx="3931920" cy="27699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b="0" i="0" dirty="0">
                <a:solidFill>
                  <a:srgbClr val="333333"/>
                </a:solidFill>
                <a:latin typeface="Microsoft YaHei"/>
                <a:ea typeface="Microsoft YaHei"/>
              </a:rPr>
              <a:t>可综</a:t>
            </a:r>
            <a:r>
              <a:rPr b="0" i="0" dirty="0" err="1">
                <a:solidFill>
                  <a:srgbClr val="333333"/>
                </a:solidFill>
                <a:latin typeface="Microsoft YaHei"/>
                <a:ea typeface="Microsoft YaHei"/>
              </a:rPr>
              <a:t>合观点，需核查引用</a:t>
            </a:r>
            <a:endParaRPr b="0" i="0" dirty="0">
              <a:solidFill>
                <a:srgbClr val="333333"/>
              </a:solidFill>
              <a:latin typeface="Microsoft YaHei"/>
              <a:ea typeface="Microsoft YaHei"/>
            </a:endParaRPr>
          </a:p>
        </p:txBody>
      </p:sp>
      <p:sp>
        <p:nvSpPr>
          <p:cNvPr id="27" name="Rectangle 26"/>
          <p:cNvSpPr/>
          <p:nvPr/>
        </p:nvSpPr>
        <p:spPr>
          <a:xfrm>
            <a:off x="365760" y="3429000"/>
            <a:ext cx="3108960" cy="685800"/>
          </a:xfrm>
          <a:prstGeom prst="rect">
            <a:avLst/>
          </a:prstGeom>
          <a:solidFill>
            <a:srgbClr val="E6F2FC"/>
          </a:solidFill>
          <a:ln w="6350">
            <a:solidFill>
              <a:srgbClr val="E5E5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502920" y="3602623"/>
            <a:ext cx="2834640" cy="33855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lang="zh-CN" altLang="en-US" sz="2200" b="1" i="0" dirty="0">
                <a:solidFill>
                  <a:srgbClr val="333333"/>
                </a:solidFill>
                <a:latin typeface="Microsoft YaHei"/>
                <a:ea typeface="Microsoft YaHei"/>
              </a:rPr>
              <a:t>获取实体 </a:t>
            </a:r>
            <a:r>
              <a:rPr lang="en-US" altLang="zh-CN" sz="2200" b="1" i="0" dirty="0">
                <a:solidFill>
                  <a:srgbClr val="333333"/>
                </a:solidFill>
                <a:latin typeface="Microsoft YaHei"/>
                <a:ea typeface="Microsoft YaHei"/>
              </a:rPr>
              <a:t>· </a:t>
            </a:r>
            <a:r>
              <a:rPr lang="zh-CN" altLang="en-US" sz="2200" b="1" i="0" dirty="0">
                <a:solidFill>
                  <a:srgbClr val="333333"/>
                </a:solidFill>
                <a:latin typeface="Microsoft YaHei"/>
                <a:ea typeface="Microsoft YaHei"/>
              </a:rPr>
              <a:t>精确索引</a:t>
            </a:r>
            <a:endParaRPr sz="2200" b="1" i="0" dirty="0">
              <a:solidFill>
                <a:srgbClr val="333333"/>
              </a:solidFill>
              <a:latin typeface="Microsoft YaHei"/>
              <a:ea typeface="Microsoft YaHei"/>
            </a:endParaRPr>
          </a:p>
        </p:txBody>
      </p:sp>
      <p:sp>
        <p:nvSpPr>
          <p:cNvPr id="29" name="Rectangle 28"/>
          <p:cNvSpPr/>
          <p:nvPr/>
        </p:nvSpPr>
        <p:spPr>
          <a:xfrm>
            <a:off x="3474720" y="3429000"/>
            <a:ext cx="4206240" cy="685800"/>
          </a:xfrm>
          <a:prstGeom prst="rect">
            <a:avLst/>
          </a:prstGeom>
          <a:solidFill>
            <a:srgbClr val="E6F2FC"/>
          </a:solidFill>
          <a:ln w="6350">
            <a:solidFill>
              <a:srgbClr val="E5E5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3611880" y="3633400"/>
            <a:ext cx="3931920" cy="27699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b="0" i="0" dirty="0">
                <a:solidFill>
                  <a:srgbClr val="333333"/>
                </a:solidFill>
                <a:latin typeface="Microsoft YaHei"/>
                <a:ea typeface="Microsoft YaHei"/>
              </a:rPr>
              <a:t>✅ </a:t>
            </a:r>
            <a:r>
              <a:rPr b="0" i="0" dirty="0" err="1">
                <a:solidFill>
                  <a:srgbClr val="333333"/>
                </a:solidFill>
                <a:latin typeface="Microsoft YaHei"/>
                <a:ea typeface="Microsoft YaHei"/>
              </a:rPr>
              <a:t>召回官方采购</a:t>
            </a:r>
            <a:r>
              <a:rPr b="0" i="0" dirty="0">
                <a:solidFill>
                  <a:srgbClr val="333333"/>
                </a:solidFill>
                <a:latin typeface="Microsoft YaHei"/>
                <a:ea typeface="Microsoft YaHei"/>
              </a:rPr>
              <a:t> / </a:t>
            </a:r>
            <a:r>
              <a:rPr b="0" i="0" dirty="0" err="1">
                <a:solidFill>
                  <a:srgbClr val="333333"/>
                </a:solidFill>
                <a:latin typeface="Microsoft YaHei"/>
                <a:ea typeface="Microsoft YaHei"/>
              </a:rPr>
              <a:t>原厂说明书</a:t>
            </a:r>
            <a:endParaRPr b="0" i="0" dirty="0">
              <a:solidFill>
                <a:srgbClr val="333333"/>
              </a:solidFill>
              <a:latin typeface="Microsoft YaHei"/>
              <a:ea typeface="Microsoft YaHei"/>
            </a:endParaRPr>
          </a:p>
        </p:txBody>
      </p:sp>
      <p:sp>
        <p:nvSpPr>
          <p:cNvPr id="31" name="Rectangle 30"/>
          <p:cNvSpPr/>
          <p:nvPr/>
        </p:nvSpPr>
        <p:spPr>
          <a:xfrm>
            <a:off x="7680960" y="3429000"/>
            <a:ext cx="4206240" cy="685800"/>
          </a:xfrm>
          <a:prstGeom prst="rect">
            <a:avLst/>
          </a:prstGeom>
          <a:solidFill>
            <a:srgbClr val="E6F2FC"/>
          </a:solidFill>
          <a:ln w="6350">
            <a:solidFill>
              <a:srgbClr val="E5E5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7818120" y="3633400"/>
            <a:ext cx="3931920" cy="27699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b="0" i="0" dirty="0">
                <a:solidFill>
                  <a:srgbClr val="333333"/>
                </a:solidFill>
                <a:latin typeface="Microsoft YaHei"/>
                <a:ea typeface="Microsoft YaHei"/>
              </a:rPr>
              <a:t>可整理</a:t>
            </a:r>
            <a:r>
              <a:rPr b="0" i="0" dirty="0" err="1">
                <a:solidFill>
                  <a:srgbClr val="333333"/>
                </a:solidFill>
                <a:latin typeface="Microsoft YaHei"/>
                <a:ea typeface="Microsoft YaHei"/>
              </a:rPr>
              <a:t>参数，原始信息需核实</a:t>
            </a:r>
            <a:endParaRPr b="0" i="0" dirty="0">
              <a:solidFill>
                <a:srgbClr val="333333"/>
              </a:solidFill>
              <a:latin typeface="Microsoft YaHei"/>
              <a:ea typeface="Microsoft YaHei"/>
            </a:endParaRPr>
          </a:p>
        </p:txBody>
      </p:sp>
      <p:sp>
        <p:nvSpPr>
          <p:cNvPr id="33" name="Rectangle 32"/>
          <p:cNvSpPr/>
          <p:nvPr/>
        </p:nvSpPr>
        <p:spPr>
          <a:xfrm>
            <a:off x="365760" y="4114800"/>
            <a:ext cx="3108960" cy="685800"/>
          </a:xfrm>
          <a:prstGeom prst="rect">
            <a:avLst/>
          </a:prstGeom>
          <a:solidFill>
            <a:srgbClr val="FFFFFF"/>
          </a:solidFill>
          <a:ln w="6350">
            <a:solidFill>
              <a:srgbClr val="E5E5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502920" y="4288423"/>
            <a:ext cx="2834640" cy="33855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200" b="1" i="0" dirty="0" err="1">
                <a:solidFill>
                  <a:srgbClr val="333333"/>
                </a:solidFill>
                <a:latin typeface="Microsoft YaHei"/>
                <a:ea typeface="Microsoft YaHei"/>
              </a:rPr>
              <a:t>获取实体</a:t>
            </a:r>
            <a:r>
              <a:rPr sz="2200" b="1" i="0" dirty="0">
                <a:solidFill>
                  <a:srgbClr val="333333"/>
                </a:solidFill>
                <a:latin typeface="Microsoft YaHei"/>
                <a:ea typeface="Microsoft YaHei"/>
              </a:rPr>
              <a:t> · </a:t>
            </a:r>
            <a:r>
              <a:rPr sz="2200" b="1" i="0" dirty="0" err="1">
                <a:solidFill>
                  <a:srgbClr val="333333"/>
                </a:solidFill>
                <a:latin typeface="Microsoft YaHei"/>
                <a:ea typeface="Microsoft YaHei"/>
              </a:rPr>
              <a:t>利弊权衡</a:t>
            </a:r>
            <a:endParaRPr sz="2200" b="1" i="0" dirty="0">
              <a:solidFill>
                <a:srgbClr val="333333"/>
              </a:solidFill>
              <a:latin typeface="Microsoft YaHei"/>
              <a:ea typeface="Microsoft YaHei"/>
            </a:endParaRPr>
          </a:p>
        </p:txBody>
      </p:sp>
      <p:sp>
        <p:nvSpPr>
          <p:cNvPr id="35" name="Rectangle 34"/>
          <p:cNvSpPr/>
          <p:nvPr/>
        </p:nvSpPr>
        <p:spPr>
          <a:xfrm>
            <a:off x="3474720" y="4114800"/>
            <a:ext cx="4206240" cy="685800"/>
          </a:xfrm>
          <a:prstGeom prst="rect">
            <a:avLst/>
          </a:prstGeom>
          <a:solidFill>
            <a:srgbClr val="FFFFFF"/>
          </a:solidFill>
          <a:ln w="6350">
            <a:solidFill>
              <a:srgbClr val="E5E5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3611880" y="4319200"/>
            <a:ext cx="3931920" cy="27699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b="0" i="0" dirty="0">
                <a:solidFill>
                  <a:srgbClr val="333333"/>
                </a:solidFill>
                <a:latin typeface="Microsoft YaHei"/>
                <a:ea typeface="Microsoft YaHei"/>
              </a:rPr>
              <a:t>需自行</a:t>
            </a:r>
            <a:r>
              <a:rPr b="0" i="0" dirty="0" err="1">
                <a:solidFill>
                  <a:srgbClr val="333333"/>
                </a:solidFill>
                <a:latin typeface="Microsoft YaHei"/>
                <a:ea typeface="Microsoft YaHei"/>
              </a:rPr>
              <a:t>汇总和比较检索材料</a:t>
            </a:r>
            <a:endParaRPr b="0" i="0" dirty="0">
              <a:solidFill>
                <a:srgbClr val="333333"/>
              </a:solidFill>
              <a:latin typeface="Microsoft YaHei"/>
              <a:ea typeface="Microsoft YaHei"/>
            </a:endParaRPr>
          </a:p>
        </p:txBody>
      </p:sp>
      <p:sp>
        <p:nvSpPr>
          <p:cNvPr id="37" name="Rectangle 36"/>
          <p:cNvSpPr/>
          <p:nvPr/>
        </p:nvSpPr>
        <p:spPr>
          <a:xfrm>
            <a:off x="7680960" y="4114800"/>
            <a:ext cx="4206240" cy="685800"/>
          </a:xfrm>
          <a:prstGeom prst="rect">
            <a:avLst/>
          </a:prstGeom>
          <a:solidFill>
            <a:srgbClr val="FFFFFF"/>
          </a:solidFill>
          <a:ln w="6350">
            <a:solidFill>
              <a:srgbClr val="E5E5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7878918" y="4231821"/>
            <a:ext cx="3871122" cy="55399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b="0" i="0" dirty="0">
                <a:solidFill>
                  <a:srgbClr val="333333"/>
                </a:solidFill>
                <a:latin typeface="Microsoft YaHei"/>
                <a:ea typeface="Microsoft YaHei"/>
              </a:rPr>
              <a:t>可</a:t>
            </a:r>
            <a:r>
              <a:rPr b="0" i="0" dirty="0" err="1">
                <a:solidFill>
                  <a:srgbClr val="333333"/>
                </a:solidFill>
                <a:latin typeface="Microsoft YaHei"/>
                <a:ea typeface="Microsoft YaHei"/>
              </a:rPr>
              <a:t>比较材料，提供决策参考</a:t>
            </a:r>
            <a:endParaRPr b="0" i="0" dirty="0">
              <a:solidFill>
                <a:srgbClr val="333333"/>
              </a:solidFill>
              <a:latin typeface="Microsoft YaHei"/>
              <a:ea typeface="Microsoft YaHei"/>
            </a:endParaRPr>
          </a:p>
        </p:txBody>
      </p:sp>
      <p:sp>
        <p:nvSpPr>
          <p:cNvPr id="39" name="Rectangle 38"/>
          <p:cNvSpPr/>
          <p:nvPr/>
        </p:nvSpPr>
        <p:spPr>
          <a:xfrm>
            <a:off x="365760" y="4800600"/>
            <a:ext cx="3108960" cy="685800"/>
          </a:xfrm>
          <a:prstGeom prst="rect">
            <a:avLst/>
          </a:prstGeom>
          <a:solidFill>
            <a:srgbClr val="E6F2FC"/>
          </a:solidFill>
          <a:ln w="6350">
            <a:solidFill>
              <a:srgbClr val="E5E5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502920" y="4974223"/>
            <a:ext cx="2834640" cy="33855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200" b="1" i="0" dirty="0" err="1">
                <a:solidFill>
                  <a:srgbClr val="333333"/>
                </a:solidFill>
                <a:latin typeface="Microsoft YaHei"/>
                <a:ea typeface="Microsoft YaHei"/>
              </a:rPr>
              <a:t>数据溯源</a:t>
            </a:r>
            <a:r>
              <a:rPr sz="2200" b="1" i="0" dirty="0">
                <a:solidFill>
                  <a:srgbClr val="333333"/>
                </a:solidFill>
                <a:latin typeface="Microsoft YaHei"/>
                <a:ea typeface="Microsoft YaHei"/>
              </a:rPr>
              <a:t> · </a:t>
            </a:r>
            <a:r>
              <a:rPr sz="2200" b="1" i="0" dirty="0" err="1">
                <a:solidFill>
                  <a:srgbClr val="333333"/>
                </a:solidFill>
                <a:latin typeface="Microsoft YaHei"/>
                <a:ea typeface="Microsoft YaHei"/>
              </a:rPr>
              <a:t>一手严谨</a:t>
            </a:r>
            <a:endParaRPr sz="2200" b="1" i="0" dirty="0">
              <a:solidFill>
                <a:srgbClr val="333333"/>
              </a:solidFill>
              <a:latin typeface="Microsoft YaHei"/>
              <a:ea typeface="Microsoft YaHei"/>
            </a:endParaRPr>
          </a:p>
        </p:txBody>
      </p:sp>
      <p:sp>
        <p:nvSpPr>
          <p:cNvPr id="41" name="Rectangle 40"/>
          <p:cNvSpPr/>
          <p:nvPr/>
        </p:nvSpPr>
        <p:spPr>
          <a:xfrm>
            <a:off x="3474720" y="4800600"/>
            <a:ext cx="4206240" cy="685800"/>
          </a:xfrm>
          <a:prstGeom prst="rect">
            <a:avLst/>
          </a:prstGeom>
          <a:solidFill>
            <a:srgbClr val="E6F2FC"/>
          </a:solidFill>
          <a:ln w="6350">
            <a:solidFill>
              <a:srgbClr val="E5E5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3611880" y="5005000"/>
            <a:ext cx="3931920" cy="27699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b="0" i="0" dirty="0">
                <a:solidFill>
                  <a:srgbClr val="333333"/>
                </a:solidFill>
                <a:latin typeface="Microsoft YaHei"/>
                <a:ea typeface="Microsoft YaHei"/>
              </a:rPr>
              <a:t>便于定位原文</a:t>
            </a:r>
            <a:r>
              <a:rPr b="0" i="0" dirty="0" err="1">
                <a:solidFill>
                  <a:srgbClr val="333333"/>
                </a:solidFill>
                <a:latin typeface="Microsoft YaHei"/>
                <a:ea typeface="Microsoft YaHei"/>
              </a:rPr>
              <a:t>，仍需判断来源</a:t>
            </a:r>
            <a:endParaRPr b="0" i="0" dirty="0">
              <a:solidFill>
                <a:srgbClr val="333333"/>
              </a:solidFill>
              <a:latin typeface="Microsoft YaHei"/>
              <a:ea typeface="Microsoft YaHei"/>
            </a:endParaRPr>
          </a:p>
        </p:txBody>
      </p:sp>
      <p:sp>
        <p:nvSpPr>
          <p:cNvPr id="43" name="Rectangle 42"/>
          <p:cNvSpPr/>
          <p:nvPr/>
        </p:nvSpPr>
        <p:spPr>
          <a:xfrm>
            <a:off x="7680960" y="4800600"/>
            <a:ext cx="4206240" cy="685800"/>
          </a:xfrm>
          <a:prstGeom prst="rect">
            <a:avLst/>
          </a:prstGeom>
          <a:solidFill>
            <a:srgbClr val="E6F2FC"/>
          </a:solidFill>
          <a:ln w="6350">
            <a:solidFill>
              <a:srgbClr val="E5E5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7818120" y="5005000"/>
            <a:ext cx="3931920" cy="27699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b="0" i="0" dirty="0">
                <a:solidFill>
                  <a:srgbClr val="333333"/>
                </a:solidFill>
                <a:latin typeface="Microsoft YaHei"/>
                <a:ea typeface="Microsoft YaHei"/>
              </a:rPr>
              <a:t>转述</a:t>
            </a:r>
            <a:r>
              <a:rPr b="0" i="0" dirty="0" err="1">
                <a:solidFill>
                  <a:srgbClr val="333333"/>
                </a:solidFill>
                <a:latin typeface="Microsoft YaHei"/>
                <a:ea typeface="Microsoft YaHei"/>
              </a:rPr>
              <a:t>可能出错，应核对原文</a:t>
            </a:r>
            <a:endParaRPr b="0" i="0" dirty="0">
              <a:solidFill>
                <a:srgbClr val="333333"/>
              </a:solidFill>
              <a:latin typeface="Microsoft YaHei"/>
              <a:ea typeface="Microsoft YaHei"/>
            </a:endParaRPr>
          </a:p>
        </p:txBody>
      </p:sp>
      <p:sp>
        <p:nvSpPr>
          <p:cNvPr id="45" name="Rectangle 44"/>
          <p:cNvSpPr/>
          <p:nvPr/>
        </p:nvSpPr>
        <p:spPr>
          <a:xfrm>
            <a:off x="365760" y="5486400"/>
            <a:ext cx="3108960" cy="685800"/>
          </a:xfrm>
          <a:prstGeom prst="rect">
            <a:avLst/>
          </a:prstGeom>
          <a:solidFill>
            <a:srgbClr val="FFFFFF"/>
          </a:solidFill>
          <a:ln w="6350">
            <a:solidFill>
              <a:srgbClr val="E5E5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502920" y="5660023"/>
            <a:ext cx="2834640" cy="33855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200" b="1" i="0" dirty="0" err="1">
                <a:solidFill>
                  <a:srgbClr val="333333"/>
                </a:solidFill>
                <a:latin typeface="Microsoft YaHei"/>
                <a:ea typeface="Microsoft YaHei"/>
              </a:rPr>
              <a:t>数据溯源</a:t>
            </a:r>
            <a:r>
              <a:rPr sz="2200" b="1" i="0" dirty="0">
                <a:solidFill>
                  <a:srgbClr val="333333"/>
                </a:solidFill>
                <a:latin typeface="Microsoft YaHei"/>
                <a:ea typeface="Microsoft YaHei"/>
              </a:rPr>
              <a:t> · </a:t>
            </a:r>
            <a:r>
              <a:rPr sz="2200" b="1" i="0" dirty="0" err="1">
                <a:solidFill>
                  <a:srgbClr val="333333"/>
                </a:solidFill>
                <a:latin typeface="Microsoft YaHei"/>
                <a:ea typeface="Microsoft YaHei"/>
              </a:rPr>
              <a:t>二手清洗</a:t>
            </a:r>
            <a:endParaRPr sz="2200" b="1" i="0" dirty="0">
              <a:solidFill>
                <a:srgbClr val="333333"/>
              </a:solidFill>
              <a:latin typeface="Microsoft YaHei"/>
              <a:ea typeface="Microsoft YaHei"/>
            </a:endParaRPr>
          </a:p>
        </p:txBody>
      </p:sp>
      <p:sp>
        <p:nvSpPr>
          <p:cNvPr id="47" name="Rectangle 46"/>
          <p:cNvSpPr/>
          <p:nvPr/>
        </p:nvSpPr>
        <p:spPr>
          <a:xfrm>
            <a:off x="3474720" y="5486400"/>
            <a:ext cx="4206240" cy="685800"/>
          </a:xfrm>
          <a:prstGeom prst="rect">
            <a:avLst/>
          </a:prstGeom>
          <a:solidFill>
            <a:srgbClr val="FFFFFF"/>
          </a:solidFill>
          <a:ln w="6350">
            <a:solidFill>
              <a:srgbClr val="E5E5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3611880" y="5690800"/>
            <a:ext cx="3931920" cy="27699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b="0" i="0" dirty="0">
                <a:solidFill>
                  <a:srgbClr val="333333"/>
                </a:solidFill>
                <a:latin typeface="Microsoft YaHei"/>
                <a:ea typeface="Microsoft YaHei"/>
              </a:rPr>
              <a:t>△ </a:t>
            </a:r>
            <a:r>
              <a:rPr b="0" i="0" dirty="0" err="1">
                <a:solidFill>
                  <a:srgbClr val="333333"/>
                </a:solidFill>
                <a:latin typeface="Microsoft YaHei"/>
                <a:ea typeface="Microsoft YaHei"/>
              </a:rPr>
              <a:t>需自行翻阅冗长报告</a:t>
            </a:r>
            <a:endParaRPr b="0" i="0" dirty="0">
              <a:solidFill>
                <a:srgbClr val="333333"/>
              </a:solidFill>
              <a:latin typeface="Microsoft YaHei"/>
              <a:ea typeface="Microsoft YaHei"/>
            </a:endParaRPr>
          </a:p>
        </p:txBody>
      </p:sp>
      <p:sp>
        <p:nvSpPr>
          <p:cNvPr id="49" name="Rectangle 48"/>
          <p:cNvSpPr/>
          <p:nvPr/>
        </p:nvSpPr>
        <p:spPr>
          <a:xfrm>
            <a:off x="7680960" y="5486400"/>
            <a:ext cx="4206240" cy="685800"/>
          </a:xfrm>
          <a:prstGeom prst="rect">
            <a:avLst/>
          </a:prstGeom>
          <a:solidFill>
            <a:srgbClr val="FFFFFF"/>
          </a:solidFill>
          <a:ln w="6350">
            <a:solidFill>
              <a:srgbClr val="E5E5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7818120" y="5690800"/>
            <a:ext cx="3931920" cy="27699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b="0" i="0" dirty="0">
                <a:solidFill>
                  <a:srgbClr val="333333"/>
                </a:solidFill>
                <a:latin typeface="Microsoft YaHei"/>
                <a:ea typeface="Microsoft YaHei"/>
              </a:rPr>
              <a:t>可提</a:t>
            </a:r>
            <a:r>
              <a:rPr b="0" i="0" dirty="0" err="1">
                <a:solidFill>
                  <a:srgbClr val="333333"/>
                </a:solidFill>
                <a:latin typeface="Microsoft YaHei"/>
                <a:ea typeface="Microsoft YaHei"/>
              </a:rPr>
              <a:t>取要点，需检查遗漏</a:t>
            </a:r>
            <a:endParaRPr b="0" i="0" dirty="0">
              <a:solidFill>
                <a:srgbClr val="333333"/>
              </a:solidFill>
              <a:latin typeface="Microsoft YaHei"/>
              <a:ea typeface="Microsoft YaHei"/>
            </a:endParaRPr>
          </a:p>
        </p:txBody>
      </p:sp>
      <p:sp>
        <p:nvSpPr>
          <p:cNvPr id="51" name="TextBox 50"/>
          <p:cNvSpPr txBox="1"/>
          <p:nvPr/>
        </p:nvSpPr>
        <p:spPr>
          <a:xfrm>
            <a:off x="11094415" y="6446520"/>
            <a:ext cx="914400" cy="320040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pPr algn="r"/>
            <a:r>
              <a:rPr sz="1100">
                <a:solidFill>
                  <a:srgbClr val="999999"/>
                </a:solidFill>
                <a:latin typeface="Arial"/>
              </a:rPr>
              <a:t>39 / 50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389120" cy="6858000"/>
          </a:xfrm>
          <a:prstGeom prst="rect">
            <a:avLst/>
          </a:prstGeom>
          <a:solidFill>
            <a:srgbClr val="006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4389120" y="0"/>
            <a:ext cx="91440" cy="6858000"/>
          </a:xfrm>
          <a:prstGeom prst="rect">
            <a:avLst/>
          </a:prstGeom>
          <a:solidFill>
            <a:srgbClr val="004C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65760" y="1828800"/>
            <a:ext cx="3657600" cy="2286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6000" b="1" i="0">
                <a:solidFill>
                  <a:srgbClr val="FFFFFF"/>
                </a:solidFill>
                <a:latin typeface="Arial"/>
                <a:ea typeface="Arial"/>
              </a:rPr>
              <a:t>2.5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984376" y="2514600"/>
            <a:ext cx="640080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4200" b="1" i="0" dirty="0" err="1">
                <a:solidFill>
                  <a:srgbClr val="333333"/>
                </a:solidFill>
                <a:latin typeface="Microsoft YaHei"/>
                <a:ea typeface="Microsoft YaHei"/>
              </a:rPr>
              <a:t>用深度研究完成复杂检索</a:t>
            </a:r>
            <a:endParaRPr sz="4200" b="1" i="0" dirty="0">
              <a:solidFill>
                <a:srgbClr val="333333"/>
              </a:solidFill>
              <a:latin typeface="Microsoft YaHei"/>
              <a:ea typeface="Microsoft YaHei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5029200" y="3657600"/>
            <a:ext cx="1371600" cy="38000"/>
          </a:xfrm>
          <a:prstGeom prst="rect">
            <a:avLst/>
          </a:prstGeom>
          <a:solidFill>
            <a:srgbClr val="006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029200" y="3840480"/>
            <a:ext cx="6766560" cy="61555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" b="0" i="0" dirty="0" err="1">
                <a:solidFill>
                  <a:srgbClr val="333333"/>
                </a:solidFill>
                <a:latin typeface="Microsoft YaHei"/>
                <a:ea typeface="Microsoft YaHei"/>
              </a:rPr>
              <a:t>深度研究可围绕复</a:t>
            </a:r>
            <a:r>
              <a:rPr sz="2000" b="0" i="0" dirty="0">
                <a:solidFill>
                  <a:srgbClr val="333333"/>
                </a:solidFill>
                <a:latin typeface="Microsoft YaHei"/>
                <a:ea typeface="Microsoft YaHei"/>
              </a:rPr>
              <a:t>杂任务规划检</a:t>
            </a:r>
            <a:r>
              <a:rPr sz="2000" b="0" i="0" dirty="0" err="1">
                <a:solidFill>
                  <a:srgbClr val="333333"/>
                </a:solidFill>
                <a:latin typeface="Microsoft YaHei"/>
                <a:ea typeface="Microsoft YaHei"/>
              </a:rPr>
              <a:t>索、补充资料并整理报告。研究者需要明确范围，核查证据与结论</a:t>
            </a:r>
            <a:r>
              <a:rPr sz="2000" b="0" i="0" dirty="0">
                <a:solidFill>
                  <a:srgbClr val="333333"/>
                </a:solidFill>
                <a:latin typeface="Microsoft YaHei"/>
                <a:ea typeface="Microsoft YaHei"/>
              </a:rPr>
              <a:t>。</a:t>
            </a:r>
          </a:p>
        </p:txBody>
      </p:sp>
      <p:pic>
        <p:nvPicPr>
          <p:cNvPr id="10" name="Picture 9" descr="yzu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17175" y="246888"/>
            <a:ext cx="1691640" cy="54864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11094415" y="6446520"/>
            <a:ext cx="914400" cy="320040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pPr algn="r"/>
            <a:r>
              <a:rPr sz="1100">
                <a:solidFill>
                  <a:srgbClr val="999999"/>
                </a:solidFill>
                <a:latin typeface="Arial"/>
              </a:rPr>
              <a:t>40 / 50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yzu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17175" y="246888"/>
            <a:ext cx="1691640" cy="54864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274320"/>
            <a:ext cx="960120" cy="502920"/>
          </a:xfrm>
          <a:prstGeom prst="rect">
            <a:avLst/>
          </a:prstGeom>
          <a:solidFill>
            <a:srgbClr val="006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" y="341114"/>
            <a:ext cx="914400" cy="3693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400" b="1" i="0" dirty="0">
                <a:solidFill>
                  <a:srgbClr val="FFFFFF"/>
                </a:solidFill>
                <a:latin typeface="Microsoft YaHei"/>
                <a:ea typeface="Microsoft YaHei"/>
              </a:rPr>
              <a:t>2.5.1</a:t>
            </a:r>
          </a:p>
        </p:txBody>
      </p:sp>
      <p:sp>
        <p:nvSpPr>
          <p:cNvPr id="6" name="Rectangle 5"/>
          <p:cNvSpPr/>
          <p:nvPr/>
        </p:nvSpPr>
        <p:spPr>
          <a:xfrm>
            <a:off x="960120" y="274320"/>
            <a:ext cx="9052560" cy="502920"/>
          </a:xfrm>
          <a:prstGeom prst="rect">
            <a:avLst/>
          </a:prstGeom>
          <a:solidFill>
            <a:srgbClr val="3A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234440" y="341114"/>
            <a:ext cx="8686800" cy="3693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400" b="1" i="0" dirty="0" err="1">
                <a:solidFill>
                  <a:srgbClr val="FFFFFF"/>
                </a:solidFill>
                <a:latin typeface="Microsoft YaHei"/>
                <a:ea typeface="Microsoft YaHei"/>
              </a:rPr>
              <a:t>深度</a:t>
            </a:r>
            <a:r>
              <a:rPr sz="2400" b="1" i="0" dirty="0">
                <a:solidFill>
                  <a:srgbClr val="FFFFFF"/>
                </a:solidFill>
                <a:latin typeface="Microsoft YaHei"/>
                <a:ea typeface="Microsoft YaHei"/>
              </a:rPr>
              <a:t>研究</a:t>
            </a:r>
            <a:r>
              <a:rPr sz="2400" b="1" i="0" dirty="0" err="1">
                <a:solidFill>
                  <a:srgbClr val="FFFFFF"/>
                </a:solidFill>
                <a:latin typeface="Microsoft YaHei"/>
                <a:ea typeface="Microsoft YaHei"/>
              </a:rPr>
              <a:t>中的人机协作</a:t>
            </a:r>
            <a:endParaRPr sz="2400" b="1" i="0" dirty="0">
              <a:solidFill>
                <a:srgbClr val="FFFFFF"/>
              </a:solidFill>
              <a:latin typeface="Microsoft YaHei"/>
              <a:ea typeface="Microsoft YaHei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960120" y="1051560"/>
            <a:ext cx="9140499" cy="4927365"/>
          </a:xfrm>
          <a:prstGeom prst="rect">
            <a:avLst/>
          </a:prstGeom>
          <a:noFill/>
        </p:spPr>
        <p:txBody>
          <a:bodyPr wrap="square" lIns="36000" tIns="36000" rIns="36000" bIns="36000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2400" b="1" dirty="0" err="1">
                <a:solidFill>
                  <a:srgbClr val="0066CC"/>
                </a:solidFill>
                <a:latin typeface="Microsoft YaHei"/>
                <a:ea typeface="Microsoft YaHei"/>
              </a:rPr>
              <a:t>场景：导师要你下月办</a:t>
            </a:r>
            <a:r>
              <a:rPr sz="2400" b="1" dirty="0">
                <a:solidFill>
                  <a:srgbClr val="0066CC"/>
                </a:solidFill>
                <a:latin typeface="Microsoft YaHei"/>
                <a:ea typeface="Microsoft YaHei"/>
              </a:rPr>
              <a:t> </a:t>
            </a:r>
            <a:r>
              <a:rPr sz="2400" b="1" dirty="0">
                <a:solidFill>
                  <a:srgbClr val="F58020"/>
                </a:solidFill>
                <a:latin typeface="Microsoft YaHei"/>
                <a:ea typeface="Microsoft YaHei"/>
              </a:rPr>
              <a:t>"</a:t>
            </a:r>
            <a:r>
              <a:rPr sz="2400" b="1" dirty="0" err="1">
                <a:solidFill>
                  <a:srgbClr val="F58020"/>
                </a:solidFill>
                <a:latin typeface="Microsoft YaHei"/>
                <a:ea typeface="Microsoft YaHei"/>
              </a:rPr>
              <a:t>跨学科研究生创新论坛</a:t>
            </a:r>
            <a:r>
              <a:rPr sz="2400" b="1" dirty="0">
                <a:solidFill>
                  <a:srgbClr val="F58020"/>
                </a:solidFill>
                <a:latin typeface="Microsoft YaHei"/>
                <a:ea typeface="Microsoft YaHei"/>
              </a:rPr>
              <a:t>"</a:t>
            </a:r>
            <a:r>
              <a:rPr sz="2400" b="1" dirty="0">
                <a:solidFill>
                  <a:srgbClr val="0066CC"/>
                </a:solidFill>
                <a:latin typeface="Microsoft YaHei"/>
                <a:ea typeface="Microsoft YaHei"/>
              </a:rPr>
              <a:t> </a:t>
            </a:r>
            <a:r>
              <a:rPr sz="2400" b="1" dirty="0" err="1">
                <a:solidFill>
                  <a:srgbClr val="0066CC"/>
                </a:solidFill>
                <a:latin typeface="Microsoft YaHei"/>
                <a:ea typeface="Microsoft YaHei"/>
              </a:rPr>
              <a:t>的策划案</a:t>
            </a:r>
            <a:r>
              <a:rPr sz="2400" b="1" dirty="0">
                <a:solidFill>
                  <a:srgbClr val="0066CC"/>
                </a:solidFill>
                <a:latin typeface="Microsoft YaHei"/>
                <a:ea typeface="Microsoft YaHei"/>
              </a:rPr>
              <a:t>。</a:t>
            </a:r>
            <a:endParaRPr lang="en-US" sz="2400" b="1" dirty="0">
              <a:solidFill>
                <a:srgbClr val="0066CC"/>
              </a:solidFill>
              <a:latin typeface="Microsoft YaHei"/>
              <a:ea typeface="Microsoft YaHei"/>
            </a:endParaRP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endParaRPr sz="2200" b="1" dirty="0">
              <a:solidFill>
                <a:srgbClr val="0066CC"/>
              </a:solidFill>
              <a:latin typeface="Microsoft YaHei"/>
              <a:ea typeface="Microsoft YaHei"/>
            </a:endParaRP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2200" b="1" dirty="0" err="1">
                <a:solidFill>
                  <a:srgbClr val="F58020"/>
                </a:solidFill>
                <a:latin typeface="Microsoft YaHei"/>
                <a:ea typeface="Microsoft YaHei"/>
              </a:rPr>
              <a:t>普通联网</a:t>
            </a:r>
            <a:r>
              <a:rPr sz="2200" b="1" dirty="0">
                <a:solidFill>
                  <a:srgbClr val="F58020"/>
                </a:solidFill>
                <a:latin typeface="Microsoft YaHei"/>
                <a:ea typeface="Microsoft YaHei"/>
              </a:rPr>
              <a:t>问答</a:t>
            </a:r>
            <a:r>
              <a:rPr sz="2200" b="0" dirty="0" err="1">
                <a:solidFill>
                  <a:srgbClr val="333333"/>
                </a:solidFill>
                <a:latin typeface="Microsoft YaHei"/>
                <a:ea typeface="Microsoft YaHei"/>
              </a:rPr>
              <a:t>通常适合范围较明确的问题</a:t>
            </a:r>
            <a:r>
              <a:rPr sz="2000" b="0" dirty="0">
                <a:solidFill>
                  <a:srgbClr val="333333"/>
                </a:solidFill>
                <a:latin typeface="Microsoft YaHei"/>
                <a:ea typeface="Microsoft YaHei"/>
              </a:rPr>
              <a:t>。</a:t>
            </a:r>
            <a:endParaRPr lang="en-US" sz="2000" b="0" dirty="0">
              <a:solidFill>
                <a:srgbClr val="333333"/>
              </a:solidFill>
              <a:latin typeface="Microsoft YaHei"/>
              <a:ea typeface="Microsoft YaHei"/>
            </a:endParaRP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endParaRPr lang="en-US" sz="2000" b="1" dirty="0">
              <a:solidFill>
                <a:srgbClr val="0066CC"/>
              </a:solidFill>
              <a:latin typeface="Arial"/>
              <a:ea typeface="Arial"/>
            </a:endParaRP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2200" b="1" dirty="0" err="1">
                <a:solidFill>
                  <a:srgbClr val="0066CC"/>
                </a:solidFill>
                <a:latin typeface="Arial"/>
                <a:ea typeface="Arial"/>
              </a:rPr>
              <a:t>深度</a:t>
            </a:r>
            <a:r>
              <a:rPr sz="2200" b="1" dirty="0">
                <a:solidFill>
                  <a:srgbClr val="0066CC"/>
                </a:solidFill>
                <a:latin typeface="Arial"/>
                <a:ea typeface="Arial"/>
              </a:rPr>
              <a:t>研究可按计划开展多轮</a:t>
            </a:r>
            <a:r>
              <a:rPr sz="2200" b="0" dirty="0">
                <a:solidFill>
                  <a:srgbClr val="333333"/>
                </a:solidFill>
                <a:latin typeface="Microsoft YaHei"/>
                <a:ea typeface="Microsoft YaHei"/>
              </a:rPr>
              <a:t>资料</a:t>
            </a:r>
            <a:r>
              <a:rPr sz="2200" b="0" dirty="0" err="1">
                <a:solidFill>
                  <a:srgbClr val="333333"/>
                </a:solidFill>
                <a:latin typeface="Microsoft YaHei"/>
                <a:ea typeface="Microsoft YaHei"/>
              </a:rPr>
              <a:t>搜集，例如</a:t>
            </a:r>
            <a:r>
              <a:rPr sz="2200" b="0" dirty="0">
                <a:solidFill>
                  <a:srgbClr val="333333"/>
                </a:solidFill>
                <a:latin typeface="Microsoft YaHei"/>
                <a:ea typeface="Microsoft YaHei"/>
              </a:rPr>
              <a:t>：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2000" b="1" dirty="0">
                <a:solidFill>
                  <a:srgbClr val="004CA0"/>
                </a:solidFill>
                <a:latin typeface="Microsoft YaHei"/>
                <a:ea typeface="Microsoft YaHei"/>
              </a:rPr>
              <a:t>①</a:t>
            </a:r>
            <a:r>
              <a:rPr sz="2000" b="1" dirty="0" err="1">
                <a:solidFill>
                  <a:srgbClr val="004CA0"/>
                </a:solidFill>
                <a:latin typeface="Microsoft YaHei"/>
                <a:ea typeface="Microsoft YaHei"/>
              </a:rPr>
              <a:t> 明确场地</a:t>
            </a:r>
            <a:r>
              <a:rPr sz="2000" b="1" dirty="0">
                <a:solidFill>
                  <a:srgbClr val="004CA0"/>
                </a:solidFill>
                <a:latin typeface="Microsoft YaHei"/>
                <a:ea typeface="Microsoft YaHei"/>
              </a:rPr>
              <a:t>、预</a:t>
            </a:r>
            <a:r>
              <a:rPr sz="2000" b="0" dirty="0" err="1">
                <a:solidFill>
                  <a:srgbClr val="333333"/>
                </a:solidFill>
                <a:latin typeface="Microsoft YaHei"/>
                <a:ea typeface="Microsoft YaHei"/>
              </a:rPr>
              <a:t>算和</a:t>
            </a:r>
            <a:r>
              <a:rPr sz="2000" b="0" dirty="0">
                <a:solidFill>
                  <a:srgbClr val="333333"/>
                </a:solidFill>
                <a:latin typeface="Microsoft YaHei"/>
                <a:ea typeface="Microsoft YaHei"/>
              </a:rPr>
              <a:t>时间</a:t>
            </a:r>
            <a:r>
              <a:rPr sz="2000" b="0" dirty="0" err="1">
                <a:solidFill>
                  <a:srgbClr val="333333"/>
                </a:solidFill>
                <a:latin typeface="Microsoft YaHei"/>
                <a:ea typeface="Microsoft YaHei"/>
              </a:rPr>
              <a:t>等条</a:t>
            </a:r>
            <a:r>
              <a:rPr sz="2000" b="0" dirty="0">
                <a:solidFill>
                  <a:srgbClr val="333333"/>
                </a:solidFill>
                <a:latin typeface="Microsoft YaHei"/>
                <a:ea typeface="Microsoft YaHei"/>
              </a:rPr>
              <a:t>件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2000" b="1" dirty="0">
                <a:solidFill>
                  <a:srgbClr val="004CA0"/>
                </a:solidFill>
                <a:latin typeface="Microsoft YaHei"/>
                <a:ea typeface="Microsoft YaHei"/>
              </a:rPr>
              <a:t>②</a:t>
            </a:r>
            <a:r>
              <a:rPr sz="2000" b="1" dirty="0" err="1">
                <a:solidFill>
                  <a:srgbClr val="004CA0"/>
                </a:solidFill>
                <a:latin typeface="Microsoft YaHei"/>
                <a:ea typeface="Microsoft YaHei"/>
              </a:rPr>
              <a:t> </a:t>
            </a:r>
            <a:r>
              <a:rPr sz="2000" b="1" dirty="0">
                <a:solidFill>
                  <a:srgbClr val="004CA0"/>
                </a:solidFill>
                <a:latin typeface="Microsoft YaHei"/>
                <a:ea typeface="Microsoft YaHei"/>
              </a:rPr>
              <a:t>拟</a:t>
            </a:r>
            <a:r>
              <a:rPr sz="2000" b="1" dirty="0">
                <a:solidFill>
                  <a:srgbClr val="0066CC"/>
                </a:solidFill>
                <a:latin typeface="Microsoft YaHei"/>
                <a:ea typeface="Microsoft YaHei"/>
              </a:rPr>
              <a:t>定</a:t>
            </a:r>
            <a:r>
              <a:rPr sz="2000" b="1" dirty="0" err="1">
                <a:solidFill>
                  <a:srgbClr val="0066CC"/>
                </a:solidFill>
                <a:latin typeface="Microsoft YaHei"/>
                <a:ea typeface="Microsoft YaHei"/>
              </a:rPr>
              <a:t>检索计</a:t>
            </a:r>
            <a:r>
              <a:rPr sz="2000" b="1" dirty="0">
                <a:solidFill>
                  <a:srgbClr val="0066CC"/>
                </a:solidFill>
                <a:latin typeface="Microsoft YaHei"/>
                <a:ea typeface="Microsoft YaHei"/>
              </a:rPr>
              <a:t>划</a:t>
            </a:r>
            <a:r>
              <a:rPr sz="2000" b="0" dirty="0">
                <a:solidFill>
                  <a:srgbClr val="333333"/>
                </a:solidFill>
                <a:latin typeface="Microsoft YaHei"/>
                <a:ea typeface="Microsoft YaHei"/>
              </a:rPr>
              <a:t>，</a:t>
            </a:r>
            <a:r>
              <a:rPr sz="2000" b="0" dirty="0" err="1">
                <a:solidFill>
                  <a:srgbClr val="333333"/>
                </a:solidFill>
                <a:latin typeface="Microsoft YaHei"/>
                <a:ea typeface="Microsoft YaHei"/>
              </a:rPr>
              <a:t>列出需查找的资料</a:t>
            </a:r>
            <a:endParaRPr sz="2000" b="0" dirty="0">
              <a:solidFill>
                <a:srgbClr val="333333"/>
              </a:solidFill>
              <a:latin typeface="Microsoft YaHei"/>
              <a:ea typeface="Microsoft YaHei"/>
            </a:endParaRP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2000" b="1" dirty="0">
                <a:solidFill>
                  <a:srgbClr val="004CA0"/>
                </a:solidFill>
                <a:latin typeface="Microsoft YaHei"/>
                <a:ea typeface="Microsoft YaHei"/>
              </a:rPr>
              <a:t>③</a:t>
            </a:r>
            <a:r>
              <a:rPr sz="2000" b="1" dirty="0" err="1">
                <a:solidFill>
                  <a:srgbClr val="0066CC"/>
                </a:solidFill>
                <a:latin typeface="Microsoft YaHei"/>
                <a:ea typeface="Microsoft YaHei"/>
              </a:rPr>
              <a:t> 由</a:t>
            </a:r>
            <a:r>
              <a:rPr sz="2000" b="1" dirty="0">
                <a:solidFill>
                  <a:srgbClr val="0066CC"/>
                </a:solidFill>
                <a:latin typeface="Microsoft YaHei"/>
                <a:ea typeface="Microsoft YaHei"/>
              </a:rPr>
              <a:t>用户</a:t>
            </a:r>
            <a:r>
              <a:rPr sz="2000" b="1" dirty="0" err="1">
                <a:solidFill>
                  <a:srgbClr val="0066CC"/>
                </a:solidFill>
                <a:latin typeface="Microsoft YaHei"/>
                <a:ea typeface="Microsoft YaHei"/>
              </a:rPr>
              <a:t>补</a:t>
            </a:r>
            <a:r>
              <a:rPr sz="2000" b="0" dirty="0">
                <a:solidFill>
                  <a:srgbClr val="333333"/>
                </a:solidFill>
                <a:latin typeface="Microsoft YaHei"/>
                <a:ea typeface="Microsoft YaHei"/>
              </a:rPr>
              <a:t>充遗</a:t>
            </a:r>
            <a:r>
              <a:rPr sz="2000" b="0" dirty="0" err="1">
                <a:solidFill>
                  <a:srgbClr val="333333"/>
                </a:solidFill>
                <a:latin typeface="Microsoft YaHei"/>
                <a:ea typeface="Microsoft YaHei"/>
              </a:rPr>
              <a:t>漏，如</a:t>
            </a:r>
            <a:r>
              <a:rPr sz="2000" b="0" dirty="0">
                <a:solidFill>
                  <a:srgbClr val="333333"/>
                </a:solidFill>
                <a:latin typeface="Microsoft YaHei"/>
                <a:ea typeface="Microsoft YaHei"/>
              </a:rPr>
              <a:t>学</a:t>
            </a:r>
            <a:r>
              <a:rPr sz="2000" b="0" dirty="0" err="1">
                <a:solidFill>
                  <a:srgbClr val="333333"/>
                </a:solidFill>
                <a:latin typeface="Microsoft YaHei"/>
                <a:ea typeface="Microsoft YaHei"/>
              </a:rPr>
              <a:t>校报备要</a:t>
            </a:r>
            <a:r>
              <a:rPr sz="2000" b="0" dirty="0">
                <a:solidFill>
                  <a:srgbClr val="333333"/>
                </a:solidFill>
                <a:latin typeface="Microsoft YaHei"/>
                <a:ea typeface="Microsoft YaHei"/>
              </a:rPr>
              <a:t>求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2000" b="1" dirty="0">
                <a:solidFill>
                  <a:srgbClr val="004CA0"/>
                </a:solidFill>
                <a:latin typeface="Microsoft YaHei"/>
                <a:ea typeface="Microsoft YaHei"/>
              </a:rPr>
              <a:t>④ </a:t>
            </a:r>
            <a:r>
              <a:rPr sz="2000" b="1" dirty="0" err="1">
                <a:solidFill>
                  <a:srgbClr val="004CA0"/>
                </a:solidFill>
                <a:latin typeface="Microsoft YaHei"/>
                <a:ea typeface="Microsoft YaHei"/>
              </a:rPr>
              <a:t>根据</a:t>
            </a:r>
            <a:r>
              <a:rPr sz="2000" b="1" dirty="0">
                <a:solidFill>
                  <a:srgbClr val="004CA0"/>
                </a:solidFill>
                <a:latin typeface="Microsoft YaHei"/>
                <a:ea typeface="Microsoft YaHei"/>
              </a:rPr>
              <a:t>资</a:t>
            </a:r>
            <a:r>
              <a:rPr sz="2000" b="1" dirty="0" err="1">
                <a:solidFill>
                  <a:srgbClr val="0066CC"/>
                </a:solidFill>
                <a:latin typeface="Microsoft YaHei"/>
                <a:ea typeface="Microsoft YaHei"/>
              </a:rPr>
              <a:t>料缺口</a:t>
            </a:r>
            <a:r>
              <a:rPr sz="2000" b="0" dirty="0">
                <a:solidFill>
                  <a:srgbClr val="333333"/>
                </a:solidFill>
                <a:latin typeface="Microsoft YaHei"/>
                <a:ea typeface="Microsoft YaHei"/>
              </a:rPr>
              <a:t>继</a:t>
            </a:r>
            <a:r>
              <a:rPr sz="2000" b="0" dirty="0" err="1">
                <a:solidFill>
                  <a:srgbClr val="333333"/>
                </a:solidFill>
                <a:latin typeface="Microsoft YaHei"/>
                <a:ea typeface="Microsoft YaHei"/>
              </a:rPr>
              <a:t>续检索和整理</a:t>
            </a:r>
            <a:endParaRPr sz="2000" b="0" dirty="0">
              <a:solidFill>
                <a:srgbClr val="333333"/>
              </a:solidFill>
              <a:latin typeface="Microsoft YaHei"/>
              <a:ea typeface="Microsoft YaHei"/>
            </a:endParaRP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2000" b="1" dirty="0">
                <a:solidFill>
                  <a:srgbClr val="004CA0"/>
                </a:solidFill>
                <a:latin typeface="Microsoft YaHei"/>
                <a:ea typeface="Microsoft YaHei"/>
              </a:rPr>
              <a:t>⑤</a:t>
            </a:r>
            <a:r>
              <a:rPr sz="2000" b="1" dirty="0" err="1">
                <a:solidFill>
                  <a:srgbClr val="004CA0"/>
                </a:solidFill>
                <a:latin typeface="Microsoft YaHei"/>
                <a:ea typeface="Microsoft YaHei"/>
              </a:rPr>
              <a:t> 形成</a:t>
            </a:r>
            <a:r>
              <a:rPr sz="2000" b="1" dirty="0">
                <a:solidFill>
                  <a:srgbClr val="004CA0"/>
                </a:solidFill>
                <a:latin typeface="Microsoft YaHei"/>
                <a:ea typeface="Microsoft YaHei"/>
              </a:rPr>
              <a:t>报</a:t>
            </a:r>
            <a:r>
              <a:rPr sz="2000" b="1" dirty="0" err="1">
                <a:solidFill>
                  <a:srgbClr val="0066CC"/>
                </a:solidFill>
                <a:latin typeface="Microsoft YaHei"/>
                <a:ea typeface="Microsoft YaHei"/>
              </a:rPr>
              <a:t>告与引</a:t>
            </a:r>
            <a:r>
              <a:rPr sz="2000" b="0" dirty="0">
                <a:solidFill>
                  <a:srgbClr val="333333"/>
                </a:solidFill>
                <a:latin typeface="Microsoft YaHei"/>
                <a:ea typeface="Microsoft YaHei"/>
              </a:rPr>
              <a:t>用，</a:t>
            </a:r>
            <a:r>
              <a:rPr sz="2000" b="0" dirty="0" err="1">
                <a:solidFill>
                  <a:srgbClr val="333333"/>
                </a:solidFill>
                <a:latin typeface="Microsoft YaHei"/>
                <a:ea typeface="Microsoft YaHei"/>
              </a:rPr>
              <a:t>再</a:t>
            </a:r>
            <a:r>
              <a:rPr sz="2000" b="0" dirty="0">
                <a:solidFill>
                  <a:srgbClr val="333333"/>
                </a:solidFill>
                <a:latin typeface="Microsoft YaHei"/>
                <a:ea typeface="Microsoft YaHei"/>
              </a:rPr>
              <a:t>由</a:t>
            </a:r>
            <a:r>
              <a:rPr sz="2000" b="0" dirty="0" err="1">
                <a:solidFill>
                  <a:srgbClr val="333333"/>
                </a:solidFill>
                <a:latin typeface="Microsoft YaHei"/>
                <a:ea typeface="Microsoft YaHei"/>
              </a:rPr>
              <a:t>用户</a:t>
            </a:r>
            <a:r>
              <a:rPr sz="2000" b="0" dirty="0">
                <a:solidFill>
                  <a:srgbClr val="333333"/>
                </a:solidFill>
                <a:latin typeface="Microsoft YaHei"/>
                <a:ea typeface="Microsoft YaHei"/>
              </a:rPr>
              <a:t>核</a:t>
            </a:r>
            <a:r>
              <a:rPr sz="2000" b="0" dirty="0" err="1">
                <a:solidFill>
                  <a:srgbClr val="333333"/>
                </a:solidFill>
                <a:latin typeface="Microsoft YaHei"/>
                <a:ea typeface="Microsoft YaHei"/>
              </a:rPr>
              <a:t>对</a:t>
            </a:r>
            <a:r>
              <a:rPr sz="2000" b="0" dirty="0">
                <a:solidFill>
                  <a:srgbClr val="333333"/>
                </a:solidFill>
                <a:latin typeface="Microsoft YaHei"/>
                <a:ea typeface="Microsoft YaHei"/>
              </a:rPr>
              <a:t>和修</a:t>
            </a:r>
            <a:r>
              <a:rPr sz="2000" b="0" dirty="0" err="1">
                <a:solidFill>
                  <a:srgbClr val="333333"/>
                </a:solidFill>
                <a:latin typeface="Microsoft YaHei"/>
                <a:ea typeface="Microsoft YaHei"/>
              </a:rPr>
              <a:t>改</a:t>
            </a:r>
            <a:endParaRPr sz="2000" b="0" dirty="0">
              <a:solidFill>
                <a:srgbClr val="333333"/>
              </a:solidFill>
              <a:latin typeface="Microsoft YaHei"/>
              <a:ea typeface="Microsoft YaHei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11094415" y="6446520"/>
            <a:ext cx="914400" cy="320040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pPr algn="r"/>
            <a:r>
              <a:rPr sz="1100">
                <a:solidFill>
                  <a:srgbClr val="999999"/>
                </a:solidFill>
                <a:latin typeface="Arial"/>
              </a:rPr>
              <a:t>41 / 50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08609A-0B5F-F241-5104-AD86EA9109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yzu_logo.png">
            <a:extLst>
              <a:ext uri="{FF2B5EF4-FFF2-40B4-BE49-F238E27FC236}">
                <a16:creationId xmlns:a16="http://schemas.microsoft.com/office/drawing/2014/main" id="{2C9A6254-0274-173F-DACF-42EC6A615C4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17175" y="246888"/>
            <a:ext cx="1691640" cy="548640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38C56380-1527-BCEA-F58B-FD6E1A89DC0B}"/>
              </a:ext>
            </a:extLst>
          </p:cNvPr>
          <p:cNvSpPr/>
          <p:nvPr/>
        </p:nvSpPr>
        <p:spPr>
          <a:xfrm>
            <a:off x="0" y="274320"/>
            <a:ext cx="960120" cy="502920"/>
          </a:xfrm>
          <a:prstGeom prst="rect">
            <a:avLst/>
          </a:prstGeom>
          <a:solidFill>
            <a:srgbClr val="006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0EA8086-8F29-9411-3680-FEF8D144BDB8}"/>
              </a:ext>
            </a:extLst>
          </p:cNvPr>
          <p:cNvSpPr txBox="1"/>
          <p:nvPr/>
        </p:nvSpPr>
        <p:spPr>
          <a:xfrm>
            <a:off x="45720" y="341114"/>
            <a:ext cx="914400" cy="3693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400" b="1" i="0" dirty="0">
                <a:solidFill>
                  <a:srgbClr val="FFFFFF"/>
                </a:solidFill>
                <a:latin typeface="Microsoft YaHei"/>
                <a:ea typeface="Microsoft YaHei"/>
              </a:rPr>
              <a:t>2.5.1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5250934-1915-DF17-65B2-56FCC94546FA}"/>
              </a:ext>
            </a:extLst>
          </p:cNvPr>
          <p:cNvSpPr/>
          <p:nvPr/>
        </p:nvSpPr>
        <p:spPr>
          <a:xfrm>
            <a:off x="960120" y="274320"/>
            <a:ext cx="9052560" cy="502920"/>
          </a:xfrm>
          <a:prstGeom prst="rect">
            <a:avLst/>
          </a:prstGeom>
          <a:solidFill>
            <a:srgbClr val="3A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F22924D-4872-40F8-4D1A-F1DB61A5A54C}"/>
              </a:ext>
            </a:extLst>
          </p:cNvPr>
          <p:cNvSpPr txBox="1"/>
          <p:nvPr/>
        </p:nvSpPr>
        <p:spPr>
          <a:xfrm>
            <a:off x="1234440" y="341114"/>
            <a:ext cx="8686800" cy="3693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400" b="1" i="0" dirty="0" err="1">
                <a:solidFill>
                  <a:srgbClr val="FFFFFF"/>
                </a:solidFill>
                <a:latin typeface="Microsoft YaHei"/>
                <a:ea typeface="Microsoft YaHei"/>
              </a:rPr>
              <a:t>深度</a:t>
            </a:r>
            <a:r>
              <a:rPr sz="2400" b="1" i="0" dirty="0">
                <a:solidFill>
                  <a:srgbClr val="FFFFFF"/>
                </a:solidFill>
                <a:latin typeface="Microsoft YaHei"/>
                <a:ea typeface="Microsoft YaHei"/>
              </a:rPr>
              <a:t>研究</a:t>
            </a:r>
            <a:r>
              <a:rPr sz="2400" b="1" i="0" dirty="0" err="1">
                <a:solidFill>
                  <a:srgbClr val="FFFFFF"/>
                </a:solidFill>
                <a:latin typeface="Microsoft YaHei"/>
                <a:ea typeface="Microsoft YaHei"/>
              </a:rPr>
              <a:t>中的人机协作</a:t>
            </a:r>
            <a:endParaRPr sz="2400" b="1" i="0" dirty="0">
              <a:solidFill>
                <a:srgbClr val="FFFFFF"/>
              </a:solidFill>
              <a:latin typeface="Microsoft YaHei"/>
              <a:ea typeface="Microsoft YaHei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3A42067-B83F-6266-1B6E-C148222E00CE}"/>
              </a:ext>
            </a:extLst>
          </p:cNvPr>
          <p:cNvSpPr txBox="1"/>
          <p:nvPr/>
        </p:nvSpPr>
        <p:spPr>
          <a:xfrm>
            <a:off x="9798130" y="3367374"/>
            <a:ext cx="2210685" cy="55399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b="0" dirty="0">
                <a:solidFill>
                  <a:srgbClr val="333333"/>
                </a:solidFill>
                <a:latin typeface="Microsoft YaHei"/>
                <a:ea typeface="Microsoft YaHei"/>
              </a:rPr>
              <a:t>图 2-14  </a:t>
            </a:r>
            <a:r>
              <a:rPr b="0" dirty="0" err="1">
                <a:solidFill>
                  <a:srgbClr val="333333"/>
                </a:solidFill>
                <a:latin typeface="Microsoft YaHei"/>
                <a:ea typeface="Microsoft YaHei"/>
              </a:rPr>
              <a:t>深度研究的人机协同与自主决策</a:t>
            </a:r>
            <a:endParaRPr b="0" dirty="0">
              <a:solidFill>
                <a:srgbClr val="333333"/>
              </a:solidFill>
              <a:latin typeface="Microsoft YaHei"/>
              <a:ea typeface="Microsoft YaHei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BDE1FEA-E887-5C40-DC00-35035110AEA1}"/>
              </a:ext>
            </a:extLst>
          </p:cNvPr>
          <p:cNvSpPr txBox="1"/>
          <p:nvPr/>
        </p:nvSpPr>
        <p:spPr>
          <a:xfrm>
            <a:off x="11094415" y="6446520"/>
            <a:ext cx="914400" cy="320040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pPr algn="r"/>
            <a:r>
              <a:rPr sz="1100">
                <a:solidFill>
                  <a:srgbClr val="999999"/>
                </a:solidFill>
                <a:latin typeface="Arial"/>
              </a:rPr>
              <a:t>42 / 50</a:t>
            </a:r>
          </a:p>
        </p:txBody>
      </p:sp>
      <p:sp>
        <p:nvSpPr>
          <p:cNvPr id="33" name="矩形: 圆角 32">
            <a:extLst>
              <a:ext uri="{FF2B5EF4-FFF2-40B4-BE49-F238E27FC236}">
                <a16:creationId xmlns:a16="http://schemas.microsoft.com/office/drawing/2014/main" id="{47DE0C10-F661-4376-AC8D-9A7D46AC7AC9}"/>
              </a:ext>
            </a:extLst>
          </p:cNvPr>
          <p:cNvSpPr/>
          <p:nvPr/>
        </p:nvSpPr>
        <p:spPr>
          <a:xfrm>
            <a:off x="1545040" y="841729"/>
            <a:ext cx="934978" cy="2944004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规划与对齐（人机多轮交互）</a:t>
            </a:r>
            <a:endParaRPr lang="en-US" altLang="zh-CN" dirty="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pic>
        <p:nvPicPr>
          <p:cNvPr id="34" name="图片 33">
            <a:extLst>
              <a:ext uri="{FF2B5EF4-FFF2-40B4-BE49-F238E27FC236}">
                <a16:creationId xmlns:a16="http://schemas.microsoft.com/office/drawing/2014/main" id="{3ADB1663-BB04-470C-B681-205C560C44C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27184" y="841729"/>
            <a:ext cx="481320" cy="461492"/>
          </a:xfrm>
          <a:prstGeom prst="rect">
            <a:avLst/>
          </a:prstGeom>
        </p:spPr>
      </p:pic>
      <p:sp>
        <p:nvSpPr>
          <p:cNvPr id="35" name="矩形: 圆角 34">
            <a:extLst>
              <a:ext uri="{FF2B5EF4-FFF2-40B4-BE49-F238E27FC236}">
                <a16:creationId xmlns:a16="http://schemas.microsoft.com/office/drawing/2014/main" id="{7AFB60F8-4F36-4384-A994-9E61B79258AE}"/>
              </a:ext>
            </a:extLst>
          </p:cNvPr>
          <p:cNvSpPr/>
          <p:nvPr/>
        </p:nvSpPr>
        <p:spPr>
          <a:xfrm>
            <a:off x="2992948" y="841729"/>
            <a:ext cx="5812461" cy="393722"/>
          </a:xfrm>
          <a:prstGeom prst="round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just"/>
            <a:r>
              <a:rPr lang="zh-CN" altLang="en-US" sz="1600" dirty="0">
                <a:latin typeface="宋体" panose="02010600030101010101" pitchFamily="2" charset="-122"/>
                <a:ea typeface="宋体" panose="02010600030101010101" pitchFamily="2" charset="-122"/>
              </a:rPr>
              <a:t>“请帮我策划一场下个月举办的跨学科研究生创新论坛。”</a:t>
            </a:r>
          </a:p>
        </p:txBody>
      </p:sp>
      <p:sp>
        <p:nvSpPr>
          <p:cNvPr id="36" name="矩形: 圆角 35">
            <a:extLst>
              <a:ext uri="{FF2B5EF4-FFF2-40B4-BE49-F238E27FC236}">
                <a16:creationId xmlns:a16="http://schemas.microsoft.com/office/drawing/2014/main" id="{3247CD27-5325-40A6-BF50-36CDBC3629C7}"/>
              </a:ext>
            </a:extLst>
          </p:cNvPr>
          <p:cNvSpPr/>
          <p:nvPr/>
        </p:nvSpPr>
        <p:spPr>
          <a:xfrm>
            <a:off x="2992948" y="1296803"/>
            <a:ext cx="5812460" cy="718284"/>
          </a:xfrm>
          <a:prstGeom prst="roundRect">
            <a:avLst/>
          </a:prstGeom>
          <a:noFill/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just"/>
            <a:r>
              <a:rPr lang="zh-CN" altLang="en-US" sz="1600" dirty="0">
                <a:latin typeface="宋体" panose="02010600030101010101" pitchFamily="2" charset="-122"/>
                <a:ea typeface="宋体" panose="02010600030101010101" pitchFamily="2" charset="-122"/>
              </a:rPr>
              <a:t>“好的！为了让策划更精准，请问：</a:t>
            </a:r>
            <a:endParaRPr lang="en-US" altLang="zh-CN" sz="16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342900" indent="-342900" algn="just">
              <a:buAutoNum type="arabicPeriod"/>
            </a:pPr>
            <a:r>
              <a:rPr lang="zh-CN" altLang="en-US" sz="1600" dirty="0">
                <a:latin typeface="宋体" panose="02010600030101010101" pitchFamily="2" charset="-122"/>
                <a:ea typeface="宋体" panose="02010600030101010101" pitchFamily="2" charset="-122"/>
              </a:rPr>
              <a:t>场地是室内还是室外？多大面积？</a:t>
            </a:r>
            <a:endParaRPr lang="en-US" altLang="zh-CN" sz="16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342900" indent="-342900" algn="just">
              <a:buAutoNum type="arabicPeriod"/>
            </a:pPr>
            <a:r>
              <a:rPr lang="zh-CN" altLang="en-US" sz="1600" dirty="0">
                <a:latin typeface="宋体" panose="02010600030101010101" pitchFamily="2" charset="-122"/>
                <a:ea typeface="宋体" panose="02010600030101010101" pitchFamily="2" charset="-122"/>
              </a:rPr>
              <a:t>预算规模大概是多少？”</a:t>
            </a:r>
            <a:endParaRPr lang="zh-CN" altLang="zh-CN" sz="1600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pic>
        <p:nvPicPr>
          <p:cNvPr id="37" name="图片 36">
            <a:extLst>
              <a:ext uri="{FF2B5EF4-FFF2-40B4-BE49-F238E27FC236}">
                <a16:creationId xmlns:a16="http://schemas.microsoft.com/office/drawing/2014/main" id="{D3E696C1-E705-4625-89A1-9C92F5B4D6F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12159" y="2020415"/>
            <a:ext cx="481320" cy="461492"/>
          </a:xfrm>
          <a:prstGeom prst="rect">
            <a:avLst/>
          </a:prstGeom>
        </p:spPr>
      </p:pic>
      <p:sp>
        <p:nvSpPr>
          <p:cNvPr id="38" name="矩形: 圆角 37">
            <a:extLst>
              <a:ext uri="{FF2B5EF4-FFF2-40B4-BE49-F238E27FC236}">
                <a16:creationId xmlns:a16="http://schemas.microsoft.com/office/drawing/2014/main" id="{41419C54-D83C-4AEA-BE15-B10A000F2EA8}"/>
              </a:ext>
            </a:extLst>
          </p:cNvPr>
          <p:cNvSpPr/>
          <p:nvPr/>
        </p:nvSpPr>
        <p:spPr>
          <a:xfrm>
            <a:off x="3011161" y="2086284"/>
            <a:ext cx="5794247" cy="365684"/>
          </a:xfrm>
          <a:prstGeom prst="round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just"/>
            <a:r>
              <a:rPr lang="zh-CN" altLang="en-US" sz="1400" dirty="0">
                <a:latin typeface="宋体" panose="02010600030101010101" pitchFamily="2" charset="-122"/>
                <a:ea typeface="宋体" panose="02010600030101010101" pitchFamily="2" charset="-122"/>
              </a:rPr>
              <a:t>“室内校园报告厅，约 </a:t>
            </a:r>
            <a:r>
              <a:rPr lang="en-US" altLang="zh-CN" sz="1400" dirty="0">
                <a:latin typeface="宋体" panose="02010600030101010101" pitchFamily="2" charset="-122"/>
                <a:ea typeface="宋体" panose="02010600030101010101" pitchFamily="2" charset="-122"/>
              </a:rPr>
              <a:t>500 </a:t>
            </a:r>
            <a:r>
              <a:rPr lang="zh-CN" altLang="en-US" sz="1400" dirty="0">
                <a:latin typeface="宋体" panose="02010600030101010101" pitchFamily="2" charset="-122"/>
                <a:ea typeface="宋体" panose="02010600030101010101" pitchFamily="2" charset="-122"/>
              </a:rPr>
              <a:t>平方米，预算有限，越经济越好。”</a:t>
            </a:r>
          </a:p>
        </p:txBody>
      </p:sp>
      <p:pic>
        <p:nvPicPr>
          <p:cNvPr id="39" name="图片 38">
            <a:extLst>
              <a:ext uri="{FF2B5EF4-FFF2-40B4-BE49-F238E27FC236}">
                <a16:creationId xmlns:a16="http://schemas.microsoft.com/office/drawing/2014/main" id="{E4654887-22E5-4C18-A044-7DCB95FB3B2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21566" y="2470018"/>
            <a:ext cx="471383" cy="446830"/>
          </a:xfrm>
          <a:prstGeom prst="rect">
            <a:avLst/>
          </a:prstGeom>
        </p:spPr>
      </p:pic>
      <p:sp>
        <p:nvSpPr>
          <p:cNvPr id="40" name="矩形: 圆角 39">
            <a:extLst>
              <a:ext uri="{FF2B5EF4-FFF2-40B4-BE49-F238E27FC236}">
                <a16:creationId xmlns:a16="http://schemas.microsoft.com/office/drawing/2014/main" id="{8B81390B-6DB2-49DE-8909-70BBC9BD6B0D}"/>
              </a:ext>
            </a:extLst>
          </p:cNvPr>
          <p:cNvSpPr/>
          <p:nvPr/>
        </p:nvSpPr>
        <p:spPr>
          <a:xfrm>
            <a:off x="2968583" y="2523166"/>
            <a:ext cx="5836825" cy="795748"/>
          </a:xfrm>
          <a:prstGeom prst="roundRect">
            <a:avLst/>
          </a:prstGeom>
          <a:noFill/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just"/>
            <a:r>
              <a:rPr lang="zh-CN" altLang="en-US" sz="1600" dirty="0">
                <a:latin typeface="宋体" panose="02010600030101010101" pitchFamily="2" charset="-122"/>
                <a:ea typeface="宋体" panose="02010600030101010101" pitchFamily="2" charset="-122"/>
              </a:rPr>
              <a:t>“</a:t>
            </a:r>
            <a:r>
              <a:rPr lang="zh-CN" altLang="en-US" sz="1400" dirty="0">
                <a:latin typeface="宋体" panose="02010600030101010101" pitchFamily="2" charset="-122"/>
                <a:ea typeface="宋体" panose="02010600030101010101" pitchFamily="2" charset="-122"/>
              </a:rPr>
              <a:t>建议查阅以下资料：学校大型室内活动审批要求；</a:t>
            </a:r>
            <a:endParaRPr lang="en-US" altLang="zh-CN" sz="14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just"/>
            <a:r>
              <a:rPr lang="zh-CN" altLang="en-US" sz="1400" dirty="0">
                <a:latin typeface="宋体" panose="02010600030101010101" pitchFamily="2" charset="-122"/>
                <a:ea typeface="宋体" panose="02010600030101010101" pitchFamily="2" charset="-122"/>
              </a:rPr>
              <a:t>低成本茶歇与会场布置方案；</a:t>
            </a:r>
            <a:endParaRPr lang="en-US" altLang="zh-CN" sz="14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just"/>
            <a:r>
              <a:rPr lang="zh-CN" altLang="en-US" sz="1400" dirty="0">
                <a:latin typeface="宋体" panose="02010600030101010101" pitchFamily="2" charset="-122"/>
                <a:ea typeface="宋体" panose="02010600030101010101" pitchFamily="2" charset="-122"/>
              </a:rPr>
              <a:t>学术论坛标准议程参考。您是否同意按照此框架开始执行深度研究？”</a:t>
            </a:r>
            <a:endParaRPr lang="zh-CN" altLang="zh-CN" sz="1400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pic>
        <p:nvPicPr>
          <p:cNvPr id="41" name="图片 40">
            <a:extLst>
              <a:ext uri="{FF2B5EF4-FFF2-40B4-BE49-F238E27FC236}">
                <a16:creationId xmlns:a16="http://schemas.microsoft.com/office/drawing/2014/main" id="{9DA5B86C-86AB-49E3-BB5B-64C4AEB39F9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37435" y="3324242"/>
            <a:ext cx="481320" cy="461492"/>
          </a:xfrm>
          <a:prstGeom prst="rect">
            <a:avLst/>
          </a:prstGeom>
        </p:spPr>
      </p:pic>
      <p:sp>
        <p:nvSpPr>
          <p:cNvPr id="42" name="矩形: 圆角 41">
            <a:extLst>
              <a:ext uri="{FF2B5EF4-FFF2-40B4-BE49-F238E27FC236}">
                <a16:creationId xmlns:a16="http://schemas.microsoft.com/office/drawing/2014/main" id="{DFE23C4D-5321-461A-8AAD-31D9603BA4A9}"/>
              </a:ext>
            </a:extLst>
          </p:cNvPr>
          <p:cNvSpPr/>
          <p:nvPr/>
        </p:nvSpPr>
        <p:spPr>
          <a:xfrm>
            <a:off x="2968583" y="3390112"/>
            <a:ext cx="5812460" cy="395621"/>
          </a:xfrm>
          <a:prstGeom prst="round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just"/>
            <a:r>
              <a:rPr lang="zh-CN" altLang="en-US" sz="1400" dirty="0">
                <a:latin typeface="宋体" panose="02010600030101010101" pitchFamily="2" charset="-122"/>
                <a:ea typeface="宋体" panose="02010600030101010101" pitchFamily="2" charset="-122"/>
              </a:rPr>
              <a:t>“同意，开始吧！”</a:t>
            </a:r>
          </a:p>
        </p:txBody>
      </p:sp>
      <p:pic>
        <p:nvPicPr>
          <p:cNvPr id="43" name="图片 42">
            <a:extLst>
              <a:ext uri="{FF2B5EF4-FFF2-40B4-BE49-F238E27FC236}">
                <a16:creationId xmlns:a16="http://schemas.microsoft.com/office/drawing/2014/main" id="{A17A3D44-FF6D-4257-87AA-6B4ABA04DAA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21566" y="1336792"/>
            <a:ext cx="471383" cy="446830"/>
          </a:xfrm>
          <a:prstGeom prst="rect">
            <a:avLst/>
          </a:prstGeom>
        </p:spPr>
      </p:pic>
      <p:pic>
        <p:nvPicPr>
          <p:cNvPr id="44" name="图片 43">
            <a:extLst>
              <a:ext uri="{FF2B5EF4-FFF2-40B4-BE49-F238E27FC236}">
                <a16:creationId xmlns:a16="http://schemas.microsoft.com/office/drawing/2014/main" id="{3D00D73D-D540-4D16-BE61-B0745FDF74A8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t="2428"/>
          <a:stretch>
            <a:fillRect/>
          </a:stretch>
        </p:blipFill>
        <p:spPr>
          <a:xfrm>
            <a:off x="2480018" y="3985396"/>
            <a:ext cx="488565" cy="2832834"/>
          </a:xfrm>
          <a:prstGeom prst="rect">
            <a:avLst/>
          </a:prstGeom>
        </p:spPr>
      </p:pic>
      <p:sp>
        <p:nvSpPr>
          <p:cNvPr id="45" name="文本框 44">
            <a:extLst>
              <a:ext uri="{FF2B5EF4-FFF2-40B4-BE49-F238E27FC236}">
                <a16:creationId xmlns:a16="http://schemas.microsoft.com/office/drawing/2014/main" id="{ACC0FB26-D87F-4A1B-BCE0-462E575DC1F0}"/>
              </a:ext>
            </a:extLst>
          </p:cNvPr>
          <p:cNvSpPr txBox="1"/>
          <p:nvPr/>
        </p:nvSpPr>
        <p:spPr>
          <a:xfrm>
            <a:off x="2968583" y="3897266"/>
            <a:ext cx="5836825" cy="919129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zh-CN" altLang="en-US" sz="1600" b="1" dirty="0">
                <a:latin typeface="宋体" panose="02010600030101010101" pitchFamily="2" charset="-122"/>
                <a:ea typeface="宋体" panose="02010600030101010101" pitchFamily="2" charset="-122"/>
              </a:rPr>
              <a:t>执行步骤 </a:t>
            </a:r>
            <a:r>
              <a:rPr lang="en-US" altLang="zh-CN" sz="1600" b="1" dirty="0">
                <a:latin typeface="宋体" panose="02010600030101010101" pitchFamily="2" charset="-122"/>
                <a:ea typeface="宋体" panose="02010600030101010101" pitchFamily="2" charset="-122"/>
              </a:rPr>
              <a:t>1</a:t>
            </a:r>
            <a:r>
              <a:rPr lang="zh-CN" altLang="en-US" sz="1600" b="1" dirty="0">
                <a:latin typeface="宋体" panose="02010600030101010101" pitchFamily="2" charset="-122"/>
                <a:ea typeface="宋体" panose="02010600030101010101" pitchFamily="2" charset="-122"/>
              </a:rPr>
              <a:t>： </a:t>
            </a:r>
            <a:r>
              <a:rPr lang="zh-CN" altLang="en-US" sz="1600" dirty="0">
                <a:latin typeface="宋体" panose="02010600030101010101" pitchFamily="2" charset="-122"/>
                <a:ea typeface="宋体" panose="02010600030101010101" pitchFamily="2" charset="-122"/>
              </a:rPr>
              <a:t>抓取关于举办大型校园活动的场地审批规则、安保条例等官方文件。</a:t>
            </a:r>
            <a:endParaRPr lang="en-US" altLang="zh-CN" sz="16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endParaRPr lang="en-US" altLang="zh-CN" sz="16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endParaRPr lang="en-US" altLang="zh-CN" sz="1600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46" name="文本框 45">
            <a:extLst>
              <a:ext uri="{FF2B5EF4-FFF2-40B4-BE49-F238E27FC236}">
                <a16:creationId xmlns:a16="http://schemas.microsoft.com/office/drawing/2014/main" id="{98BD79FA-3D81-4E44-B405-A9260979ECB8}"/>
              </a:ext>
            </a:extLst>
          </p:cNvPr>
          <p:cNvSpPr txBox="1"/>
          <p:nvPr/>
        </p:nvSpPr>
        <p:spPr>
          <a:xfrm>
            <a:off x="2944759" y="4941528"/>
            <a:ext cx="5860649" cy="919129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zh-CN" altLang="en-US" sz="1600" b="1" dirty="0">
                <a:latin typeface="宋体" panose="02010600030101010101" pitchFamily="2" charset="-122"/>
                <a:ea typeface="宋体" panose="02010600030101010101" pitchFamily="2" charset="-122"/>
              </a:rPr>
              <a:t>执行步骤 </a:t>
            </a:r>
            <a:r>
              <a:rPr lang="en-US" altLang="zh-CN" sz="1600" b="1" dirty="0">
                <a:latin typeface="宋体" panose="02010600030101010101" pitchFamily="2" charset="-122"/>
                <a:ea typeface="宋体" panose="02010600030101010101" pitchFamily="2" charset="-122"/>
              </a:rPr>
              <a:t>2</a:t>
            </a:r>
            <a:r>
              <a:rPr lang="zh-CN" altLang="en-US" sz="1600" b="1" dirty="0">
                <a:latin typeface="宋体" panose="02010600030101010101" pitchFamily="2" charset="-122"/>
                <a:ea typeface="宋体" panose="02010600030101010101" pitchFamily="2" charset="-122"/>
              </a:rPr>
              <a:t>：</a:t>
            </a:r>
            <a:r>
              <a:rPr lang="zh-CN" altLang="en-US" sz="1600" dirty="0">
                <a:latin typeface="宋体" panose="02010600030101010101" pitchFamily="2" charset="-122"/>
                <a:ea typeface="宋体" panose="02010600030101010101" pitchFamily="2" charset="-122"/>
              </a:rPr>
              <a:t>综合场地噪音限制、消防安全指南以及活动备案要求。</a:t>
            </a:r>
            <a:endParaRPr lang="en-US" altLang="zh-CN" sz="16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endParaRPr lang="en-US" altLang="zh-CN" sz="16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endParaRPr lang="en-US" altLang="zh-CN" sz="16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endParaRPr lang="en-US" altLang="zh-CN" sz="1600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pic>
        <p:nvPicPr>
          <p:cNvPr id="47" name="图片 46">
            <a:extLst>
              <a:ext uri="{FF2B5EF4-FFF2-40B4-BE49-F238E27FC236}">
                <a16:creationId xmlns:a16="http://schemas.microsoft.com/office/drawing/2014/main" id="{FADE0892-0777-473C-A5CB-0A51125971E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166700" y="4227589"/>
            <a:ext cx="2201631" cy="493216"/>
          </a:xfrm>
          <a:prstGeom prst="rect">
            <a:avLst/>
          </a:prstGeom>
        </p:spPr>
      </p:pic>
      <p:pic>
        <p:nvPicPr>
          <p:cNvPr id="48" name="图片 47">
            <a:extLst>
              <a:ext uri="{FF2B5EF4-FFF2-40B4-BE49-F238E27FC236}">
                <a16:creationId xmlns:a16="http://schemas.microsoft.com/office/drawing/2014/main" id="{9372B184-1CD1-4226-9B18-009405B7EE9F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615426" y="5290623"/>
            <a:ext cx="2474425" cy="541148"/>
          </a:xfrm>
          <a:prstGeom prst="rect">
            <a:avLst/>
          </a:prstGeom>
        </p:spPr>
      </p:pic>
      <p:sp>
        <p:nvSpPr>
          <p:cNvPr id="49" name="文本框 48">
            <a:extLst>
              <a:ext uri="{FF2B5EF4-FFF2-40B4-BE49-F238E27FC236}">
                <a16:creationId xmlns:a16="http://schemas.microsoft.com/office/drawing/2014/main" id="{41624065-2B50-45AB-AF56-39022515BB65}"/>
              </a:ext>
            </a:extLst>
          </p:cNvPr>
          <p:cNvSpPr txBox="1"/>
          <p:nvPr/>
        </p:nvSpPr>
        <p:spPr>
          <a:xfrm>
            <a:off x="2941205" y="5925735"/>
            <a:ext cx="5839837" cy="919129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zh-CN" altLang="en-US" sz="1600" b="1" dirty="0">
                <a:latin typeface="宋体" panose="02010600030101010101" pitchFamily="2" charset="-122"/>
                <a:ea typeface="宋体" panose="02010600030101010101" pitchFamily="2" charset="-122"/>
              </a:rPr>
              <a:t>执行步</a:t>
            </a:r>
            <a:r>
              <a:rPr lang="en-US" altLang="zh-CN" sz="1600" b="1" dirty="0">
                <a:latin typeface="宋体" panose="02010600030101010101" pitchFamily="2" charset="-122"/>
                <a:ea typeface="宋体" panose="02010600030101010101" pitchFamily="2" charset="-122"/>
              </a:rPr>
              <a:t>骤</a:t>
            </a:r>
            <a:r>
              <a:rPr lang="zh-CN" altLang="en-US" sz="1600" b="1" dirty="0">
                <a:latin typeface="宋体" panose="02010600030101010101" pitchFamily="2" charset="-122"/>
                <a:ea typeface="宋体" panose="02010600030101010101" pitchFamily="2" charset="-122"/>
              </a:rPr>
              <a:t>3</a:t>
            </a:r>
            <a:r>
              <a:rPr lang="zh-CN" altLang="en-US" sz="1600" dirty="0">
                <a:latin typeface="宋体" panose="02010600030101010101" pitchFamily="2" charset="-122"/>
                <a:ea typeface="宋体" panose="02010600030101010101" pitchFamily="2" charset="-122"/>
              </a:rPr>
              <a:t>：检索论坛筹备案例及采购信息，比较费用和适用条件。</a:t>
            </a:r>
            <a:endParaRPr lang="en-US" altLang="zh-CN" sz="16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endParaRPr lang="en-US" altLang="zh-CN" sz="16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endParaRPr lang="en-US" altLang="zh-CN" sz="1600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pic>
        <p:nvPicPr>
          <p:cNvPr id="50" name="图片 49">
            <a:extLst>
              <a:ext uri="{FF2B5EF4-FFF2-40B4-BE49-F238E27FC236}">
                <a16:creationId xmlns:a16="http://schemas.microsoft.com/office/drawing/2014/main" id="{D65688FD-7BCE-45EE-9304-849DD30CF59C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202901" y="6234453"/>
            <a:ext cx="2330859" cy="520331"/>
          </a:xfrm>
          <a:prstGeom prst="rect">
            <a:avLst/>
          </a:prstGeom>
        </p:spPr>
      </p:pic>
      <p:sp>
        <p:nvSpPr>
          <p:cNvPr id="51" name="矩形: 圆角 25">
            <a:extLst>
              <a:ext uri="{FF2B5EF4-FFF2-40B4-BE49-F238E27FC236}">
                <a16:creationId xmlns:a16="http://schemas.microsoft.com/office/drawing/2014/main" id="{9D678252-5C07-4916-AB30-796B73F25D6E}"/>
              </a:ext>
            </a:extLst>
          </p:cNvPr>
          <p:cNvSpPr/>
          <p:nvPr/>
        </p:nvSpPr>
        <p:spPr>
          <a:xfrm>
            <a:off x="1545040" y="3897267"/>
            <a:ext cx="934979" cy="2947597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按计划检索，并根据资料缺口补充搜索</a:t>
            </a:r>
            <a:endParaRPr lang="zh-CN" altLang="en-US" sz="1600" dirty="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926000555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02921" y="6366718"/>
            <a:ext cx="9142242" cy="337757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>
              <a:lnSpc>
                <a:spcPct val="130000"/>
              </a:lnSpc>
              <a:spcAft>
                <a:spcPts val="600"/>
              </a:spcAft>
            </a:pPr>
            <a:r>
              <a:rPr lang="zh-CN" altLang="en-US" sz="2400" b="1" dirty="0">
                <a:solidFill>
                  <a:srgbClr val="004CA0"/>
                </a:solidFill>
                <a:latin typeface="Microsoft YaHei"/>
                <a:ea typeface="Microsoft YaHei"/>
              </a:rPr>
              <a:t>达到任务要求或检索限制后，整理报告，</a:t>
            </a:r>
            <a:r>
              <a:rPr lang="zh-CN" altLang="en-US" sz="2400" b="1" dirty="0">
                <a:solidFill>
                  <a:srgbClr val="0066CC"/>
                </a:solidFill>
                <a:latin typeface="Microsoft YaHei"/>
                <a:ea typeface="Microsoft YaHei"/>
              </a:rPr>
              <a:t>注明来源与未解决的问题。</a:t>
            </a:r>
            <a:endParaRPr lang="zh-CN" altLang="en-US" sz="2400" b="1" dirty="0">
              <a:solidFill>
                <a:srgbClr val="0066CC"/>
              </a:solidFill>
              <a:latin typeface="Microsoft YaHei"/>
              <a:ea typeface="Microsoft YaHei"/>
            </a:endParaRPr>
          </a:p>
        </p:txBody>
      </p:sp>
      <p:pic>
        <p:nvPicPr>
          <p:cNvPr id="3" name="Picture 2" descr="yzu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17175" y="246888"/>
            <a:ext cx="1691640" cy="54864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274320"/>
            <a:ext cx="960120" cy="502920"/>
          </a:xfrm>
          <a:prstGeom prst="rect">
            <a:avLst/>
          </a:prstGeom>
          <a:solidFill>
            <a:srgbClr val="006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" y="341114"/>
            <a:ext cx="914400" cy="3693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400" b="1" i="0" dirty="0">
                <a:solidFill>
                  <a:srgbClr val="FFFFFF"/>
                </a:solidFill>
                <a:latin typeface="Microsoft YaHei"/>
                <a:ea typeface="Microsoft YaHei"/>
              </a:rPr>
              <a:t>2.5.2</a:t>
            </a:r>
          </a:p>
        </p:txBody>
      </p:sp>
      <p:sp>
        <p:nvSpPr>
          <p:cNvPr id="6" name="Rectangle 5"/>
          <p:cNvSpPr/>
          <p:nvPr/>
        </p:nvSpPr>
        <p:spPr>
          <a:xfrm>
            <a:off x="960120" y="274320"/>
            <a:ext cx="9052560" cy="502920"/>
          </a:xfrm>
          <a:prstGeom prst="rect">
            <a:avLst/>
          </a:prstGeom>
          <a:solidFill>
            <a:srgbClr val="3A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234440" y="341114"/>
            <a:ext cx="8686800" cy="3693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400" b="1" i="0" dirty="0" err="1">
                <a:solidFill>
                  <a:srgbClr val="FFFFFF"/>
                </a:solidFill>
                <a:latin typeface="Microsoft YaHei"/>
                <a:ea typeface="Microsoft YaHei"/>
              </a:rPr>
              <a:t>深度研究</a:t>
            </a:r>
            <a:r>
              <a:rPr sz="2400" b="1" i="0" dirty="0">
                <a:solidFill>
                  <a:srgbClr val="FFFFFF"/>
                </a:solidFill>
                <a:latin typeface="Microsoft YaHei"/>
                <a:ea typeface="Microsoft YaHei"/>
              </a:rPr>
              <a:t>的常</a:t>
            </a:r>
            <a:r>
              <a:rPr sz="2400" b="1" i="0" dirty="0" err="1">
                <a:solidFill>
                  <a:srgbClr val="FFFFFF"/>
                </a:solidFill>
                <a:latin typeface="Microsoft YaHei"/>
                <a:ea typeface="Microsoft YaHei"/>
              </a:rPr>
              <a:t>见</a:t>
            </a:r>
            <a:r>
              <a:rPr sz="2400" b="1" i="0" dirty="0">
                <a:solidFill>
                  <a:srgbClr val="FFFFFF"/>
                </a:solidFill>
                <a:latin typeface="Microsoft YaHei"/>
                <a:ea typeface="Microsoft YaHei"/>
              </a:rPr>
              <a:t>流</a:t>
            </a:r>
            <a:r>
              <a:rPr sz="2400" b="1" i="0" dirty="0" err="1">
                <a:solidFill>
                  <a:srgbClr val="FFFFFF"/>
                </a:solidFill>
                <a:latin typeface="Microsoft YaHei"/>
                <a:ea typeface="Microsoft YaHei"/>
              </a:rPr>
              <a:t>程</a:t>
            </a:r>
            <a:endParaRPr sz="2400" b="1" i="0" dirty="0">
              <a:solidFill>
                <a:srgbClr val="FFFFFF"/>
              </a:solidFill>
              <a:latin typeface="Microsoft YaHei"/>
              <a:ea typeface="Microsoft YaHei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597971" y="794759"/>
            <a:ext cx="8078688" cy="5523426"/>
          </a:xfrm>
          <a:prstGeom prst="rect">
            <a:avLst/>
          </a:prstGeom>
          <a:noFill/>
        </p:spPr>
        <p:txBody>
          <a:bodyPr wrap="square" lIns="36000" tIns="36000" rIns="36000" bIns="36000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2400" b="1" dirty="0" err="1">
                <a:solidFill>
                  <a:srgbClr val="0066CC"/>
                </a:solidFill>
                <a:latin typeface="Microsoft YaHei"/>
                <a:ea typeface="Microsoft YaHei"/>
              </a:rPr>
              <a:t>系统</a:t>
            </a:r>
            <a:r>
              <a:rPr sz="2400" b="1" dirty="0">
                <a:solidFill>
                  <a:srgbClr val="0066CC"/>
                </a:solidFill>
                <a:latin typeface="Microsoft YaHei"/>
                <a:ea typeface="Microsoft YaHei"/>
              </a:rPr>
              <a:t>可并</a:t>
            </a:r>
            <a:r>
              <a:rPr sz="2400" b="1" dirty="0" err="1">
                <a:solidFill>
                  <a:srgbClr val="0066CC"/>
                </a:solidFill>
                <a:latin typeface="Microsoft YaHei"/>
                <a:ea typeface="Microsoft YaHei"/>
              </a:rPr>
              <a:t>行处理多</a:t>
            </a:r>
            <a:r>
              <a:rPr sz="2200" b="1" dirty="0" err="1">
                <a:solidFill>
                  <a:srgbClr val="0066CC"/>
                </a:solidFill>
                <a:latin typeface="Microsoft YaHei"/>
                <a:ea typeface="Microsoft YaHei"/>
              </a:rPr>
              <a:t>个检索任务</a:t>
            </a:r>
            <a:r>
              <a:rPr sz="2200" b="1" dirty="0">
                <a:solidFill>
                  <a:srgbClr val="0066CC"/>
                </a:solidFill>
                <a:latin typeface="Microsoft YaHei"/>
                <a:ea typeface="Microsoft YaHei"/>
              </a:rPr>
              <a:t>，</a:t>
            </a:r>
            <a:endParaRPr lang="en-US" sz="2200" b="1" dirty="0">
              <a:solidFill>
                <a:srgbClr val="0066CC"/>
              </a:solidFill>
              <a:latin typeface="Microsoft YaHei"/>
              <a:ea typeface="Microsoft YaHei"/>
            </a:endParaRP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2200" b="0" dirty="0" err="1">
                <a:solidFill>
                  <a:srgbClr val="333333"/>
                </a:solidFill>
                <a:latin typeface="Microsoft YaHei"/>
                <a:ea typeface="Microsoft YaHei"/>
              </a:rPr>
              <a:t>再根据结果调整后续搜索。</a:t>
            </a:r>
            <a:endParaRPr sz="2200" b="0" dirty="0">
              <a:solidFill>
                <a:srgbClr val="333333"/>
              </a:solidFill>
              <a:latin typeface="Microsoft YaHei"/>
              <a:ea typeface="Microsoft YaHei"/>
            </a:endParaRP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2400" b="1" dirty="0">
                <a:solidFill>
                  <a:srgbClr val="004CA0"/>
                </a:solidFill>
                <a:latin typeface="Microsoft YaHei"/>
                <a:ea typeface="Microsoft YaHei"/>
              </a:rPr>
              <a:t>多轮</a:t>
            </a:r>
            <a:r>
              <a:rPr sz="2400" b="1" dirty="0" err="1">
                <a:solidFill>
                  <a:srgbClr val="004CA0"/>
                </a:solidFill>
                <a:latin typeface="Microsoft YaHei"/>
                <a:ea typeface="Microsoft YaHei"/>
              </a:rPr>
              <a:t>检索与评估</a:t>
            </a:r>
            <a:r>
              <a:rPr sz="2400" b="1" dirty="0">
                <a:solidFill>
                  <a:srgbClr val="004CA0"/>
                </a:solidFill>
                <a:latin typeface="Microsoft YaHei"/>
                <a:ea typeface="Microsoft YaHei"/>
              </a:rPr>
              <a:t>：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2000" b="1" dirty="0">
                <a:solidFill>
                  <a:srgbClr val="0066CC"/>
                </a:solidFill>
                <a:latin typeface="Microsoft YaHei"/>
                <a:ea typeface="Microsoft YaHei"/>
              </a:rPr>
              <a:t>① </a:t>
            </a:r>
            <a:r>
              <a:rPr sz="2200" b="1" dirty="0" err="1">
                <a:solidFill>
                  <a:srgbClr val="004CA0"/>
                </a:solidFill>
                <a:latin typeface="Microsoft YaHei"/>
                <a:ea typeface="Microsoft YaHei"/>
              </a:rPr>
              <a:t>检索</a:t>
            </a:r>
            <a:r>
              <a:rPr sz="1900" b="0" dirty="0">
                <a:solidFill>
                  <a:srgbClr val="333333"/>
                </a:solidFill>
                <a:latin typeface="Microsoft YaHei"/>
                <a:ea typeface="Microsoft YaHei"/>
              </a:rPr>
              <a:t>：</a:t>
            </a:r>
            <a:r>
              <a:rPr sz="2200" b="0" dirty="0">
                <a:solidFill>
                  <a:srgbClr val="333333"/>
                </a:solidFill>
                <a:latin typeface="Microsoft YaHei"/>
                <a:ea typeface="Microsoft YaHei"/>
              </a:rPr>
              <a:t>获取</a:t>
            </a:r>
            <a:r>
              <a:rPr sz="2200" b="0" dirty="0" err="1">
                <a:solidFill>
                  <a:srgbClr val="333333"/>
                </a:solidFill>
                <a:latin typeface="Microsoft YaHei"/>
                <a:ea typeface="Microsoft YaHei"/>
              </a:rPr>
              <a:t>与问题相关的资料</a:t>
            </a:r>
            <a:endParaRPr sz="2200" b="0" dirty="0">
              <a:solidFill>
                <a:srgbClr val="333333"/>
              </a:solidFill>
              <a:latin typeface="Microsoft YaHei"/>
              <a:ea typeface="Microsoft YaHei"/>
            </a:endParaRP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800" b="0" dirty="0">
                <a:solidFill>
                  <a:srgbClr val="0066CC"/>
                </a:solidFill>
                <a:latin typeface="Microsoft YaHei"/>
                <a:ea typeface="Microsoft YaHei"/>
              </a:rPr>
              <a:t>            </a:t>
            </a:r>
            <a:r>
              <a:rPr b="1" dirty="0">
                <a:solidFill>
                  <a:srgbClr val="0066CC"/>
                </a:solidFill>
                <a:latin typeface="Microsoft YaHei"/>
                <a:ea typeface="Microsoft YaHei"/>
              </a:rPr>
              <a:t>↓</a:t>
            </a:r>
            <a:endParaRPr sz="1800" b="1" dirty="0">
              <a:solidFill>
                <a:srgbClr val="0066CC"/>
              </a:solidFill>
              <a:latin typeface="Microsoft YaHei"/>
              <a:ea typeface="Microsoft YaHei"/>
            </a:endParaRP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2000" b="1" dirty="0">
                <a:solidFill>
                  <a:srgbClr val="0066CC"/>
                </a:solidFill>
                <a:latin typeface="Microsoft YaHei"/>
                <a:ea typeface="Microsoft YaHei"/>
              </a:rPr>
              <a:t>②</a:t>
            </a:r>
            <a:r>
              <a:rPr sz="2200" b="1" dirty="0" err="1">
                <a:solidFill>
                  <a:srgbClr val="004CA0"/>
                </a:solidFill>
                <a:latin typeface="Microsoft YaHei"/>
                <a:ea typeface="Microsoft YaHei"/>
              </a:rPr>
              <a:t> 评估</a:t>
            </a:r>
            <a:r>
              <a:rPr sz="1900" b="0" dirty="0">
                <a:solidFill>
                  <a:srgbClr val="333333"/>
                </a:solidFill>
                <a:latin typeface="Microsoft YaHei"/>
                <a:ea typeface="Microsoft YaHei"/>
              </a:rPr>
              <a:t>：</a:t>
            </a:r>
            <a:r>
              <a:rPr sz="2200" b="0" dirty="0">
                <a:solidFill>
                  <a:srgbClr val="333333"/>
                </a:solidFill>
                <a:latin typeface="Microsoft YaHei"/>
                <a:ea typeface="Microsoft YaHei"/>
              </a:rPr>
              <a:t>检</a:t>
            </a:r>
            <a:r>
              <a:rPr sz="2200" b="0" dirty="0" err="1">
                <a:solidFill>
                  <a:srgbClr val="333333"/>
                </a:solidFill>
                <a:latin typeface="Microsoft YaHei"/>
                <a:ea typeface="Microsoft YaHei"/>
              </a:rPr>
              <a:t>查相关</a:t>
            </a:r>
            <a:r>
              <a:rPr sz="2200" b="0" dirty="0">
                <a:solidFill>
                  <a:srgbClr val="333333"/>
                </a:solidFill>
                <a:latin typeface="Microsoft YaHei"/>
                <a:ea typeface="Microsoft YaHei"/>
              </a:rPr>
              <a:t>性与来</a:t>
            </a:r>
            <a:r>
              <a:rPr sz="2200" b="0" dirty="0" err="1">
                <a:solidFill>
                  <a:srgbClr val="333333"/>
                </a:solidFill>
                <a:latin typeface="Microsoft YaHei"/>
                <a:ea typeface="Microsoft YaHei"/>
              </a:rPr>
              <a:t>源质</a:t>
            </a:r>
            <a:r>
              <a:rPr sz="2200" b="0" dirty="0">
                <a:solidFill>
                  <a:srgbClr val="333333"/>
                </a:solidFill>
                <a:latin typeface="Microsoft YaHei"/>
                <a:ea typeface="Microsoft YaHei"/>
              </a:rPr>
              <a:t>量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800" b="0" dirty="0">
                <a:solidFill>
                  <a:srgbClr val="0066CC"/>
                </a:solidFill>
                <a:latin typeface="Microsoft YaHei"/>
                <a:ea typeface="Microsoft YaHei"/>
              </a:rPr>
              <a:t>            </a:t>
            </a:r>
            <a:r>
              <a:rPr sz="1800" b="1" dirty="0">
                <a:solidFill>
                  <a:srgbClr val="0066CC"/>
                </a:solidFill>
                <a:latin typeface="Microsoft YaHei"/>
                <a:ea typeface="Microsoft YaHei"/>
              </a:rPr>
              <a:t>↓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2000" b="1" dirty="0">
                <a:solidFill>
                  <a:srgbClr val="0066CC"/>
                </a:solidFill>
                <a:latin typeface="Microsoft YaHei"/>
                <a:ea typeface="Microsoft YaHei"/>
              </a:rPr>
              <a:t>③</a:t>
            </a:r>
            <a:r>
              <a:rPr sz="2200" b="1" dirty="0" err="1">
                <a:solidFill>
                  <a:srgbClr val="004CA0"/>
                </a:solidFill>
                <a:latin typeface="Microsoft YaHei"/>
                <a:ea typeface="Microsoft YaHei"/>
              </a:rPr>
              <a:t> 补充</a:t>
            </a:r>
            <a:r>
              <a:rPr sz="1900" b="0" dirty="0">
                <a:solidFill>
                  <a:srgbClr val="333333"/>
                </a:solidFill>
                <a:latin typeface="Microsoft YaHei"/>
                <a:ea typeface="Microsoft YaHei"/>
              </a:rPr>
              <a:t>：</a:t>
            </a:r>
            <a:r>
              <a:rPr sz="2200" b="0" dirty="0">
                <a:solidFill>
                  <a:srgbClr val="333333"/>
                </a:solidFill>
                <a:latin typeface="Microsoft YaHei"/>
                <a:ea typeface="Microsoft YaHei"/>
              </a:rPr>
              <a:t>发现</a:t>
            </a:r>
            <a:r>
              <a:rPr sz="2200" b="0" dirty="0" err="1">
                <a:solidFill>
                  <a:srgbClr val="333333"/>
                </a:solidFill>
                <a:latin typeface="Microsoft YaHei"/>
                <a:ea typeface="Microsoft YaHei"/>
              </a:rPr>
              <a:t>证据缺口后调整关键词</a:t>
            </a:r>
            <a:endParaRPr sz="2200" b="0" dirty="0">
              <a:solidFill>
                <a:srgbClr val="333333"/>
              </a:solidFill>
              <a:latin typeface="Microsoft YaHei"/>
              <a:ea typeface="Microsoft YaHei"/>
            </a:endParaRP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700" b="1" dirty="0">
                <a:solidFill>
                  <a:srgbClr val="004CA0"/>
                </a:solidFill>
                <a:latin typeface="Consolas"/>
                <a:ea typeface="Consolas"/>
              </a:rPr>
              <a:t>     </a:t>
            </a:r>
            <a:r>
              <a:rPr sz="2200" b="1" dirty="0" err="1">
                <a:solidFill>
                  <a:srgbClr val="004CA0"/>
                </a:solidFill>
                <a:latin typeface="Consolas"/>
                <a:ea typeface="Consolas"/>
              </a:rPr>
              <a:t>例：从</a:t>
            </a:r>
            <a:r>
              <a:rPr sz="2200" b="1" dirty="0">
                <a:solidFill>
                  <a:srgbClr val="004CA0"/>
                </a:solidFill>
                <a:latin typeface="Consolas"/>
                <a:ea typeface="Consolas"/>
              </a:rPr>
              <a:t> "</a:t>
            </a:r>
            <a:r>
              <a:rPr sz="2200" b="1" dirty="0" err="1">
                <a:solidFill>
                  <a:srgbClr val="004CA0"/>
                </a:solidFill>
                <a:latin typeface="Consolas"/>
                <a:ea typeface="Consolas"/>
              </a:rPr>
              <a:t>跨学科论坛</a:t>
            </a:r>
            <a:r>
              <a:rPr sz="2200" b="1" dirty="0">
                <a:solidFill>
                  <a:srgbClr val="004CA0"/>
                </a:solidFill>
                <a:latin typeface="Consolas"/>
                <a:ea typeface="Consolas"/>
              </a:rPr>
              <a:t>" → "</a:t>
            </a:r>
            <a:r>
              <a:rPr sz="2200" b="1" dirty="0" err="1">
                <a:solidFill>
                  <a:srgbClr val="004CA0"/>
                </a:solidFill>
                <a:latin typeface="Consolas"/>
                <a:ea typeface="Consolas"/>
              </a:rPr>
              <a:t>学术会议茶歇标准</a:t>
            </a:r>
            <a:r>
              <a:rPr sz="2200" b="1" dirty="0">
                <a:solidFill>
                  <a:srgbClr val="004CA0"/>
                </a:solidFill>
                <a:latin typeface="Consolas"/>
                <a:ea typeface="Consolas"/>
              </a:rPr>
              <a:t>"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800" b="0" dirty="0">
                <a:solidFill>
                  <a:srgbClr val="0066CC"/>
                </a:solidFill>
                <a:latin typeface="Microsoft YaHei"/>
                <a:ea typeface="Microsoft YaHei"/>
              </a:rPr>
              <a:t>            ↓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2000" b="1" dirty="0">
                <a:solidFill>
                  <a:srgbClr val="0066CC"/>
                </a:solidFill>
                <a:latin typeface="Microsoft YaHei"/>
                <a:ea typeface="Microsoft YaHei"/>
              </a:rPr>
              <a:t>④ </a:t>
            </a:r>
            <a:r>
              <a:rPr sz="2200" b="1" dirty="0" err="1">
                <a:solidFill>
                  <a:srgbClr val="004CA0"/>
                </a:solidFill>
                <a:latin typeface="Microsoft YaHei"/>
                <a:ea typeface="Microsoft YaHei"/>
              </a:rPr>
              <a:t>再次检</a:t>
            </a:r>
            <a:r>
              <a:rPr sz="2200" b="0" dirty="0" err="1">
                <a:solidFill>
                  <a:srgbClr val="333333"/>
                </a:solidFill>
                <a:latin typeface="Microsoft YaHei"/>
                <a:ea typeface="Microsoft YaHei"/>
              </a:rPr>
              <a:t>索，</a:t>
            </a:r>
            <a:r>
              <a:rPr sz="2200" b="0" dirty="0" err="1" smtClean="0">
                <a:solidFill>
                  <a:srgbClr val="333333"/>
                </a:solidFill>
                <a:latin typeface="Microsoft YaHei"/>
                <a:ea typeface="Microsoft YaHei"/>
              </a:rPr>
              <a:t>并重新评估结果</a:t>
            </a:r>
            <a:endParaRPr sz="2200" b="0" dirty="0" smtClean="0">
              <a:solidFill>
                <a:srgbClr val="333333"/>
              </a:solidFill>
              <a:latin typeface="Microsoft YaHei"/>
              <a:ea typeface="Microsoft YaHei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7196560" y="4773939"/>
            <a:ext cx="4297680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b="0" dirty="0">
                <a:solidFill>
                  <a:srgbClr val="333333"/>
                </a:solidFill>
                <a:latin typeface="Microsoft YaHei"/>
                <a:ea typeface="Microsoft YaHei"/>
              </a:rPr>
              <a:t>图 2-15  </a:t>
            </a:r>
            <a:r>
              <a:rPr b="0" dirty="0" err="1">
                <a:solidFill>
                  <a:srgbClr val="333333"/>
                </a:solidFill>
                <a:latin typeface="Microsoft YaHei"/>
                <a:ea typeface="Microsoft YaHei"/>
              </a:rPr>
              <a:t>深度研究的底层循环机制</a:t>
            </a:r>
            <a:endParaRPr b="0" dirty="0">
              <a:solidFill>
                <a:srgbClr val="333333"/>
              </a:solidFill>
              <a:latin typeface="Microsoft YaHei"/>
              <a:ea typeface="Microsoft YaHei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11094415" y="6446520"/>
            <a:ext cx="914400" cy="320040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pPr algn="r"/>
            <a:r>
              <a:rPr sz="1100">
                <a:solidFill>
                  <a:srgbClr val="999999"/>
                </a:solidFill>
                <a:latin typeface="Arial"/>
              </a:rPr>
              <a:t>43 / 50</a:t>
            </a:r>
          </a:p>
        </p:txBody>
      </p:sp>
      <p:pic>
        <p:nvPicPr>
          <p:cNvPr id="13" name="图片 12">
            <a:extLst>
              <a:ext uri="{FF2B5EF4-FFF2-40B4-BE49-F238E27FC236}">
                <a16:creationId xmlns:a16="http://schemas.microsoft.com/office/drawing/2014/main" id="{F869DAE5-598A-1779-C17B-D498925BBE0E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9144" b="16210"/>
          <a:stretch>
            <a:fillRect/>
          </a:stretch>
        </p:blipFill>
        <p:spPr>
          <a:xfrm>
            <a:off x="5435628" y="1376236"/>
            <a:ext cx="6756067" cy="2835282"/>
          </a:xfrm>
          <a:prstGeom prst="rect">
            <a:avLst/>
          </a:prstGeom>
        </p:spPr>
      </p:pic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yzu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17175" y="246888"/>
            <a:ext cx="1691640" cy="54864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274320"/>
            <a:ext cx="960120" cy="502920"/>
          </a:xfrm>
          <a:prstGeom prst="rect">
            <a:avLst/>
          </a:prstGeom>
          <a:solidFill>
            <a:srgbClr val="006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" y="341114"/>
            <a:ext cx="914400" cy="3693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400" b="1" i="0" dirty="0">
                <a:solidFill>
                  <a:srgbClr val="FFFFFF"/>
                </a:solidFill>
                <a:latin typeface="Microsoft YaHei"/>
                <a:ea typeface="Microsoft YaHei"/>
              </a:rPr>
              <a:t>2.5.3</a:t>
            </a:r>
          </a:p>
        </p:txBody>
      </p:sp>
      <p:sp>
        <p:nvSpPr>
          <p:cNvPr id="6" name="Rectangle 5"/>
          <p:cNvSpPr/>
          <p:nvPr/>
        </p:nvSpPr>
        <p:spPr>
          <a:xfrm>
            <a:off x="960120" y="274320"/>
            <a:ext cx="9052560" cy="502920"/>
          </a:xfrm>
          <a:prstGeom prst="rect">
            <a:avLst/>
          </a:prstGeom>
          <a:solidFill>
            <a:srgbClr val="3A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234440" y="341114"/>
            <a:ext cx="8686800" cy="3693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400" b="1" i="0" dirty="0" err="1">
                <a:solidFill>
                  <a:srgbClr val="FFFFFF"/>
                </a:solidFill>
                <a:latin typeface="Microsoft YaHei"/>
                <a:ea typeface="Microsoft YaHei"/>
              </a:rPr>
              <a:t>研究结</a:t>
            </a:r>
            <a:r>
              <a:rPr sz="2400" b="1" i="0" dirty="0">
                <a:solidFill>
                  <a:srgbClr val="FFFFFF"/>
                </a:solidFill>
                <a:latin typeface="Microsoft YaHei"/>
                <a:ea typeface="Microsoft YaHei"/>
              </a:rPr>
              <a:t>果的</a:t>
            </a:r>
            <a:r>
              <a:rPr sz="2400" b="1" i="0" dirty="0" err="1">
                <a:solidFill>
                  <a:srgbClr val="FFFFFF"/>
                </a:solidFill>
                <a:latin typeface="Microsoft YaHei"/>
                <a:ea typeface="Microsoft YaHei"/>
              </a:rPr>
              <a:t>整理与可视化</a:t>
            </a:r>
            <a:endParaRPr sz="2400" b="1" i="0" dirty="0">
              <a:solidFill>
                <a:srgbClr val="FFFFFF"/>
              </a:solidFill>
              <a:latin typeface="Microsoft YaHei"/>
              <a:ea typeface="Microsoft YaHei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480060" y="844034"/>
            <a:ext cx="6583680" cy="5366460"/>
          </a:xfrm>
          <a:prstGeom prst="rect">
            <a:avLst/>
          </a:prstGeom>
          <a:noFill/>
        </p:spPr>
        <p:txBody>
          <a:bodyPr wrap="square" lIns="36000" tIns="36000" rIns="36000" bIns="36000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2400" b="1" dirty="0">
                <a:solidFill>
                  <a:srgbClr val="0066CC"/>
                </a:solidFill>
                <a:latin typeface="Microsoft YaHei"/>
                <a:ea typeface="Microsoft YaHei"/>
              </a:rPr>
              <a:t>研究结</a:t>
            </a:r>
            <a:r>
              <a:rPr sz="2400" b="1" dirty="0" err="1">
                <a:solidFill>
                  <a:srgbClr val="0066CC"/>
                </a:solidFill>
                <a:latin typeface="Microsoft YaHei"/>
                <a:ea typeface="Microsoft YaHei"/>
              </a:rPr>
              <a:t>果可根据</a:t>
            </a:r>
            <a:r>
              <a:rPr sz="2400" b="1" dirty="0">
                <a:solidFill>
                  <a:srgbClr val="0066CC"/>
                </a:solidFill>
                <a:latin typeface="Microsoft YaHei"/>
                <a:ea typeface="Microsoft YaHei"/>
              </a:rPr>
              <a:t>用途整</a:t>
            </a:r>
            <a:r>
              <a:rPr sz="2400" b="1" dirty="0" err="1">
                <a:solidFill>
                  <a:srgbClr val="0066CC"/>
                </a:solidFill>
                <a:latin typeface="Microsoft YaHei"/>
                <a:ea typeface="Microsoft YaHei"/>
              </a:rPr>
              <a:t>理成不同形式</a:t>
            </a:r>
            <a:r>
              <a:rPr sz="2400" b="1" dirty="0">
                <a:solidFill>
                  <a:srgbClr val="0066CC"/>
                </a:solidFill>
                <a:latin typeface="Microsoft YaHei"/>
                <a:ea typeface="Microsoft YaHei"/>
              </a:rPr>
              <a:t>。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2400" b="0" dirty="0" err="1">
                <a:solidFill>
                  <a:srgbClr val="333333"/>
                </a:solidFill>
                <a:latin typeface="Microsoft YaHei"/>
                <a:ea typeface="Microsoft YaHei"/>
              </a:rPr>
              <a:t>具体</a:t>
            </a:r>
            <a:r>
              <a:rPr sz="2400" b="0" dirty="0">
                <a:solidFill>
                  <a:srgbClr val="333333"/>
                </a:solidFill>
                <a:latin typeface="Microsoft YaHei"/>
                <a:ea typeface="Microsoft YaHei"/>
              </a:rPr>
              <a:t>支持的格式和操作方式取决于所用</a:t>
            </a:r>
            <a:r>
              <a:rPr sz="2400" b="0" dirty="0" err="1">
                <a:solidFill>
                  <a:srgbClr val="333333"/>
                </a:solidFill>
                <a:latin typeface="Microsoft YaHei"/>
                <a:ea typeface="Microsoft YaHei"/>
              </a:rPr>
              <a:t>产</a:t>
            </a:r>
            <a:r>
              <a:rPr sz="2400" b="0" dirty="0">
                <a:solidFill>
                  <a:srgbClr val="333333"/>
                </a:solidFill>
                <a:latin typeface="Microsoft YaHei"/>
                <a:ea typeface="Microsoft YaHei"/>
              </a:rPr>
              <a:t>品</a:t>
            </a:r>
            <a:r>
              <a:rPr sz="2400" b="0" dirty="0" err="1">
                <a:solidFill>
                  <a:srgbClr val="333333"/>
                </a:solidFill>
                <a:latin typeface="Microsoft YaHei"/>
                <a:ea typeface="Microsoft YaHei"/>
              </a:rPr>
              <a:t>。</a:t>
            </a:r>
            <a:endParaRPr sz="2200" b="0" dirty="0">
              <a:solidFill>
                <a:srgbClr val="333333"/>
              </a:solidFill>
              <a:latin typeface="Microsoft YaHei"/>
              <a:ea typeface="Microsoft YaHei"/>
            </a:endParaRP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2400" b="1" dirty="0" err="1">
                <a:solidFill>
                  <a:srgbClr val="004CA0"/>
                </a:solidFill>
                <a:latin typeface="Microsoft YaHei"/>
                <a:ea typeface="Microsoft YaHei"/>
              </a:rPr>
              <a:t>以筹办</a:t>
            </a:r>
            <a:r>
              <a:rPr sz="2400" b="1" dirty="0">
                <a:solidFill>
                  <a:srgbClr val="004CA0"/>
                </a:solidFill>
                <a:latin typeface="Microsoft YaHei"/>
                <a:ea typeface="Microsoft YaHei"/>
              </a:rPr>
              <a:t> "</a:t>
            </a:r>
            <a:r>
              <a:rPr sz="2400" b="1" dirty="0" err="1">
                <a:solidFill>
                  <a:srgbClr val="004CA0"/>
                </a:solidFill>
                <a:latin typeface="Microsoft YaHei"/>
                <a:ea typeface="Microsoft YaHei"/>
              </a:rPr>
              <a:t>跨学科研究生论坛</a:t>
            </a:r>
            <a:r>
              <a:rPr sz="2400" b="1" dirty="0">
                <a:solidFill>
                  <a:srgbClr val="004CA0"/>
                </a:solidFill>
                <a:latin typeface="Microsoft YaHei"/>
                <a:ea typeface="Microsoft YaHei"/>
              </a:rPr>
              <a:t>" </a:t>
            </a:r>
            <a:r>
              <a:rPr sz="2400" b="1" dirty="0" err="1">
                <a:solidFill>
                  <a:srgbClr val="004CA0"/>
                </a:solidFill>
                <a:latin typeface="Microsoft YaHei"/>
                <a:ea typeface="Microsoft YaHei"/>
              </a:rPr>
              <a:t>为例</a:t>
            </a:r>
            <a:r>
              <a:rPr sz="2400" b="1" dirty="0">
                <a:solidFill>
                  <a:srgbClr val="004CA0"/>
                </a:solidFill>
                <a:latin typeface="Microsoft YaHei"/>
                <a:ea typeface="Microsoft YaHei"/>
              </a:rPr>
              <a:t>：</a:t>
            </a:r>
            <a:endParaRPr sz="2200" b="1" dirty="0">
              <a:solidFill>
                <a:srgbClr val="004CA0"/>
              </a:solidFill>
              <a:latin typeface="Microsoft YaHei"/>
              <a:ea typeface="Microsoft YaHei"/>
            </a:endParaRP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2200" b="1" dirty="0" err="1">
                <a:solidFill>
                  <a:srgbClr val="0066CC"/>
                </a:solidFill>
                <a:latin typeface="Microsoft YaHei"/>
                <a:ea typeface="Microsoft YaHei"/>
              </a:rPr>
              <a:t>可将已核验</a:t>
            </a:r>
            <a:r>
              <a:rPr sz="2200" b="1" dirty="0">
                <a:solidFill>
                  <a:srgbClr val="0066CC"/>
                </a:solidFill>
                <a:latin typeface="Microsoft YaHei"/>
                <a:ea typeface="Microsoft YaHei"/>
              </a:rPr>
              <a:t>的报告</a:t>
            </a:r>
            <a:r>
              <a:rPr sz="2200" b="1" dirty="0" err="1">
                <a:solidFill>
                  <a:srgbClr val="0066CC"/>
                </a:solidFill>
                <a:latin typeface="Microsoft YaHei"/>
                <a:ea typeface="Microsoft YaHei"/>
              </a:rPr>
              <a:t>内容进一步整理为</a:t>
            </a:r>
            <a:r>
              <a:rPr sz="2200" b="1" dirty="0">
                <a:solidFill>
                  <a:srgbClr val="0066CC"/>
                </a:solidFill>
                <a:latin typeface="Microsoft YaHei"/>
                <a:ea typeface="Microsoft YaHei"/>
              </a:rPr>
              <a:t>：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2200" b="0" dirty="0">
                <a:solidFill>
                  <a:srgbClr val="333333"/>
                </a:solidFill>
                <a:latin typeface="Microsoft YaHei"/>
                <a:ea typeface="Microsoft YaHei"/>
              </a:rPr>
              <a:t>📊 </a:t>
            </a:r>
            <a:r>
              <a:rPr sz="2200" b="1" dirty="0" err="1">
                <a:solidFill>
                  <a:srgbClr val="0066CC"/>
                </a:solidFill>
                <a:latin typeface="Microsoft YaHei"/>
                <a:ea typeface="Microsoft YaHei"/>
              </a:rPr>
              <a:t>交互式网页</a:t>
            </a:r>
            <a:r>
              <a:rPr sz="1800" b="0" dirty="0" err="1">
                <a:solidFill>
                  <a:srgbClr val="333333"/>
                </a:solidFill>
                <a:latin typeface="Microsoft YaHei"/>
                <a:ea typeface="Microsoft YaHei"/>
              </a:rPr>
              <a:t>：</a:t>
            </a:r>
            <a:r>
              <a:rPr sz="2200" b="0" dirty="0" err="1">
                <a:solidFill>
                  <a:srgbClr val="333333"/>
                </a:solidFill>
                <a:latin typeface="Microsoft YaHei"/>
                <a:ea typeface="Microsoft YaHei"/>
              </a:rPr>
              <a:t>可点击展开</a:t>
            </a:r>
            <a:r>
              <a:rPr sz="2200" b="0" dirty="0">
                <a:solidFill>
                  <a:srgbClr val="333333"/>
                </a:solidFill>
                <a:latin typeface="Microsoft YaHei"/>
                <a:ea typeface="Microsoft YaHei"/>
              </a:rPr>
              <a:t> / </a:t>
            </a:r>
            <a:r>
              <a:rPr sz="2200" b="0" dirty="0" err="1">
                <a:solidFill>
                  <a:srgbClr val="333333"/>
                </a:solidFill>
                <a:latin typeface="Microsoft YaHei"/>
                <a:ea typeface="Microsoft YaHei"/>
              </a:rPr>
              <a:t>跳转</a:t>
            </a:r>
            <a:endParaRPr sz="2200" b="0" dirty="0">
              <a:solidFill>
                <a:srgbClr val="333333"/>
              </a:solidFill>
              <a:latin typeface="Microsoft YaHei"/>
              <a:ea typeface="Microsoft YaHei"/>
            </a:endParaRP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2200" b="0" dirty="0">
                <a:solidFill>
                  <a:srgbClr val="333333"/>
                </a:solidFill>
                <a:latin typeface="Microsoft YaHei"/>
                <a:ea typeface="Microsoft YaHei"/>
              </a:rPr>
              <a:t>📈 </a:t>
            </a:r>
            <a:r>
              <a:rPr sz="2200" b="1" dirty="0" err="1">
                <a:solidFill>
                  <a:srgbClr val="0066CC"/>
                </a:solidFill>
                <a:latin typeface="Microsoft YaHei"/>
                <a:ea typeface="Microsoft YaHei"/>
              </a:rPr>
              <a:t>数据可视化</a:t>
            </a:r>
            <a:r>
              <a:rPr sz="1800" b="0" dirty="0" err="1">
                <a:solidFill>
                  <a:srgbClr val="333333"/>
                </a:solidFill>
                <a:latin typeface="Microsoft YaHei"/>
                <a:ea typeface="Microsoft YaHei"/>
              </a:rPr>
              <a:t>：</a:t>
            </a:r>
            <a:r>
              <a:rPr sz="2200" b="0" dirty="0" err="1">
                <a:solidFill>
                  <a:srgbClr val="333333"/>
                </a:solidFill>
                <a:latin typeface="Microsoft YaHei"/>
                <a:ea typeface="Microsoft YaHei"/>
              </a:rPr>
              <a:t>经费预算饼状图</a:t>
            </a:r>
            <a:endParaRPr sz="2200" b="0" dirty="0">
              <a:solidFill>
                <a:srgbClr val="333333"/>
              </a:solidFill>
              <a:latin typeface="Microsoft YaHei"/>
              <a:ea typeface="Microsoft YaHei"/>
            </a:endParaRP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2200" b="0" dirty="0">
                <a:solidFill>
                  <a:srgbClr val="333333"/>
                </a:solidFill>
                <a:latin typeface="Microsoft YaHei"/>
                <a:ea typeface="Microsoft YaHei"/>
              </a:rPr>
              <a:t>📋 </a:t>
            </a:r>
            <a:r>
              <a:rPr sz="2200" b="1" dirty="0" err="1">
                <a:solidFill>
                  <a:srgbClr val="0066CC"/>
                </a:solidFill>
                <a:latin typeface="Microsoft YaHei"/>
                <a:ea typeface="Microsoft YaHei"/>
              </a:rPr>
              <a:t>流程图</a:t>
            </a:r>
            <a:r>
              <a:rPr sz="1800" b="0" dirty="0" err="1">
                <a:solidFill>
                  <a:srgbClr val="333333"/>
                </a:solidFill>
                <a:latin typeface="Microsoft YaHei"/>
                <a:ea typeface="Microsoft YaHei"/>
              </a:rPr>
              <a:t>：</a:t>
            </a:r>
            <a:r>
              <a:rPr sz="2200" b="0" dirty="0" err="1">
                <a:solidFill>
                  <a:srgbClr val="333333"/>
                </a:solidFill>
                <a:latin typeface="Microsoft YaHei"/>
                <a:ea typeface="Microsoft YaHei"/>
              </a:rPr>
              <a:t>场地审批可视化流程</a:t>
            </a:r>
            <a:endParaRPr sz="2200" b="0" dirty="0">
              <a:solidFill>
                <a:srgbClr val="333333"/>
              </a:solidFill>
              <a:latin typeface="Microsoft YaHei"/>
              <a:ea typeface="Microsoft YaHei"/>
            </a:endParaRP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2200" b="0" dirty="0">
                <a:solidFill>
                  <a:srgbClr val="333333"/>
                </a:solidFill>
                <a:latin typeface="Microsoft YaHei"/>
                <a:ea typeface="Microsoft YaHei"/>
              </a:rPr>
              <a:t>✅ </a:t>
            </a:r>
            <a:r>
              <a:rPr sz="2200" b="1" dirty="0" err="1">
                <a:solidFill>
                  <a:srgbClr val="0066CC"/>
                </a:solidFill>
                <a:latin typeface="Microsoft YaHei"/>
                <a:ea typeface="Microsoft YaHei"/>
              </a:rPr>
              <a:t>待办清单</a:t>
            </a:r>
            <a:r>
              <a:rPr sz="1800" b="0" dirty="0" err="1">
                <a:solidFill>
                  <a:srgbClr val="333333"/>
                </a:solidFill>
                <a:latin typeface="Microsoft YaHei"/>
                <a:ea typeface="Microsoft YaHei"/>
              </a:rPr>
              <a:t>：</a:t>
            </a:r>
            <a:r>
              <a:rPr sz="2200" b="0" dirty="0" err="1">
                <a:solidFill>
                  <a:srgbClr val="333333"/>
                </a:solidFill>
                <a:latin typeface="Microsoft YaHei"/>
                <a:ea typeface="Microsoft YaHei"/>
              </a:rPr>
              <a:t>筹备执行</a:t>
            </a:r>
            <a:r>
              <a:rPr sz="2200" b="0" dirty="0">
                <a:solidFill>
                  <a:srgbClr val="333333"/>
                </a:solidFill>
                <a:latin typeface="Microsoft YaHei"/>
                <a:ea typeface="Microsoft YaHei"/>
              </a:rPr>
              <a:t> Checklist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2400" b="1" dirty="0">
                <a:solidFill>
                  <a:srgbClr val="004CA0"/>
                </a:solidFill>
                <a:latin typeface="Microsoft YaHei"/>
                <a:ea typeface="Microsoft YaHei"/>
              </a:rPr>
              <a:t>也</a:t>
            </a:r>
            <a:r>
              <a:rPr sz="2400" b="1" dirty="0" err="1">
                <a:solidFill>
                  <a:srgbClr val="004CA0"/>
                </a:solidFill>
                <a:latin typeface="Microsoft YaHei"/>
                <a:ea typeface="Microsoft YaHei"/>
              </a:rPr>
              <a:t>可用于准备</a:t>
            </a:r>
            <a:r>
              <a:rPr sz="2400" b="1" dirty="0">
                <a:solidFill>
                  <a:srgbClr val="004CA0"/>
                </a:solidFill>
                <a:latin typeface="Microsoft YaHei"/>
                <a:ea typeface="Microsoft YaHei"/>
              </a:rPr>
              <a:t>组会汇报、</a:t>
            </a:r>
            <a:r>
              <a:rPr sz="2400" b="1" dirty="0" err="1">
                <a:solidFill>
                  <a:srgbClr val="004CA0"/>
                </a:solidFill>
                <a:latin typeface="Microsoft YaHei"/>
                <a:ea typeface="Microsoft YaHei"/>
              </a:rPr>
              <a:t>课题海</a:t>
            </a:r>
            <a:r>
              <a:rPr sz="2400" b="1" dirty="0">
                <a:solidFill>
                  <a:srgbClr val="004CA0"/>
                </a:solidFill>
                <a:latin typeface="Microsoft YaHei"/>
                <a:ea typeface="Microsoft YaHei"/>
              </a:rPr>
              <a:t>报或</a:t>
            </a:r>
            <a:r>
              <a:rPr sz="2400" b="1" dirty="0" err="1">
                <a:solidFill>
                  <a:srgbClr val="004CA0"/>
                </a:solidFill>
                <a:latin typeface="Microsoft YaHei"/>
                <a:ea typeface="Microsoft YaHei"/>
              </a:rPr>
              <a:t>方案说</a:t>
            </a:r>
            <a:r>
              <a:rPr sz="2400" b="1" dirty="0">
                <a:solidFill>
                  <a:srgbClr val="004CA0"/>
                </a:solidFill>
                <a:latin typeface="Microsoft YaHei"/>
                <a:ea typeface="Microsoft YaHei"/>
              </a:rPr>
              <a:t>明，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2400" b="1" dirty="0" err="1">
                <a:solidFill>
                  <a:srgbClr val="004CA0"/>
                </a:solidFill>
                <a:latin typeface="Microsoft YaHei"/>
                <a:ea typeface="Microsoft YaHei"/>
              </a:rPr>
              <a:t>转换后仍需检查数据、图表和引用是否一</a:t>
            </a:r>
            <a:r>
              <a:rPr sz="2400" b="1" dirty="0">
                <a:solidFill>
                  <a:srgbClr val="004CA0"/>
                </a:solidFill>
                <a:latin typeface="Microsoft YaHei"/>
                <a:ea typeface="Microsoft YaHei"/>
              </a:rPr>
              <a:t>致</a:t>
            </a:r>
            <a:r>
              <a:rPr sz="2400" b="1" dirty="0">
                <a:solidFill>
                  <a:srgbClr val="004CA0"/>
                </a:solidFill>
                <a:latin typeface="Microsoft YaHei"/>
                <a:ea typeface="Microsoft YaHei"/>
              </a:rPr>
              <a:t>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294276" y="5740826"/>
            <a:ext cx="4297680" cy="55399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b="0" dirty="0">
                <a:solidFill>
                  <a:srgbClr val="333333"/>
                </a:solidFill>
                <a:latin typeface="Microsoft YaHei"/>
                <a:ea typeface="Microsoft YaHei"/>
              </a:rPr>
              <a:t>图 2-16  Gemini </a:t>
            </a:r>
            <a:r>
              <a:rPr b="0" dirty="0" err="1">
                <a:solidFill>
                  <a:srgbClr val="333333"/>
                </a:solidFill>
                <a:latin typeface="Microsoft YaHei"/>
                <a:ea typeface="Microsoft YaHei"/>
              </a:rPr>
              <a:t>深度研究结果的多维度格式转化</a:t>
            </a:r>
            <a:endParaRPr b="0" dirty="0">
              <a:solidFill>
                <a:srgbClr val="333333"/>
              </a:solidFill>
              <a:latin typeface="Microsoft YaHei"/>
              <a:ea typeface="Microsoft YaHei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11094415" y="6446520"/>
            <a:ext cx="914400" cy="320040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pPr algn="r"/>
            <a:r>
              <a:rPr sz="1100">
                <a:solidFill>
                  <a:srgbClr val="999999"/>
                </a:solidFill>
                <a:latin typeface="Arial"/>
              </a:rPr>
              <a:t>44 / 50</a:t>
            </a:r>
          </a:p>
        </p:txBody>
      </p:sp>
      <p:pic>
        <p:nvPicPr>
          <p:cNvPr id="12" name="图片 11">
            <a:extLst>
              <a:ext uri="{FF2B5EF4-FFF2-40B4-BE49-F238E27FC236}">
                <a16:creationId xmlns:a16="http://schemas.microsoft.com/office/drawing/2014/main" id="{D0A0E94C-F7C8-8397-1FB4-90FAB078E1C6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83475" y="1234459"/>
            <a:ext cx="4168140" cy="4234142"/>
          </a:xfrm>
          <a:prstGeom prst="rect">
            <a:avLst/>
          </a:prstGeom>
        </p:spPr>
      </p:pic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yzu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17175" y="246888"/>
            <a:ext cx="1691640" cy="54864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274320"/>
            <a:ext cx="960120" cy="502920"/>
          </a:xfrm>
          <a:prstGeom prst="rect">
            <a:avLst/>
          </a:prstGeom>
          <a:solidFill>
            <a:srgbClr val="006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" y="341114"/>
            <a:ext cx="914400" cy="3693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400" b="1" i="0" dirty="0">
                <a:solidFill>
                  <a:srgbClr val="FFFFFF"/>
                </a:solidFill>
                <a:latin typeface="Microsoft YaHei"/>
                <a:ea typeface="Microsoft YaHei"/>
              </a:rPr>
              <a:t>2.5.4</a:t>
            </a:r>
          </a:p>
        </p:txBody>
      </p:sp>
      <p:sp>
        <p:nvSpPr>
          <p:cNvPr id="6" name="Rectangle 5"/>
          <p:cNvSpPr/>
          <p:nvPr/>
        </p:nvSpPr>
        <p:spPr>
          <a:xfrm>
            <a:off x="960120" y="274320"/>
            <a:ext cx="9052560" cy="502920"/>
          </a:xfrm>
          <a:prstGeom prst="rect">
            <a:avLst/>
          </a:prstGeom>
          <a:solidFill>
            <a:srgbClr val="3A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234440" y="341114"/>
            <a:ext cx="8686800" cy="3693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400" b="1" i="0" dirty="0" err="1">
                <a:solidFill>
                  <a:srgbClr val="FFFFFF"/>
                </a:solidFill>
                <a:latin typeface="Microsoft YaHei"/>
                <a:ea typeface="Microsoft YaHei"/>
              </a:rPr>
              <a:t>基础联网</a:t>
            </a:r>
            <a:r>
              <a:rPr sz="2400" b="1" i="0" dirty="0">
                <a:solidFill>
                  <a:srgbClr val="FFFFFF"/>
                </a:solidFill>
                <a:latin typeface="Microsoft YaHei"/>
                <a:ea typeface="Microsoft YaHei"/>
              </a:rPr>
              <a:t> AI vs </a:t>
            </a:r>
            <a:r>
              <a:rPr sz="2400" b="1" i="0" dirty="0" err="1">
                <a:solidFill>
                  <a:srgbClr val="FFFFFF"/>
                </a:solidFill>
                <a:latin typeface="Microsoft YaHei"/>
                <a:ea typeface="Microsoft YaHei"/>
              </a:rPr>
              <a:t>深度研究</a:t>
            </a:r>
            <a:r>
              <a:rPr sz="2400" b="1" i="0" dirty="0">
                <a:solidFill>
                  <a:srgbClr val="FFFFFF"/>
                </a:solidFill>
                <a:latin typeface="Microsoft YaHei"/>
                <a:ea typeface="Microsoft YaHei"/>
              </a:rPr>
              <a:t> · </a:t>
            </a:r>
            <a:r>
              <a:rPr sz="2400" b="1" i="0" dirty="0" err="1">
                <a:solidFill>
                  <a:srgbClr val="FFFFFF"/>
                </a:solidFill>
                <a:latin typeface="Microsoft YaHei"/>
                <a:ea typeface="Microsoft YaHei"/>
              </a:rPr>
              <a:t>场景对比</a:t>
            </a:r>
            <a:endParaRPr sz="2400" b="1" i="0" dirty="0">
              <a:solidFill>
                <a:srgbClr val="FFFFFF"/>
              </a:solidFill>
              <a:latin typeface="Microsoft YaHei"/>
              <a:ea typeface="Microsoft YaHei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502920" y="960120"/>
            <a:ext cx="11247120" cy="3693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400" b="1" i="0" dirty="0">
                <a:solidFill>
                  <a:srgbClr val="0066CC"/>
                </a:solidFill>
                <a:latin typeface="Microsoft YaHei"/>
                <a:ea typeface="Microsoft YaHei"/>
              </a:rPr>
              <a:t>表 2-4   </a:t>
            </a:r>
            <a:r>
              <a:rPr sz="2400" b="1" i="0" dirty="0" err="1">
                <a:solidFill>
                  <a:srgbClr val="0066CC"/>
                </a:solidFill>
                <a:latin typeface="Microsoft YaHei"/>
                <a:ea typeface="Microsoft YaHei"/>
              </a:rPr>
              <a:t>基础联网</a:t>
            </a:r>
            <a:r>
              <a:rPr sz="2400" b="1" i="0" dirty="0">
                <a:solidFill>
                  <a:srgbClr val="0066CC"/>
                </a:solidFill>
                <a:latin typeface="Microsoft YaHei"/>
                <a:ea typeface="Microsoft YaHei"/>
              </a:rPr>
              <a:t> AI </a:t>
            </a:r>
            <a:r>
              <a:rPr sz="2400" b="1" i="0" dirty="0" err="1">
                <a:solidFill>
                  <a:srgbClr val="0066CC"/>
                </a:solidFill>
                <a:latin typeface="Microsoft YaHei"/>
                <a:ea typeface="Microsoft YaHei"/>
              </a:rPr>
              <a:t>与深度研究模式的场景对比</a:t>
            </a:r>
            <a:endParaRPr sz="2400" b="1" i="0" dirty="0">
              <a:solidFill>
                <a:srgbClr val="0066CC"/>
              </a:solidFill>
              <a:latin typeface="Microsoft YaHei"/>
              <a:ea typeface="Microsoft YaHei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548640" y="1554480"/>
            <a:ext cx="2194560" cy="457200"/>
          </a:xfrm>
          <a:prstGeom prst="rect">
            <a:avLst/>
          </a:prstGeom>
          <a:solidFill>
            <a:srgbClr val="006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48640" y="1598414"/>
            <a:ext cx="2194560" cy="3693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400" b="1" i="0" dirty="0" err="1">
                <a:solidFill>
                  <a:srgbClr val="FFFFFF"/>
                </a:solidFill>
                <a:latin typeface="Microsoft YaHei"/>
                <a:ea typeface="Microsoft YaHei"/>
              </a:rPr>
              <a:t>对比维度</a:t>
            </a:r>
            <a:endParaRPr sz="2400" b="1" i="0" dirty="0">
              <a:solidFill>
                <a:srgbClr val="FFFFFF"/>
              </a:solidFill>
              <a:latin typeface="Microsoft YaHei"/>
              <a:ea typeface="Microsoft YaHei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2743200" y="1554480"/>
            <a:ext cx="4023360" cy="457200"/>
          </a:xfrm>
          <a:prstGeom prst="rect">
            <a:avLst/>
          </a:prstGeom>
          <a:solidFill>
            <a:srgbClr val="006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2743200" y="1598414"/>
            <a:ext cx="4023360" cy="3693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400" b="1" i="0" dirty="0" err="1">
                <a:solidFill>
                  <a:srgbClr val="FFFFFF"/>
                </a:solidFill>
                <a:latin typeface="Microsoft YaHei"/>
                <a:ea typeface="Microsoft YaHei"/>
              </a:rPr>
              <a:t>基础联网</a:t>
            </a:r>
            <a:r>
              <a:rPr sz="2400" b="1" i="0" dirty="0">
                <a:solidFill>
                  <a:srgbClr val="FFFFFF"/>
                </a:solidFill>
                <a:latin typeface="Microsoft YaHei"/>
                <a:ea typeface="Microsoft YaHei"/>
              </a:rPr>
              <a:t> AI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766560" y="1554480"/>
            <a:ext cx="4572000" cy="457200"/>
          </a:xfrm>
          <a:prstGeom prst="rect">
            <a:avLst/>
          </a:prstGeom>
          <a:solidFill>
            <a:srgbClr val="006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766560" y="1598414"/>
            <a:ext cx="4572000" cy="3693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400" b="1" i="0" dirty="0" err="1">
                <a:solidFill>
                  <a:srgbClr val="FFFFFF"/>
                </a:solidFill>
                <a:latin typeface="Microsoft YaHei"/>
                <a:ea typeface="Microsoft YaHei"/>
              </a:rPr>
              <a:t>深度研究</a:t>
            </a:r>
            <a:r>
              <a:rPr sz="2400" b="1" i="0" dirty="0">
                <a:solidFill>
                  <a:srgbClr val="FFFFFF"/>
                </a:solidFill>
                <a:latin typeface="Microsoft YaHei"/>
                <a:ea typeface="Microsoft YaHei"/>
              </a:rPr>
              <a:t> (Deep Research)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2011680"/>
            <a:ext cx="2194560" cy="594360"/>
          </a:xfrm>
          <a:prstGeom prst="rect">
            <a:avLst/>
          </a:prstGeom>
          <a:solidFill>
            <a:srgbClr val="E6F2FC"/>
          </a:solidFill>
          <a:ln w="6350">
            <a:solidFill>
              <a:srgbClr val="E5E5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85800" y="2139583"/>
            <a:ext cx="1920240" cy="33855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200" b="1" i="0" dirty="0" err="1">
                <a:solidFill>
                  <a:srgbClr val="333333"/>
                </a:solidFill>
                <a:latin typeface="Microsoft YaHei"/>
                <a:ea typeface="Microsoft YaHei"/>
              </a:rPr>
              <a:t>响应时长</a:t>
            </a:r>
            <a:endParaRPr sz="2200" b="1" i="0" dirty="0">
              <a:solidFill>
                <a:srgbClr val="333333"/>
              </a:solidFill>
              <a:latin typeface="Microsoft YaHei"/>
              <a:ea typeface="Microsoft YaHei"/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2743200" y="2011680"/>
            <a:ext cx="4023360" cy="594360"/>
          </a:xfrm>
          <a:prstGeom prst="rect">
            <a:avLst/>
          </a:prstGeom>
          <a:solidFill>
            <a:srgbClr val="E6F2FC"/>
          </a:solidFill>
          <a:ln w="6350">
            <a:solidFill>
              <a:srgbClr val="E5E5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2880360" y="2154971"/>
            <a:ext cx="3749040" cy="30777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000" b="0" i="0" dirty="0">
                <a:solidFill>
                  <a:srgbClr val="333333"/>
                </a:solidFill>
                <a:latin typeface="Microsoft YaHei"/>
                <a:ea typeface="Microsoft YaHei"/>
              </a:rPr>
              <a:t>通常较快，随任务</a:t>
            </a:r>
            <a:r>
              <a:rPr sz="2000" b="0" i="0" dirty="0" err="1">
                <a:solidFill>
                  <a:srgbClr val="333333"/>
                </a:solidFill>
                <a:latin typeface="Microsoft YaHei"/>
                <a:ea typeface="Microsoft YaHei"/>
              </a:rPr>
              <a:t>而变</a:t>
            </a:r>
            <a:r>
              <a:rPr sz="2000" b="0" i="0" dirty="0">
                <a:solidFill>
                  <a:srgbClr val="333333"/>
                </a:solidFill>
                <a:latin typeface="Microsoft YaHei"/>
                <a:ea typeface="Microsoft YaHei"/>
              </a:rPr>
              <a:t>化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766560" y="2011680"/>
            <a:ext cx="4572000" cy="594360"/>
          </a:xfrm>
          <a:prstGeom prst="rect">
            <a:avLst/>
          </a:prstGeom>
          <a:solidFill>
            <a:srgbClr val="E6F2FC"/>
          </a:solidFill>
          <a:ln w="6350">
            <a:solidFill>
              <a:srgbClr val="E5E5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903720" y="2154971"/>
            <a:ext cx="4297680" cy="30777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000" b="0" i="0" dirty="0" err="1">
                <a:solidFill>
                  <a:srgbClr val="333333"/>
                </a:solidFill>
                <a:latin typeface="Microsoft YaHei"/>
                <a:ea typeface="Microsoft YaHei"/>
              </a:rPr>
              <a:t>通</a:t>
            </a:r>
            <a:r>
              <a:rPr sz="2000" b="0" i="0" dirty="0">
                <a:solidFill>
                  <a:srgbClr val="333333"/>
                </a:solidFill>
                <a:latin typeface="Microsoft YaHei"/>
                <a:ea typeface="Microsoft YaHei"/>
              </a:rPr>
              <a:t>常耗时更</a:t>
            </a:r>
            <a:r>
              <a:rPr sz="2000" b="0" i="0" dirty="0" err="1">
                <a:solidFill>
                  <a:srgbClr val="333333"/>
                </a:solidFill>
                <a:latin typeface="Microsoft YaHei"/>
                <a:ea typeface="Microsoft YaHei"/>
              </a:rPr>
              <a:t>长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48640" y="2606040"/>
            <a:ext cx="2194560" cy="594360"/>
          </a:xfrm>
          <a:prstGeom prst="rect">
            <a:avLst/>
          </a:prstGeom>
          <a:solidFill>
            <a:srgbClr val="FFFFFF"/>
          </a:solidFill>
          <a:ln w="6350">
            <a:solidFill>
              <a:srgbClr val="E5E5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85800" y="2733943"/>
            <a:ext cx="1920240" cy="33855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200" b="1" i="0" dirty="0" err="1">
                <a:solidFill>
                  <a:srgbClr val="333333"/>
                </a:solidFill>
                <a:latin typeface="Microsoft YaHei"/>
                <a:ea typeface="Microsoft YaHei"/>
              </a:rPr>
              <a:t>处理深度</a:t>
            </a:r>
            <a:endParaRPr sz="2200" b="1" i="0" dirty="0">
              <a:solidFill>
                <a:srgbClr val="333333"/>
              </a:solidFill>
              <a:latin typeface="Microsoft YaHei"/>
              <a:ea typeface="Microsoft YaHei"/>
            </a:endParaRPr>
          </a:p>
        </p:txBody>
      </p:sp>
      <p:sp>
        <p:nvSpPr>
          <p:cNvPr id="23" name="Rectangle 22"/>
          <p:cNvSpPr/>
          <p:nvPr/>
        </p:nvSpPr>
        <p:spPr>
          <a:xfrm>
            <a:off x="2743200" y="2606040"/>
            <a:ext cx="4023360" cy="594360"/>
          </a:xfrm>
          <a:prstGeom prst="rect">
            <a:avLst/>
          </a:prstGeom>
          <a:solidFill>
            <a:srgbClr val="FFFFFF"/>
          </a:solidFill>
          <a:ln w="6350">
            <a:solidFill>
              <a:srgbClr val="E5E5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2880360" y="2749331"/>
            <a:ext cx="3749040" cy="30777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000" b="0" i="0" dirty="0" err="1">
                <a:solidFill>
                  <a:srgbClr val="333333"/>
                </a:solidFill>
                <a:latin typeface="Microsoft YaHei"/>
                <a:ea typeface="Microsoft YaHei"/>
              </a:rPr>
              <a:t>围绕具体问题检</a:t>
            </a:r>
            <a:r>
              <a:rPr sz="2000" b="0" i="0" dirty="0">
                <a:solidFill>
                  <a:srgbClr val="333333"/>
                </a:solidFill>
                <a:latin typeface="Microsoft YaHei"/>
                <a:ea typeface="Microsoft YaHei"/>
              </a:rPr>
              <a:t>索和回答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766560" y="2606040"/>
            <a:ext cx="4572000" cy="594360"/>
          </a:xfrm>
          <a:prstGeom prst="rect">
            <a:avLst/>
          </a:prstGeom>
          <a:solidFill>
            <a:srgbClr val="FFFFFF"/>
          </a:solidFill>
          <a:ln w="6350">
            <a:solidFill>
              <a:srgbClr val="E5E5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903720" y="2749331"/>
            <a:ext cx="4297680" cy="30777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000" b="0" i="0" dirty="0" err="1">
                <a:solidFill>
                  <a:srgbClr val="333333"/>
                </a:solidFill>
                <a:latin typeface="Microsoft YaHei"/>
                <a:ea typeface="Microsoft YaHei"/>
              </a:rPr>
              <a:t>多轮检索并综合多来源资料</a:t>
            </a:r>
            <a:endParaRPr sz="2000" b="0" i="0" dirty="0">
              <a:solidFill>
                <a:srgbClr val="333333"/>
              </a:solidFill>
              <a:latin typeface="Microsoft YaHei"/>
              <a:ea typeface="Microsoft YaHei"/>
            </a:endParaRPr>
          </a:p>
        </p:txBody>
      </p:sp>
      <p:sp>
        <p:nvSpPr>
          <p:cNvPr id="27" name="Rectangle 26"/>
          <p:cNvSpPr/>
          <p:nvPr/>
        </p:nvSpPr>
        <p:spPr>
          <a:xfrm>
            <a:off x="548640" y="3200400"/>
            <a:ext cx="2194560" cy="594360"/>
          </a:xfrm>
          <a:prstGeom prst="rect">
            <a:avLst/>
          </a:prstGeom>
          <a:solidFill>
            <a:srgbClr val="E6F2FC"/>
          </a:solidFill>
          <a:ln w="6350">
            <a:solidFill>
              <a:srgbClr val="E5E5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85800" y="3328303"/>
            <a:ext cx="1920240" cy="33855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200" b="1" i="0" dirty="0" err="1">
                <a:solidFill>
                  <a:srgbClr val="333333"/>
                </a:solidFill>
                <a:latin typeface="Microsoft YaHei"/>
                <a:ea typeface="Microsoft YaHei"/>
              </a:rPr>
              <a:t>人机协同</a:t>
            </a:r>
            <a:endParaRPr sz="2200" b="1" i="0" dirty="0">
              <a:solidFill>
                <a:srgbClr val="333333"/>
              </a:solidFill>
              <a:latin typeface="Microsoft YaHei"/>
              <a:ea typeface="Microsoft YaHei"/>
            </a:endParaRPr>
          </a:p>
        </p:txBody>
      </p:sp>
      <p:sp>
        <p:nvSpPr>
          <p:cNvPr id="29" name="Rectangle 28"/>
          <p:cNvSpPr/>
          <p:nvPr/>
        </p:nvSpPr>
        <p:spPr>
          <a:xfrm>
            <a:off x="2743200" y="3200400"/>
            <a:ext cx="4023360" cy="594360"/>
          </a:xfrm>
          <a:prstGeom prst="rect">
            <a:avLst/>
          </a:prstGeom>
          <a:solidFill>
            <a:srgbClr val="E6F2FC"/>
          </a:solidFill>
          <a:ln w="6350">
            <a:solidFill>
              <a:srgbClr val="E5E5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2880360" y="3343691"/>
            <a:ext cx="3749040" cy="30777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000" b="0" i="0" dirty="0" err="1">
                <a:solidFill>
                  <a:srgbClr val="333333"/>
                </a:solidFill>
                <a:latin typeface="Microsoft YaHei"/>
                <a:ea typeface="Microsoft YaHei"/>
              </a:rPr>
              <a:t>可通过追问补充需求</a:t>
            </a:r>
            <a:endParaRPr sz="2000" b="0" i="0" dirty="0">
              <a:solidFill>
                <a:srgbClr val="333333"/>
              </a:solidFill>
              <a:latin typeface="Microsoft YaHei"/>
              <a:ea typeface="Microsoft YaHei"/>
            </a:endParaRPr>
          </a:p>
        </p:txBody>
      </p:sp>
      <p:sp>
        <p:nvSpPr>
          <p:cNvPr id="31" name="Rectangle 30"/>
          <p:cNvSpPr/>
          <p:nvPr/>
        </p:nvSpPr>
        <p:spPr>
          <a:xfrm>
            <a:off x="6766560" y="3200400"/>
            <a:ext cx="4572000" cy="594360"/>
          </a:xfrm>
          <a:prstGeom prst="rect">
            <a:avLst/>
          </a:prstGeom>
          <a:solidFill>
            <a:srgbClr val="E6F2FC"/>
          </a:solidFill>
          <a:ln w="6350">
            <a:solidFill>
              <a:srgbClr val="E5E5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6903720" y="3343691"/>
            <a:ext cx="4297680" cy="30777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000" b="0" i="0" dirty="0" err="1">
                <a:solidFill>
                  <a:srgbClr val="333333"/>
                </a:solidFill>
                <a:latin typeface="Microsoft YaHei"/>
                <a:ea typeface="Microsoft YaHei"/>
              </a:rPr>
              <a:t>可先确认范围和计划</a:t>
            </a:r>
            <a:endParaRPr sz="2000" b="0" i="0" dirty="0">
              <a:solidFill>
                <a:srgbClr val="333333"/>
              </a:solidFill>
              <a:latin typeface="Microsoft YaHei"/>
              <a:ea typeface="Microsoft YaHei"/>
            </a:endParaRPr>
          </a:p>
        </p:txBody>
      </p:sp>
      <p:sp>
        <p:nvSpPr>
          <p:cNvPr id="33" name="Rectangle 32"/>
          <p:cNvSpPr/>
          <p:nvPr/>
        </p:nvSpPr>
        <p:spPr>
          <a:xfrm>
            <a:off x="548640" y="3794760"/>
            <a:ext cx="2194560" cy="594360"/>
          </a:xfrm>
          <a:prstGeom prst="rect">
            <a:avLst/>
          </a:prstGeom>
          <a:solidFill>
            <a:srgbClr val="FFFFFF"/>
          </a:solidFill>
          <a:ln w="6350">
            <a:solidFill>
              <a:srgbClr val="E5E5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685800" y="3922663"/>
            <a:ext cx="1920240" cy="33855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200" b="1" i="0" dirty="0">
                <a:solidFill>
                  <a:srgbClr val="333333"/>
                </a:solidFill>
                <a:latin typeface="Microsoft YaHei"/>
                <a:ea typeface="Microsoft YaHei"/>
              </a:rPr>
              <a:t>AI </a:t>
            </a:r>
            <a:r>
              <a:rPr sz="2200" b="1" i="0" dirty="0" err="1">
                <a:solidFill>
                  <a:srgbClr val="333333"/>
                </a:solidFill>
                <a:latin typeface="Microsoft YaHei"/>
                <a:ea typeface="Microsoft YaHei"/>
              </a:rPr>
              <a:t>自主性</a:t>
            </a:r>
            <a:endParaRPr sz="2200" b="1" i="0" dirty="0">
              <a:solidFill>
                <a:srgbClr val="333333"/>
              </a:solidFill>
              <a:latin typeface="Microsoft YaHei"/>
              <a:ea typeface="Microsoft YaHei"/>
            </a:endParaRPr>
          </a:p>
        </p:txBody>
      </p:sp>
      <p:sp>
        <p:nvSpPr>
          <p:cNvPr id="35" name="Rectangle 34"/>
          <p:cNvSpPr/>
          <p:nvPr/>
        </p:nvSpPr>
        <p:spPr>
          <a:xfrm>
            <a:off x="2743200" y="3794760"/>
            <a:ext cx="4023360" cy="594360"/>
          </a:xfrm>
          <a:prstGeom prst="rect">
            <a:avLst/>
          </a:prstGeom>
          <a:solidFill>
            <a:srgbClr val="FFFFFF"/>
          </a:solidFill>
          <a:ln w="6350">
            <a:solidFill>
              <a:srgbClr val="E5E5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2880360" y="3938051"/>
            <a:ext cx="3749040" cy="30777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000" b="0" i="0" dirty="0" err="1">
                <a:solidFill>
                  <a:srgbClr val="333333"/>
                </a:solidFill>
                <a:latin typeface="Microsoft YaHei"/>
                <a:ea typeface="Microsoft YaHei"/>
              </a:rPr>
              <a:t>通常围绕当前问题检索</a:t>
            </a:r>
            <a:endParaRPr sz="2000" b="0" i="0" dirty="0">
              <a:solidFill>
                <a:srgbClr val="333333"/>
              </a:solidFill>
              <a:latin typeface="Microsoft YaHei"/>
              <a:ea typeface="Microsoft YaHei"/>
            </a:endParaRPr>
          </a:p>
        </p:txBody>
      </p:sp>
      <p:sp>
        <p:nvSpPr>
          <p:cNvPr id="37" name="Rectangle 36"/>
          <p:cNvSpPr/>
          <p:nvPr/>
        </p:nvSpPr>
        <p:spPr>
          <a:xfrm>
            <a:off x="6766560" y="3794760"/>
            <a:ext cx="4572000" cy="594360"/>
          </a:xfrm>
          <a:prstGeom prst="rect">
            <a:avLst/>
          </a:prstGeom>
          <a:solidFill>
            <a:srgbClr val="FFFFFF"/>
          </a:solidFill>
          <a:ln w="6350">
            <a:solidFill>
              <a:srgbClr val="E5E5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6903720" y="3938051"/>
            <a:ext cx="4297680" cy="30777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000" b="0" i="0" dirty="0" err="1">
                <a:solidFill>
                  <a:srgbClr val="333333"/>
                </a:solidFill>
                <a:latin typeface="Microsoft YaHei"/>
                <a:ea typeface="Microsoft YaHei"/>
              </a:rPr>
              <a:t>可按资料缺口调整检索</a:t>
            </a:r>
            <a:endParaRPr sz="2000" b="0" i="0" dirty="0">
              <a:solidFill>
                <a:srgbClr val="333333"/>
              </a:solidFill>
              <a:latin typeface="Microsoft YaHei"/>
              <a:ea typeface="Microsoft YaHei"/>
            </a:endParaRPr>
          </a:p>
        </p:txBody>
      </p:sp>
      <p:sp>
        <p:nvSpPr>
          <p:cNvPr id="39" name="Rectangle 38"/>
          <p:cNvSpPr/>
          <p:nvPr/>
        </p:nvSpPr>
        <p:spPr>
          <a:xfrm>
            <a:off x="548640" y="4389120"/>
            <a:ext cx="2194560" cy="594360"/>
          </a:xfrm>
          <a:prstGeom prst="rect">
            <a:avLst/>
          </a:prstGeom>
          <a:solidFill>
            <a:srgbClr val="E6F2FC"/>
          </a:solidFill>
          <a:ln w="6350">
            <a:solidFill>
              <a:srgbClr val="E5E5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685800" y="4517023"/>
            <a:ext cx="1920240" cy="33855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200" b="1" i="0" dirty="0" err="1">
                <a:solidFill>
                  <a:srgbClr val="333333"/>
                </a:solidFill>
                <a:latin typeface="Microsoft YaHei"/>
                <a:ea typeface="Microsoft YaHei"/>
              </a:rPr>
              <a:t>输出形式</a:t>
            </a:r>
            <a:endParaRPr sz="2200" b="1" i="0" dirty="0">
              <a:solidFill>
                <a:srgbClr val="333333"/>
              </a:solidFill>
              <a:latin typeface="Microsoft YaHei"/>
              <a:ea typeface="Microsoft YaHei"/>
            </a:endParaRPr>
          </a:p>
        </p:txBody>
      </p:sp>
      <p:sp>
        <p:nvSpPr>
          <p:cNvPr id="41" name="Rectangle 40"/>
          <p:cNvSpPr/>
          <p:nvPr/>
        </p:nvSpPr>
        <p:spPr>
          <a:xfrm>
            <a:off x="2743200" y="4389120"/>
            <a:ext cx="4023360" cy="594360"/>
          </a:xfrm>
          <a:prstGeom prst="rect">
            <a:avLst/>
          </a:prstGeom>
          <a:solidFill>
            <a:srgbClr val="E6F2FC"/>
          </a:solidFill>
          <a:ln w="6350">
            <a:solidFill>
              <a:srgbClr val="E5E5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2880360" y="4532411"/>
            <a:ext cx="3749040" cy="30777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000" b="0" i="0" dirty="0" err="1">
                <a:solidFill>
                  <a:srgbClr val="333333"/>
                </a:solidFill>
                <a:latin typeface="Microsoft YaHei"/>
                <a:ea typeface="Microsoft YaHei"/>
              </a:rPr>
              <a:t>条目式简短答案</a:t>
            </a:r>
            <a:endParaRPr sz="2000" b="0" i="0" dirty="0">
              <a:solidFill>
                <a:srgbClr val="333333"/>
              </a:solidFill>
              <a:latin typeface="Microsoft YaHei"/>
              <a:ea typeface="Microsoft YaHei"/>
            </a:endParaRPr>
          </a:p>
        </p:txBody>
      </p:sp>
      <p:sp>
        <p:nvSpPr>
          <p:cNvPr id="43" name="Rectangle 42"/>
          <p:cNvSpPr/>
          <p:nvPr/>
        </p:nvSpPr>
        <p:spPr>
          <a:xfrm>
            <a:off x="6766560" y="4389120"/>
            <a:ext cx="4572000" cy="594360"/>
          </a:xfrm>
          <a:prstGeom prst="rect">
            <a:avLst/>
          </a:prstGeom>
          <a:solidFill>
            <a:srgbClr val="E6F2FC"/>
          </a:solidFill>
          <a:ln w="6350">
            <a:solidFill>
              <a:srgbClr val="E5E5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6903720" y="4532411"/>
            <a:ext cx="4297680" cy="30777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000" b="0" i="0" dirty="0" err="1">
                <a:solidFill>
                  <a:srgbClr val="333333"/>
                </a:solidFill>
                <a:latin typeface="Microsoft YaHei"/>
                <a:ea typeface="Microsoft YaHei"/>
              </a:rPr>
              <a:t>结构化报告</a:t>
            </a:r>
            <a:r>
              <a:rPr sz="2000" b="0" i="0" dirty="0">
                <a:solidFill>
                  <a:srgbClr val="333333"/>
                </a:solidFill>
                <a:latin typeface="Microsoft YaHei"/>
                <a:ea typeface="Microsoft YaHei"/>
              </a:rPr>
              <a:t>与来</a:t>
            </a:r>
            <a:r>
              <a:rPr sz="2000" b="0" i="0" dirty="0" err="1">
                <a:solidFill>
                  <a:srgbClr val="333333"/>
                </a:solidFill>
                <a:latin typeface="Microsoft YaHei"/>
                <a:ea typeface="Microsoft YaHei"/>
              </a:rPr>
              <a:t>源引用</a:t>
            </a:r>
            <a:endParaRPr sz="2000" b="0" i="0" dirty="0">
              <a:solidFill>
                <a:srgbClr val="333333"/>
              </a:solidFill>
              <a:latin typeface="Microsoft YaHei"/>
              <a:ea typeface="Microsoft YaHei"/>
            </a:endParaRPr>
          </a:p>
        </p:txBody>
      </p:sp>
      <p:sp>
        <p:nvSpPr>
          <p:cNvPr id="45" name="Rectangle 44"/>
          <p:cNvSpPr/>
          <p:nvPr/>
        </p:nvSpPr>
        <p:spPr>
          <a:xfrm>
            <a:off x="548640" y="4983480"/>
            <a:ext cx="2194560" cy="594360"/>
          </a:xfrm>
          <a:prstGeom prst="rect">
            <a:avLst/>
          </a:prstGeom>
          <a:solidFill>
            <a:srgbClr val="FFFFFF"/>
          </a:solidFill>
          <a:ln w="6350">
            <a:solidFill>
              <a:srgbClr val="E5E5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685800" y="5111383"/>
            <a:ext cx="1920240" cy="33855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200" b="1" i="0" dirty="0" err="1">
                <a:solidFill>
                  <a:srgbClr val="333333"/>
                </a:solidFill>
                <a:latin typeface="Microsoft YaHei"/>
                <a:ea typeface="Microsoft YaHei"/>
              </a:rPr>
              <a:t>典型任务</a:t>
            </a:r>
            <a:endParaRPr sz="2200" b="1" i="0" dirty="0">
              <a:solidFill>
                <a:srgbClr val="333333"/>
              </a:solidFill>
              <a:latin typeface="Microsoft YaHei"/>
              <a:ea typeface="Microsoft YaHei"/>
            </a:endParaRPr>
          </a:p>
        </p:txBody>
      </p:sp>
      <p:sp>
        <p:nvSpPr>
          <p:cNvPr id="47" name="Rectangle 46"/>
          <p:cNvSpPr/>
          <p:nvPr/>
        </p:nvSpPr>
        <p:spPr>
          <a:xfrm>
            <a:off x="2743200" y="4983480"/>
            <a:ext cx="4023360" cy="594360"/>
          </a:xfrm>
          <a:prstGeom prst="rect">
            <a:avLst/>
          </a:prstGeom>
          <a:solidFill>
            <a:srgbClr val="FFFFFF"/>
          </a:solidFill>
          <a:ln w="6350">
            <a:solidFill>
              <a:srgbClr val="E5E5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2880360" y="5126771"/>
            <a:ext cx="3749040" cy="30777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000" b="0" i="0" dirty="0" err="1">
                <a:solidFill>
                  <a:srgbClr val="333333"/>
                </a:solidFill>
                <a:latin typeface="Microsoft YaHei"/>
                <a:ea typeface="Microsoft YaHei"/>
              </a:rPr>
              <a:t>查天气</a:t>
            </a:r>
            <a:r>
              <a:rPr sz="2000" b="0" i="0" dirty="0">
                <a:solidFill>
                  <a:srgbClr val="333333"/>
                </a:solidFill>
                <a:latin typeface="Microsoft YaHei"/>
                <a:ea typeface="Microsoft YaHei"/>
              </a:rPr>
              <a:t> / </a:t>
            </a:r>
            <a:r>
              <a:rPr sz="2000" b="0" i="0" dirty="0" err="1">
                <a:solidFill>
                  <a:srgbClr val="333333"/>
                </a:solidFill>
                <a:latin typeface="Microsoft YaHei"/>
                <a:ea typeface="Microsoft YaHei"/>
              </a:rPr>
              <a:t>找单一事实</a:t>
            </a:r>
            <a:r>
              <a:rPr sz="2000" b="0" i="0" dirty="0">
                <a:solidFill>
                  <a:srgbClr val="333333"/>
                </a:solidFill>
                <a:latin typeface="Microsoft YaHei"/>
                <a:ea typeface="Microsoft YaHei"/>
              </a:rPr>
              <a:t> / </a:t>
            </a:r>
            <a:r>
              <a:rPr sz="2000" b="0" i="0" dirty="0" err="1">
                <a:solidFill>
                  <a:srgbClr val="333333"/>
                </a:solidFill>
                <a:latin typeface="Microsoft YaHei"/>
                <a:ea typeface="Microsoft YaHei"/>
              </a:rPr>
              <a:t>简短解释</a:t>
            </a:r>
            <a:endParaRPr sz="2000" b="0" i="0" dirty="0">
              <a:solidFill>
                <a:srgbClr val="333333"/>
              </a:solidFill>
              <a:latin typeface="Microsoft YaHei"/>
              <a:ea typeface="Microsoft YaHei"/>
            </a:endParaRPr>
          </a:p>
        </p:txBody>
      </p:sp>
      <p:sp>
        <p:nvSpPr>
          <p:cNvPr id="49" name="Rectangle 48"/>
          <p:cNvSpPr/>
          <p:nvPr/>
        </p:nvSpPr>
        <p:spPr>
          <a:xfrm>
            <a:off x="6766560" y="4983480"/>
            <a:ext cx="4572000" cy="594360"/>
          </a:xfrm>
          <a:prstGeom prst="rect">
            <a:avLst/>
          </a:prstGeom>
          <a:solidFill>
            <a:srgbClr val="FFFFFF"/>
          </a:solidFill>
          <a:ln w="6350">
            <a:solidFill>
              <a:srgbClr val="E5E5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6903720" y="5126771"/>
            <a:ext cx="4434840" cy="30777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000" b="0" i="0" dirty="0" err="1">
                <a:solidFill>
                  <a:srgbClr val="333333"/>
                </a:solidFill>
                <a:latin typeface="Microsoft YaHei"/>
                <a:ea typeface="Microsoft YaHei"/>
              </a:rPr>
              <a:t>文献综述</a:t>
            </a:r>
            <a:r>
              <a:rPr sz="2000" b="0" i="0" dirty="0">
                <a:solidFill>
                  <a:srgbClr val="333333"/>
                </a:solidFill>
                <a:latin typeface="Microsoft YaHei"/>
                <a:ea typeface="Microsoft YaHei"/>
              </a:rPr>
              <a:t> / </a:t>
            </a:r>
            <a:r>
              <a:rPr sz="2000" b="0" i="0" dirty="0" err="1">
                <a:solidFill>
                  <a:srgbClr val="333333"/>
                </a:solidFill>
                <a:latin typeface="Microsoft YaHei"/>
                <a:ea typeface="Microsoft YaHei"/>
              </a:rPr>
              <a:t>跨学科论坛策划</a:t>
            </a:r>
            <a:r>
              <a:rPr sz="2000" b="0" i="0" dirty="0">
                <a:solidFill>
                  <a:srgbClr val="333333"/>
                </a:solidFill>
                <a:latin typeface="Microsoft YaHei"/>
                <a:ea typeface="Microsoft YaHei"/>
              </a:rPr>
              <a:t> / </a:t>
            </a:r>
            <a:r>
              <a:rPr sz="2000" b="0" i="0" dirty="0" err="1">
                <a:solidFill>
                  <a:srgbClr val="333333"/>
                </a:solidFill>
                <a:latin typeface="Microsoft YaHei"/>
                <a:ea typeface="Microsoft YaHei"/>
              </a:rPr>
              <a:t>决策报告</a:t>
            </a:r>
            <a:endParaRPr sz="2000" b="0" i="0" dirty="0">
              <a:solidFill>
                <a:srgbClr val="333333"/>
              </a:solidFill>
              <a:latin typeface="Microsoft YaHei"/>
              <a:ea typeface="Microsoft YaHei"/>
            </a:endParaRPr>
          </a:p>
        </p:txBody>
      </p:sp>
      <p:sp>
        <p:nvSpPr>
          <p:cNvPr id="51" name="Rectangle 50"/>
          <p:cNvSpPr/>
          <p:nvPr/>
        </p:nvSpPr>
        <p:spPr>
          <a:xfrm>
            <a:off x="548640" y="5577840"/>
            <a:ext cx="2194560" cy="594360"/>
          </a:xfrm>
          <a:prstGeom prst="rect">
            <a:avLst/>
          </a:prstGeom>
          <a:solidFill>
            <a:srgbClr val="E6F2FC"/>
          </a:solidFill>
          <a:ln w="6350">
            <a:solidFill>
              <a:srgbClr val="E5E5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685800" y="5705743"/>
            <a:ext cx="1920240" cy="33855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200" b="1" i="0" dirty="0" err="1">
                <a:solidFill>
                  <a:srgbClr val="333333"/>
                </a:solidFill>
                <a:latin typeface="Microsoft YaHei"/>
                <a:ea typeface="Microsoft YaHei"/>
              </a:rPr>
              <a:t>最佳类比</a:t>
            </a:r>
            <a:endParaRPr sz="2200" b="1" i="0" dirty="0">
              <a:solidFill>
                <a:srgbClr val="333333"/>
              </a:solidFill>
              <a:latin typeface="Microsoft YaHei"/>
              <a:ea typeface="Microsoft YaHei"/>
            </a:endParaRPr>
          </a:p>
        </p:txBody>
      </p:sp>
      <p:sp>
        <p:nvSpPr>
          <p:cNvPr id="53" name="Rectangle 52"/>
          <p:cNvSpPr/>
          <p:nvPr/>
        </p:nvSpPr>
        <p:spPr>
          <a:xfrm>
            <a:off x="2743200" y="5577840"/>
            <a:ext cx="4023360" cy="594360"/>
          </a:xfrm>
          <a:prstGeom prst="rect">
            <a:avLst/>
          </a:prstGeom>
          <a:solidFill>
            <a:srgbClr val="E6F2FC"/>
          </a:solidFill>
          <a:ln w="6350">
            <a:solidFill>
              <a:srgbClr val="E5E5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2880360" y="5721131"/>
            <a:ext cx="3749040" cy="30777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000" b="0" i="0" dirty="0" err="1">
                <a:solidFill>
                  <a:srgbClr val="333333"/>
                </a:solidFill>
                <a:latin typeface="Microsoft YaHei"/>
                <a:ea typeface="Microsoft YaHei"/>
              </a:rPr>
              <a:t>便携字典</a:t>
            </a:r>
            <a:endParaRPr sz="2000" b="0" i="0" dirty="0">
              <a:solidFill>
                <a:srgbClr val="333333"/>
              </a:solidFill>
              <a:latin typeface="Microsoft YaHei"/>
              <a:ea typeface="Microsoft YaHei"/>
            </a:endParaRPr>
          </a:p>
        </p:txBody>
      </p:sp>
      <p:sp>
        <p:nvSpPr>
          <p:cNvPr id="55" name="Rectangle 54"/>
          <p:cNvSpPr/>
          <p:nvPr/>
        </p:nvSpPr>
        <p:spPr>
          <a:xfrm>
            <a:off x="6766560" y="5577840"/>
            <a:ext cx="4572000" cy="594360"/>
          </a:xfrm>
          <a:prstGeom prst="rect">
            <a:avLst/>
          </a:prstGeom>
          <a:solidFill>
            <a:srgbClr val="E6F2FC"/>
          </a:solidFill>
          <a:ln w="6350">
            <a:solidFill>
              <a:srgbClr val="E5E5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6903720" y="5721131"/>
            <a:ext cx="4297680" cy="30777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000" b="0" i="0" dirty="0" err="1">
                <a:solidFill>
                  <a:srgbClr val="333333"/>
                </a:solidFill>
                <a:latin typeface="Microsoft YaHei"/>
                <a:ea typeface="Microsoft YaHei"/>
              </a:rPr>
              <a:t>学术调研助理</a:t>
            </a:r>
            <a:endParaRPr sz="2000" b="0" i="0" dirty="0">
              <a:solidFill>
                <a:srgbClr val="333333"/>
              </a:solidFill>
              <a:latin typeface="Microsoft YaHei"/>
              <a:ea typeface="Microsoft YaHei"/>
            </a:endParaRPr>
          </a:p>
        </p:txBody>
      </p:sp>
      <p:sp>
        <p:nvSpPr>
          <p:cNvPr id="57" name="TextBox 56"/>
          <p:cNvSpPr txBox="1"/>
          <p:nvPr/>
        </p:nvSpPr>
        <p:spPr>
          <a:xfrm>
            <a:off x="11094415" y="6446520"/>
            <a:ext cx="914400" cy="320040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pPr algn="r"/>
            <a:r>
              <a:rPr sz="1100">
                <a:solidFill>
                  <a:srgbClr val="999999"/>
                </a:solidFill>
                <a:latin typeface="Arial"/>
              </a:rPr>
              <a:t>45 / 50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yzu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17175" y="246888"/>
            <a:ext cx="1691640" cy="54864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274320"/>
            <a:ext cx="960120" cy="502920"/>
          </a:xfrm>
          <a:prstGeom prst="rect">
            <a:avLst/>
          </a:prstGeom>
          <a:solidFill>
            <a:srgbClr val="006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" y="341114"/>
            <a:ext cx="914400" cy="3693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400" b="1" i="0" dirty="0">
                <a:solidFill>
                  <a:srgbClr val="FFFFFF"/>
                </a:solidFill>
                <a:latin typeface="Microsoft YaHei"/>
                <a:ea typeface="Microsoft YaHei"/>
              </a:rPr>
              <a:t>2.5.4</a:t>
            </a:r>
          </a:p>
        </p:txBody>
      </p:sp>
      <p:sp>
        <p:nvSpPr>
          <p:cNvPr id="6" name="Rectangle 5"/>
          <p:cNvSpPr/>
          <p:nvPr/>
        </p:nvSpPr>
        <p:spPr>
          <a:xfrm>
            <a:off x="960120" y="274320"/>
            <a:ext cx="9052560" cy="502920"/>
          </a:xfrm>
          <a:prstGeom prst="rect">
            <a:avLst/>
          </a:prstGeom>
          <a:solidFill>
            <a:srgbClr val="3A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234440" y="341114"/>
            <a:ext cx="8686800" cy="3693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400" b="1" i="0" dirty="0" err="1">
                <a:solidFill>
                  <a:srgbClr val="FFFFFF"/>
                </a:solidFill>
                <a:latin typeface="Microsoft YaHei"/>
                <a:ea typeface="Microsoft YaHei"/>
              </a:rPr>
              <a:t>根据</a:t>
            </a:r>
            <a:r>
              <a:rPr sz="2400" b="1" i="0" dirty="0">
                <a:solidFill>
                  <a:srgbClr val="FFFFFF"/>
                </a:solidFill>
                <a:latin typeface="Microsoft YaHei"/>
                <a:ea typeface="Microsoft YaHei"/>
              </a:rPr>
              <a:t>任务</a:t>
            </a:r>
            <a:r>
              <a:rPr sz="2400" b="1" i="0" dirty="0" err="1">
                <a:solidFill>
                  <a:srgbClr val="FFFFFF"/>
                </a:solidFill>
                <a:latin typeface="Microsoft YaHei"/>
                <a:ea typeface="Microsoft YaHei"/>
              </a:rPr>
              <a:t>选择</a:t>
            </a:r>
            <a:r>
              <a:rPr sz="2400" b="1" i="0" dirty="0">
                <a:solidFill>
                  <a:srgbClr val="FFFFFF"/>
                </a:solidFill>
                <a:latin typeface="Microsoft YaHei"/>
                <a:ea typeface="Microsoft YaHei"/>
              </a:rPr>
              <a:t>检索</a:t>
            </a:r>
            <a:r>
              <a:rPr sz="2400" b="1" i="0" dirty="0" err="1">
                <a:solidFill>
                  <a:srgbClr val="FFFFFF"/>
                </a:solidFill>
                <a:latin typeface="Microsoft YaHei"/>
                <a:ea typeface="Microsoft YaHei"/>
              </a:rPr>
              <a:t>方式</a:t>
            </a:r>
            <a:endParaRPr sz="2400" b="1" i="0" dirty="0">
              <a:solidFill>
                <a:srgbClr val="FFFFFF"/>
              </a:solidFill>
              <a:latin typeface="Microsoft YaHei"/>
              <a:ea typeface="Microsoft YaHei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636494" y="914400"/>
            <a:ext cx="11113546" cy="4757062"/>
          </a:xfrm>
          <a:prstGeom prst="rect">
            <a:avLst/>
          </a:prstGeom>
          <a:noFill/>
        </p:spPr>
        <p:txBody>
          <a:bodyPr wrap="square" lIns="36000" tIns="36000" rIns="36000" bIns="36000" anchor="t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2600" b="1" dirty="0" err="1">
                <a:solidFill>
                  <a:srgbClr val="0066CC"/>
                </a:solidFill>
                <a:latin typeface="Microsoft YaHei"/>
                <a:ea typeface="Microsoft YaHei"/>
              </a:rPr>
              <a:t>使用基础联网</a:t>
            </a:r>
            <a:r>
              <a:rPr sz="2600" b="1" dirty="0">
                <a:solidFill>
                  <a:srgbClr val="0066CC"/>
                </a:solidFill>
                <a:latin typeface="Microsoft YaHei"/>
                <a:ea typeface="Microsoft YaHei"/>
              </a:rPr>
              <a:t> AI · </a:t>
            </a:r>
            <a:r>
              <a:rPr sz="2600" b="1" dirty="0" err="1">
                <a:solidFill>
                  <a:srgbClr val="0066CC"/>
                </a:solidFill>
                <a:latin typeface="Microsoft YaHei"/>
                <a:ea typeface="Microsoft YaHei"/>
              </a:rPr>
              <a:t>单一事实查询</a:t>
            </a:r>
            <a:endParaRPr sz="2600" b="1" dirty="0">
              <a:solidFill>
                <a:srgbClr val="0066CC"/>
              </a:solidFill>
              <a:latin typeface="Microsoft YaHei"/>
              <a:ea typeface="Microsoft YaHei"/>
            </a:endParaRPr>
          </a:p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2400" b="0" dirty="0" err="1">
                <a:solidFill>
                  <a:srgbClr val="333333"/>
                </a:solidFill>
                <a:latin typeface="Microsoft YaHei"/>
                <a:ea typeface="Microsoft YaHei"/>
              </a:rPr>
              <a:t>当问题集中</a:t>
            </a:r>
            <a:r>
              <a:rPr sz="2400" dirty="0" err="1">
                <a:latin typeface="Microsoft YaHei"/>
                <a:ea typeface="Microsoft YaHei"/>
              </a:rPr>
              <a:t>于</a:t>
            </a:r>
            <a:r>
              <a:rPr sz="2400" dirty="0">
                <a:latin typeface="Microsoft YaHei"/>
                <a:ea typeface="Microsoft YaHei"/>
              </a:rPr>
              <a:t>一</a:t>
            </a:r>
            <a:r>
              <a:rPr sz="2400" dirty="0" err="1">
                <a:latin typeface="Microsoft YaHei"/>
                <a:ea typeface="Microsoft YaHei"/>
              </a:rPr>
              <a:t>项具体信</a:t>
            </a:r>
            <a:r>
              <a:rPr sz="2400" b="0" dirty="0" err="1">
                <a:solidFill>
                  <a:srgbClr val="333333"/>
                </a:solidFill>
                <a:latin typeface="Microsoft YaHei"/>
                <a:ea typeface="Microsoft YaHei"/>
              </a:rPr>
              <a:t>息，如营</a:t>
            </a:r>
            <a:r>
              <a:rPr sz="2400" b="0" dirty="0">
                <a:solidFill>
                  <a:srgbClr val="333333"/>
                </a:solidFill>
                <a:latin typeface="Microsoft YaHei"/>
                <a:ea typeface="Microsoft YaHei"/>
              </a:rPr>
              <a:t>业时间</a:t>
            </a:r>
            <a:r>
              <a:rPr sz="2400" b="0" dirty="0" err="1">
                <a:solidFill>
                  <a:srgbClr val="333333"/>
                </a:solidFill>
                <a:latin typeface="Microsoft YaHei"/>
                <a:ea typeface="Microsoft YaHei"/>
              </a:rPr>
              <a:t>或</a:t>
            </a:r>
            <a:r>
              <a:rPr sz="2400" b="0" dirty="0">
                <a:solidFill>
                  <a:srgbClr val="333333"/>
                </a:solidFill>
                <a:latin typeface="Microsoft YaHei"/>
                <a:ea typeface="Microsoft YaHei"/>
              </a:rPr>
              <a:t>投稿要</a:t>
            </a:r>
            <a:r>
              <a:rPr sz="2400" b="0" dirty="0" err="1">
                <a:solidFill>
                  <a:srgbClr val="333333"/>
                </a:solidFill>
                <a:latin typeface="Microsoft YaHei"/>
                <a:ea typeface="Microsoft YaHei"/>
              </a:rPr>
              <a:t>求</a:t>
            </a:r>
            <a:r>
              <a:rPr sz="2200" b="0" dirty="0">
                <a:solidFill>
                  <a:srgbClr val="333333"/>
                </a:solidFill>
                <a:latin typeface="Microsoft YaHei"/>
                <a:ea typeface="Microsoft YaHei"/>
              </a:rPr>
              <a:t>，</a:t>
            </a:r>
          </a:p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2400" b="0" dirty="0">
                <a:solidFill>
                  <a:srgbClr val="333333"/>
                </a:solidFill>
                <a:latin typeface="Microsoft YaHei"/>
                <a:ea typeface="Microsoft YaHei"/>
              </a:rPr>
              <a:t>可</a:t>
            </a:r>
            <a:r>
              <a:rPr sz="2400" b="0" dirty="0" err="1">
                <a:solidFill>
                  <a:srgbClr val="333333"/>
                </a:solidFill>
                <a:latin typeface="Microsoft YaHei"/>
                <a:ea typeface="Microsoft YaHei"/>
              </a:rPr>
              <a:t>先用普通检索获取资料，再打开来源核对</a:t>
            </a:r>
            <a:r>
              <a:rPr sz="2400" b="0" dirty="0">
                <a:solidFill>
                  <a:srgbClr val="333333"/>
                </a:solidFill>
                <a:latin typeface="Microsoft YaHei"/>
                <a:ea typeface="Microsoft YaHei"/>
              </a:rPr>
              <a:t>。</a:t>
            </a:r>
          </a:p>
          <a:p>
            <a:pPr algn="l">
              <a:lnSpc>
                <a:spcPct val="110000"/>
              </a:lnSpc>
              <a:spcAft>
                <a:spcPts val="300"/>
              </a:spcAft>
            </a:pPr>
            <a:endParaRPr sz="2000" b="0" dirty="0">
              <a:solidFill>
                <a:srgbClr val="333333"/>
              </a:solidFill>
              <a:latin typeface="Microsoft YaHei"/>
              <a:ea typeface="Microsoft YaHei"/>
            </a:endParaRPr>
          </a:p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2600" b="1" dirty="0" err="1">
                <a:solidFill>
                  <a:srgbClr val="0066CC"/>
                </a:solidFill>
                <a:latin typeface="Microsoft YaHei"/>
                <a:ea typeface="Microsoft YaHei"/>
              </a:rPr>
              <a:t>使用深度研究</a:t>
            </a:r>
            <a:r>
              <a:rPr sz="2600" b="1" dirty="0">
                <a:solidFill>
                  <a:srgbClr val="0066CC"/>
                </a:solidFill>
                <a:latin typeface="Microsoft YaHei"/>
                <a:ea typeface="Microsoft YaHei"/>
              </a:rPr>
              <a:t> · </a:t>
            </a:r>
            <a:r>
              <a:rPr sz="2600" b="1" dirty="0" err="1">
                <a:solidFill>
                  <a:srgbClr val="0066CC"/>
                </a:solidFill>
                <a:latin typeface="Microsoft YaHei"/>
                <a:ea typeface="Microsoft YaHei"/>
              </a:rPr>
              <a:t>复杂综合任务</a:t>
            </a:r>
            <a:endParaRPr sz="2600" b="1" dirty="0">
              <a:solidFill>
                <a:srgbClr val="0066CC"/>
              </a:solidFill>
              <a:latin typeface="Microsoft YaHei"/>
              <a:ea typeface="Microsoft YaHei"/>
            </a:endParaRPr>
          </a:p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2200" dirty="0" err="1">
                <a:latin typeface="Microsoft YaHei"/>
                <a:ea typeface="Microsoft YaHei"/>
              </a:rPr>
              <a:t>当任务需</a:t>
            </a:r>
            <a:r>
              <a:rPr sz="2200" dirty="0">
                <a:latin typeface="Microsoft YaHei"/>
                <a:ea typeface="Microsoft YaHei"/>
              </a:rPr>
              <a:t>要</a:t>
            </a:r>
            <a:r>
              <a:rPr sz="2200" dirty="0" err="1">
                <a:latin typeface="Microsoft YaHei"/>
                <a:ea typeface="Microsoft YaHei"/>
              </a:rPr>
              <a:t>综合多方观</a:t>
            </a:r>
            <a:r>
              <a:rPr sz="2200" dirty="0">
                <a:latin typeface="Microsoft YaHei"/>
                <a:ea typeface="Microsoft YaHei"/>
              </a:rPr>
              <a:t>点、比</a:t>
            </a:r>
            <a:r>
              <a:rPr sz="2200" dirty="0" err="1">
                <a:latin typeface="Microsoft YaHei"/>
                <a:ea typeface="Microsoft YaHei"/>
              </a:rPr>
              <a:t>较证据</a:t>
            </a:r>
            <a:r>
              <a:rPr sz="2200" dirty="0">
                <a:latin typeface="Microsoft YaHei"/>
                <a:ea typeface="Microsoft YaHei"/>
              </a:rPr>
              <a:t>和说明</a:t>
            </a:r>
            <a:r>
              <a:rPr sz="2200" dirty="0" err="1">
                <a:latin typeface="Microsoft YaHei"/>
                <a:ea typeface="Microsoft YaHei"/>
              </a:rPr>
              <a:t>局限，</a:t>
            </a:r>
            <a:endParaRPr sz="2200" dirty="0">
              <a:latin typeface="Microsoft YaHei"/>
              <a:ea typeface="Microsoft YaHei"/>
            </a:endParaRPr>
          </a:p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2200" dirty="0">
                <a:latin typeface="Microsoft YaHei"/>
                <a:ea typeface="Microsoft YaHei"/>
              </a:rPr>
              <a:t>例</a:t>
            </a:r>
            <a:r>
              <a:rPr sz="2200" dirty="0" err="1">
                <a:latin typeface="Microsoft YaHei"/>
                <a:ea typeface="Microsoft YaHei"/>
              </a:rPr>
              <a:t>如梳理某研究方向的方法与争议</a:t>
            </a:r>
            <a:r>
              <a:rPr sz="2200" dirty="0">
                <a:latin typeface="Microsoft YaHei"/>
                <a:ea typeface="Microsoft YaHei"/>
              </a:rPr>
              <a:t>，</a:t>
            </a:r>
          </a:p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2200" dirty="0">
                <a:latin typeface="Microsoft YaHei"/>
                <a:ea typeface="Microsoft YaHei"/>
              </a:rPr>
              <a:t>通</a:t>
            </a:r>
            <a:r>
              <a:rPr sz="2200" dirty="0" err="1">
                <a:latin typeface="Microsoft YaHei"/>
                <a:ea typeface="Microsoft YaHei"/>
              </a:rPr>
              <a:t>常需要阅读多篇文献并开展多轮检索</a:t>
            </a:r>
            <a:r>
              <a:rPr sz="2200" dirty="0">
                <a:latin typeface="Microsoft YaHei"/>
                <a:ea typeface="Microsoft YaHei"/>
              </a:rPr>
              <a:t>。</a:t>
            </a:r>
          </a:p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2400" b="1" dirty="0">
                <a:solidFill>
                  <a:srgbClr val="004CA0"/>
                </a:solidFill>
                <a:latin typeface="Microsoft YaHei"/>
                <a:ea typeface="Microsoft YaHei"/>
              </a:rPr>
              <a:t>可</a:t>
            </a:r>
            <a:r>
              <a:rPr sz="2400" b="1" dirty="0" err="1">
                <a:solidFill>
                  <a:srgbClr val="004CA0"/>
                </a:solidFill>
                <a:latin typeface="Microsoft YaHei"/>
                <a:ea typeface="Microsoft YaHei"/>
              </a:rPr>
              <a:t>选择具备多轮检索能</a:t>
            </a:r>
            <a:r>
              <a:rPr sz="2400" b="1" dirty="0">
                <a:solidFill>
                  <a:srgbClr val="004CA0"/>
                </a:solidFill>
                <a:latin typeface="Microsoft YaHei"/>
                <a:ea typeface="Microsoft YaHei"/>
              </a:rPr>
              <a:t>力的深</a:t>
            </a:r>
            <a:r>
              <a:rPr sz="2400" b="1" dirty="0" err="1">
                <a:solidFill>
                  <a:srgbClr val="004CA0"/>
                </a:solidFill>
                <a:latin typeface="Microsoft YaHei"/>
                <a:ea typeface="Microsoft YaHei"/>
              </a:rPr>
              <a:t>度研究功能，并检查其来源覆盖与结论依据</a:t>
            </a:r>
            <a:r>
              <a:rPr sz="2400" b="1" dirty="0">
                <a:solidFill>
                  <a:srgbClr val="004CA0"/>
                </a:solidFill>
                <a:latin typeface="Microsoft YaHei"/>
                <a:ea typeface="Microsoft YaHei"/>
              </a:rPr>
              <a:t>。</a:t>
            </a:r>
          </a:p>
          <a:p>
            <a:pPr algn="l">
              <a:lnSpc>
                <a:spcPct val="110000"/>
              </a:lnSpc>
              <a:spcAft>
                <a:spcPts val="300"/>
              </a:spcAft>
            </a:pPr>
            <a:endParaRPr sz="2000" b="1" dirty="0">
              <a:solidFill>
                <a:srgbClr val="004CA0"/>
              </a:solidFill>
              <a:latin typeface="Microsoft YaHei"/>
              <a:ea typeface="Microsoft YaHei"/>
            </a:endParaRPr>
          </a:p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2400" b="1" dirty="0">
                <a:solidFill>
                  <a:srgbClr val="0066CC"/>
                </a:solidFill>
                <a:latin typeface="Microsoft YaHei"/>
                <a:ea typeface="Microsoft YaHei"/>
              </a:rPr>
              <a:t>模式</a:t>
            </a:r>
            <a:r>
              <a:rPr sz="2400" b="1" dirty="0" err="1">
                <a:solidFill>
                  <a:srgbClr val="0066CC"/>
                </a:solidFill>
                <a:latin typeface="Microsoft YaHei"/>
                <a:ea typeface="Microsoft YaHei"/>
              </a:rPr>
              <a:t>名称不</a:t>
            </a:r>
            <a:r>
              <a:rPr sz="2400" b="1" dirty="0">
                <a:solidFill>
                  <a:srgbClr val="0066CC"/>
                </a:solidFill>
                <a:latin typeface="Microsoft YaHei"/>
                <a:ea typeface="Microsoft YaHei"/>
              </a:rPr>
              <a:t>等于能力保证</a:t>
            </a:r>
            <a:r>
              <a:rPr sz="2400" b="1" dirty="0" err="1">
                <a:solidFill>
                  <a:srgbClr val="0066CC"/>
                </a:solidFill>
                <a:latin typeface="Microsoft YaHei"/>
                <a:ea typeface="Microsoft YaHei"/>
              </a:rPr>
              <a:t>，</a:t>
            </a:r>
            <a:r>
              <a:rPr sz="2400" b="1" dirty="0" err="1">
                <a:solidFill>
                  <a:srgbClr val="004CA0"/>
                </a:solidFill>
                <a:latin typeface="Microsoft YaHei"/>
                <a:ea typeface="Microsoft YaHei"/>
              </a:rPr>
              <a:t>应</a:t>
            </a:r>
            <a:r>
              <a:rPr sz="2400" b="1" dirty="0">
                <a:solidFill>
                  <a:srgbClr val="004CA0"/>
                </a:solidFill>
                <a:latin typeface="Microsoft YaHei"/>
                <a:ea typeface="Microsoft YaHei"/>
              </a:rPr>
              <a:t>根</a:t>
            </a:r>
            <a:r>
              <a:rPr sz="2400" b="1" dirty="0" err="1">
                <a:solidFill>
                  <a:srgbClr val="004CA0"/>
                </a:solidFill>
                <a:latin typeface="Microsoft YaHei"/>
                <a:ea typeface="Microsoft YaHei"/>
              </a:rPr>
              <a:t>据实际检索过</a:t>
            </a:r>
            <a:r>
              <a:rPr sz="2400" b="1" dirty="0">
                <a:solidFill>
                  <a:srgbClr val="004CA0"/>
                </a:solidFill>
                <a:latin typeface="Microsoft YaHei"/>
                <a:ea typeface="Microsoft YaHei"/>
              </a:rPr>
              <a:t>程和结果判断。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94415" y="6446520"/>
            <a:ext cx="914400" cy="320040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pPr algn="r"/>
            <a:r>
              <a:rPr sz="1100">
                <a:solidFill>
                  <a:srgbClr val="999999"/>
                </a:solidFill>
                <a:latin typeface="Arial"/>
              </a:rPr>
              <a:t>46 / 50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389120" cy="6858000"/>
          </a:xfrm>
          <a:prstGeom prst="rect">
            <a:avLst/>
          </a:prstGeom>
          <a:solidFill>
            <a:srgbClr val="006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4389120" y="0"/>
            <a:ext cx="91440" cy="6858000"/>
          </a:xfrm>
          <a:prstGeom prst="rect">
            <a:avLst/>
          </a:prstGeom>
          <a:solidFill>
            <a:srgbClr val="004C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65760" y="1828800"/>
            <a:ext cx="3657600" cy="2286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6000" b="1" i="0">
                <a:solidFill>
                  <a:srgbClr val="FFFFFF"/>
                </a:solidFill>
                <a:latin typeface="Arial"/>
                <a:ea typeface="Arial"/>
              </a:rPr>
              <a:t>2.6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0" y="2388037"/>
            <a:ext cx="640080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4200" b="1" i="0" dirty="0" err="1">
                <a:solidFill>
                  <a:srgbClr val="333333"/>
                </a:solidFill>
                <a:latin typeface="Microsoft YaHei"/>
                <a:ea typeface="Microsoft YaHei"/>
              </a:rPr>
              <a:t>本章实训</a:t>
            </a:r>
            <a:endParaRPr sz="4200" b="1" i="0" dirty="0">
              <a:solidFill>
                <a:srgbClr val="333333"/>
              </a:solidFill>
              <a:latin typeface="Microsoft YaHei"/>
              <a:ea typeface="Microsoft YaHei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5029200" y="3657600"/>
            <a:ext cx="1371600" cy="38000"/>
          </a:xfrm>
          <a:prstGeom prst="rect">
            <a:avLst/>
          </a:prstGeom>
          <a:solidFill>
            <a:srgbClr val="006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029200" y="3840480"/>
            <a:ext cx="6766560" cy="61555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" b="0" i="0" dirty="0" err="1">
                <a:solidFill>
                  <a:srgbClr val="333333"/>
                </a:solidFill>
                <a:latin typeface="Microsoft YaHei"/>
                <a:ea typeface="Microsoft YaHei"/>
              </a:rPr>
              <a:t>通过联网开关、不同检</a:t>
            </a:r>
            <a:r>
              <a:rPr sz="2000" b="0" i="0" dirty="0">
                <a:solidFill>
                  <a:srgbClr val="333333"/>
                </a:solidFill>
                <a:latin typeface="Microsoft YaHei"/>
                <a:ea typeface="Microsoft YaHei"/>
              </a:rPr>
              <a:t>索模式</a:t>
            </a:r>
            <a:r>
              <a:rPr sz="2000" b="0" i="0" dirty="0" err="1">
                <a:solidFill>
                  <a:srgbClr val="333333"/>
                </a:solidFill>
                <a:latin typeface="Microsoft YaHei"/>
                <a:ea typeface="Microsoft YaHei"/>
              </a:rPr>
              <a:t>、文档</a:t>
            </a:r>
            <a:r>
              <a:rPr sz="2000" b="0" i="0" dirty="0">
                <a:solidFill>
                  <a:srgbClr val="333333"/>
                </a:solidFill>
                <a:latin typeface="Microsoft YaHei"/>
                <a:ea typeface="Microsoft YaHei"/>
              </a:rPr>
              <a:t>问答和</a:t>
            </a:r>
            <a:r>
              <a:rPr sz="2000" b="0" i="0" dirty="0" err="1">
                <a:solidFill>
                  <a:srgbClr val="333333"/>
                </a:solidFill>
                <a:latin typeface="Microsoft YaHei"/>
                <a:ea typeface="Microsoft YaHei"/>
              </a:rPr>
              <a:t>错别字</a:t>
            </a:r>
            <a:r>
              <a:rPr sz="2000" b="0" i="0" dirty="0">
                <a:solidFill>
                  <a:srgbClr val="333333"/>
                </a:solidFill>
                <a:latin typeface="Microsoft YaHei"/>
                <a:ea typeface="Microsoft YaHei"/>
              </a:rPr>
              <a:t>输入</a:t>
            </a:r>
            <a:r>
              <a:rPr sz="2000" b="0" i="0" dirty="0" err="1">
                <a:solidFill>
                  <a:srgbClr val="333333"/>
                </a:solidFill>
                <a:latin typeface="Microsoft YaHei"/>
                <a:ea typeface="Microsoft YaHei"/>
              </a:rPr>
              <a:t>四项练习，观察模</a:t>
            </a:r>
            <a:r>
              <a:rPr sz="2000" b="0" i="0" dirty="0">
                <a:solidFill>
                  <a:srgbClr val="333333"/>
                </a:solidFill>
                <a:latin typeface="Microsoft YaHei"/>
                <a:ea typeface="Microsoft YaHei"/>
              </a:rPr>
              <a:t>型表</a:t>
            </a:r>
            <a:r>
              <a:rPr sz="2000" b="0" i="0" dirty="0" err="1">
                <a:solidFill>
                  <a:srgbClr val="333333"/>
                </a:solidFill>
                <a:latin typeface="Microsoft YaHei"/>
                <a:ea typeface="Microsoft YaHei"/>
              </a:rPr>
              <a:t>现并核验结果</a:t>
            </a:r>
            <a:r>
              <a:rPr sz="1800" b="0" i="0" dirty="0">
                <a:solidFill>
                  <a:srgbClr val="333333"/>
                </a:solidFill>
                <a:latin typeface="Microsoft YaHei"/>
                <a:ea typeface="Microsoft YaHei"/>
              </a:rPr>
              <a:t>。</a:t>
            </a:r>
          </a:p>
        </p:txBody>
      </p:sp>
      <p:pic>
        <p:nvPicPr>
          <p:cNvPr id="10" name="Picture 9" descr="yzu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17175" y="246888"/>
            <a:ext cx="1691640" cy="54864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11094415" y="6446520"/>
            <a:ext cx="914400" cy="320040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pPr algn="r"/>
            <a:r>
              <a:rPr sz="1100">
                <a:solidFill>
                  <a:srgbClr val="999999"/>
                </a:solidFill>
                <a:latin typeface="Arial"/>
              </a:rPr>
              <a:t>47 / 50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yzu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17175" y="246888"/>
            <a:ext cx="1691640" cy="54864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274320"/>
            <a:ext cx="960120" cy="502920"/>
          </a:xfrm>
          <a:prstGeom prst="rect">
            <a:avLst/>
          </a:prstGeom>
          <a:solidFill>
            <a:srgbClr val="006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" y="341114"/>
            <a:ext cx="914400" cy="3693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400" b="1" i="0" dirty="0">
                <a:solidFill>
                  <a:srgbClr val="FFFFFF"/>
                </a:solidFill>
                <a:latin typeface="Microsoft YaHei"/>
                <a:ea typeface="Microsoft YaHei"/>
              </a:rPr>
              <a:t>2.6</a:t>
            </a:r>
          </a:p>
        </p:txBody>
      </p:sp>
      <p:sp>
        <p:nvSpPr>
          <p:cNvPr id="6" name="Rectangle 5"/>
          <p:cNvSpPr/>
          <p:nvPr/>
        </p:nvSpPr>
        <p:spPr>
          <a:xfrm>
            <a:off x="960120" y="274320"/>
            <a:ext cx="9052560" cy="502920"/>
          </a:xfrm>
          <a:prstGeom prst="rect">
            <a:avLst/>
          </a:prstGeom>
          <a:solidFill>
            <a:srgbClr val="3A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234440" y="341114"/>
            <a:ext cx="8686800" cy="3693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400" b="1" i="0" dirty="0" err="1">
                <a:solidFill>
                  <a:srgbClr val="FFFFFF"/>
                </a:solidFill>
                <a:latin typeface="Microsoft YaHei"/>
                <a:ea typeface="Microsoft YaHei"/>
              </a:rPr>
              <a:t>本章实训</a:t>
            </a:r>
            <a:r>
              <a:rPr sz="2400" b="1" i="0" dirty="0">
                <a:solidFill>
                  <a:srgbClr val="FFFFFF"/>
                </a:solidFill>
                <a:latin typeface="Microsoft YaHei"/>
                <a:ea typeface="Microsoft YaHei"/>
              </a:rPr>
              <a:t> · </a:t>
            </a:r>
            <a:r>
              <a:rPr sz="2400" b="1" i="0" dirty="0" err="1">
                <a:solidFill>
                  <a:srgbClr val="FFFFFF"/>
                </a:solidFill>
                <a:latin typeface="Microsoft YaHei"/>
                <a:ea typeface="Microsoft YaHei"/>
              </a:rPr>
              <a:t>四个动手实验</a:t>
            </a:r>
            <a:endParaRPr sz="2400" b="1" i="0" dirty="0">
              <a:solidFill>
                <a:srgbClr val="FFFFFF"/>
              </a:solidFill>
              <a:latin typeface="Microsoft YaHei"/>
              <a:ea typeface="Microsoft YaHei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365760" y="1051560"/>
            <a:ext cx="5577840" cy="2331720"/>
          </a:xfrm>
          <a:prstGeom prst="rect">
            <a:avLst/>
          </a:prstGeom>
          <a:solidFill>
            <a:srgbClr val="FFFFFF"/>
          </a:solidFill>
          <a:ln w="19050">
            <a:solidFill>
              <a:srgbClr val="0066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365760" y="1051560"/>
            <a:ext cx="1005840" cy="502920"/>
          </a:xfrm>
          <a:prstGeom prst="rect">
            <a:avLst/>
          </a:prstGeom>
          <a:solidFill>
            <a:srgbClr val="006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65760" y="1118354"/>
            <a:ext cx="1005840" cy="3693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400" b="1" i="0" dirty="0" err="1">
                <a:solidFill>
                  <a:srgbClr val="FFFFFF"/>
                </a:solidFill>
                <a:latin typeface="Microsoft YaHei"/>
                <a:ea typeface="Microsoft YaHei"/>
              </a:rPr>
              <a:t>实验一</a:t>
            </a:r>
            <a:endParaRPr sz="2400" b="1" i="0" dirty="0">
              <a:solidFill>
                <a:srgbClr val="FFFFFF"/>
              </a:solidFill>
              <a:latin typeface="Microsoft YaHei"/>
              <a:ea typeface="Microsoft YaHei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1508760" y="1179463"/>
            <a:ext cx="4297680" cy="33855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200" b="1" i="0" dirty="0" err="1">
                <a:solidFill>
                  <a:srgbClr val="004CA0"/>
                </a:solidFill>
                <a:latin typeface="Microsoft YaHei"/>
                <a:ea typeface="Microsoft YaHei"/>
              </a:rPr>
              <a:t>对比</a:t>
            </a:r>
            <a:r>
              <a:rPr sz="2200" b="1" i="0" dirty="0">
                <a:solidFill>
                  <a:srgbClr val="004CA0"/>
                </a:solidFill>
                <a:latin typeface="Microsoft YaHei"/>
                <a:ea typeface="Microsoft YaHei"/>
              </a:rPr>
              <a:t> "</a:t>
            </a:r>
            <a:r>
              <a:rPr sz="2200" b="1" i="0" dirty="0" err="1">
                <a:solidFill>
                  <a:srgbClr val="004CA0"/>
                </a:solidFill>
                <a:latin typeface="Microsoft YaHei"/>
                <a:ea typeface="Microsoft YaHei"/>
              </a:rPr>
              <a:t>开启</a:t>
            </a:r>
            <a:r>
              <a:rPr sz="2200" b="1" i="0" dirty="0">
                <a:solidFill>
                  <a:srgbClr val="004CA0"/>
                </a:solidFill>
                <a:latin typeface="Microsoft YaHei"/>
                <a:ea typeface="Microsoft YaHei"/>
              </a:rPr>
              <a:t>" vs "</a:t>
            </a:r>
            <a:r>
              <a:rPr sz="2200" b="1" i="0" dirty="0" err="1">
                <a:solidFill>
                  <a:srgbClr val="004CA0"/>
                </a:solidFill>
                <a:latin typeface="Microsoft YaHei"/>
                <a:ea typeface="Microsoft YaHei"/>
              </a:rPr>
              <a:t>关闭</a:t>
            </a:r>
            <a:r>
              <a:rPr sz="2200" b="1" i="0" dirty="0">
                <a:solidFill>
                  <a:srgbClr val="004CA0"/>
                </a:solidFill>
                <a:latin typeface="Microsoft YaHei"/>
                <a:ea typeface="Microsoft YaHei"/>
              </a:rPr>
              <a:t>" </a:t>
            </a:r>
            <a:r>
              <a:rPr sz="2200" b="1" i="0" dirty="0" err="1">
                <a:solidFill>
                  <a:srgbClr val="004CA0"/>
                </a:solidFill>
                <a:latin typeface="Microsoft YaHei"/>
                <a:ea typeface="Microsoft YaHei"/>
              </a:rPr>
              <a:t>联网搜索</a:t>
            </a:r>
            <a:endParaRPr sz="2200" b="1" i="0" dirty="0">
              <a:solidFill>
                <a:srgbClr val="004CA0"/>
              </a:solidFill>
              <a:latin typeface="Microsoft YaHei"/>
              <a:ea typeface="Microsoft YaHei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548640" y="1737360"/>
            <a:ext cx="5212080" cy="64633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" b="1" dirty="0" err="1">
                <a:solidFill>
                  <a:srgbClr val="F58020"/>
                </a:solidFill>
                <a:latin typeface="Microsoft YaHei"/>
                <a:ea typeface="Microsoft YaHei"/>
              </a:rPr>
              <a:t>目的：直观感受预训练知识的时效性局限与联网检索的作用</a:t>
            </a:r>
            <a:r>
              <a:rPr sz="2200" b="1" dirty="0">
                <a:solidFill>
                  <a:srgbClr val="F58020"/>
                </a:solidFill>
                <a:latin typeface="Microsoft YaHei"/>
                <a:ea typeface="Microsoft YaHei"/>
              </a:rPr>
              <a:t>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2472273"/>
            <a:ext cx="5212080" cy="92333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" b="0" i="0" dirty="0">
                <a:solidFill>
                  <a:srgbClr val="333333"/>
                </a:solidFill>
                <a:latin typeface="Microsoft YaHei"/>
                <a:ea typeface="Microsoft YaHei"/>
              </a:rPr>
              <a:t>选取训练截止后</a:t>
            </a:r>
            <a:r>
              <a:rPr sz="2000" b="0" i="0" dirty="0" err="1">
                <a:solidFill>
                  <a:srgbClr val="333333"/>
                </a:solidFill>
                <a:latin typeface="Microsoft YaHei"/>
                <a:ea typeface="Microsoft YaHei"/>
              </a:rPr>
              <a:t>发生、已有官方记录</a:t>
            </a:r>
            <a:r>
              <a:rPr sz="2000" b="0" i="0" dirty="0">
                <a:solidFill>
                  <a:srgbClr val="333333"/>
                </a:solidFill>
                <a:latin typeface="Microsoft YaHei"/>
                <a:ea typeface="Microsoft YaHei"/>
              </a:rPr>
              <a:t>的事件，</a:t>
            </a:r>
            <a:r>
              <a:rPr sz="2000" b="0" i="0" dirty="0" err="1">
                <a:solidFill>
                  <a:srgbClr val="333333"/>
                </a:solidFill>
                <a:latin typeface="Microsoft YaHei"/>
                <a:ea typeface="Microsoft YaHei"/>
              </a:rPr>
              <a:t>分别</a:t>
            </a:r>
            <a:r>
              <a:rPr sz="2000" b="0" i="0" dirty="0">
                <a:solidFill>
                  <a:srgbClr val="333333"/>
                </a:solidFill>
                <a:latin typeface="Microsoft YaHei"/>
                <a:ea typeface="Microsoft YaHei"/>
              </a:rPr>
              <a:t>在新对</a:t>
            </a:r>
            <a:r>
              <a:rPr sz="2000" b="0" i="0" dirty="0" err="1">
                <a:solidFill>
                  <a:srgbClr val="333333"/>
                </a:solidFill>
                <a:latin typeface="Microsoft YaHei"/>
                <a:ea typeface="Microsoft YaHei"/>
              </a:rPr>
              <a:t>话中开关联网</a:t>
            </a:r>
            <a:r>
              <a:rPr sz="2000" b="0" i="0" dirty="0">
                <a:solidFill>
                  <a:srgbClr val="333333"/>
                </a:solidFill>
                <a:latin typeface="Microsoft YaHei"/>
                <a:ea typeface="Microsoft YaHei"/>
              </a:rPr>
              <a:t>提问，</a:t>
            </a:r>
            <a:r>
              <a:rPr sz="2000" b="0" i="0" dirty="0" err="1">
                <a:solidFill>
                  <a:srgbClr val="333333"/>
                </a:solidFill>
                <a:latin typeface="Microsoft YaHei"/>
                <a:ea typeface="Microsoft YaHei"/>
              </a:rPr>
              <a:t>比较回答与来源</a:t>
            </a:r>
            <a:r>
              <a:rPr sz="1300" b="0" i="0" dirty="0">
                <a:solidFill>
                  <a:srgbClr val="333333"/>
                </a:solidFill>
                <a:latin typeface="Microsoft YaHei"/>
                <a:ea typeface="Microsoft YaHei"/>
              </a:rPr>
              <a:t>。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080760" y="1051560"/>
            <a:ext cx="5577840" cy="2331720"/>
          </a:xfrm>
          <a:prstGeom prst="rect">
            <a:avLst/>
          </a:prstGeom>
          <a:solidFill>
            <a:srgbClr val="FFFFFF"/>
          </a:solidFill>
          <a:ln w="19050">
            <a:solidFill>
              <a:srgbClr val="0066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6080760" y="1051560"/>
            <a:ext cx="1005840" cy="502920"/>
          </a:xfrm>
          <a:prstGeom prst="rect">
            <a:avLst/>
          </a:prstGeom>
          <a:solidFill>
            <a:srgbClr val="006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080760" y="1118354"/>
            <a:ext cx="1005840" cy="3693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400" b="1" i="0" dirty="0" err="1">
                <a:solidFill>
                  <a:srgbClr val="FFFFFF"/>
                </a:solidFill>
                <a:latin typeface="Microsoft YaHei"/>
                <a:ea typeface="Microsoft YaHei"/>
              </a:rPr>
              <a:t>实验二</a:t>
            </a:r>
            <a:endParaRPr sz="2400" b="1" i="0" dirty="0">
              <a:solidFill>
                <a:srgbClr val="FFFFFF"/>
              </a:solidFill>
              <a:latin typeface="Microsoft YaHei"/>
              <a:ea typeface="Microsoft YaHei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7223760" y="1179463"/>
            <a:ext cx="4297680" cy="33855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200" b="1" i="0" dirty="0" err="1">
                <a:solidFill>
                  <a:srgbClr val="004CA0"/>
                </a:solidFill>
                <a:latin typeface="Microsoft YaHei"/>
                <a:ea typeface="Microsoft YaHei"/>
              </a:rPr>
              <a:t>对比</a:t>
            </a:r>
            <a:r>
              <a:rPr sz="2200" b="1" i="0" dirty="0">
                <a:solidFill>
                  <a:srgbClr val="004CA0"/>
                </a:solidFill>
                <a:latin typeface="Microsoft YaHei"/>
                <a:ea typeface="Microsoft YaHei"/>
              </a:rPr>
              <a:t> "</a:t>
            </a:r>
            <a:r>
              <a:rPr sz="2200" b="1" i="0" dirty="0" err="1">
                <a:solidFill>
                  <a:srgbClr val="004CA0"/>
                </a:solidFill>
                <a:latin typeface="Microsoft YaHei"/>
                <a:ea typeface="Microsoft YaHei"/>
              </a:rPr>
              <a:t>普通搜索</a:t>
            </a:r>
            <a:r>
              <a:rPr sz="2200" b="1" i="0" dirty="0">
                <a:solidFill>
                  <a:srgbClr val="004CA0"/>
                </a:solidFill>
                <a:latin typeface="Microsoft YaHei"/>
                <a:ea typeface="Microsoft YaHei"/>
              </a:rPr>
              <a:t>" vs "</a:t>
            </a:r>
            <a:r>
              <a:rPr sz="2200" b="1" i="0" dirty="0" err="1">
                <a:solidFill>
                  <a:srgbClr val="004CA0"/>
                </a:solidFill>
                <a:latin typeface="Microsoft YaHei"/>
                <a:ea typeface="Microsoft YaHei"/>
              </a:rPr>
              <a:t>深度研究</a:t>
            </a:r>
            <a:r>
              <a:rPr sz="2200" b="1" i="0" dirty="0">
                <a:solidFill>
                  <a:srgbClr val="004CA0"/>
                </a:solidFill>
                <a:latin typeface="Microsoft YaHei"/>
                <a:ea typeface="Microsoft YaHei"/>
              </a:rPr>
              <a:t>"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63640" y="1707776"/>
            <a:ext cx="5212080" cy="61555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" b="1" dirty="0" err="1">
                <a:solidFill>
                  <a:srgbClr val="F58020"/>
                </a:solidFill>
                <a:latin typeface="Microsoft YaHei"/>
                <a:ea typeface="Microsoft YaHei"/>
              </a:rPr>
              <a:t>目的：体会两种模式在复杂学术问题上的深度与信息量差异</a:t>
            </a:r>
            <a:r>
              <a:rPr sz="2000" b="1" dirty="0">
                <a:solidFill>
                  <a:srgbClr val="F58020"/>
                </a:solidFill>
                <a:latin typeface="Microsoft YaHei"/>
                <a:ea typeface="Microsoft YaHei"/>
              </a:rPr>
              <a:t>。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63640" y="2365117"/>
            <a:ext cx="5212080" cy="92333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" b="0" i="0" dirty="0" err="1">
                <a:solidFill>
                  <a:srgbClr val="333333"/>
                </a:solidFill>
                <a:latin typeface="Microsoft YaHei"/>
                <a:ea typeface="Microsoft YaHei"/>
              </a:rPr>
              <a:t>提问</a:t>
            </a:r>
            <a:r>
              <a:rPr sz="2000" b="0" i="0" dirty="0">
                <a:solidFill>
                  <a:srgbClr val="333333"/>
                </a:solidFill>
                <a:latin typeface="Microsoft YaHei"/>
                <a:ea typeface="Microsoft YaHei"/>
              </a:rPr>
              <a:t>：</a:t>
            </a:r>
            <a:r>
              <a:rPr sz="2000" b="0" i="0" dirty="0" err="1">
                <a:solidFill>
                  <a:srgbClr val="333333"/>
                </a:solidFill>
                <a:latin typeface="Microsoft YaHei"/>
                <a:ea typeface="Microsoft YaHei"/>
              </a:rPr>
              <a:t>“比较某研究方向的主要方法及局限，引用原始文</a:t>
            </a:r>
            <a:r>
              <a:rPr sz="2000" b="0" i="0" dirty="0">
                <a:solidFill>
                  <a:srgbClr val="333333"/>
                </a:solidFill>
                <a:latin typeface="Microsoft YaHei"/>
                <a:ea typeface="Microsoft YaHei"/>
              </a:rPr>
              <a:t>献。”比</a:t>
            </a:r>
            <a:r>
              <a:rPr sz="2000" b="0" i="0" dirty="0" err="1">
                <a:solidFill>
                  <a:srgbClr val="333333"/>
                </a:solidFill>
                <a:latin typeface="Microsoft YaHei"/>
                <a:ea typeface="Microsoft YaHei"/>
              </a:rPr>
              <a:t>较耗时、来源质量与结论依据</a:t>
            </a:r>
            <a:r>
              <a:rPr sz="2000" b="0" i="0" dirty="0">
                <a:solidFill>
                  <a:srgbClr val="333333"/>
                </a:solidFill>
                <a:latin typeface="Microsoft YaHei"/>
                <a:ea typeface="Microsoft YaHei"/>
              </a:rPr>
              <a:t>。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65760" y="3520440"/>
            <a:ext cx="5577840" cy="2331720"/>
          </a:xfrm>
          <a:prstGeom prst="rect">
            <a:avLst/>
          </a:prstGeom>
          <a:solidFill>
            <a:srgbClr val="FFFFFF"/>
          </a:solidFill>
          <a:ln w="19050">
            <a:solidFill>
              <a:srgbClr val="0066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365760" y="3520440"/>
            <a:ext cx="1005840" cy="502920"/>
          </a:xfrm>
          <a:prstGeom prst="rect">
            <a:avLst/>
          </a:prstGeom>
          <a:solidFill>
            <a:srgbClr val="006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365760" y="3587234"/>
            <a:ext cx="1005840" cy="3693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400" b="1" i="0" dirty="0" err="1">
                <a:solidFill>
                  <a:srgbClr val="FFFFFF"/>
                </a:solidFill>
                <a:latin typeface="Microsoft YaHei"/>
                <a:ea typeface="Microsoft YaHei"/>
              </a:rPr>
              <a:t>实验三</a:t>
            </a:r>
            <a:endParaRPr sz="2400" b="1" i="0" dirty="0">
              <a:solidFill>
                <a:srgbClr val="FFFFFF"/>
              </a:solidFill>
              <a:latin typeface="Microsoft YaHei"/>
              <a:ea typeface="Microsoft YaHei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1508760" y="3648343"/>
            <a:ext cx="4297680" cy="33855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200" b="1" i="0" dirty="0" err="1">
                <a:solidFill>
                  <a:srgbClr val="004CA0"/>
                </a:solidFill>
                <a:latin typeface="Microsoft YaHei"/>
                <a:ea typeface="Microsoft YaHei"/>
              </a:rPr>
              <a:t>上传本地文档定向提问</a:t>
            </a:r>
            <a:endParaRPr sz="2200" b="1" i="0" dirty="0">
              <a:solidFill>
                <a:srgbClr val="004CA0"/>
              </a:solidFill>
              <a:latin typeface="Microsoft YaHei"/>
              <a:ea typeface="Microsoft YaHei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548640" y="4206240"/>
            <a:ext cx="5212080" cy="61555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" b="1" dirty="0" err="1">
                <a:solidFill>
                  <a:srgbClr val="F58020"/>
                </a:solidFill>
                <a:latin typeface="Microsoft YaHei"/>
                <a:ea typeface="Microsoft YaHei"/>
              </a:rPr>
              <a:t>目的：验证</a:t>
            </a:r>
            <a:r>
              <a:rPr sz="2000" b="1" dirty="0">
                <a:solidFill>
                  <a:srgbClr val="F58020"/>
                </a:solidFill>
                <a:latin typeface="Microsoft YaHei"/>
                <a:ea typeface="Microsoft YaHei"/>
              </a:rPr>
              <a:t> AI </a:t>
            </a:r>
            <a:r>
              <a:rPr sz="2000" b="1" dirty="0" err="1">
                <a:solidFill>
                  <a:srgbClr val="F58020"/>
                </a:solidFill>
                <a:latin typeface="Microsoft YaHei"/>
                <a:ea typeface="Microsoft YaHei"/>
              </a:rPr>
              <a:t>结合外部专属文件解决具体问题的能力</a:t>
            </a:r>
            <a:r>
              <a:rPr sz="2000" b="1" dirty="0">
                <a:solidFill>
                  <a:srgbClr val="F58020"/>
                </a:solidFill>
                <a:latin typeface="Microsoft YaHei"/>
                <a:ea typeface="Microsoft YaHei"/>
              </a:rPr>
              <a:t>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4865802"/>
            <a:ext cx="5577840" cy="92333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" b="0" i="0" dirty="0" err="1">
                <a:solidFill>
                  <a:srgbClr val="333333"/>
                </a:solidFill>
                <a:latin typeface="Microsoft YaHei"/>
                <a:ea typeface="Microsoft YaHei"/>
              </a:rPr>
              <a:t>上传本校最新管理规定，询问盲审结果如何影响</a:t>
            </a:r>
            <a:r>
              <a:rPr sz="2000" b="0" i="0" dirty="0">
                <a:solidFill>
                  <a:srgbClr val="333333"/>
                </a:solidFill>
                <a:latin typeface="Microsoft YaHei"/>
                <a:ea typeface="Microsoft YaHei"/>
              </a:rPr>
              <a:t>答辩</a:t>
            </a:r>
            <a:r>
              <a:rPr sz="2000" b="0" i="0" dirty="0" err="1">
                <a:solidFill>
                  <a:srgbClr val="333333"/>
                </a:solidFill>
                <a:latin typeface="Microsoft YaHei"/>
                <a:ea typeface="Microsoft YaHei"/>
              </a:rPr>
              <a:t>安</a:t>
            </a:r>
            <a:r>
              <a:rPr sz="2000" b="0" i="0" dirty="0">
                <a:solidFill>
                  <a:srgbClr val="333333"/>
                </a:solidFill>
                <a:latin typeface="Microsoft YaHei"/>
                <a:ea typeface="Microsoft YaHei"/>
              </a:rPr>
              <a:t>排。</a:t>
            </a:r>
            <a:r>
              <a:rPr sz="2000" b="0" i="0" dirty="0" err="1">
                <a:solidFill>
                  <a:srgbClr val="333333"/>
                </a:solidFill>
                <a:latin typeface="Microsoft YaHei"/>
                <a:ea typeface="Microsoft YaHei"/>
              </a:rPr>
              <a:t>要求</a:t>
            </a:r>
            <a:r>
              <a:rPr sz="2000" b="0" i="0" dirty="0">
                <a:solidFill>
                  <a:srgbClr val="333333"/>
                </a:solidFill>
                <a:latin typeface="Microsoft YaHei"/>
                <a:ea typeface="Microsoft YaHei"/>
              </a:rPr>
              <a:t>标</a:t>
            </a:r>
            <a:r>
              <a:rPr sz="2000" b="0" i="0" dirty="0" err="1">
                <a:solidFill>
                  <a:srgbClr val="333333"/>
                </a:solidFill>
                <a:latin typeface="Microsoft YaHei"/>
                <a:ea typeface="Microsoft YaHei"/>
              </a:rPr>
              <a:t>明条款</a:t>
            </a:r>
            <a:r>
              <a:rPr sz="2000" b="0" i="0" dirty="0">
                <a:solidFill>
                  <a:srgbClr val="333333"/>
                </a:solidFill>
                <a:latin typeface="Microsoft YaHei"/>
                <a:ea typeface="Microsoft YaHei"/>
              </a:rPr>
              <a:t>与页码，</a:t>
            </a:r>
            <a:r>
              <a:rPr sz="2000" b="0" i="0" dirty="0" err="1">
                <a:solidFill>
                  <a:srgbClr val="333333"/>
                </a:solidFill>
                <a:latin typeface="Microsoft YaHei"/>
                <a:ea typeface="Microsoft YaHei"/>
              </a:rPr>
              <a:t>并人工核</a:t>
            </a:r>
            <a:r>
              <a:rPr sz="2000" b="0" i="0" dirty="0">
                <a:solidFill>
                  <a:srgbClr val="333333"/>
                </a:solidFill>
                <a:latin typeface="Microsoft YaHei"/>
                <a:ea typeface="Microsoft YaHei"/>
              </a:rPr>
              <a:t>对。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080760" y="3520440"/>
            <a:ext cx="5577840" cy="2331720"/>
          </a:xfrm>
          <a:prstGeom prst="rect">
            <a:avLst/>
          </a:prstGeom>
          <a:solidFill>
            <a:srgbClr val="FFFFFF"/>
          </a:solidFill>
          <a:ln w="19050">
            <a:solidFill>
              <a:srgbClr val="0066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6080760" y="3520440"/>
            <a:ext cx="1005840" cy="502920"/>
          </a:xfrm>
          <a:prstGeom prst="rect">
            <a:avLst/>
          </a:prstGeom>
          <a:solidFill>
            <a:srgbClr val="006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080760" y="3587234"/>
            <a:ext cx="1005840" cy="3693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400" b="1" i="0" dirty="0" err="1">
                <a:solidFill>
                  <a:srgbClr val="FFFFFF"/>
                </a:solidFill>
                <a:latin typeface="Microsoft YaHei"/>
                <a:ea typeface="Microsoft YaHei"/>
              </a:rPr>
              <a:t>实验四</a:t>
            </a:r>
            <a:endParaRPr sz="2400" b="1" i="0" dirty="0">
              <a:solidFill>
                <a:srgbClr val="FFFFFF"/>
              </a:solidFill>
              <a:latin typeface="Microsoft YaHei"/>
              <a:ea typeface="Microsoft YaHei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7223760" y="3648343"/>
            <a:ext cx="4297680" cy="33855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200" b="1" i="0" dirty="0" err="1">
                <a:solidFill>
                  <a:srgbClr val="004CA0"/>
                </a:solidFill>
                <a:latin typeface="Microsoft YaHei"/>
                <a:ea typeface="Microsoft YaHei"/>
              </a:rPr>
              <a:t>测试</a:t>
            </a:r>
            <a:r>
              <a:rPr sz="2200" b="1" i="0" dirty="0">
                <a:solidFill>
                  <a:srgbClr val="004CA0"/>
                </a:solidFill>
                <a:latin typeface="Microsoft YaHei"/>
                <a:ea typeface="Microsoft YaHei"/>
              </a:rPr>
              <a:t> AI </a:t>
            </a:r>
            <a:r>
              <a:rPr sz="2200" b="1" i="0" dirty="0" err="1">
                <a:solidFill>
                  <a:srgbClr val="004CA0"/>
                </a:solidFill>
                <a:latin typeface="Microsoft YaHei"/>
                <a:ea typeface="Microsoft YaHei"/>
              </a:rPr>
              <a:t>对错别字的理解力</a:t>
            </a:r>
            <a:endParaRPr sz="2200" b="1" i="0" dirty="0">
              <a:solidFill>
                <a:srgbClr val="004CA0"/>
              </a:solidFill>
              <a:latin typeface="Microsoft YaHei"/>
              <a:ea typeface="Microsoft YaHei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6263640" y="4206240"/>
            <a:ext cx="5212080" cy="61555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" b="1" dirty="0" err="1">
                <a:solidFill>
                  <a:srgbClr val="F58020"/>
                </a:solidFill>
                <a:latin typeface="Microsoft YaHei"/>
                <a:ea typeface="Microsoft YaHei"/>
              </a:rPr>
              <a:t>目的：观察模型对错字的理解，并检查专业概念是否解释正确</a:t>
            </a:r>
            <a:r>
              <a:rPr sz="2000" b="1" dirty="0">
                <a:solidFill>
                  <a:srgbClr val="F58020"/>
                </a:solidFill>
                <a:latin typeface="Microsoft YaHei"/>
                <a:ea typeface="Microsoft YaHei"/>
              </a:rPr>
              <a:t>。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263640" y="4890373"/>
            <a:ext cx="5212080" cy="92333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" b="0" i="0" dirty="0" err="1">
                <a:solidFill>
                  <a:srgbClr val="333333"/>
                </a:solidFill>
                <a:latin typeface="Microsoft YaHei"/>
                <a:ea typeface="Microsoft YaHei"/>
              </a:rPr>
              <a:t>先</a:t>
            </a:r>
            <a:r>
              <a:rPr sz="2000" b="0" i="0" dirty="0">
                <a:solidFill>
                  <a:srgbClr val="333333"/>
                </a:solidFill>
                <a:latin typeface="Microsoft YaHei"/>
                <a:ea typeface="Microsoft YaHei"/>
              </a:rPr>
              <a:t>用含</a:t>
            </a:r>
            <a:r>
              <a:rPr sz="2000" b="0" i="0" dirty="0" err="1">
                <a:solidFill>
                  <a:srgbClr val="333333"/>
                </a:solidFill>
                <a:latin typeface="Microsoft YaHei"/>
                <a:ea typeface="Microsoft YaHei"/>
              </a:rPr>
              <a:t>错字的问题提问，再用规范表达另开</a:t>
            </a:r>
            <a:r>
              <a:rPr sz="2000" b="0" i="0" dirty="0">
                <a:solidFill>
                  <a:srgbClr val="333333"/>
                </a:solidFill>
                <a:latin typeface="Microsoft YaHei"/>
                <a:ea typeface="Microsoft YaHei"/>
              </a:rPr>
              <a:t>对话提问</a:t>
            </a:r>
            <a:r>
              <a:rPr sz="2000" b="0" i="0" dirty="0" err="1">
                <a:solidFill>
                  <a:srgbClr val="333333"/>
                </a:solidFill>
                <a:latin typeface="Microsoft YaHei"/>
                <a:ea typeface="Microsoft YaHei"/>
              </a:rPr>
              <a:t>，比较意图识别与</a:t>
            </a:r>
            <a:r>
              <a:rPr sz="2000" b="0" i="0" dirty="0">
                <a:solidFill>
                  <a:srgbClr val="333333"/>
                </a:solidFill>
                <a:latin typeface="Microsoft YaHei"/>
                <a:ea typeface="Microsoft YaHei"/>
              </a:rPr>
              <a:t>知识准</a:t>
            </a:r>
            <a:r>
              <a:rPr sz="2000" b="0" i="0" dirty="0" err="1">
                <a:solidFill>
                  <a:srgbClr val="333333"/>
                </a:solidFill>
                <a:latin typeface="Microsoft YaHei"/>
                <a:ea typeface="Microsoft YaHei"/>
              </a:rPr>
              <a:t>确性</a:t>
            </a:r>
            <a:r>
              <a:rPr sz="2000" b="0" i="0" dirty="0">
                <a:solidFill>
                  <a:srgbClr val="333333"/>
                </a:solidFill>
                <a:latin typeface="Microsoft YaHei"/>
                <a:ea typeface="Microsoft YaHei"/>
              </a:rPr>
              <a:t>。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094415" y="6446520"/>
            <a:ext cx="914400" cy="320040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pPr algn="r"/>
            <a:r>
              <a:rPr sz="1100">
                <a:solidFill>
                  <a:srgbClr val="999999"/>
                </a:solidFill>
                <a:latin typeface="Arial"/>
              </a:rPr>
              <a:t>48 / 50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yzu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17175" y="246888"/>
            <a:ext cx="1691640" cy="5486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0" y="320040"/>
            <a:ext cx="12191695" cy="9144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5200" b="1" i="0">
                <a:solidFill>
                  <a:srgbClr val="0066CC"/>
                </a:solidFill>
                <a:latin typeface="Microsoft YaHei"/>
                <a:ea typeface="Microsoft YaHei"/>
              </a:rPr>
              <a:t>本章小结</a:t>
            </a:r>
          </a:p>
        </p:txBody>
      </p:sp>
      <p:sp>
        <p:nvSpPr>
          <p:cNvPr id="5" name="Rectangle 4"/>
          <p:cNvSpPr/>
          <p:nvPr/>
        </p:nvSpPr>
        <p:spPr>
          <a:xfrm>
            <a:off x="4952847" y="1234440"/>
            <a:ext cx="2286000" cy="38000"/>
          </a:xfrm>
          <a:prstGeom prst="rect">
            <a:avLst/>
          </a:prstGeom>
          <a:solidFill>
            <a:srgbClr val="006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365760" y="1600200"/>
            <a:ext cx="777240" cy="1280160"/>
          </a:xfrm>
          <a:prstGeom prst="rect">
            <a:avLst/>
          </a:prstGeom>
          <a:solidFill>
            <a:srgbClr val="006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365760" y="1600200"/>
            <a:ext cx="777240" cy="12801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Microsoft YaHei"/>
                <a:ea typeface="Microsoft YaHei"/>
              </a:rPr>
              <a:t>2.1</a:t>
            </a:r>
          </a:p>
        </p:txBody>
      </p:sp>
      <p:sp>
        <p:nvSpPr>
          <p:cNvPr id="8" name="Rectangle 7"/>
          <p:cNvSpPr/>
          <p:nvPr/>
        </p:nvSpPr>
        <p:spPr>
          <a:xfrm>
            <a:off x="1143000" y="1600200"/>
            <a:ext cx="4709160" cy="1280160"/>
          </a:xfrm>
          <a:prstGeom prst="rect">
            <a:avLst/>
          </a:prstGeom>
          <a:solidFill>
            <a:srgbClr val="E6F2FC"/>
          </a:solidFill>
          <a:ln w="9525">
            <a:solidFill>
              <a:srgbClr val="0066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325880" y="1655064"/>
            <a:ext cx="4343400" cy="3077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" b="1" i="0" dirty="0">
                <a:solidFill>
                  <a:srgbClr val="004CA0"/>
                </a:solidFill>
                <a:latin typeface="Microsoft YaHei"/>
                <a:ea typeface="Microsoft YaHei"/>
              </a:rPr>
              <a:t>有</a:t>
            </a:r>
            <a:r>
              <a:rPr sz="2000" b="1" i="0" dirty="0" err="1">
                <a:solidFill>
                  <a:srgbClr val="004CA0"/>
                </a:solidFill>
                <a:latin typeface="Microsoft YaHei"/>
                <a:ea typeface="Microsoft YaHei"/>
              </a:rPr>
              <a:t>效</a:t>
            </a:r>
            <a:r>
              <a:rPr sz="2000" b="1" i="0" dirty="0">
                <a:solidFill>
                  <a:srgbClr val="004CA0"/>
                </a:solidFill>
                <a:latin typeface="Microsoft YaHei"/>
                <a:ea typeface="Microsoft YaHei"/>
              </a:rPr>
              <a:t>提</a:t>
            </a:r>
            <a:r>
              <a:rPr sz="2000" b="1" i="0" dirty="0" err="1">
                <a:solidFill>
                  <a:srgbClr val="004CA0"/>
                </a:solidFill>
                <a:latin typeface="Microsoft YaHei"/>
                <a:ea typeface="Microsoft YaHei"/>
              </a:rPr>
              <a:t>问</a:t>
            </a:r>
            <a:endParaRPr sz="2000" b="1" i="0" dirty="0">
              <a:solidFill>
                <a:srgbClr val="004CA0"/>
              </a:solidFill>
              <a:latin typeface="Microsoft YaHei"/>
              <a:ea typeface="Microsoft YaHei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1325880" y="2039112"/>
            <a:ext cx="4343400" cy="7386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0" i="0" dirty="0" err="1">
                <a:solidFill>
                  <a:srgbClr val="333333"/>
                </a:solidFill>
                <a:latin typeface="Microsoft YaHei"/>
                <a:ea typeface="Microsoft YaHei"/>
              </a:rPr>
              <a:t>根据任务选择事实查询或多轮讨论，说明</a:t>
            </a:r>
            <a:r>
              <a:rPr sz="1600" b="0" i="0" dirty="0">
                <a:solidFill>
                  <a:srgbClr val="333333"/>
                </a:solidFill>
                <a:latin typeface="Microsoft YaHei"/>
                <a:ea typeface="Microsoft YaHei"/>
              </a:rPr>
              <a:t>背景</a:t>
            </a:r>
            <a:r>
              <a:rPr sz="1600" b="0" i="0" dirty="0" err="1">
                <a:solidFill>
                  <a:srgbClr val="333333"/>
                </a:solidFill>
                <a:latin typeface="Microsoft YaHei"/>
                <a:ea typeface="Microsoft YaHei"/>
              </a:rPr>
              <a:t>、任</a:t>
            </a:r>
            <a:r>
              <a:rPr sz="1600" b="0" i="0" dirty="0">
                <a:solidFill>
                  <a:srgbClr val="333333"/>
                </a:solidFill>
                <a:latin typeface="Microsoft YaHei"/>
                <a:ea typeface="Microsoft YaHei"/>
              </a:rPr>
              <a:t>务、</a:t>
            </a:r>
            <a:r>
              <a:rPr sz="1600" b="0" i="0" dirty="0" err="1">
                <a:solidFill>
                  <a:srgbClr val="333333"/>
                </a:solidFill>
                <a:latin typeface="Microsoft YaHei"/>
                <a:ea typeface="Microsoft YaHei"/>
              </a:rPr>
              <a:t>约束</a:t>
            </a:r>
            <a:r>
              <a:rPr sz="1600" b="0" i="0" dirty="0">
                <a:solidFill>
                  <a:srgbClr val="333333"/>
                </a:solidFill>
                <a:latin typeface="Microsoft YaHei"/>
                <a:ea typeface="Microsoft YaHei"/>
              </a:rPr>
              <a:t>与输</a:t>
            </a:r>
            <a:r>
              <a:rPr sz="1600" b="0" i="0" dirty="0" err="1">
                <a:solidFill>
                  <a:srgbClr val="333333"/>
                </a:solidFill>
                <a:latin typeface="Microsoft YaHei"/>
                <a:ea typeface="Microsoft YaHei"/>
              </a:rPr>
              <a:t>出格式，并核验结果</a:t>
            </a:r>
            <a:r>
              <a:rPr sz="1600" b="0" i="0" dirty="0">
                <a:solidFill>
                  <a:srgbClr val="333333"/>
                </a:solidFill>
                <a:latin typeface="Microsoft YaHei"/>
                <a:ea typeface="Microsoft YaHei"/>
              </a:rPr>
              <a:t>。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961888" y="1600200"/>
            <a:ext cx="777240" cy="1280160"/>
          </a:xfrm>
          <a:prstGeom prst="rect">
            <a:avLst/>
          </a:prstGeom>
          <a:solidFill>
            <a:srgbClr val="006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961888" y="1600200"/>
            <a:ext cx="777240" cy="12801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Microsoft YaHei"/>
                <a:ea typeface="Microsoft YaHei"/>
              </a:rPr>
              <a:t>2.2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739128" y="1600200"/>
            <a:ext cx="4709160" cy="1280160"/>
          </a:xfrm>
          <a:prstGeom prst="rect">
            <a:avLst/>
          </a:prstGeom>
          <a:solidFill>
            <a:srgbClr val="E6F2FC"/>
          </a:solidFill>
          <a:ln w="9525">
            <a:solidFill>
              <a:srgbClr val="0066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922008" y="1655064"/>
            <a:ext cx="4343400" cy="3077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" b="1" i="0" dirty="0" err="1">
                <a:solidFill>
                  <a:srgbClr val="004CA0"/>
                </a:solidFill>
                <a:latin typeface="Microsoft YaHei"/>
                <a:ea typeface="Microsoft YaHei"/>
              </a:rPr>
              <a:t>模型知识的来源与边界</a:t>
            </a:r>
            <a:endParaRPr sz="2000" b="1" i="0" dirty="0">
              <a:solidFill>
                <a:srgbClr val="004CA0"/>
              </a:solidFill>
              <a:latin typeface="Microsoft YaHei"/>
              <a:ea typeface="Microsoft YaHei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6922008" y="2039112"/>
            <a:ext cx="4343400" cy="7386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0" i="0" dirty="0" err="1">
                <a:solidFill>
                  <a:srgbClr val="333333"/>
                </a:solidFill>
                <a:latin typeface="Microsoft YaHei"/>
                <a:ea typeface="Microsoft YaHei"/>
              </a:rPr>
              <a:t>预训练知识受数据覆盖、</a:t>
            </a:r>
            <a:r>
              <a:rPr sz="1600" b="0" i="0" dirty="0">
                <a:solidFill>
                  <a:srgbClr val="333333"/>
                </a:solidFill>
                <a:latin typeface="Microsoft YaHei"/>
                <a:ea typeface="Microsoft YaHei"/>
              </a:rPr>
              <a:t>质量</a:t>
            </a:r>
            <a:r>
              <a:rPr sz="1600" b="0" i="0" dirty="0" err="1">
                <a:solidFill>
                  <a:srgbClr val="333333"/>
                </a:solidFill>
                <a:latin typeface="Microsoft YaHei"/>
                <a:ea typeface="Microsoft YaHei"/>
              </a:rPr>
              <a:t>和时</a:t>
            </a:r>
            <a:r>
              <a:rPr sz="1600" b="0" i="0" dirty="0">
                <a:solidFill>
                  <a:srgbClr val="333333"/>
                </a:solidFill>
                <a:latin typeface="Microsoft YaHei"/>
                <a:ea typeface="Microsoft YaHei"/>
              </a:rPr>
              <a:t>间范围</a:t>
            </a:r>
            <a:r>
              <a:rPr sz="1600" b="0" i="0" dirty="0" err="1">
                <a:solidFill>
                  <a:srgbClr val="333333"/>
                </a:solidFill>
                <a:latin typeface="Microsoft YaHei"/>
                <a:ea typeface="Microsoft YaHei"/>
              </a:rPr>
              <a:t>限制。模型能理解部分输</a:t>
            </a:r>
            <a:r>
              <a:rPr sz="1600" b="0" i="0" dirty="0">
                <a:solidFill>
                  <a:srgbClr val="333333"/>
                </a:solidFill>
                <a:latin typeface="Microsoft YaHei"/>
                <a:ea typeface="Microsoft YaHei"/>
              </a:rPr>
              <a:t>入错误</a:t>
            </a:r>
            <a:r>
              <a:rPr sz="1600" b="0" i="0" dirty="0" err="1">
                <a:solidFill>
                  <a:srgbClr val="333333"/>
                </a:solidFill>
                <a:latin typeface="Microsoft YaHei"/>
                <a:ea typeface="Microsoft YaHei"/>
              </a:rPr>
              <a:t>，也可能生成不准确的信息</a:t>
            </a:r>
            <a:r>
              <a:rPr sz="1600" b="0" i="0" dirty="0">
                <a:solidFill>
                  <a:srgbClr val="333333"/>
                </a:solidFill>
                <a:latin typeface="Microsoft YaHei"/>
                <a:ea typeface="Microsoft YaHei"/>
              </a:rPr>
              <a:t>。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5760" y="2990088"/>
            <a:ext cx="777240" cy="1280160"/>
          </a:xfrm>
          <a:prstGeom prst="rect">
            <a:avLst/>
          </a:prstGeom>
          <a:solidFill>
            <a:srgbClr val="006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365760" y="2990088"/>
            <a:ext cx="777240" cy="12801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Microsoft YaHei"/>
                <a:ea typeface="Microsoft YaHei"/>
              </a:rPr>
              <a:t>2.3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143000" y="2990088"/>
            <a:ext cx="4709160" cy="1280160"/>
          </a:xfrm>
          <a:prstGeom prst="rect">
            <a:avLst/>
          </a:prstGeom>
          <a:solidFill>
            <a:srgbClr val="E6F2FC"/>
          </a:solidFill>
          <a:ln w="9525">
            <a:solidFill>
              <a:srgbClr val="0066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1325880" y="3044952"/>
            <a:ext cx="4343400" cy="3077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" b="1" i="0" dirty="0" err="1">
                <a:solidFill>
                  <a:srgbClr val="004CA0"/>
                </a:solidFill>
                <a:latin typeface="Microsoft YaHei"/>
                <a:ea typeface="Microsoft YaHei"/>
              </a:rPr>
              <a:t>联网检索</a:t>
            </a:r>
            <a:endParaRPr sz="2000" b="1" i="0" dirty="0">
              <a:solidFill>
                <a:srgbClr val="004CA0"/>
              </a:solidFill>
              <a:latin typeface="Microsoft YaHei"/>
              <a:ea typeface="Microsoft YaHei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1325880" y="3429000"/>
            <a:ext cx="4343400" cy="49244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0" i="0" dirty="0" err="1">
                <a:solidFill>
                  <a:srgbClr val="333333"/>
                </a:solidFill>
                <a:latin typeface="Microsoft YaHei"/>
                <a:ea typeface="Microsoft YaHei"/>
              </a:rPr>
              <a:t>联网检索可补充近期、</a:t>
            </a:r>
            <a:r>
              <a:rPr sz="1600" b="0" i="0" dirty="0">
                <a:solidFill>
                  <a:srgbClr val="333333"/>
                </a:solidFill>
                <a:latin typeface="Microsoft YaHei"/>
                <a:ea typeface="Microsoft YaHei"/>
              </a:rPr>
              <a:t>地点</a:t>
            </a:r>
            <a:r>
              <a:rPr sz="1600" b="0" i="0" dirty="0" err="1">
                <a:solidFill>
                  <a:srgbClr val="333333"/>
                </a:solidFill>
                <a:latin typeface="Microsoft YaHei"/>
                <a:ea typeface="Microsoft YaHei"/>
              </a:rPr>
              <a:t>和小</a:t>
            </a:r>
            <a:r>
              <a:rPr sz="1600" b="0" i="0" dirty="0">
                <a:solidFill>
                  <a:srgbClr val="333333"/>
                </a:solidFill>
                <a:latin typeface="Microsoft YaHei"/>
                <a:ea typeface="Microsoft YaHei"/>
              </a:rPr>
              <a:t>众动态</a:t>
            </a:r>
            <a:r>
              <a:rPr sz="1600" b="0" i="0" dirty="0" err="1">
                <a:solidFill>
                  <a:srgbClr val="333333"/>
                </a:solidFill>
                <a:latin typeface="Microsoft YaHei"/>
                <a:ea typeface="Microsoft YaHei"/>
              </a:rPr>
              <a:t>信息，是否实际调用搜索需</a:t>
            </a:r>
            <a:r>
              <a:rPr sz="1600" b="0" i="0" dirty="0">
                <a:solidFill>
                  <a:srgbClr val="333333"/>
                </a:solidFill>
                <a:latin typeface="Microsoft YaHei"/>
                <a:ea typeface="Microsoft YaHei"/>
              </a:rPr>
              <a:t>结合产</a:t>
            </a:r>
            <a:r>
              <a:rPr sz="1600" b="0" i="0" dirty="0" err="1">
                <a:solidFill>
                  <a:srgbClr val="333333"/>
                </a:solidFill>
                <a:latin typeface="Microsoft YaHei"/>
                <a:ea typeface="Microsoft YaHei"/>
              </a:rPr>
              <a:t>品功能确认</a:t>
            </a:r>
            <a:r>
              <a:rPr sz="1200" b="0" i="0" dirty="0">
                <a:solidFill>
                  <a:srgbClr val="333333"/>
                </a:solidFill>
                <a:latin typeface="Microsoft YaHei"/>
                <a:ea typeface="Microsoft YaHei"/>
              </a:rPr>
              <a:t>。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961888" y="2990088"/>
            <a:ext cx="777240" cy="1280160"/>
          </a:xfrm>
          <a:prstGeom prst="rect">
            <a:avLst/>
          </a:prstGeom>
          <a:solidFill>
            <a:srgbClr val="006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5961888" y="2990088"/>
            <a:ext cx="777240" cy="12801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Microsoft YaHei"/>
                <a:ea typeface="Microsoft YaHei"/>
              </a:rPr>
              <a:t>2.4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739128" y="2990088"/>
            <a:ext cx="4709160" cy="1280160"/>
          </a:xfrm>
          <a:prstGeom prst="rect">
            <a:avLst/>
          </a:prstGeom>
          <a:solidFill>
            <a:srgbClr val="E6F2FC"/>
          </a:solidFill>
          <a:ln w="9525">
            <a:solidFill>
              <a:srgbClr val="0066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922008" y="3044952"/>
            <a:ext cx="4343400" cy="3077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" b="1" i="0" dirty="0" err="1">
                <a:solidFill>
                  <a:srgbClr val="004CA0"/>
                </a:solidFill>
                <a:latin typeface="Microsoft YaHei"/>
                <a:ea typeface="Microsoft YaHei"/>
              </a:rPr>
              <a:t>读取网页和本地资料</a:t>
            </a:r>
            <a:endParaRPr sz="2000" b="1" i="0" dirty="0">
              <a:solidFill>
                <a:srgbClr val="004CA0"/>
              </a:solidFill>
              <a:latin typeface="Microsoft YaHei"/>
              <a:ea typeface="Microsoft YaHei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6922008" y="3429000"/>
            <a:ext cx="4343400" cy="7386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0" i="0" dirty="0" err="1">
                <a:solidFill>
                  <a:srgbClr val="333333"/>
                </a:solidFill>
                <a:latin typeface="Microsoft YaHei"/>
                <a:ea typeface="Microsoft YaHei"/>
              </a:rPr>
              <a:t>限定来源类型，核对发布日期与原文。读取本地文件时，</a:t>
            </a:r>
            <a:r>
              <a:rPr sz="1600" b="0" i="0" dirty="0">
                <a:solidFill>
                  <a:srgbClr val="333333"/>
                </a:solidFill>
                <a:latin typeface="Microsoft YaHei"/>
                <a:ea typeface="Microsoft YaHei"/>
              </a:rPr>
              <a:t>应确</a:t>
            </a:r>
            <a:r>
              <a:rPr sz="1600" b="0" i="0" dirty="0" err="1">
                <a:solidFill>
                  <a:srgbClr val="333333"/>
                </a:solidFill>
                <a:latin typeface="Microsoft YaHei"/>
                <a:ea typeface="Microsoft YaHei"/>
              </a:rPr>
              <a:t>认权限并检查</a:t>
            </a:r>
            <a:r>
              <a:rPr sz="1600" b="0" i="0" dirty="0">
                <a:solidFill>
                  <a:srgbClr val="333333"/>
                </a:solidFill>
                <a:latin typeface="Microsoft YaHei"/>
                <a:ea typeface="Microsoft YaHei"/>
              </a:rPr>
              <a:t>引用</a:t>
            </a:r>
            <a:r>
              <a:rPr sz="1600" b="0" i="0" dirty="0" err="1">
                <a:solidFill>
                  <a:srgbClr val="333333"/>
                </a:solidFill>
                <a:latin typeface="Microsoft YaHei"/>
                <a:ea typeface="Microsoft YaHei"/>
              </a:rPr>
              <a:t>条款</a:t>
            </a:r>
            <a:r>
              <a:rPr sz="1600" b="0" i="0" dirty="0">
                <a:solidFill>
                  <a:srgbClr val="333333"/>
                </a:solidFill>
                <a:latin typeface="Microsoft YaHei"/>
                <a:ea typeface="Microsoft YaHei"/>
              </a:rPr>
              <a:t>。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65760" y="4379976"/>
            <a:ext cx="777240" cy="1280160"/>
          </a:xfrm>
          <a:prstGeom prst="rect">
            <a:avLst/>
          </a:prstGeom>
          <a:solidFill>
            <a:srgbClr val="006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365760" y="4379976"/>
            <a:ext cx="777240" cy="12801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Microsoft YaHei"/>
                <a:ea typeface="Microsoft YaHei"/>
              </a:rPr>
              <a:t>2.5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143000" y="4379976"/>
            <a:ext cx="4709160" cy="1280160"/>
          </a:xfrm>
          <a:prstGeom prst="rect">
            <a:avLst/>
          </a:prstGeom>
          <a:solidFill>
            <a:srgbClr val="E6F2FC"/>
          </a:solidFill>
          <a:ln w="9525">
            <a:solidFill>
              <a:srgbClr val="0066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1325880" y="4434840"/>
            <a:ext cx="4343400" cy="3077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" b="1" i="0" dirty="0" err="1">
                <a:solidFill>
                  <a:srgbClr val="004CA0"/>
                </a:solidFill>
                <a:latin typeface="Microsoft YaHei"/>
                <a:ea typeface="Microsoft YaHei"/>
              </a:rPr>
              <a:t>深度研究</a:t>
            </a:r>
            <a:r>
              <a:rPr sz="2000" b="1" i="0" dirty="0">
                <a:solidFill>
                  <a:srgbClr val="004CA0"/>
                </a:solidFill>
                <a:latin typeface="Microsoft YaHei"/>
                <a:ea typeface="Microsoft YaHei"/>
              </a:rPr>
              <a:t> · </a:t>
            </a:r>
            <a:r>
              <a:rPr sz="2000" b="1" i="0" dirty="0" err="1">
                <a:solidFill>
                  <a:srgbClr val="004CA0"/>
                </a:solidFill>
                <a:latin typeface="Microsoft YaHei"/>
                <a:ea typeface="Microsoft YaHei"/>
              </a:rPr>
              <a:t>智能代理</a:t>
            </a:r>
            <a:endParaRPr sz="2000" b="1" i="0" dirty="0">
              <a:solidFill>
                <a:srgbClr val="004CA0"/>
              </a:solidFill>
              <a:latin typeface="Microsoft YaHei"/>
              <a:ea typeface="Microsoft YaHei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1325880" y="4818888"/>
            <a:ext cx="4343400" cy="7386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0" i="0" dirty="0" err="1">
                <a:solidFill>
                  <a:srgbClr val="333333"/>
                </a:solidFill>
                <a:latin typeface="Microsoft YaHei"/>
                <a:ea typeface="Microsoft YaHei"/>
              </a:rPr>
              <a:t>围绕复杂任务规划检索，评</a:t>
            </a:r>
            <a:r>
              <a:rPr sz="1600" b="0" i="0" dirty="0">
                <a:solidFill>
                  <a:srgbClr val="333333"/>
                </a:solidFill>
                <a:latin typeface="Microsoft YaHei"/>
                <a:ea typeface="Microsoft YaHei"/>
              </a:rPr>
              <a:t>估并</a:t>
            </a:r>
            <a:r>
              <a:rPr sz="1600" b="0" i="0" dirty="0" err="1">
                <a:solidFill>
                  <a:srgbClr val="333333"/>
                </a:solidFill>
                <a:latin typeface="Microsoft YaHei"/>
                <a:ea typeface="Microsoft YaHei"/>
              </a:rPr>
              <a:t>补充资料，形成带来源的报告</a:t>
            </a:r>
            <a:r>
              <a:rPr sz="1600" b="0" i="0" dirty="0">
                <a:solidFill>
                  <a:srgbClr val="333333"/>
                </a:solidFill>
                <a:latin typeface="Microsoft YaHei"/>
                <a:ea typeface="Microsoft YaHei"/>
              </a:rPr>
              <a:t>，再</a:t>
            </a:r>
            <a:r>
              <a:rPr sz="1600" b="0" i="0" dirty="0" err="1">
                <a:solidFill>
                  <a:srgbClr val="333333"/>
                </a:solidFill>
                <a:latin typeface="Microsoft YaHei"/>
                <a:ea typeface="Microsoft YaHei"/>
              </a:rPr>
              <a:t>整理</a:t>
            </a:r>
            <a:r>
              <a:rPr sz="1600" b="0" i="0" dirty="0">
                <a:solidFill>
                  <a:srgbClr val="333333"/>
                </a:solidFill>
                <a:latin typeface="Microsoft YaHei"/>
                <a:ea typeface="Microsoft YaHei"/>
              </a:rPr>
              <a:t>成适</a:t>
            </a:r>
            <a:r>
              <a:rPr sz="1600" b="0" i="0" dirty="0" err="1">
                <a:solidFill>
                  <a:srgbClr val="333333"/>
                </a:solidFill>
                <a:latin typeface="Microsoft YaHei"/>
                <a:ea typeface="Microsoft YaHei"/>
              </a:rPr>
              <a:t>用的</a:t>
            </a:r>
            <a:r>
              <a:rPr sz="1600" b="0" i="0" dirty="0">
                <a:solidFill>
                  <a:srgbClr val="333333"/>
                </a:solidFill>
                <a:latin typeface="Microsoft YaHei"/>
                <a:ea typeface="Microsoft YaHei"/>
              </a:rPr>
              <a:t>展示</a:t>
            </a:r>
            <a:r>
              <a:rPr sz="1600" b="0" i="0" dirty="0" err="1">
                <a:solidFill>
                  <a:srgbClr val="333333"/>
                </a:solidFill>
                <a:latin typeface="Microsoft YaHei"/>
                <a:ea typeface="Microsoft YaHei"/>
              </a:rPr>
              <a:t>形</a:t>
            </a:r>
            <a:r>
              <a:rPr sz="1600" b="0" i="0" dirty="0">
                <a:solidFill>
                  <a:srgbClr val="333333"/>
                </a:solidFill>
                <a:latin typeface="Microsoft YaHei"/>
                <a:ea typeface="Microsoft YaHei"/>
              </a:rPr>
              <a:t>式。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961888" y="4379976"/>
            <a:ext cx="777240" cy="1280160"/>
          </a:xfrm>
          <a:prstGeom prst="rect">
            <a:avLst/>
          </a:prstGeom>
          <a:solidFill>
            <a:srgbClr val="006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5961888" y="4379976"/>
            <a:ext cx="777240" cy="12801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Microsoft YaHei"/>
                <a:ea typeface="Microsoft YaHei"/>
              </a:rPr>
              <a:t>2.6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739128" y="4379976"/>
            <a:ext cx="4709160" cy="1280160"/>
          </a:xfrm>
          <a:prstGeom prst="rect">
            <a:avLst/>
          </a:prstGeom>
          <a:solidFill>
            <a:srgbClr val="E6F2FC"/>
          </a:solidFill>
          <a:ln w="9525">
            <a:solidFill>
              <a:srgbClr val="0066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6922008" y="4434840"/>
            <a:ext cx="4343400" cy="3077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" b="1" i="0" dirty="0" err="1">
                <a:solidFill>
                  <a:srgbClr val="004CA0"/>
                </a:solidFill>
                <a:latin typeface="Microsoft YaHei"/>
                <a:ea typeface="Microsoft YaHei"/>
              </a:rPr>
              <a:t>本章实训</a:t>
            </a:r>
            <a:endParaRPr sz="2000" b="1" i="0" dirty="0">
              <a:solidFill>
                <a:srgbClr val="004CA0"/>
              </a:solidFill>
              <a:latin typeface="Microsoft YaHei"/>
              <a:ea typeface="Microsoft YaHei"/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6922008" y="4818888"/>
            <a:ext cx="4343400" cy="49244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0" i="0" dirty="0" err="1">
                <a:solidFill>
                  <a:srgbClr val="333333"/>
                </a:solidFill>
                <a:latin typeface="Microsoft YaHei"/>
                <a:ea typeface="Microsoft YaHei"/>
              </a:rPr>
              <a:t>四个动手实验：联网开</a:t>
            </a:r>
            <a:r>
              <a:rPr sz="1600" b="0" i="0" dirty="0">
                <a:solidFill>
                  <a:srgbClr val="333333"/>
                </a:solidFill>
                <a:latin typeface="Microsoft YaHei"/>
                <a:ea typeface="Microsoft YaHei"/>
              </a:rPr>
              <a:t>/</a:t>
            </a:r>
            <a:r>
              <a:rPr sz="1600" b="0" i="0" dirty="0" err="1">
                <a:solidFill>
                  <a:srgbClr val="333333"/>
                </a:solidFill>
                <a:latin typeface="Microsoft YaHei"/>
                <a:ea typeface="Microsoft YaHei"/>
              </a:rPr>
              <a:t>关对比</a:t>
            </a:r>
            <a:r>
              <a:rPr sz="1600" b="0" i="0" dirty="0">
                <a:solidFill>
                  <a:srgbClr val="333333"/>
                </a:solidFill>
                <a:latin typeface="Microsoft YaHei"/>
                <a:ea typeface="Microsoft YaHei"/>
              </a:rPr>
              <a:t> · </a:t>
            </a:r>
            <a:r>
              <a:rPr sz="1600" b="0" i="0" dirty="0" err="1">
                <a:solidFill>
                  <a:srgbClr val="333333"/>
                </a:solidFill>
                <a:latin typeface="Microsoft YaHei"/>
                <a:ea typeface="Microsoft YaHei"/>
              </a:rPr>
              <a:t>普通vs深度对比</a:t>
            </a:r>
            <a:r>
              <a:rPr sz="1600" b="0" i="0" dirty="0">
                <a:solidFill>
                  <a:srgbClr val="333333"/>
                </a:solidFill>
                <a:latin typeface="Microsoft YaHei"/>
                <a:ea typeface="Microsoft YaHei"/>
              </a:rPr>
              <a:t> · </a:t>
            </a:r>
            <a:r>
              <a:rPr sz="1600" b="0" i="0" dirty="0" err="1">
                <a:solidFill>
                  <a:srgbClr val="333333"/>
                </a:solidFill>
                <a:latin typeface="Microsoft YaHei"/>
                <a:ea typeface="Microsoft YaHei"/>
              </a:rPr>
              <a:t>上传本地文档</a:t>
            </a:r>
            <a:r>
              <a:rPr sz="1600" b="0" i="0" dirty="0">
                <a:solidFill>
                  <a:srgbClr val="333333"/>
                </a:solidFill>
                <a:latin typeface="Microsoft YaHei"/>
                <a:ea typeface="Microsoft YaHei"/>
              </a:rPr>
              <a:t> · </a:t>
            </a:r>
            <a:r>
              <a:rPr sz="1600" b="0" i="0" dirty="0" err="1">
                <a:solidFill>
                  <a:srgbClr val="333333"/>
                </a:solidFill>
                <a:latin typeface="Microsoft YaHei"/>
                <a:ea typeface="Microsoft YaHei"/>
              </a:rPr>
              <a:t>错别字理解力测试</a:t>
            </a:r>
            <a:r>
              <a:rPr sz="1600" b="0" i="0" dirty="0">
                <a:solidFill>
                  <a:srgbClr val="333333"/>
                </a:solidFill>
                <a:latin typeface="Microsoft YaHei"/>
                <a:ea typeface="Microsoft YaHei"/>
              </a:rPr>
              <a:t>。</a:t>
            </a:r>
          </a:p>
        </p:txBody>
      </p:sp>
      <p:sp>
        <p:nvSpPr>
          <p:cNvPr id="36" name="Rectangle 35"/>
          <p:cNvSpPr/>
          <p:nvPr/>
        </p:nvSpPr>
        <p:spPr>
          <a:xfrm>
            <a:off x="365760" y="5897880"/>
            <a:ext cx="11475720" cy="685800"/>
          </a:xfrm>
          <a:prstGeom prst="rect">
            <a:avLst/>
          </a:prstGeom>
          <a:solidFill>
            <a:srgbClr val="006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365760" y="6056114"/>
            <a:ext cx="11475720" cy="3693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400" b="1" i="0" dirty="0">
                <a:solidFill>
                  <a:srgbClr val="FFFFFF"/>
                </a:solidFill>
                <a:latin typeface="Microsoft YaHei"/>
                <a:ea typeface="Microsoft YaHei"/>
              </a:rPr>
              <a:t>本章重点</a:t>
            </a:r>
            <a:r>
              <a:rPr sz="2400" b="1" i="0" dirty="0" err="1">
                <a:solidFill>
                  <a:srgbClr val="FFFFFF"/>
                </a:solidFill>
                <a:latin typeface="Microsoft YaHei"/>
                <a:ea typeface="Microsoft YaHei"/>
              </a:rPr>
              <a:t>：清楚提</a:t>
            </a:r>
            <a:r>
              <a:rPr sz="2400" b="1" i="0" dirty="0">
                <a:solidFill>
                  <a:srgbClr val="FFFFFF"/>
                </a:solidFill>
                <a:latin typeface="Microsoft YaHei"/>
                <a:ea typeface="Microsoft YaHei"/>
              </a:rPr>
              <a:t>问，合理选择</a:t>
            </a:r>
            <a:r>
              <a:rPr sz="2400" b="1" i="0" dirty="0" err="1">
                <a:solidFill>
                  <a:srgbClr val="FFFFFF"/>
                </a:solidFill>
                <a:latin typeface="Microsoft YaHei"/>
                <a:ea typeface="Microsoft YaHei"/>
              </a:rPr>
              <a:t>信息来源</a:t>
            </a:r>
            <a:r>
              <a:rPr sz="2400" b="1" i="0" dirty="0">
                <a:solidFill>
                  <a:srgbClr val="FFFFFF"/>
                </a:solidFill>
                <a:latin typeface="Microsoft YaHei"/>
                <a:ea typeface="Microsoft YaHei"/>
              </a:rPr>
              <a:t>，对关</a:t>
            </a:r>
            <a:r>
              <a:rPr sz="2400" b="1" i="0" dirty="0" err="1">
                <a:solidFill>
                  <a:srgbClr val="FFFFFF"/>
                </a:solidFill>
                <a:latin typeface="Microsoft YaHei"/>
                <a:ea typeface="Microsoft YaHei"/>
              </a:rPr>
              <a:t>键事实和结论负责</a:t>
            </a:r>
            <a:r>
              <a:rPr sz="2400" b="1" i="0" dirty="0">
                <a:solidFill>
                  <a:srgbClr val="FFFFFF"/>
                </a:solidFill>
                <a:latin typeface="Microsoft YaHei"/>
                <a:ea typeface="Microsoft YaHei"/>
              </a:rPr>
              <a:t>。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094415" y="6446520"/>
            <a:ext cx="914400" cy="320040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pPr algn="r"/>
            <a:r>
              <a:rPr sz="1100">
                <a:solidFill>
                  <a:srgbClr val="999999"/>
                </a:solidFill>
                <a:latin typeface="Arial"/>
              </a:rPr>
              <a:t>49 / 50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6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Parallelogram 3"/>
          <p:cNvSpPr/>
          <p:nvPr/>
        </p:nvSpPr>
        <p:spPr>
          <a:xfrm>
            <a:off x="0" y="4114800"/>
            <a:ext cx="6858000" cy="2743200"/>
          </a:xfrm>
          <a:prstGeom prst="parallelogram">
            <a:avLst/>
          </a:prstGeom>
          <a:solidFill>
            <a:srgbClr val="004C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0" y="2286000"/>
            <a:ext cx="12191695" cy="1828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000" b="1" i="0">
                <a:solidFill>
                  <a:srgbClr val="FFFFFF"/>
                </a:solidFill>
                <a:latin typeface="Arial"/>
                <a:ea typeface="Arial"/>
              </a:rPr>
              <a:t>THANKS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0" y="4114800"/>
            <a:ext cx="12191695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800" b="0" i="0">
                <a:solidFill>
                  <a:srgbClr val="E6F2FC"/>
                </a:solidFill>
                <a:latin typeface="Microsoft YaHei"/>
                <a:ea typeface="Microsoft YaHei"/>
              </a:rPr>
              <a:t>感 谢 聆 听 ， 欢 迎 提 问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0" y="5852160"/>
            <a:ext cx="12191695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800" b="0" i="0">
                <a:solidFill>
                  <a:srgbClr val="E6F2FC"/>
                </a:solidFill>
                <a:latin typeface="Microsoft YaHei"/>
                <a:ea typeface="Microsoft YaHei"/>
              </a:rPr>
              <a:t>扬州大学  ·  第 2 章  ·  大模型的知识与检索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284</TotalTime>
  <Words>3226</Words>
  <Application>Microsoft Office PowerPoint</Application>
  <PresentationFormat>宽屏</PresentationFormat>
  <Paragraphs>722</Paragraphs>
  <Slides>50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50</vt:i4>
      </vt:variant>
    </vt:vector>
  </HeadingPairs>
  <TitlesOfParts>
    <vt:vector size="58" baseType="lpstr">
      <vt:lpstr>Apple Color Emoji</vt:lpstr>
      <vt:lpstr>等线</vt:lpstr>
      <vt:lpstr>宋体</vt:lpstr>
      <vt:lpstr>Microsoft YaHei</vt:lpstr>
      <vt:lpstr>Arial</vt:lpstr>
      <vt:lpstr>Calibri</vt:lpstr>
      <vt:lpstr>Consolas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subject/>
  <dc:creator/>
  <cp:keywords/>
  <dc:description>generated using python-pptx</dc:description>
  <cp:lastModifiedBy>Windows 用户</cp:lastModifiedBy>
  <cp:revision>20</cp:revision>
  <dcterms:created xsi:type="dcterms:W3CDTF">2013-01-27T09:14:16Z</dcterms:created>
  <dcterms:modified xsi:type="dcterms:W3CDTF">2026-09-25T08:54:46Z</dcterms:modified>
  <cp:category/>
</cp:coreProperties>
</file>