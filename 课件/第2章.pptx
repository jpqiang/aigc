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98" r:id="rId8"/>
    <p:sldId id="262" r:id="rId9"/>
    <p:sldId id="263" r:id="rId10"/>
    <p:sldId id="264" r:id="rId11"/>
    <p:sldId id="265" r:id="rId12"/>
    <p:sldId id="266" r:id="rId13"/>
    <p:sldId id="267" r:id="rId14"/>
    <p:sldId id="299" r:id="rId15"/>
    <p:sldId id="268" r:id="rId16"/>
    <p:sldId id="300" r:id="rId17"/>
    <p:sldId id="269" r:id="rId18"/>
    <p:sldId id="301" r:id="rId19"/>
    <p:sldId id="270" r:id="rId20"/>
    <p:sldId id="302" r:id="rId21"/>
    <p:sldId id="271" r:id="rId22"/>
    <p:sldId id="272" r:id="rId23"/>
    <p:sldId id="273" r:id="rId24"/>
    <p:sldId id="30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304" r:id="rId37"/>
    <p:sldId id="285" r:id="rId38"/>
    <p:sldId id="286" r:id="rId39"/>
    <p:sldId id="287" r:id="rId40"/>
    <p:sldId id="288" r:id="rId41"/>
    <p:sldId id="289" r:id="rId42"/>
    <p:sldId id="305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6562166" y="0"/>
            <a:ext cx="5629530" cy="3429000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6849036" y="2940424"/>
            <a:ext cx="5342660" cy="3917576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2373421"/>
            <a:ext cx="12191695" cy="8309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《</a:t>
            </a:r>
            <a:r>
              <a:rPr lang="zh-CN" altLang="en-US" sz="5400" b="1" dirty="0">
                <a:solidFill>
                  <a:srgbClr val="FFFFFF"/>
                </a:solidFill>
                <a:latin typeface="Microsoft YaHei"/>
                <a:ea typeface="Microsoft YaHei"/>
              </a:rPr>
              <a:t>生成式人工智能与科研素养</a:t>
            </a:r>
            <a:r>
              <a:rPr sz="5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38328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Microsoft YaHei"/>
                <a:ea typeface="Microsoft YaHei"/>
              </a:rPr>
              <a:t>第 2 章   大模型的知识与检索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122433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扬州大学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ight Arrow 2"/>
          <p:cNvSpPr/>
          <p:nvPr/>
        </p:nvSpPr>
        <p:spPr>
          <a:xfrm>
            <a:off x="7904768" y="1645920"/>
            <a:ext cx="3738592" cy="4983438"/>
          </a:xfrm>
          <a:prstGeom prst="rightArrow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742278"/>
            <a:ext cx="3657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目录</a:t>
            </a:r>
            <a:endParaRPr sz="56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3200400" cy="35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468880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2.1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00200" y="2468880"/>
            <a:ext cx="539496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737360" y="2468880"/>
            <a:ext cx="52578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>
                <a:solidFill>
                  <a:srgbClr val="0066CC"/>
                </a:solidFill>
                <a:latin typeface="Microsoft YaHei"/>
                <a:ea typeface="Microsoft YaHei"/>
              </a:rPr>
              <a:t>AI </a:t>
            </a:r>
            <a:r>
              <a:rPr sz="22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新手与专家的思维差异</a:t>
            </a:r>
            <a:endParaRPr sz="22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48640" y="3145536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3145536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2.2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00200" y="3145536"/>
            <a:ext cx="539496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737360" y="3145536"/>
            <a:ext cx="52578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66CC"/>
                </a:solidFill>
                <a:latin typeface="Microsoft YaHei"/>
                <a:ea typeface="Microsoft YaHei"/>
              </a:rPr>
              <a:t>模型的内在 "大脑"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822192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822192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2.3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3822192"/>
            <a:ext cx="539496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737360" y="3822192"/>
            <a:ext cx="52578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66CC"/>
                </a:solidFill>
                <a:latin typeface="Microsoft YaHei"/>
                <a:ea typeface="Microsoft YaHei"/>
              </a:rPr>
              <a:t>联网检索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498848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498848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2.4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00200" y="4498848"/>
            <a:ext cx="539496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37360" y="4498848"/>
            <a:ext cx="52578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66CC"/>
                </a:solidFill>
                <a:latin typeface="Microsoft YaHei"/>
                <a:ea typeface="Microsoft YaHei"/>
              </a:rPr>
              <a:t>驾驭外部数据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175504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5175504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2.5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00200" y="5175504"/>
            <a:ext cx="539496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737360" y="5175504"/>
            <a:ext cx="52578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66CC"/>
                </a:solidFill>
                <a:latin typeface="Microsoft YaHei"/>
                <a:ea typeface="Microsoft YaHei"/>
              </a:rPr>
              <a:t>复杂任务的智能代理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852160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8640" y="5852160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2.6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00200" y="5852160"/>
            <a:ext cx="539496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737360" y="5852160"/>
            <a:ext cx="52578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66CC"/>
                </a:solidFill>
                <a:latin typeface="Microsoft YaHei"/>
                <a:ea typeface="Microsoft YaHei"/>
              </a:rPr>
              <a:t>本章实训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 / 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导言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为什么必须读懂大模型的知识机制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777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112471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大语言模型</a:t>
            </a:r>
            <a:r>
              <a:rPr sz="28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≠ </a:t>
            </a:r>
            <a:r>
              <a:rPr sz="28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无所不知的魔法黑盒</a:t>
            </a:r>
            <a:endParaRPr sz="28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1874519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=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一个有着明确知识边界、工作机制和局限性的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计算系统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5440680" cy="3383280"/>
          </a:xfrm>
          <a:prstGeom prst="rect">
            <a:avLst/>
          </a:prstGeom>
          <a:solidFill>
            <a:srgbClr val="FFFFFF"/>
          </a:solidFill>
          <a:ln w="25400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2606040"/>
            <a:ext cx="5440680" cy="50292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672834"/>
            <a:ext cx="54406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✗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被动盲从者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 (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新手陷阱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91840"/>
            <a:ext cx="4892040" cy="259082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把 AI 当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凑合能用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的搜索框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不知道它何时出色、何时失效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全盘接收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被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幻觉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误导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用过时信息写综述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引伪造文献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上传机密数据到公开模型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080760" y="2606040"/>
            <a:ext cx="5440680" cy="33832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080760" y="2606040"/>
            <a:ext cx="544068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80760" y="2672834"/>
            <a:ext cx="54406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✓  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时代的领航员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 (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本章目标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291840"/>
            <a:ext cx="4892040" cy="2606040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精准预判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行为与边界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用提示词工程激活深层推理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合理甄别信源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-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识破时效陷阱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调用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联网检索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 +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深度研究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攻克复杂任务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用 </a:t>
            </a:r>
            <a:r>
              <a:rPr sz="2000" b="1" dirty="0">
                <a:solidFill>
                  <a:srgbClr val="0066CC"/>
                </a:solidFill>
                <a:latin typeface="Arial"/>
                <a:ea typeface="Arial"/>
              </a:rPr>
              <a:t>Agent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完成跨工具学术调研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 / 42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0" b="1" i="0">
                <a:solidFill>
                  <a:srgbClr val="FFFFFF"/>
                </a:solidFill>
                <a:latin typeface="Arial"/>
                <a:ea typeface="Arial"/>
              </a:rPr>
              <a:t>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48517" y="2514600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4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新手与专家的思维差异</a:t>
            </a:r>
            <a:endParaRPr sz="4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65760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84048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从短指令到任务背景，从单次问答到多轮辩论。掌握提示词工程，让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从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问答机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蜕变为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学术外脑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4 / 42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什么是提示词工程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250" y="1087777"/>
            <a:ext cx="11247120" cy="4351695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提示词工程不是玄学，而是一种与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高效沟通的</a:t>
            </a:r>
            <a:r>
              <a:rPr sz="26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系统性方法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在学术科研语境下，它本质上是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      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人类领域认知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 ←→ 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大模型高维概率空间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之间的精密接口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•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优秀的提示词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=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精准的钥匙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，迅速约束生成空间，激活深层推理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•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低质量提问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=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触发模型的随机性与表面敷衍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同一个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AI，因构建提示词的思维模型不同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，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最终获得的科研支持质量往往呈现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两极分化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5 / 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新手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vs 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专家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两种思维模式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19" y="1026459"/>
            <a:ext cx="7251551" cy="535966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6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新手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短指令、模糊请求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期望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自动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脑补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F58020"/>
                </a:solidFill>
                <a:latin typeface="Consolas"/>
                <a:ea typeface="Consolas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Consolas"/>
                <a:ea typeface="Consolas"/>
              </a:rPr>
              <a:t>帮我找论文选题</a:t>
            </a:r>
            <a:r>
              <a:rPr sz="2400" b="1" dirty="0">
                <a:solidFill>
                  <a:srgbClr val="F58020"/>
                </a:solidFill>
                <a:latin typeface="Consolas"/>
                <a:ea typeface="Consolas"/>
              </a:rPr>
              <a:t>" 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一堆假大空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水词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6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专家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具备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同理心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"，为 AI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准备充足上下文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上传最新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PDF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文献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附带个人初步思路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明确高阶要求：分析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研究空白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 + "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实施难度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endParaRPr sz="18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→ AI 从 "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问答机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蜕变为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学术外脑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，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为开题阶段节省海量案头摸索时间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6 / 42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D6E77-8299-DFE5-3707-1019CC69B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AC04D5E-16E0-10E7-9C50-142A9FFD8E6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B8E5792C-D2BB-3F95-D134-A3265AAB16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3D43935-85B4-3072-B96E-F97D5BEAC782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D62A95-2687-12AC-E0EE-0D962981789C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F0BF3B-B170-1FFB-DC97-46A710468CF1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792BFA-7A54-DAD5-A285-DFB70546BA86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新手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vs 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专家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两种思维模式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C957F5-0017-0FFD-391B-8F8BA18F8796}"/>
              </a:ext>
            </a:extLst>
          </p:cNvPr>
          <p:cNvSpPr txBox="1"/>
          <p:nvPr/>
        </p:nvSpPr>
        <p:spPr>
          <a:xfrm>
            <a:off x="3564367" y="5549361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2-1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提出复杂问题：AI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新手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vs AI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专家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045954-6EB7-085C-6F6A-87B2179EFDEC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6 / 42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DA716973-4F82-24CC-E1B5-18F420C7B4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2382" y="1141712"/>
            <a:ext cx="8544011" cy="4154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7940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搜索引擎思维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vs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思考伙伴思维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2-1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两种底层思维模式核心对比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40080" y="1554480"/>
            <a:ext cx="228600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644134"/>
            <a:ext cx="2286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对比维度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926080" y="1554480"/>
            <a:ext cx="42062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26080" y="1644134"/>
            <a:ext cx="42062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搜索引擎思维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(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新手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1554480"/>
            <a:ext cx="438912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0" y="1644134"/>
            <a:ext cx="4389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思考伙伴思维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(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专家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103120"/>
            <a:ext cx="2286000" cy="6400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2238494"/>
            <a:ext cx="20116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输入形式</a:t>
            </a:r>
            <a:endParaRPr sz="2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926080" y="2103120"/>
            <a:ext cx="4206240" cy="6400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63240" y="226927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短关键词，碎片化片段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132320" y="2103120"/>
            <a:ext cx="4389120" cy="6400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269480" y="226927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高密度任务背景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长篇文献喂入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40080" y="2743200"/>
            <a:ext cx="22860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2878574"/>
            <a:ext cx="20116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角色</a:t>
            </a:r>
            <a:endParaRPr sz="2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926080" y="2743200"/>
            <a:ext cx="42062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63240" y="290935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事实检索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概念核实工具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132320" y="2743200"/>
            <a:ext cx="4389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269480" y="290935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多学科顾问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学术外脑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40080" y="3383280"/>
            <a:ext cx="2286000" cy="6400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3518654"/>
            <a:ext cx="20116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核心预期</a:t>
            </a:r>
            <a:endParaRPr sz="2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926080" y="3383280"/>
            <a:ext cx="4206240" cy="6400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063240" y="354943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返回静态答案，一次性结束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132320" y="3383280"/>
            <a:ext cx="4389120" cy="6400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269480" y="354943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进行多轮辩论与思维碰撞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40080" y="4023360"/>
            <a:ext cx="22860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4158734"/>
            <a:ext cx="20116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对话深度</a:t>
            </a:r>
            <a:endParaRPr sz="2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926080" y="4023360"/>
            <a:ext cx="42062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063240" y="418951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一问一答，单次结束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7132320" y="4023360"/>
            <a:ext cx="4389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269480" y="418951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迭代追问，层层深挖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640080" y="4663440"/>
            <a:ext cx="2286000" cy="6400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77240" y="4798814"/>
            <a:ext cx="20116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输出形式</a:t>
            </a:r>
            <a:endParaRPr sz="2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926080" y="4663440"/>
            <a:ext cx="4206240" cy="6400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063240" y="482959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网页链接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简短回答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7132320" y="4663440"/>
            <a:ext cx="4389120" cy="6400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269480" y="482959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结构化报告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推理依据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640080" y="5303520"/>
            <a:ext cx="22860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77240" y="5438894"/>
            <a:ext cx="20116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典型场景</a:t>
            </a:r>
            <a:endParaRPr sz="2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926080" y="5303520"/>
            <a:ext cx="42062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063240" y="546967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查概念、找定义、问事实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7132320" y="5303520"/>
            <a:ext cx="4389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269480" y="546967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梳理论文逻辑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拆解假设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寻找盲点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7 / 42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进阶思维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①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激发思维链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(Chain of Thought)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247120" cy="4868760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大模型底层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=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预测下一个词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面对复杂科研难题直接要答案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缺乏中间推理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严重逻辑错误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✗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新手做法：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直接询问结果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       </a:t>
            </a:r>
            <a:r>
              <a:rPr sz="2400" b="1" dirty="0">
                <a:solidFill>
                  <a:srgbClr val="F58020"/>
                </a:solidFill>
                <a:latin typeface="Consolas"/>
                <a:ea typeface="Consolas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Consolas"/>
                <a:ea typeface="Consolas"/>
              </a:rPr>
              <a:t>这三种算法哪个更好</a:t>
            </a:r>
            <a:r>
              <a:rPr sz="2400" b="1" dirty="0">
                <a:solidFill>
                  <a:srgbClr val="F58020"/>
                </a:solidFill>
                <a:latin typeface="Consolas"/>
                <a:ea typeface="Consolas"/>
              </a:rPr>
              <a:t>？"</a:t>
            </a:r>
            <a:endParaRPr sz="2000" b="1" dirty="0">
              <a:solidFill>
                <a:srgbClr val="F58020"/>
              </a:solidFill>
              <a:latin typeface="Consolas"/>
              <a:ea typeface="Consolas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000" b="1" dirty="0">
              <a:solidFill>
                <a:srgbClr val="F58020"/>
              </a:solidFill>
              <a:latin typeface="Consolas"/>
              <a:ea typeface="Consolas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lang="en-US" sz="1900" b="1" dirty="0">
              <a:solidFill>
                <a:srgbClr val="0066CC"/>
              </a:solidFill>
              <a:latin typeface="Consolas"/>
              <a:ea typeface="Consolas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lang="en-US" sz="1900" b="1" dirty="0">
              <a:solidFill>
                <a:srgbClr val="0066CC"/>
              </a:solidFill>
              <a:latin typeface="Consolas"/>
              <a:ea typeface="Consolas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lang="en-US" sz="1900" b="1" dirty="0">
              <a:solidFill>
                <a:srgbClr val="0066CC"/>
              </a:solidFill>
              <a:latin typeface="Consolas"/>
              <a:ea typeface="Consolas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900" b="1" dirty="0">
              <a:solidFill>
                <a:srgbClr val="0066CC"/>
              </a:solidFill>
              <a:latin typeface="Consolas"/>
              <a:ea typeface="Consolas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→ AI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花费额外计算资源进行多步推理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→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高度严谨的对比报告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8 / 42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D73E585-8FC2-DBC9-86C5-024CD442B793}"/>
              </a:ext>
            </a:extLst>
          </p:cNvPr>
          <p:cNvSpPr txBox="1"/>
          <p:nvPr/>
        </p:nvSpPr>
        <p:spPr>
          <a:xfrm>
            <a:off x="5289176" y="2501891"/>
            <a:ext cx="639990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zh-CN" altLang="en-US"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✓ 专家做法：</a:t>
            </a:r>
            <a:r>
              <a:rPr lang="zh-CN" altLang="en-US" sz="2400" dirty="0">
                <a:solidFill>
                  <a:srgbClr val="333333"/>
                </a:solidFill>
                <a:latin typeface="Microsoft YaHei"/>
                <a:ea typeface="Microsoft YaHei"/>
              </a:rPr>
              <a:t>强制模型展示推理过程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zh-CN" altLang="en-US" sz="2400" dirty="0">
                <a:solidFill>
                  <a:srgbClr val="333333"/>
                </a:solidFill>
                <a:latin typeface="Microsoft YaHei"/>
                <a:ea typeface="Microsoft YaHei"/>
              </a:rPr>
              <a:t>      </a:t>
            </a:r>
            <a:r>
              <a:rPr lang="zh-CN" altLang="en-US" sz="2400" dirty="0">
                <a:solidFill>
                  <a:srgbClr val="004CA0"/>
                </a:solidFill>
                <a:latin typeface="Microsoft YaHei"/>
                <a:ea typeface="Microsoft YaHei"/>
              </a:rPr>
              <a:t>上传数十页系统参数 </a:t>
            </a:r>
            <a:r>
              <a:rPr lang="en-US" altLang="zh-CN" sz="2400" dirty="0">
                <a:solidFill>
                  <a:srgbClr val="004CA0"/>
                </a:solidFill>
                <a:latin typeface="Microsoft YaHei"/>
                <a:ea typeface="Microsoft YaHei"/>
              </a:rPr>
              <a:t>/ </a:t>
            </a:r>
            <a:r>
              <a:rPr lang="zh-CN" altLang="en-US" sz="2400" dirty="0">
                <a:solidFill>
                  <a:srgbClr val="004CA0"/>
                </a:solidFill>
                <a:latin typeface="Microsoft YaHei"/>
                <a:ea typeface="Microsoft YaHei"/>
              </a:rPr>
              <a:t>实验数据</a:t>
            </a:r>
            <a:endParaRPr lang="zh-CN" altLang="en-US" sz="2000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zh-CN" altLang="en-US" sz="2400" dirty="0">
                <a:solidFill>
                  <a:srgbClr val="333333"/>
                </a:solidFill>
                <a:latin typeface="Microsoft YaHei"/>
                <a:ea typeface="Microsoft YaHei"/>
              </a:rPr>
              <a:t>      </a:t>
            </a:r>
            <a:r>
              <a:rPr lang="en-US" altLang="zh-CN" sz="2400" dirty="0">
                <a:solidFill>
                  <a:srgbClr val="333333"/>
                </a:solidFill>
                <a:latin typeface="Microsoft YaHei"/>
                <a:ea typeface="Microsoft YaHei"/>
              </a:rPr>
              <a:t>+ </a:t>
            </a:r>
            <a:r>
              <a:rPr lang="en-US" altLang="zh-CN" sz="2400" b="1" dirty="0">
                <a:solidFill>
                  <a:srgbClr val="0066CC"/>
                </a:solidFill>
                <a:latin typeface="Consolas"/>
                <a:ea typeface="Consolas"/>
              </a:rPr>
              <a:t>“</a:t>
            </a:r>
            <a:r>
              <a:rPr lang="zh-CN" altLang="en-US" sz="2400" b="1" dirty="0">
                <a:solidFill>
                  <a:srgbClr val="0066CC"/>
                </a:solidFill>
                <a:latin typeface="Consolas"/>
                <a:ea typeface="Consolas"/>
              </a:rPr>
              <a:t>请仔细阅读所有文件，深思熟虑后，             </a:t>
            </a:r>
            <a:r>
              <a:rPr lang="en-US" altLang="zh-CN" sz="2400" b="1" dirty="0">
                <a:solidFill>
                  <a:srgbClr val="0066CC"/>
                </a:solidFill>
                <a:latin typeface="Consolas"/>
                <a:ea typeface="Consolas"/>
              </a:rPr>
              <a:t>	</a:t>
            </a:r>
            <a:r>
              <a:rPr lang="zh-CN" altLang="en-US" sz="2400" b="1" dirty="0">
                <a:solidFill>
                  <a:srgbClr val="0066CC"/>
                </a:solidFill>
                <a:latin typeface="Consolas"/>
                <a:ea typeface="Consolas"/>
              </a:rPr>
              <a:t>一步一步地推导出这三个算法在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zh-CN" altLang="en-US" sz="2400" dirty="0">
                <a:solidFill>
                  <a:srgbClr val="333333"/>
                </a:solidFill>
                <a:latin typeface="Microsoft YaHei"/>
                <a:ea typeface="Microsoft YaHei"/>
              </a:rPr>
              <a:t>     </a:t>
            </a:r>
            <a:r>
              <a:rPr lang="zh-CN" altLang="en-US" sz="2400" b="1" dirty="0">
                <a:solidFill>
                  <a:srgbClr val="0066CC"/>
                </a:solidFill>
                <a:latin typeface="Consolas"/>
                <a:ea typeface="Consolas"/>
              </a:rPr>
              <a:t>时间复杂度和空间复杂度上的权衡取舍。</a:t>
            </a:r>
            <a:r>
              <a:rPr lang="en-US" altLang="zh-CN" sz="2000" b="1" dirty="0">
                <a:solidFill>
                  <a:srgbClr val="0066CC"/>
                </a:solidFill>
                <a:latin typeface="Consolas"/>
                <a:ea typeface="Consolas"/>
              </a:rPr>
              <a:t>"</a:t>
            </a:r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进阶思维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②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赋予专业人设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51429" y="886069"/>
            <a:ext cx="10900186" cy="553355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搜索引擎是没有性格和专业视角的，但大模型有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当你把它视为伙伴时，你可以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定义它的专业背景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万能开头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  <a:r>
              <a:rPr sz="2400" b="1" dirty="0">
                <a:solidFill>
                  <a:srgbClr val="F58020"/>
                </a:solidFill>
                <a:latin typeface="Consolas"/>
                <a:ea typeface="Consolas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Consolas"/>
                <a:ea typeface="Consolas"/>
              </a:rPr>
              <a:t>请你扮演</a:t>
            </a:r>
            <a:r>
              <a:rPr sz="2400" b="1" dirty="0">
                <a:solidFill>
                  <a:srgbClr val="F58020"/>
                </a:solidFill>
                <a:latin typeface="Consolas"/>
                <a:ea typeface="Consolas"/>
              </a:rPr>
              <a:t> ……"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迅速收束模型的知识库，使其输出更具学术深度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科研映射示例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      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✗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简单说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帮我润色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0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       </a:t>
            </a:r>
            <a:r>
              <a:rPr sz="2400" b="1" dirty="0">
                <a:solidFill>
                  <a:srgbClr val="0066CC"/>
                </a:solidFill>
                <a:latin typeface="Consolas"/>
                <a:ea typeface="Consolas"/>
              </a:rPr>
              <a:t>✓ "</a:t>
            </a:r>
            <a:r>
              <a:rPr sz="2400" b="1" dirty="0" err="1">
                <a:solidFill>
                  <a:srgbClr val="0066CC"/>
                </a:solidFill>
                <a:latin typeface="Consolas"/>
                <a:ea typeface="Consolas"/>
              </a:rPr>
              <a:t>请你扮演一位资深同行评审专家，以极其严苛的视角审视这段引言的</a:t>
            </a:r>
            <a:endParaRPr sz="1900" b="1" dirty="0">
              <a:solidFill>
                <a:srgbClr val="0066CC"/>
              </a:solidFill>
              <a:latin typeface="Consolas"/>
              <a:ea typeface="Consolas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          </a:t>
            </a:r>
            <a:r>
              <a:rPr sz="2400" b="1" dirty="0" err="1">
                <a:solidFill>
                  <a:srgbClr val="0066CC"/>
                </a:solidFill>
                <a:latin typeface="Consolas"/>
                <a:ea typeface="Consolas"/>
              </a:rPr>
              <a:t>逻辑连贯性，并指出是否有逻辑跳跃</a:t>
            </a:r>
            <a:r>
              <a:rPr sz="2400" b="1" dirty="0">
                <a:solidFill>
                  <a:srgbClr val="0066CC"/>
                </a:solidFill>
                <a:latin typeface="Consolas"/>
                <a:ea typeface="Consolas"/>
              </a:rPr>
              <a:t>。"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900" b="1" dirty="0">
              <a:solidFill>
                <a:srgbClr val="0066CC"/>
              </a:solidFill>
              <a:latin typeface="Consolas"/>
              <a:ea typeface="Consolas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常用人设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顶尖期刊编辑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临床医生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算法工程师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农学专家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法务顾问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…</a:t>
            </a:r>
            <a:endParaRPr sz="19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9 / 42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进阶思维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③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拥抱多轮迭代探讨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1695" y="897774"/>
            <a:ext cx="11247120" cy="5685906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使用搜索引擎：搜不到就换关键词重新搜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使用大模型：要像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和导师讨论课题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一样，进行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来回拉锯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第一轮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：你抛出初步的实验设计方案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000" b="0" dirty="0">
                <a:solidFill>
                  <a:srgbClr val="0066CC"/>
                </a:solidFill>
                <a:latin typeface="Microsoft YaHei"/>
                <a:ea typeface="Microsoft YaHei"/>
              </a:rPr>
              <a:t>                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↓</a:t>
            </a:r>
            <a:endParaRPr sz="20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第二轮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：AI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给出反馈并指出可能存在的数据偏差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000" b="0" dirty="0">
                <a:solidFill>
                  <a:srgbClr val="0066CC"/>
                </a:solidFill>
                <a:latin typeface="Microsoft YaHei"/>
                <a:ea typeface="Microsoft YaHei"/>
              </a:rPr>
              <a:t>                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↓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第三轮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：你补充控制变量方法，反问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AI: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       </a:t>
            </a:r>
            <a:r>
              <a:rPr sz="2400" b="1" dirty="0">
                <a:solidFill>
                  <a:srgbClr val="004CA0"/>
                </a:solidFill>
                <a:latin typeface="Consolas"/>
                <a:ea typeface="Consolas"/>
              </a:rPr>
              <a:t>"</a:t>
            </a:r>
            <a:r>
              <a:rPr sz="2400" b="1" dirty="0" err="1">
                <a:solidFill>
                  <a:srgbClr val="004CA0"/>
                </a:solidFill>
                <a:latin typeface="Consolas"/>
                <a:ea typeface="Consolas"/>
              </a:rPr>
              <a:t>现在方案的严谨度如何？还有哪些盲区</a:t>
            </a:r>
            <a:r>
              <a:rPr sz="2400" b="1" dirty="0">
                <a:solidFill>
                  <a:srgbClr val="004CA0"/>
                </a:solidFill>
                <a:latin typeface="Consolas"/>
                <a:ea typeface="Consolas"/>
              </a:rPr>
              <a:t>？"</a:t>
            </a:r>
            <a:endParaRPr sz="1800" b="1" dirty="0">
              <a:solidFill>
                <a:srgbClr val="004CA0"/>
              </a:solidFill>
              <a:latin typeface="Consolas"/>
              <a:ea typeface="Consolas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000" b="0" dirty="0">
                <a:solidFill>
                  <a:srgbClr val="0066CC"/>
                </a:solidFill>
                <a:latin typeface="Microsoft YaHei"/>
                <a:ea typeface="Microsoft YaHei"/>
              </a:rPr>
              <a:t>                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↓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更多轮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：基于反馈继续迭代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…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通过多轮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认知碰撞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，AI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能协助你发现研究盲点、产生新的灵感火花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10 / 42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构建有效提示词的核心要素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学术级专业提示词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=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背景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+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任务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+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约束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+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输出格式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(4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要素框架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457200" cy="2286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2960" y="1691640"/>
            <a:ext cx="5029200" cy="228600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691640"/>
            <a:ext cx="4572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  <a:ea typeface="Arial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856232"/>
            <a:ext cx="466344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背景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377440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多模态充足上下文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5840" y="2788920"/>
            <a:ext cx="466344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把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想象成聪明但对你一无所知的实习生。上传文献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PDF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实验数据，标明研究进度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1691640"/>
            <a:ext cx="457200" cy="2286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46520" y="1691640"/>
            <a:ext cx="5029200" cy="228600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89320" y="1691640"/>
            <a:ext cx="4572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  <a:ea typeface="Arial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1856232"/>
            <a:ext cx="466344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任务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Task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377440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拆解迭代式工作流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29400" y="2788920"/>
            <a:ext cx="466344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搭骨架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调结构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填血肉，渐进式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搭积木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避免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在长文本中丢失上下文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114800"/>
            <a:ext cx="457200" cy="228600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2960" y="4114800"/>
            <a:ext cx="5029200" cy="2286000"/>
          </a:xfrm>
          <a:prstGeom prst="rect">
            <a:avLst/>
          </a:prstGeom>
          <a:solidFill>
            <a:srgbClr val="E6F2FC"/>
          </a:solidFill>
          <a:ln w="12700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4114800"/>
            <a:ext cx="4572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  <a:ea typeface="Arial"/>
              </a:rPr>
              <a:t>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279392"/>
            <a:ext cx="466344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dirty="0" err="1">
                <a:solidFill>
                  <a:srgbClr val="F58020"/>
                </a:solidFill>
                <a:latin typeface="Microsoft YaHei"/>
                <a:ea typeface="Microsoft YaHei"/>
              </a:rPr>
              <a:t>约束</a:t>
            </a:r>
            <a:r>
              <a:rPr sz="2400" b="1" i="0" dirty="0">
                <a:solidFill>
                  <a:srgbClr val="F58020"/>
                </a:solidFill>
                <a:latin typeface="Microsoft YaHei"/>
                <a:ea typeface="Microsoft YaHei"/>
              </a:rPr>
              <a:t> Constraints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800600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克服讨好型人格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005840" y="5212080"/>
            <a:ext cx="466344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中立提问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评分量表，强制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客观（如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0-100 分），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抵御阿谀奉承的迎合输出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114800"/>
            <a:ext cx="457200" cy="22860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46520" y="4114800"/>
            <a:ext cx="5029200" cy="2286000"/>
          </a:xfrm>
          <a:prstGeom prst="rect">
            <a:avLst/>
          </a:prstGeom>
          <a:solidFill>
            <a:srgbClr val="E6F2FC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89320" y="4114800"/>
            <a:ext cx="4572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  <a:ea typeface="Arial"/>
              </a:rPr>
              <a:t>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279392"/>
            <a:ext cx="466344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dirty="0" err="1">
                <a:solidFill>
                  <a:srgbClr val="2E8B57"/>
                </a:solidFill>
                <a:latin typeface="Microsoft YaHei"/>
                <a:ea typeface="Microsoft YaHei"/>
              </a:rPr>
              <a:t>输出格式</a:t>
            </a:r>
            <a:r>
              <a:rPr sz="2400" b="1" i="0" dirty="0">
                <a:solidFill>
                  <a:srgbClr val="2E8B57"/>
                </a:solidFill>
                <a:latin typeface="Microsoft YaHei"/>
                <a:ea typeface="Microsoft YaHei"/>
              </a:rPr>
              <a:t> Format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4800600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规范最终呈现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629400" y="5212080"/>
            <a:ext cx="466344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明确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Markdown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表格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LaTeX / JSON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字数限制，让输出无缝接入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Word / Python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工作流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11 / 42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背景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(Context)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多模态充足上下文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19" y="899261"/>
            <a:ext cx="8013551" cy="1063102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把 AI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想象成一位极其聪明、高度自律的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新晋毕业生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—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但她对你过去一年的经历一无所知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12 / 42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E1C2ECB-E81C-1E79-D9A1-C998116D4F04}"/>
              </a:ext>
            </a:extLst>
          </p:cNvPr>
          <p:cNvSpPr txBox="1"/>
          <p:nvPr/>
        </p:nvSpPr>
        <p:spPr>
          <a:xfrm>
            <a:off x="6831063" y="2502256"/>
            <a:ext cx="5253361" cy="25976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zh-CN" altLang="en-US"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✓ 专家做法：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en-US" altLang="zh-CN" sz="240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lang="zh-CN" altLang="en-US" sz="2400" dirty="0">
                <a:solidFill>
                  <a:srgbClr val="333333"/>
                </a:solidFill>
                <a:latin typeface="Microsoft YaHei"/>
                <a:ea typeface="Microsoft YaHei"/>
              </a:rPr>
              <a:t>上传最新综述文献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en-US" altLang="zh-CN" sz="240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lang="zh-CN" altLang="en-US" sz="2400" dirty="0">
                <a:solidFill>
                  <a:srgbClr val="333333"/>
                </a:solidFill>
                <a:latin typeface="Microsoft YaHei"/>
                <a:ea typeface="Microsoft YaHei"/>
              </a:rPr>
              <a:t>附上初步构思笔记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en-US" altLang="zh-CN" sz="240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lang="zh-CN" altLang="en-US" sz="2400" dirty="0">
                <a:solidFill>
                  <a:srgbClr val="333333"/>
                </a:solidFill>
                <a:latin typeface="Microsoft YaHei"/>
                <a:ea typeface="Microsoft YaHei"/>
              </a:rPr>
              <a:t>明确分析 </a:t>
            </a:r>
            <a:r>
              <a:rPr lang="en-US" altLang="zh-CN"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r>
              <a:rPr lang="zh-CN" altLang="en-US"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研究空白</a:t>
            </a:r>
            <a:r>
              <a:rPr lang="en-US" altLang="zh-CN"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 + "</a:t>
            </a:r>
            <a:r>
              <a:rPr lang="zh-CN" altLang="en-US"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实施难度</a:t>
            </a:r>
            <a:r>
              <a:rPr lang="en-US" altLang="zh-CN"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  <a:p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C5FC797-7C3B-FC91-BF10-61D637E451CF}"/>
              </a:ext>
            </a:extLst>
          </p:cNvPr>
          <p:cNvSpPr txBox="1"/>
          <p:nvPr/>
        </p:nvSpPr>
        <p:spPr>
          <a:xfrm>
            <a:off x="1532964" y="5373095"/>
            <a:ext cx="744070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04CA0"/>
                </a:solidFill>
                <a:latin typeface="Microsoft YaHei"/>
                <a:ea typeface="Microsoft YaHei"/>
              </a:rPr>
              <a:t>→ AI </a:t>
            </a:r>
            <a:r>
              <a:rPr lang="zh-CN" altLang="en-US" sz="2800" b="1" dirty="0">
                <a:solidFill>
                  <a:srgbClr val="004CA0"/>
                </a:solidFill>
                <a:latin typeface="Microsoft YaHei"/>
                <a:ea typeface="Microsoft YaHei"/>
              </a:rPr>
              <a:t>精准捕捉符合你兴趣的 </a:t>
            </a:r>
            <a:r>
              <a:rPr lang="zh-CN" altLang="en-US" sz="2800" b="1" dirty="0">
                <a:solidFill>
                  <a:srgbClr val="F58020"/>
                </a:solidFill>
                <a:latin typeface="Microsoft YaHei"/>
                <a:ea typeface="Microsoft YaHei"/>
              </a:rPr>
              <a:t>具体切入点</a:t>
            </a:r>
            <a:r>
              <a:rPr lang="zh-CN" altLang="en-US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  <a:p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7A09F32-ECB6-B9EB-3F58-E108847D9D1F}"/>
              </a:ext>
            </a:extLst>
          </p:cNvPr>
          <p:cNvSpPr txBox="1"/>
          <p:nvPr/>
        </p:nvSpPr>
        <p:spPr>
          <a:xfrm>
            <a:off x="487834" y="2446733"/>
            <a:ext cx="6450805" cy="25976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zh-CN" altLang="en-US"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✗ 新手宽泛指令：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en-US" altLang="zh-CN" sz="2400" b="1" dirty="0">
                <a:solidFill>
                  <a:srgbClr val="F58020"/>
                </a:solidFill>
                <a:latin typeface="Consolas"/>
                <a:ea typeface="Consolas"/>
              </a:rPr>
              <a:t>"</a:t>
            </a:r>
            <a:r>
              <a:rPr lang="zh-CN" altLang="en-US" sz="2400" b="1" dirty="0">
                <a:solidFill>
                  <a:srgbClr val="F58020"/>
                </a:solidFill>
                <a:latin typeface="Consolas"/>
                <a:ea typeface="Consolas"/>
              </a:rPr>
              <a:t>帮我拟几个关于人工智能的毕业论文题目</a:t>
            </a:r>
            <a:r>
              <a:rPr lang="en-US" altLang="zh-CN" sz="2400" b="1" dirty="0">
                <a:solidFill>
                  <a:srgbClr val="F58020"/>
                </a:solidFill>
                <a:latin typeface="Consolas"/>
                <a:ea typeface="Consolas"/>
              </a:rPr>
              <a:t>"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zh-CN" altLang="en-US" sz="240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lang="en-US" altLang="zh-CN" sz="2400" dirty="0">
                <a:solidFill>
                  <a:srgbClr val="333333"/>
                </a:solidFill>
                <a:latin typeface="Microsoft YaHei"/>
                <a:ea typeface="Microsoft YaHei"/>
              </a:rPr>
              <a:t>"AI </a:t>
            </a:r>
            <a:r>
              <a:rPr lang="zh-CN" altLang="en-US" sz="2400" dirty="0">
                <a:solidFill>
                  <a:srgbClr val="333333"/>
                </a:solidFill>
                <a:latin typeface="Microsoft YaHei"/>
                <a:ea typeface="Microsoft YaHei"/>
              </a:rPr>
              <a:t>发展史研究</a:t>
            </a:r>
            <a:r>
              <a:rPr lang="en-US" altLang="zh-CN" sz="2400" dirty="0">
                <a:solidFill>
                  <a:srgbClr val="333333"/>
                </a:solidFill>
                <a:latin typeface="Microsoft YaHei"/>
                <a:ea typeface="Microsoft YaHei"/>
              </a:rPr>
              <a:t>" / "</a:t>
            </a:r>
            <a:r>
              <a:rPr lang="zh-CN" altLang="en-US" sz="2400" dirty="0">
                <a:solidFill>
                  <a:srgbClr val="333333"/>
                </a:solidFill>
                <a:latin typeface="Microsoft YaHei"/>
                <a:ea typeface="Microsoft YaHei"/>
              </a:rPr>
              <a:t>深度学习在医疗的应用</a:t>
            </a:r>
            <a:r>
              <a:rPr lang="en-US" altLang="zh-CN" sz="240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en-US" altLang="zh-CN" sz="240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lang="zh-CN" altLang="en-US"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放之四海而皆准的废话</a:t>
            </a:r>
            <a:r>
              <a:rPr lang="zh-CN" altLang="en-US" sz="240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lang="zh-CN" altLang="en-US" sz="140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BC502-4185-1DDF-E7E7-ED699F0AD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9FF79EE8-DC79-D579-13A4-341C99EF0A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FDAB97A-0E54-D56A-2B9C-BC500AAA1AF1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7DE6BA-70F4-0E64-B519-09B6518DCFCE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E18924-17A4-E833-E26F-14E6B8BE7292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8C5303-41AC-A8C7-1BEC-2C3006D4310E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背景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(Context)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多模态充足上下文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8F859-5079-DF07-AC5E-B9E6FECD1748}"/>
              </a:ext>
            </a:extLst>
          </p:cNvPr>
          <p:cNvSpPr txBox="1"/>
          <p:nvPr/>
        </p:nvSpPr>
        <p:spPr>
          <a:xfrm>
            <a:off x="3765768" y="5495902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2-2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提供正确的上下文的重要性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C47D6D-D28C-D2DF-85A3-59F2B630637E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12 / 42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9C1F959F-4824-CE2A-3973-BFDE00B537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0345" y="1378038"/>
            <a:ext cx="8490808" cy="365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7134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任务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(Task)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拆解迭代式工作流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" y="897665"/>
            <a:ext cx="8345245" cy="515960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✗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一步到位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：</a:t>
            </a:r>
            <a:r>
              <a:rPr sz="2400" b="1" dirty="0">
                <a:solidFill>
                  <a:srgbClr val="F58020"/>
                </a:solidFill>
                <a:latin typeface="Consolas"/>
                <a:ea typeface="Consolas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Consolas"/>
                <a:ea typeface="Consolas"/>
              </a:rPr>
              <a:t>帮我写一篇</a:t>
            </a:r>
            <a:r>
              <a:rPr sz="2400" b="1" dirty="0">
                <a:solidFill>
                  <a:srgbClr val="F58020"/>
                </a:solidFill>
                <a:latin typeface="Consolas"/>
                <a:ea typeface="Consolas"/>
              </a:rPr>
              <a:t> XX </a:t>
            </a:r>
            <a:r>
              <a:rPr sz="2400" b="1" dirty="0" err="1">
                <a:solidFill>
                  <a:srgbClr val="F58020"/>
                </a:solidFill>
                <a:latin typeface="Consolas"/>
                <a:ea typeface="Consolas"/>
              </a:rPr>
              <a:t>领域的文献综述</a:t>
            </a:r>
            <a:r>
              <a:rPr sz="2400" b="1" dirty="0">
                <a:solidFill>
                  <a:srgbClr val="F58020"/>
                </a:solidFill>
                <a:latin typeface="Consolas"/>
                <a:ea typeface="Consolas"/>
              </a:rPr>
              <a:t>"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冗长、空洞、枯燥的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"AI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废话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✓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专家"搭积木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三步法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第一步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搭骨架</a:t>
            </a: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 dirty="0">
                <a:solidFill>
                  <a:srgbClr val="333333"/>
                </a:solidFill>
                <a:latin typeface="Microsoft YaHei"/>
                <a:ea typeface="Microsoft YaHei"/>
              </a:rPr>
              <a:t>   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上传阅读笔记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散乱想法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提炼成大纲</a:t>
            </a: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第二步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调结构</a:t>
            </a: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 dirty="0">
                <a:solidFill>
                  <a:srgbClr val="333333"/>
                </a:solidFill>
                <a:latin typeface="Microsoft YaHei"/>
                <a:ea typeface="Microsoft YaHei"/>
              </a:rPr>
              <a:t>   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审视大纲流向，提出具体修改意见，直至符合预期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第三步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填血肉</a:t>
            </a: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 dirty="0">
                <a:solidFill>
                  <a:srgbClr val="333333"/>
                </a:solidFill>
                <a:latin typeface="Microsoft YaHei"/>
                <a:ea typeface="Microsoft YaHei"/>
              </a:rPr>
              <a:t>   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大纲确认后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命令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逐个小节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扩充核心要点</a:t>
            </a: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避免长文本丢失上下文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+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学术逻辑由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人类作者牢牢掌控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13 / 42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661B8-E8AC-CBCE-9ADB-0805DD142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C220B9E-8832-6286-DBD3-CD7D7D5857A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6EEF6A60-87BF-9AC8-E1B1-9DADA2D14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C704692-B1E3-4872-B3CD-17D8DC789F4C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16114-3804-4A89-ABA2-112B681E8735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361B43-EB9E-D911-2025-CD69299F1CB1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7926E9-F0FA-1922-E537-97A52354C03E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任务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(Task)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拆解迭代式工作流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DE63C8-095A-16B7-9F17-3A3B2D6E7023}"/>
              </a:ext>
            </a:extLst>
          </p:cNvPr>
          <p:cNvSpPr txBox="1"/>
          <p:nvPr/>
        </p:nvSpPr>
        <p:spPr>
          <a:xfrm>
            <a:off x="3582988" y="5821628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2-3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写作方式的差异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C2C108-BC3A-8D54-30F1-06186CC9F965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13 / 42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FAF12390-F59F-96CC-761A-FBBEED6E879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7304" y="1119401"/>
            <a:ext cx="8273935" cy="4498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70539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约束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(Constraints)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克服讨好型人格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1805" y="844034"/>
            <a:ext cx="9406219" cy="535966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大模型在对齐训练中被设定为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让用户满意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" →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严重副作用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=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阿谀奉承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✗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带有偏见地提问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：</a:t>
            </a:r>
            <a:r>
              <a:rPr sz="2200" b="1" dirty="0">
                <a:solidFill>
                  <a:srgbClr val="F58020"/>
                </a:solidFill>
                <a:latin typeface="Consolas"/>
                <a:ea typeface="Consolas"/>
              </a:rPr>
              <a:t>"</a:t>
            </a:r>
            <a:r>
              <a:rPr sz="2200" b="1" dirty="0" err="1">
                <a:solidFill>
                  <a:srgbClr val="F58020"/>
                </a:solidFill>
                <a:latin typeface="Consolas"/>
                <a:ea typeface="Consolas"/>
              </a:rPr>
              <a:t>我有一个绝妙的商业想法：开一辆边旅行边</a:t>
            </a:r>
            <a:endParaRPr sz="2200" b="1" dirty="0">
              <a:solidFill>
                <a:srgbClr val="F58020"/>
              </a:solidFill>
              <a:latin typeface="Consolas"/>
              <a:ea typeface="Consolas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F58020"/>
                </a:solidFill>
                <a:latin typeface="Consolas"/>
                <a:ea typeface="Consolas"/>
              </a:rPr>
              <a:t>营业的移动咖啡车，请评价一下</a:t>
            </a:r>
            <a:r>
              <a:rPr sz="2200" b="1" dirty="0">
                <a:solidFill>
                  <a:srgbClr val="F58020"/>
                </a:solidFill>
                <a:latin typeface="Consolas"/>
                <a:ea typeface="Consolas"/>
              </a:rPr>
              <a:t>。"</a:t>
            </a:r>
            <a:endParaRPr lang="en-US" sz="2200" b="1" dirty="0">
              <a:solidFill>
                <a:srgbClr val="F58020"/>
              </a:solidFill>
              <a:latin typeface="Consolas"/>
              <a:ea typeface="Consolas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→ AI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顺从迎合，大肆赞美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✓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专家做法：中立提问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+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评分量表</a:t>
            </a:r>
            <a:endParaRPr sz="24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   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是否存在真实的痛点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   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是否有足够的市场需求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   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是否具备竞争优势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明确量表约束下，AI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毫不留情打出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15/100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并指出致命缺陷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14 / 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69CAF-FF88-E621-BD98-39CEFC522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030E782-4617-F425-14CD-C4880B9231C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CE9DE4FC-E723-D66D-B36A-9AF8A4E5D6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9E5B6D2-D68E-02FB-D6B3-05C96A3167BE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B6FDEC-531C-134A-40EE-153C06E11A5D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86601E-105F-B05D-9281-E0ED46F68AF4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E7D0EC-8ADC-975B-E47E-66D3C5A5AEF2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约束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(Constraints)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克服讨好型人格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732E9-CEEE-4BA1-C8B5-A8375EB75E70}"/>
              </a:ext>
            </a:extLst>
          </p:cNvPr>
          <p:cNvSpPr txBox="1"/>
          <p:nvPr/>
        </p:nvSpPr>
        <p:spPr>
          <a:xfrm>
            <a:off x="3810591" y="5822771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2-4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获取诚实的反馈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53E7D5-0B37-CD00-6188-61606E81050F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14 / 42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E568F0EA-2B8E-9EB0-0D9B-8A2C1D580E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8720" y="938816"/>
            <a:ext cx="9190982" cy="4641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72695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④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输出格式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规范最终呈现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" y="937555"/>
            <a:ext cx="9418321" cy="527964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不限定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默认输出大段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文本墙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，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极大增加你后期阅读、提炼、排版的时间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学术汇报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"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转化为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 PPT 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汇报</a:t>
            </a:r>
            <a:r>
              <a:rPr lang="zh-CN" altLang="en-US" sz="2200" b="1" dirty="0">
                <a:solidFill>
                  <a:srgbClr val="004CA0"/>
                </a:solidFill>
                <a:latin typeface="Consolas"/>
                <a:ea typeface="Consolas"/>
              </a:rPr>
              <a:t>的精简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短句，每要点不超过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 15 字"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代码与排版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"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输出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 LaTeX 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格式的评价指标数学公式代码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"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"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转化为可在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 Python 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中解析的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 JSON 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格式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"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严格字数限制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"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生成严格控制在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 300-400 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字以内的英文摘要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"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结构化输出：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Markdown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表格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思维导图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列表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· YAML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→ 让 AI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输出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无缝接入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Word / LaTeX / Python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现有科研工作流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15 / 42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A4CE2-4ADE-74BC-C113-C870D6830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6FA9EB6-CD15-1620-80AC-C2A217DC9EE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ED9C2C06-B89B-D9F7-BF34-37BBEDBED8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2C05913-2332-D827-775A-62063D947C45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74D0CB-8EB6-A222-47C3-B09790B15A9A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D17EDA-D93A-F855-84CF-B346E58259B0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71060D-E28F-09CA-DDE9-EBAFE870B1FF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④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输出格式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规范最终呈现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60D1BD-279D-36AC-EB05-66510B63555E}"/>
              </a:ext>
            </a:extLst>
          </p:cNvPr>
          <p:cNvSpPr txBox="1"/>
          <p:nvPr/>
        </p:nvSpPr>
        <p:spPr>
          <a:xfrm>
            <a:off x="3688977" y="5760460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2-5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输出格式约束带来的效率差异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BDF28B-2E9C-EAFE-DEE4-D8B7BC538406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15 / 42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5A446607-9F12-B56C-D46C-FBECEB2E29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110" y="1166805"/>
            <a:ext cx="9860852" cy="4240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1607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建立合理预期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缺陷与价值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6065" y="865325"/>
            <a:ext cx="7442194" cy="591673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AI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表面的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翻车案例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算不清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F58020"/>
                </a:solidFill>
                <a:latin typeface="Consolas"/>
                <a:ea typeface="Consolas"/>
              </a:rPr>
              <a:t>strawberry</a:t>
            </a:r>
            <a:r>
              <a:rPr sz="19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里有几个字母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建议你把车留在家里步行去洗车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社交媒体广泛传播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endParaRPr lang="en-US"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让新手低估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AI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实际能力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19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AI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真正的价值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(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专家视角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)：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对海量个人运动心率数据进行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趋势分析</a:t>
            </a: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撰写复杂的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深度研究报告</a:t>
            </a: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为非计算机专业的学生自动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编写并部署交互式网站</a:t>
            </a: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结论：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熟练掌握提示词工程不只是节省时间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，</a:t>
            </a:r>
            <a:endParaRPr lang="zh-CN" alt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zh-CN" altLang="en-US"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更是帮助你在学术界与工业界 </a:t>
            </a:r>
            <a:r>
              <a:rPr lang="zh-CN" altLang="en-US"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脱颖而出</a:t>
            </a:r>
            <a:r>
              <a:rPr lang="zh-CN" altLang="en-US"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的高阶技能。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3479" y="4882836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2-6  AI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可能犯的错误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vs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真正的价值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16 / 42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BF99FFAB-2134-46A8-E290-7ABA06F195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5646" y="1094044"/>
            <a:ext cx="6629230" cy="3633913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0" b="1" i="0">
                <a:solidFill>
                  <a:srgbClr val="FFFFFF"/>
                </a:solidFill>
                <a:latin typeface="Arial"/>
                <a:ea typeface="Arial"/>
              </a:rPr>
              <a:t>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21624" y="2403612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模型的内在</a:t>
            </a:r>
            <a:r>
              <a:rPr sz="4200" b="1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4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大脑</a:t>
            </a:r>
            <a:r>
              <a:rPr sz="4200" b="1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65760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84048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它的知识从何而来？了解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预训练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的来源与边界，是预判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何时出色、何时胡说八道的前提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17 / 42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预训练知识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包罗万象的博学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49766" y="1130449"/>
            <a:ext cx="8667975" cy="482259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66CC"/>
                </a:solidFill>
                <a:latin typeface="Arial"/>
                <a:ea typeface="Arial"/>
              </a:rPr>
              <a:t>预训练</a:t>
            </a:r>
            <a:r>
              <a:rPr sz="2400" b="1" dirty="0">
                <a:solidFill>
                  <a:srgbClr val="0066CC"/>
                </a:solidFill>
                <a:latin typeface="Arial"/>
                <a:ea typeface="Arial"/>
              </a:rPr>
              <a:t> (Pre-training)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模型在投入实际应用前吸收海量数据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构建神经网络权重的初始阶段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AI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的知识广度令人惊叹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•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生活常识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 </a:t>
            </a:r>
            <a:r>
              <a:rPr sz="2400" b="0" dirty="0">
                <a:solidFill>
                  <a:srgbClr val="333333"/>
                </a:solidFill>
                <a:latin typeface="Consolas"/>
                <a:ea typeface="Consolas"/>
              </a:rPr>
              <a:t>"</a:t>
            </a:r>
            <a:r>
              <a:rPr sz="2400" b="0" dirty="0" err="1">
                <a:solidFill>
                  <a:srgbClr val="333333"/>
                </a:solidFill>
                <a:latin typeface="Consolas"/>
                <a:ea typeface="Consolas"/>
              </a:rPr>
              <a:t>手机掉进水里怎么办</a:t>
            </a:r>
            <a:r>
              <a:rPr sz="2400" b="0" dirty="0">
                <a:solidFill>
                  <a:srgbClr val="333333"/>
                </a:solidFill>
                <a:latin typeface="Consolas"/>
                <a:ea typeface="Consolas"/>
              </a:rPr>
              <a:t>？"</a:t>
            </a:r>
            <a:endParaRPr sz="1700" b="0" dirty="0">
              <a:solidFill>
                <a:srgbClr val="333333"/>
              </a:solidFill>
              <a:latin typeface="Consolas"/>
              <a:ea typeface="Consolas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•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专业知识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 </a:t>
            </a:r>
            <a:r>
              <a:rPr sz="2400" b="0" dirty="0">
                <a:solidFill>
                  <a:srgbClr val="333333"/>
                </a:solidFill>
                <a:latin typeface="Consolas"/>
                <a:ea typeface="Consolas"/>
              </a:rPr>
              <a:t>"</a:t>
            </a:r>
            <a:r>
              <a:rPr sz="2400" b="0" dirty="0" err="1">
                <a:solidFill>
                  <a:srgbClr val="333333"/>
                </a:solidFill>
                <a:latin typeface="Consolas"/>
                <a:ea typeface="Consolas"/>
              </a:rPr>
              <a:t>薛定谔的猫到底是什么</a:t>
            </a:r>
            <a:r>
              <a:rPr sz="2400" b="0" dirty="0">
                <a:solidFill>
                  <a:srgbClr val="333333"/>
                </a:solidFill>
                <a:latin typeface="Consolas"/>
                <a:ea typeface="Consolas"/>
              </a:rPr>
              <a:t>？"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•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利基冷知识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 </a:t>
            </a:r>
            <a:r>
              <a:rPr sz="2400" b="0" dirty="0">
                <a:solidFill>
                  <a:srgbClr val="333333"/>
                </a:solidFill>
                <a:latin typeface="Consolas"/>
                <a:ea typeface="Consolas"/>
              </a:rPr>
              <a:t>"1977 </a:t>
            </a:r>
            <a:r>
              <a:rPr sz="2400" b="0" dirty="0" err="1">
                <a:solidFill>
                  <a:srgbClr val="333333"/>
                </a:solidFill>
                <a:latin typeface="Consolas"/>
                <a:ea typeface="Consolas"/>
              </a:rPr>
              <a:t>年旅行者</a:t>
            </a:r>
            <a:r>
              <a:rPr sz="2400" b="0" dirty="0">
                <a:solidFill>
                  <a:srgbClr val="333333"/>
                </a:solidFill>
                <a:latin typeface="Consolas"/>
                <a:ea typeface="Consolas"/>
              </a:rPr>
              <a:t> 1 </a:t>
            </a:r>
            <a:r>
              <a:rPr sz="2400" b="0" dirty="0" err="1">
                <a:solidFill>
                  <a:srgbClr val="333333"/>
                </a:solidFill>
                <a:latin typeface="Consolas"/>
                <a:ea typeface="Consolas"/>
              </a:rPr>
              <a:t>号金唱片里录了</a:t>
            </a:r>
            <a:r>
              <a:rPr sz="2400" b="0" dirty="0">
                <a:solidFill>
                  <a:srgbClr val="333333"/>
                </a:solidFill>
                <a:latin typeface="Consolas"/>
                <a:ea typeface="Consolas"/>
              </a:rPr>
              <a:t> 55 </a:t>
            </a:r>
            <a:r>
              <a:rPr sz="2400" b="0" dirty="0" err="1">
                <a:solidFill>
                  <a:srgbClr val="333333"/>
                </a:solidFill>
                <a:latin typeface="Consolas"/>
                <a:ea typeface="Consolas"/>
              </a:rPr>
              <a:t>种语言问候</a:t>
            </a:r>
            <a:r>
              <a:rPr sz="2400" b="0" dirty="0">
                <a:solidFill>
                  <a:srgbClr val="333333"/>
                </a:solidFill>
                <a:latin typeface="Consolas"/>
                <a:ea typeface="Consolas"/>
              </a:rPr>
              <a:t>。"</a:t>
            </a:r>
            <a:endParaRPr sz="1700" b="0" dirty="0">
              <a:solidFill>
                <a:srgbClr val="333333"/>
              </a:solidFill>
              <a:latin typeface="Consolas"/>
              <a:ea typeface="Consolas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endParaRPr sz="1700" b="0" dirty="0">
              <a:solidFill>
                <a:srgbClr val="333333"/>
              </a:solidFill>
              <a:latin typeface="Consolas"/>
              <a:ea typeface="Consolas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随时调取跨学科知识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=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单个人类难以企及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的能力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18 / 42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9CE30-8483-EFBC-1650-964F595F2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1AD08C8-4FCA-F274-C0EA-A0D97D81923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D85E1CB6-ECD2-9309-24B1-A9B91D0588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58538C9-039C-3542-1D10-8F46A0095EE0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DA4219-CC90-CD60-68C9-FE1EC63872AA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2.2.1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1F7EC7-0581-69B6-CB1E-C1E414E971F3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FFA542-80ED-CC95-A468-5434C9C28E26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预训练知识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包罗万象的博学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B536AD-41EC-A17A-A2B9-8F857786BB7E}"/>
              </a:ext>
            </a:extLst>
          </p:cNvPr>
          <p:cNvSpPr txBox="1"/>
          <p:nvPr/>
        </p:nvSpPr>
        <p:spPr>
          <a:xfrm>
            <a:off x="4109116" y="5399161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2-7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大模型可以回答各种主题的问题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C1D70F-ED73-F4F7-FC30-35E04DF43611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18 / 42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E8E76C2B-A4BE-8C61-E815-AD7491FD38E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539" y="1704955"/>
            <a:ext cx="10736922" cy="3015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768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多元数据来源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两大天然局限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6065" y="854857"/>
            <a:ext cx="7215693" cy="544276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数据来源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(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中文模型如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DeepSeek / Kimi /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智谱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)：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互联网论坛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知乎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· CSDN · Reddit</a:t>
            </a: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百科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&amp;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数字图书馆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百度百科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· Wikipedia</a:t>
            </a: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•</a:t>
            </a:r>
            <a:r>
              <a:rPr sz="19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新闻门户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+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学术数据库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CNKI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arXiv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· PubMed</a:t>
            </a: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⚠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局限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① 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知识是静态的（冻结状态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一旦训练结束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知识库被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冻结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在训练截止日期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无法回答任何新事件或最新发表的学术成果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⚠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局限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② 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知识边界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=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公开互联网</a:t>
            </a:r>
            <a:endParaRPr sz="24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课题组未发表数据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/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企业机密文档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/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封闭数据库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-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一无所知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643" y="5371301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2-8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预训练知识的多元来源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19 / 42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CD988E8A-A35A-FDF6-A84A-9C8FFBBF8FC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3449" y="2106706"/>
            <a:ext cx="4875803" cy="303471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2.2.2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词频与认知边界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预训练反映数据规律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22236" y="880854"/>
            <a:ext cx="7025336" cy="5319652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大模型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=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超级复杂的概率预测引擎</a:t>
            </a:r>
            <a:endParaRPr sz="24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对某主题的掌握程度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=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该主题在训练库中的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频次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互联网的信息分布是极度不均衡的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📚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高频主题：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烹饪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名人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电影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 →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模型了如指掌</a:t>
            </a:r>
            <a:endParaRPr sz="19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endParaRPr sz="19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🔬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低频学术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：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类星体辐射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"  →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模型知之甚少</a:t>
            </a:r>
            <a:endParaRPr sz="24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endParaRPr sz="19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🔒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专有数据：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你课题组未发表实验</a:t>
            </a:r>
            <a:r>
              <a:rPr sz="1900" b="0" dirty="0">
                <a:solidFill>
                  <a:srgbClr val="333333"/>
                </a:solidFill>
                <a:latin typeface="Microsoft YaHei"/>
                <a:ea typeface="Microsoft YaHei"/>
              </a:rPr>
              <a:t>  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一无所知</a:t>
            </a:r>
            <a:endParaRPr sz="19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评估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AI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响应可靠性的经验法则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思考你的课题在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互联网上公开讨论的频率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47572" y="5129605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2-9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预训练知识反映训练数据的规律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20 / 42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DC944627-E183-FB52-E2FB-EA209111C1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7510" y="2355925"/>
            <a:ext cx="4671305" cy="25482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2.2.2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高频数据的双刃剑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容错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vs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幻觉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51011" y="844034"/>
            <a:ext cx="8749554" cy="591673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✓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惊人的容错能力</a:t>
            </a:r>
            <a:endParaRPr sz="24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输入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："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咖啡撒电脑上了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 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咋搞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 急" — 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错字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 + 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缺标点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 + 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极其口语化</a:t>
            </a:r>
            <a:endParaRPr sz="2200" b="1" dirty="0">
              <a:solidFill>
                <a:srgbClr val="004CA0"/>
              </a:solidFill>
              <a:latin typeface="Consolas"/>
              <a:ea typeface="Consolas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完美理解焦急状态，给出正确电脑急救指南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因为它在贴吧、微博读过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无数带错字的求助帖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启示：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把注意力集中在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把需求表达清楚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US" sz="2200" dirty="0">
                <a:solidFill>
                  <a:srgbClr val="333333"/>
                </a:solidFill>
                <a:latin typeface="Microsoft YaHei"/>
                <a:ea typeface="Microsoft YaHei"/>
              </a:rPr>
              <a:t>		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而不是像写正式公文般字斟句酌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✗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致命缺陷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· 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伪造文献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询问冷门交叉领域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模型找不到匹配项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endParaRPr lang="en-US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但底层指令是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预测下一个词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而非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我不知道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利用熟知词汇进行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18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18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概率缝合</a:t>
            </a:r>
            <a:r>
              <a:rPr sz="18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拼凑出</a:t>
            </a:r>
            <a:r>
              <a:rPr sz="18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看似格式完美、名称专业，但根本不</a:t>
            </a:r>
            <a:r>
              <a:rPr lang="zh-CN" altLang="en-US" sz="1800" b="1" dirty="0">
                <a:solidFill>
                  <a:srgbClr val="F58020"/>
                </a:solidFill>
                <a:latin typeface="Microsoft YaHei"/>
                <a:ea typeface="Microsoft YaHei"/>
              </a:rPr>
              <a:t>存在</a:t>
            </a:r>
            <a:r>
              <a:rPr sz="18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的论文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这就是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幻觉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(Hallucination)"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摒弃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全盘接受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的心态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0307" y="4991578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2-10  AI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模型展现出惊人的理解力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21 / 42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7FF67E89-C677-91B0-58E8-70A81C58CF3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95"/>
          <a:stretch/>
        </p:blipFill>
        <p:spPr bwMode="auto">
          <a:xfrm>
            <a:off x="6458024" y="2040046"/>
            <a:ext cx="5733671" cy="272421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2.2.3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评估模型输出的可靠性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三大杂质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247120" cy="5011876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公共数据对学术严谨性威胁最大的因素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①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拼写错误</a:t>
            </a:r>
            <a:r>
              <a:rPr sz="19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—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上一节已讲，高频带来强容错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9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②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错误认知与偏见</a:t>
            </a:r>
            <a:endParaRPr sz="24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网友们论坛信誓旦旦的伪科学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（"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左脑理性右脑感性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"、"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某些食物相克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"），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由于出现频率极高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→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被模型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作为事实吸收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，输出时极易被当作学术结论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9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③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过时信息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知识截断</a:t>
            </a:r>
            <a:endParaRPr sz="24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每个大模型都有明确的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知识截止日期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。问 "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某顶级期刊上个月发表了什么突破性成果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" 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不仅不知，还可能为了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迎合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你而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伪造一篇文献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9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核心技能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通过优化提示词，引导模型规避错误认知与过时信息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  <a:endParaRPr sz="1900" b="1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22 / 42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0" b="1" i="0">
                <a:solidFill>
                  <a:srgbClr val="FFFFFF"/>
                </a:solidFill>
                <a:latin typeface="Arial"/>
                <a:ea typeface="Arial"/>
              </a:rPr>
              <a:t>2.3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9553" y="2412576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联网检索</a:t>
            </a:r>
            <a:endParaRPr sz="4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65760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84048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突破知识截断的桥梁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— 让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学会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睁眼看世界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回答超出训练范围的新问题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23 / 42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2.3.1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知识截断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模型的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出厂日期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6065" y="934122"/>
            <a:ext cx="7601175" cy="5319652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66CC"/>
                </a:solidFill>
                <a:latin typeface="Arial"/>
                <a:ea typeface="Arial"/>
              </a:rPr>
              <a:t>知识截断日期</a:t>
            </a:r>
            <a:r>
              <a:rPr sz="2400" b="1" dirty="0">
                <a:solidFill>
                  <a:srgbClr val="0066CC"/>
                </a:solidFill>
                <a:latin typeface="Arial"/>
                <a:ea typeface="Arial"/>
              </a:rPr>
              <a:t> (Knowledge Cutoff)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开发者必须在某一时刻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停止喂入数据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才能完成训练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模型只阅读过该日期之前的互联网信息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以 DeepSeek V4 为</a:t>
            </a:r>
            <a:r>
              <a:rPr lang="zh-CN" altLang="en-US"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例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(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假设发布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2026-04)：</a:t>
            </a:r>
            <a:endParaRPr sz="22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Consolas"/>
                <a:ea typeface="Consolas"/>
              </a:rPr>
              <a:t>✓ "</a:t>
            </a:r>
            <a:r>
              <a:rPr sz="2400" b="1" dirty="0" err="1">
                <a:solidFill>
                  <a:srgbClr val="0066CC"/>
                </a:solidFill>
                <a:latin typeface="Consolas"/>
                <a:ea typeface="Consolas"/>
              </a:rPr>
              <a:t>什么是牛顿三大定律</a:t>
            </a:r>
            <a:r>
              <a:rPr sz="2400" b="1" dirty="0">
                <a:solidFill>
                  <a:srgbClr val="0066CC"/>
                </a:solidFill>
                <a:latin typeface="Consolas"/>
                <a:ea typeface="Consolas"/>
              </a:rPr>
              <a:t>？"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      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依赖预训练知识，秒回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F58020"/>
                </a:solidFill>
                <a:latin typeface="Consolas"/>
                <a:ea typeface="Consolas"/>
              </a:rPr>
              <a:t>✗ "2026 </a:t>
            </a:r>
            <a:r>
              <a:rPr sz="2400" b="1" dirty="0" err="1">
                <a:solidFill>
                  <a:srgbClr val="F58020"/>
                </a:solidFill>
                <a:latin typeface="Consolas"/>
                <a:ea typeface="Consolas"/>
              </a:rPr>
              <a:t>年五一档票房冠军是哪部</a:t>
            </a:r>
            <a:r>
              <a:rPr sz="2400" b="1" dirty="0">
                <a:solidFill>
                  <a:srgbClr val="F58020"/>
                </a:solidFill>
                <a:latin typeface="Consolas"/>
                <a:ea typeface="Consolas"/>
              </a:rPr>
              <a:t>？"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      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事件在截断日之后，预训练大脑找不到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      →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聪明的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AI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会意识到盲区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自动触发联网检索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2749" y="5293699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2-11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知识截断与联网检索的时间线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24 / 42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ADBD08DA-6D8C-D315-5016-497F63E4C97D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870"/>
          <a:stretch/>
        </p:blipFill>
        <p:spPr bwMode="auto">
          <a:xfrm>
            <a:off x="6522806" y="2492189"/>
            <a:ext cx="5534790" cy="257020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2.3.2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大模型何时触发联网检索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双轨机制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2-2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大模型应对不同类型提问的信息获取策略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219456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652051"/>
            <a:ext cx="2194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提问类型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60320" y="1554480"/>
            <a:ext cx="219456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60320" y="1652051"/>
            <a:ext cx="2194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底层机制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754880" y="1554480"/>
            <a:ext cx="329184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54880" y="1652051"/>
            <a:ext cx="32918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应对策略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046720" y="1554480"/>
            <a:ext cx="3749039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0" y="1652051"/>
            <a:ext cx="3749039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举例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65760" y="2057400"/>
            <a:ext cx="219456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224641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静态经典理论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560320" y="2057400"/>
            <a:ext cx="219456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697480" y="2261800"/>
            <a:ext cx="19202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内部参数知识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754880" y="2057400"/>
            <a:ext cx="329184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92040" y="2261800"/>
            <a:ext cx="30175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直接调用预训练权重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046720" y="2057400"/>
            <a:ext cx="3749039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83880" y="2261800"/>
            <a:ext cx="3474719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牛顿三大定律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经典哲学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65760" y="2743200"/>
            <a:ext cx="21945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293221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实时近期动态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560320" y="2743200"/>
            <a:ext cx="21945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697480" y="2947600"/>
            <a:ext cx="19202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外部检索增强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4754880" y="2743200"/>
            <a:ext cx="32918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92040" y="2947600"/>
            <a:ext cx="30175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触发联网搜索最新网页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8046720" y="2743200"/>
            <a:ext cx="3749039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183880" y="2809102"/>
            <a:ext cx="3474719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昨日新闻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最新股市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期刊投稿要求变更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65760" y="3429000"/>
            <a:ext cx="219456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361801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位置动态信息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560320" y="3429000"/>
            <a:ext cx="219456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697480" y="3633400"/>
            <a:ext cx="19202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外部检索增强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4754880" y="3429000"/>
            <a:ext cx="329184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892040" y="3633400"/>
            <a:ext cx="30175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调用地图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评价数据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8046720" y="3429000"/>
            <a:ext cx="3749039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183880" y="3633400"/>
            <a:ext cx="3474719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海淀区通宵自习室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附近店铺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65760" y="4114800"/>
            <a:ext cx="21945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02920" y="430381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小众冷门动态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560320" y="4114800"/>
            <a:ext cx="21945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697480" y="4319200"/>
            <a:ext cx="19202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外部检索增强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4754880" y="4114800"/>
            <a:ext cx="32918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892040" y="4319200"/>
            <a:ext cx="30175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查阅官方通告与垂类源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8046720" y="4114800"/>
            <a:ext cx="3749039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183880" y="4319200"/>
            <a:ext cx="3474719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贵州村超本周赛程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小众活动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365760" y="4800600"/>
            <a:ext cx="219456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02920" y="498961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专有内部数据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560320" y="4800600"/>
            <a:ext cx="219456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2697480" y="5005000"/>
            <a:ext cx="19202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无法回答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4754880" y="4800600"/>
            <a:ext cx="329184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892040" y="5005000"/>
            <a:ext cx="30175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需用户上传文档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RAG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46720" y="4800600"/>
            <a:ext cx="3749039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183880" y="5005000"/>
            <a:ext cx="3474719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课题组未发表数据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内部文档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25 / 42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2.3.2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如何触发联网检索？两种模式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1695" y="1109968"/>
            <a:ext cx="11247120" cy="500418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6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主流大模型联网检索的触发机制</a:t>
            </a:r>
            <a:r>
              <a:rPr sz="26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①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模型自动决策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200" b="1" dirty="0">
                <a:solidFill>
                  <a:srgbClr val="004CA0"/>
                </a:solidFill>
                <a:latin typeface="Arial"/>
                <a:ea typeface="Arial"/>
              </a:rPr>
              <a:t>(Auto-trigger)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当提示词包含以下时效性词汇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模型自动判断并启动搜索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000" b="1" dirty="0">
                <a:solidFill>
                  <a:srgbClr val="0066CC"/>
                </a:solidFill>
                <a:latin typeface="Consolas"/>
                <a:ea typeface="Consolas"/>
              </a:rPr>
              <a:t>        </a:t>
            </a:r>
            <a:r>
              <a:rPr sz="2400" b="1" dirty="0">
                <a:solidFill>
                  <a:srgbClr val="0066CC"/>
                </a:solidFill>
                <a:latin typeface="Consolas"/>
                <a:ea typeface="Consolas"/>
              </a:rPr>
              <a:t>"</a:t>
            </a:r>
            <a:r>
              <a:rPr sz="2400" b="1" dirty="0" err="1">
                <a:solidFill>
                  <a:srgbClr val="0066CC"/>
                </a:solidFill>
                <a:latin typeface="Consolas"/>
                <a:ea typeface="Consolas"/>
              </a:rPr>
              <a:t>最新</a:t>
            </a:r>
            <a:r>
              <a:rPr sz="2400" b="1" dirty="0">
                <a:solidFill>
                  <a:srgbClr val="0066CC"/>
                </a:solidFill>
                <a:latin typeface="Consolas"/>
                <a:ea typeface="Consolas"/>
              </a:rPr>
              <a:t>" · "2026 年" · "</a:t>
            </a:r>
            <a:r>
              <a:rPr sz="2400" b="1" dirty="0" err="1">
                <a:solidFill>
                  <a:srgbClr val="0066CC"/>
                </a:solidFill>
                <a:latin typeface="Consolas"/>
                <a:ea typeface="Consolas"/>
              </a:rPr>
              <a:t>今天</a:t>
            </a:r>
            <a:r>
              <a:rPr sz="2400" b="1" dirty="0">
                <a:solidFill>
                  <a:srgbClr val="0066CC"/>
                </a:solidFill>
                <a:latin typeface="Consolas"/>
                <a:ea typeface="Consolas"/>
              </a:rPr>
              <a:t>" · "</a:t>
            </a:r>
            <a:r>
              <a:rPr sz="2400" b="1" dirty="0" err="1">
                <a:solidFill>
                  <a:srgbClr val="0066CC"/>
                </a:solidFill>
                <a:latin typeface="Consolas"/>
                <a:ea typeface="Consolas"/>
              </a:rPr>
              <a:t>附近</a:t>
            </a:r>
            <a:r>
              <a:rPr sz="2400" b="1" dirty="0">
                <a:solidFill>
                  <a:srgbClr val="0066CC"/>
                </a:solidFill>
                <a:latin typeface="Consolas"/>
                <a:ea typeface="Consolas"/>
              </a:rPr>
              <a:t>" · "</a:t>
            </a:r>
            <a:r>
              <a:rPr sz="2400" b="1" dirty="0" err="1">
                <a:solidFill>
                  <a:srgbClr val="0066CC"/>
                </a:solidFill>
                <a:latin typeface="Consolas"/>
                <a:ea typeface="Consolas"/>
              </a:rPr>
              <a:t>刚刚</a:t>
            </a:r>
            <a:r>
              <a:rPr sz="2400" b="1" dirty="0">
                <a:solidFill>
                  <a:srgbClr val="0066CC"/>
                </a:solidFill>
                <a:latin typeface="Consolas"/>
                <a:ea typeface="Consolas"/>
              </a:rPr>
              <a:t>"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000" b="1" dirty="0">
              <a:solidFill>
                <a:srgbClr val="0066CC"/>
              </a:solidFill>
              <a:latin typeface="Consolas"/>
              <a:ea typeface="Consolas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②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用户强制指令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200" b="1" dirty="0">
                <a:solidFill>
                  <a:srgbClr val="004CA0"/>
                </a:solidFill>
                <a:latin typeface="Arial"/>
                <a:ea typeface="Arial"/>
              </a:rPr>
              <a:t>(Explicit-trigger)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当发现模型用陈旧的预训练知识敷衍你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直接下达命令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800" b="1" dirty="0">
                <a:solidFill>
                  <a:srgbClr val="0066CC"/>
                </a:solidFill>
                <a:latin typeface="Consolas"/>
                <a:ea typeface="Consolas"/>
              </a:rPr>
              <a:t>        </a:t>
            </a:r>
            <a:r>
              <a:rPr sz="2400" b="1" dirty="0">
                <a:solidFill>
                  <a:srgbClr val="0066CC"/>
                </a:solidFill>
                <a:latin typeface="Consolas"/>
                <a:ea typeface="Consolas"/>
              </a:rPr>
              <a:t>"</a:t>
            </a:r>
            <a:r>
              <a:rPr sz="2400" b="1" dirty="0" err="1">
                <a:solidFill>
                  <a:srgbClr val="0066CC"/>
                </a:solidFill>
                <a:latin typeface="Consolas"/>
                <a:ea typeface="Consolas"/>
              </a:rPr>
              <a:t>请务必先进行联网搜索，再告诉我这项技术的最新进展</a:t>
            </a:r>
            <a:r>
              <a:rPr sz="2400" b="1" dirty="0">
                <a:solidFill>
                  <a:srgbClr val="0066CC"/>
                </a:solidFill>
                <a:latin typeface="Consolas"/>
                <a:ea typeface="Consolas"/>
              </a:rPr>
              <a:t>。"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800" b="1" dirty="0">
              <a:solidFill>
                <a:srgbClr val="0066CC"/>
              </a:solidFill>
              <a:latin typeface="Consolas"/>
              <a:ea typeface="Consolas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或直接点击对话框旁的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开启联网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/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搜索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按钮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26 / 42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2.3.3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联网检索的局限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仅解决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最新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未解决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最准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914400"/>
            <a:ext cx="10789920" cy="520269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联网检索是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AI 的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睁眼看世界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用最新互联网资讯增强预训练知识，减少学术幻觉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但作为严谨的研究生，你必须保持清醒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⚠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就像日常使用百度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/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必应一样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——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      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搜索引擎返回的网页同样包含大量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      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劣质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虚假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充满偏见的垃圾信息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如果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AI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抓取的是带偏见的营销号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/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伪造的学术报道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——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总结出的答案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依然是错误的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2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联网检索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解决了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信息最新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 ，但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未解决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信息最准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下一节将探讨如何引导大模型使用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更可靠、更权威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的学术信源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27 / 42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0" b="1" i="0">
                <a:solidFill>
                  <a:srgbClr val="FFFFFF"/>
                </a:solidFill>
                <a:latin typeface="Arial"/>
                <a:ea typeface="Arial"/>
              </a:rPr>
              <a:t>2.4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514600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驾驭外部数据</a:t>
            </a:r>
            <a:endParaRPr sz="4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65760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84048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联网检索非万能。学会信源约束、识破时效陷阱、洞察双代理机制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—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才能让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提供真正学术严谨的答案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28 / 42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2.4.1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主动设定信源约束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" y="892304"/>
            <a:ext cx="9665441" cy="5089654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AI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联网时的天然偏好：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流量高、受欢迎的公共来源</a:t>
            </a:r>
            <a:endParaRPr sz="24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→ Reddit / Wikipedia / YouTube  ·  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知乎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百度百科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/ B 站 / 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小红书</a:t>
            </a:r>
            <a:endParaRPr lang="en-US" sz="22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✗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不加限制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→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大概率从最容易获取的公共平台提取答案，而非从最可靠的学术来源中提取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  <a:endParaRPr lang="en-US"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✓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专家做法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  <a:endParaRPr lang="en-US" sz="24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US"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		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在提示词中主动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引导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信源类型</a:t>
            </a:r>
            <a:endParaRPr sz="24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示例：询问某种前沿药物或实验试剂的安全性</a:t>
            </a:r>
            <a:endParaRPr sz="22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无约束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社交媒体个人经验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商家营销话术</a:t>
            </a: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有约束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200" b="1" dirty="0">
                <a:solidFill>
                  <a:srgbClr val="0066CC"/>
                </a:solidFill>
                <a:latin typeface="Consolas"/>
                <a:ea typeface="Consolas"/>
              </a:rPr>
              <a:t>"</a:t>
            </a:r>
            <a:r>
              <a:rPr sz="2200" b="1" dirty="0" err="1">
                <a:solidFill>
                  <a:srgbClr val="0066CC"/>
                </a:solidFill>
                <a:latin typeface="Consolas"/>
                <a:ea typeface="Consolas"/>
              </a:rPr>
              <a:t>请使用官方组织或具有严格科学依据的研究机构</a:t>
            </a:r>
            <a:r>
              <a:rPr sz="2200" b="1" dirty="0">
                <a:solidFill>
                  <a:srgbClr val="0066CC"/>
                </a:solidFill>
                <a:latin typeface="Consolas"/>
                <a:ea typeface="Consolas"/>
              </a:rPr>
              <a:t>"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→ AI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提供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具有科学公信力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的答案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29 / 42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879CA-45E4-2A38-D3E5-2BA9F2E39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B25CBBE-6595-B722-C156-ED662B1DBCB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B4AF1D29-6660-B476-BA75-74ADF6134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893186C-8C15-DC0A-6043-B712EC42B548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7C1982-DB6C-C8B8-D79E-8BCCECD43AF8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2.4.1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550D89-AE68-1D94-8783-34F14BBC6924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428B22-B85D-6972-A85B-1D02209B6697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主动设定信源约束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9434E9-B029-7ADB-4707-2732AF21AC1F}"/>
              </a:ext>
            </a:extLst>
          </p:cNvPr>
          <p:cNvSpPr txBox="1"/>
          <p:nvPr/>
        </p:nvSpPr>
        <p:spPr>
          <a:xfrm>
            <a:off x="3947007" y="5962888"/>
            <a:ext cx="429768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2-12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提示词信源约束对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检索结果的影响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F0AC70-C2D0-D9C8-68F4-EDCD1A369866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29 / 42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8FCACC29-0F9B-9418-8D0C-3A1284237DD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950" y="1051560"/>
            <a:ext cx="9872960" cy="4761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7102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2.4.2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网页的时效性陷阱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极易踩坑的真实场景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55320" y="862322"/>
            <a:ext cx="10344374" cy="5409742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Consolas"/>
                <a:ea typeface="Consolas"/>
              </a:rPr>
              <a:t>提问</a:t>
            </a:r>
            <a:r>
              <a:rPr sz="2400" b="1" dirty="0">
                <a:solidFill>
                  <a:srgbClr val="004CA0"/>
                </a:solidFill>
                <a:latin typeface="Consolas"/>
                <a:ea typeface="Consolas"/>
              </a:rPr>
              <a:t>："</a:t>
            </a:r>
            <a:r>
              <a:rPr sz="2400" b="1" dirty="0" err="1">
                <a:solidFill>
                  <a:srgbClr val="004CA0"/>
                </a:solidFill>
                <a:latin typeface="Consolas"/>
                <a:ea typeface="Consolas"/>
              </a:rPr>
              <a:t>北京海淀黄庄附近通宵自习场地</a:t>
            </a:r>
            <a:r>
              <a:rPr sz="2400" b="1" dirty="0">
                <a:solidFill>
                  <a:srgbClr val="004CA0"/>
                </a:solidFill>
                <a:latin typeface="Consolas"/>
                <a:ea typeface="Consolas"/>
              </a:rPr>
              <a:t>"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→ 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触发联网检索，自信地罗列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800" b="1" dirty="0">
                <a:solidFill>
                  <a:srgbClr val="0066CC"/>
                </a:solidFill>
                <a:latin typeface="Consolas"/>
                <a:ea typeface="Consolas"/>
              </a:rPr>
              <a:t>        </a:t>
            </a:r>
            <a:r>
              <a:rPr sz="2200" b="1" dirty="0">
                <a:solidFill>
                  <a:srgbClr val="0066CC"/>
                </a:solidFill>
                <a:latin typeface="Consolas"/>
                <a:ea typeface="Consolas"/>
              </a:rPr>
              <a:t>"</a:t>
            </a:r>
            <a:r>
              <a:rPr sz="2200" b="1" dirty="0" err="1">
                <a:solidFill>
                  <a:srgbClr val="0066CC"/>
                </a:solidFill>
                <a:latin typeface="Consolas"/>
                <a:ea typeface="Consolas"/>
              </a:rPr>
              <a:t>某某大学南门旧教书馆</a:t>
            </a:r>
            <a:r>
              <a:rPr sz="2200" b="1" dirty="0">
                <a:solidFill>
                  <a:srgbClr val="0066CC"/>
                </a:solidFill>
                <a:latin typeface="Consolas"/>
                <a:ea typeface="Consolas"/>
              </a:rPr>
              <a:t> — </a:t>
            </a:r>
            <a:r>
              <a:rPr sz="2200" b="1" dirty="0" err="1">
                <a:solidFill>
                  <a:srgbClr val="0066CC"/>
                </a:solidFill>
                <a:latin typeface="Consolas"/>
                <a:ea typeface="Consolas"/>
              </a:rPr>
              <a:t>全天候开放、无需刷卡</a:t>
            </a:r>
            <a:r>
              <a:rPr sz="2200" b="1" dirty="0">
                <a:solidFill>
                  <a:srgbClr val="0066CC"/>
                </a:solidFill>
                <a:latin typeface="Consolas"/>
                <a:ea typeface="Consolas"/>
              </a:rPr>
              <a:t> …"</a:t>
            </a:r>
            <a:endParaRPr sz="1800" b="1" dirty="0">
              <a:solidFill>
                <a:srgbClr val="0066CC"/>
              </a:solidFill>
              <a:latin typeface="Consolas"/>
              <a:ea typeface="Consolas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深夜跑过去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 → 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吃闭门羹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点开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提供的引用链接：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原文是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 2016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年的高校论坛旧帖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底层原因：搜索引擎给老网页高权重</a:t>
            </a:r>
            <a:endParaRPr sz="24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后台搜索助手任务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=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匹配关键词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把权重高的"老古董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当成最新资讯，用现代语气转述给你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✗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学术中的严重危害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核心期刊投稿格式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抓到几年前的旧通告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学术会议延期截稿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错过真实截止日期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学位论文盲审规定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按过时格式排版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✓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肌肉记忆：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强时效性信息必亲自点击来源链接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核对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发布日期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30 / 42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2.4.3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如何阅读网页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双代理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5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步协同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主模型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← → 搜索助手模型：5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步协同流水线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2286000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689854"/>
            <a:ext cx="2286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任务下发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65760" y="2194560"/>
            <a:ext cx="228600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2011680" cy="1354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用户提问</a:t>
            </a:r>
            <a:r>
              <a:rPr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主模型判断知识不足</a:t>
            </a:r>
            <a:r>
              <a:rPr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转交搜索助手</a:t>
            </a:r>
            <a:endParaRPr sz="22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697480" y="1554480"/>
            <a:ext cx="2286000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697480" y="1689854"/>
            <a:ext cx="2286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生成搜索词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697480" y="2194560"/>
            <a:ext cx="228600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834640" y="2331720"/>
            <a:ext cx="2011680" cy="1354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搜索助手把原话拆解为多个精准关键词并并行检索</a:t>
            </a:r>
            <a:endParaRPr sz="22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29200" y="1554480"/>
            <a:ext cx="2286000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0" y="1689854"/>
            <a:ext cx="2286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筛选过滤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029200" y="2194560"/>
            <a:ext cx="228600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66360" y="2331720"/>
            <a:ext cx="2011680" cy="1015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海量网页相关性评估</a:t>
            </a:r>
            <a:r>
              <a:rPr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保留干货</a:t>
            </a:r>
            <a:r>
              <a:rPr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剔除干扰</a:t>
            </a:r>
            <a:endParaRPr sz="22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360920" y="1554480"/>
            <a:ext cx="2286000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60920" y="1689854"/>
            <a:ext cx="2286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④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提取摘要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360920" y="2194560"/>
            <a:ext cx="228600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98080" y="2331720"/>
            <a:ext cx="2011680" cy="1015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节省算力</a:t>
            </a:r>
            <a:r>
              <a:rPr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仅切片核心文本片段（非全文</a:t>
            </a:r>
            <a:r>
              <a:rPr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92640" y="1554480"/>
            <a:ext cx="2286000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692640" y="1689854"/>
            <a:ext cx="2286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⑤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生成结果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9692640" y="2194560"/>
            <a:ext cx="228600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829800" y="2331720"/>
            <a:ext cx="2011680" cy="1015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主模型缝合摘要</a:t>
            </a:r>
            <a:r>
              <a:rPr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输出条理清晰的回答</a:t>
            </a:r>
            <a:endParaRPr sz="22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65760" y="4754880"/>
            <a:ext cx="11430000" cy="155448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48640" y="4846320"/>
            <a:ext cx="1106424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⚠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隐藏的幻觉机制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48640" y="5257800"/>
            <a:ext cx="11064240" cy="1015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主模型实际并未通读它为你引用的网页全文</a:t>
            </a:r>
            <a:r>
              <a:rPr sz="2200" b="0" i="0" dirty="0">
                <a:solidFill>
                  <a:srgbClr val="FFFFFF"/>
                </a:solidFill>
                <a:latin typeface="Microsoft YaHei"/>
                <a:ea typeface="Microsoft YaHei"/>
              </a:rPr>
              <a:t> — </a:t>
            </a:r>
            <a:r>
              <a:rPr sz="2200" b="0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它只看到</a:t>
            </a:r>
            <a:r>
              <a:rPr sz="2200" b="0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200" b="0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搜索助手</a:t>
            </a:r>
            <a:r>
              <a:rPr sz="2200" b="0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200" b="0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提炼的摘要</a:t>
            </a:r>
            <a:r>
              <a:rPr sz="2200" b="0" i="0" dirty="0">
                <a:solidFill>
                  <a:srgbClr val="FFFFFF"/>
                </a:solidFill>
                <a:latin typeface="Microsoft YaHei"/>
                <a:ea typeface="Microsoft YaHei"/>
              </a:rPr>
              <a:t>。
→ </a:t>
            </a:r>
            <a:r>
              <a:rPr sz="2200" b="0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这导致</a:t>
            </a:r>
            <a:r>
              <a:rPr sz="2200" b="0" i="0" dirty="0">
                <a:solidFill>
                  <a:srgbClr val="FFFFFF"/>
                </a:solidFill>
                <a:latin typeface="Microsoft YaHei"/>
                <a:ea typeface="Microsoft YaHei"/>
              </a:rPr>
              <a:t> AI </a:t>
            </a:r>
            <a:r>
              <a:rPr sz="2200" b="0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信誓旦旦引用某网页，但你点开链接后却发现原文意思截然相反。务必亲自点开来源链接核对</a:t>
            </a:r>
            <a:r>
              <a:rPr sz="2200" b="0" i="0" dirty="0">
                <a:solidFill>
                  <a:srgbClr val="FFFFFF"/>
                </a:solidFill>
                <a:latin typeface="Microsoft YaHei"/>
                <a:ea typeface="Microsoft YaHei"/>
              </a:rPr>
              <a:t>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31 / 42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2.4.4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传统搜索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vs 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大模型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场景分工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2-3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传统搜索引擎与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联网大模型的选择策略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310896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621274"/>
            <a:ext cx="31089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科研场景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474720" y="1554480"/>
            <a:ext cx="420624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0" y="1621274"/>
            <a:ext cx="42062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传统搜索引擎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80960" y="1554480"/>
            <a:ext cx="420624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80960" y="1621274"/>
            <a:ext cx="42062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联网大模型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65760" y="2057400"/>
            <a:ext cx="310896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2231023"/>
            <a:ext cx="28346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寻找目标</a:t>
            </a:r>
            <a:r>
              <a:rPr sz="2200" b="1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链接定位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474720" y="2057400"/>
            <a:ext cx="420624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11880" y="2261800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✅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直接跳转期刊官网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数据集首页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680960" y="2057400"/>
            <a:ext cx="420624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818120" y="2261800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✘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不必要的概率组合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65760" y="2743200"/>
            <a:ext cx="3108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2916823"/>
            <a:ext cx="28346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寻找目标</a:t>
            </a:r>
            <a:r>
              <a:rPr sz="2200" b="1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概念构建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474720" y="2743200"/>
            <a:ext cx="42062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11880" y="2947600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△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几十个零散链接需自己阅读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680960" y="2743200"/>
            <a:ext cx="42062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818120" y="2947600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✅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语义整合，秒给综合性评述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65760" y="3429000"/>
            <a:ext cx="310896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3602623"/>
            <a:ext cx="28346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altLang="en-US" sz="2200" b="1" i="0" dirty="0">
                <a:solidFill>
                  <a:srgbClr val="333333"/>
                </a:solidFill>
                <a:latin typeface="Microsoft YaHei"/>
                <a:ea typeface="Microsoft YaHei"/>
              </a:rPr>
              <a:t>获取实体 </a:t>
            </a:r>
            <a:r>
              <a:rPr lang="en-US" altLang="zh-CN" sz="2200" b="1" i="0" dirty="0">
                <a:solidFill>
                  <a:srgbClr val="333333"/>
                </a:solidFill>
                <a:latin typeface="Microsoft YaHei"/>
                <a:ea typeface="Microsoft YaHei"/>
              </a:rPr>
              <a:t>· </a:t>
            </a:r>
            <a:r>
              <a:rPr lang="zh-CN" altLang="en-US" sz="2200" b="1" i="0" dirty="0">
                <a:solidFill>
                  <a:srgbClr val="333333"/>
                </a:solidFill>
                <a:latin typeface="Microsoft YaHei"/>
                <a:ea typeface="Microsoft YaHei"/>
              </a:rPr>
              <a:t>精确索引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474720" y="3429000"/>
            <a:ext cx="420624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611880" y="3633400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✅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召回官方采购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原厂说明书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680960" y="3429000"/>
            <a:ext cx="420624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818120" y="3633400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△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不及搜索高效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65760" y="4114800"/>
            <a:ext cx="3108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4288423"/>
            <a:ext cx="28346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获取实体</a:t>
            </a:r>
            <a:r>
              <a:rPr sz="2200" b="1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利弊权衡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3474720" y="4114800"/>
            <a:ext cx="42062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11880" y="4319200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✘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关键词匹配失效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7680960" y="4114800"/>
            <a:ext cx="42062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878918" y="4231821"/>
            <a:ext cx="3871122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✅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跨论坛白皮书浓缩提炼，输出决策方案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365760" y="4800600"/>
            <a:ext cx="310896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02920" y="4974223"/>
            <a:ext cx="28346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数据溯源</a:t>
            </a:r>
            <a:r>
              <a:rPr sz="2200" b="1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一手严谨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474720" y="4800600"/>
            <a:ext cx="420624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611880" y="5005000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✅ 100%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真实，保护学术生命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7680960" y="4800600"/>
            <a:ext cx="420624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818120" y="5005000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✘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概率预测可能引入幻觉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365760" y="5486400"/>
            <a:ext cx="3108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02920" y="5660023"/>
            <a:ext cx="28346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数据溯源</a:t>
            </a:r>
            <a:r>
              <a:rPr sz="2200" b="1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二手清洗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3474720" y="5486400"/>
            <a:ext cx="42062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611880" y="5690800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△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需自行翻阅冗长报告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7680960" y="5486400"/>
            <a:ext cx="42062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18120" y="5690800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✅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数字清算师，去粗取精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32 / 42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0" b="1" i="0">
                <a:solidFill>
                  <a:srgbClr val="FFFFFF"/>
                </a:solidFill>
                <a:latin typeface="Arial"/>
                <a:ea typeface="Arial"/>
              </a:rPr>
              <a:t>2.5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84376" y="2514600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复杂任务的智能代理</a:t>
            </a:r>
            <a:endParaRPr sz="4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65760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84048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从被动搜索到主动探索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— 让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像学术助理一样自主拟计划、并行抓取、动态迭代，撰写规范引用的长篇研究报告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33 / 42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2.5.1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深度研究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从被动搜索到主动探索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" y="1051560"/>
            <a:ext cx="9140499" cy="4927365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场景：导师要你下月办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跨学科研究生创新论坛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的策划案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  <a:endParaRPr lang="en-US" sz="24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普通联网检索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 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一堆零散的网页链接，让你自己去拼凑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lang="en-US"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endParaRPr lang="en-US" sz="2000" b="1" dirty="0">
              <a:solidFill>
                <a:srgbClr val="0066CC"/>
              </a:solidFill>
              <a:latin typeface="Arial"/>
              <a:ea typeface="Arial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66CC"/>
                </a:solidFill>
                <a:latin typeface="Arial"/>
                <a:ea typeface="Arial"/>
              </a:rPr>
              <a:t>深度研究</a:t>
            </a:r>
            <a:r>
              <a:rPr sz="2200" b="1" dirty="0">
                <a:solidFill>
                  <a:srgbClr val="0066CC"/>
                </a:solidFill>
                <a:latin typeface="Arial"/>
                <a:ea typeface="Arial"/>
              </a:rPr>
              <a:t> (Deep Research)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像成熟的学术助理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①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先向你询问关键问题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 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(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场地大小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预算限制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②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拟定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研究计划框架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—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列出分步骤如何查找综合信息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③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你审批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 /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编辑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—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补充遗漏维度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(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如校园报备规定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④ AI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自主执行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智能体决策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—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资料不深就主动发起新检索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⑤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几分钟后交付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详尽研究报告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—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合规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安保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流程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引用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34 / 42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8609A-0B5F-F241-5104-AD86EA910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617F9C-B3A1-98FE-7A79-68084B347E3D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2C9A6254-0274-173F-DACF-42EC6A615C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8C56380-1527-BCEA-F58B-FD6E1A89DC0B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EA8086-8F29-9411-3680-FEF8D144BDB8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2.5.1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250934-1915-DF17-65B2-56FCC94546FA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22924D-4872-40F8-4D1A-F1DB61A5A54C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深度研究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从被动搜索到主动探索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A42067-B83F-6266-1B6E-C148222E00CE}"/>
              </a:ext>
            </a:extLst>
          </p:cNvPr>
          <p:cNvSpPr txBox="1"/>
          <p:nvPr/>
        </p:nvSpPr>
        <p:spPr>
          <a:xfrm>
            <a:off x="4094773" y="6172998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2-14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深度研究的人机协同与自主决策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DE1FEA-E887-5C40-DC00-35035110AEA1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34 / 42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50A22928-BA9D-1039-07FF-4A80305793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9459" y="874733"/>
            <a:ext cx="6489012" cy="5167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0005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2.5.2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深度研究的底层工作流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并行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+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迭代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14814" y="796011"/>
            <a:ext cx="8078688" cy="6033694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效率优势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并行处理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：同时发起大量网页搜索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，</a:t>
            </a:r>
            <a:endParaRPr lang="en-US"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无需像人类一样逐个标签页缓慢查阅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🔄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多轮迭代循环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①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并行搜索</a:t>
            </a:r>
            <a:r>
              <a:rPr sz="19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—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一次抓取数十至上百网页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dirty="0">
                <a:solidFill>
                  <a:srgbClr val="0066CC"/>
                </a:solidFill>
                <a:latin typeface="Microsoft YaHei"/>
                <a:ea typeface="Microsoft YaHei"/>
              </a:rPr>
              <a:t>            </a:t>
            </a: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↓</a:t>
            </a:r>
            <a:endParaRPr sz="18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②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快速评估</a:t>
            </a:r>
            <a:r>
              <a:rPr sz="19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—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分辨强相关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✓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无关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✗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dirty="0">
                <a:solidFill>
                  <a:srgbClr val="0066CC"/>
                </a:solidFill>
                <a:latin typeface="Microsoft YaHei"/>
                <a:ea typeface="Microsoft YaHei"/>
              </a:rPr>
              <a:t>            </a:t>
            </a:r>
            <a:r>
              <a:rPr sz="1800" b="1" dirty="0">
                <a:solidFill>
                  <a:srgbClr val="0066CC"/>
                </a:solidFill>
                <a:latin typeface="Microsoft YaHei"/>
                <a:ea typeface="Microsoft YaHei"/>
              </a:rPr>
              <a:t>↓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③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自主研判</a:t>
            </a:r>
            <a:r>
              <a:rPr sz="19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—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证据链不足？动态换全新关键词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1" dirty="0">
                <a:solidFill>
                  <a:srgbClr val="004CA0"/>
                </a:solidFill>
                <a:latin typeface="Consolas"/>
                <a:ea typeface="Consolas"/>
              </a:rPr>
              <a:t>     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例：从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 "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跨学科论坛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" → "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学术会议茶歇标准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"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dirty="0">
                <a:solidFill>
                  <a:srgbClr val="0066CC"/>
                </a:solidFill>
                <a:latin typeface="Microsoft YaHei"/>
                <a:ea typeface="Microsoft YaHei"/>
              </a:rPr>
              <a:t>            ↓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④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再次搜索</a:t>
            </a:r>
            <a:r>
              <a:rPr sz="19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回到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②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重新评估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直到信息足够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跳出循环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→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综合、引用、起草报告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6560" y="4773939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2-15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深度研究的底层循环机制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35 / 42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D184E75E-C7B1-2565-297D-4624FBB65ED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481" b="8765"/>
          <a:stretch/>
        </p:blipFill>
        <p:spPr bwMode="auto">
          <a:xfrm>
            <a:off x="5728122" y="1497105"/>
            <a:ext cx="6357533" cy="285273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2.5.3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多样化输出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一键转化交互式可视化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80060" y="844034"/>
            <a:ext cx="6583680" cy="5799784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AI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的能力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≠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纯文本输出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现代大模型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(Gemini / ChatGPT / Claude /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通义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)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支持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以筹办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跨学科研究生论坛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为例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  <a:endParaRPr sz="22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点击几下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长篇报告转化为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📊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交互式网页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可点击展开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跳转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📈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数据可视化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经费预算饼状图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📋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流程图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场地审批可视化流程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✅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待办清单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筹备执行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Checklist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制作组会汇报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PPT /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课题海报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/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图文方案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— 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颠覆性的效率提升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94276" y="5740826"/>
            <a:ext cx="429768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2-16  Gemini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深度研究结果的多维度格式转化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36 / 42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D0A0E94C-F7C8-8397-1FB4-90FAB078E1C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3475" y="1234459"/>
            <a:ext cx="4168140" cy="423414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2.5.4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基础联网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vs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深度研究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场景对比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2-4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基础联网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与深度研究模式的场景对比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2194560" cy="4572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598414"/>
            <a:ext cx="21945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对比维度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743200" y="1554480"/>
            <a:ext cx="4023360" cy="4572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0" y="1598414"/>
            <a:ext cx="40233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基础联网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1554480"/>
            <a:ext cx="4572000" cy="4572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66560" y="1598414"/>
            <a:ext cx="4572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深度研究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(Deep Research)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11680"/>
            <a:ext cx="2194560" cy="5943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2139583"/>
            <a:ext cx="19202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响应时长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743200" y="2011680"/>
            <a:ext cx="4023360" cy="5943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880360" y="2154971"/>
            <a:ext cx="37490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秒级响应（10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秒内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2011680"/>
            <a:ext cx="4572000" cy="5943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03720" y="2154971"/>
            <a:ext cx="4297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分钟级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(5-30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分钟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606040"/>
            <a:ext cx="21945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2733943"/>
            <a:ext cx="19202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处理深度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743200" y="2606040"/>
            <a:ext cx="40233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880360" y="2749331"/>
            <a:ext cx="37490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浅层信息抓取，最相关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1-3 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2606040"/>
            <a:ext cx="45720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03720" y="2749331"/>
            <a:ext cx="4297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并行抓取数十至上百网页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48640" y="3200400"/>
            <a:ext cx="2194560" cy="5943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5800" y="3328303"/>
            <a:ext cx="19202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人机协同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743200" y="3200400"/>
            <a:ext cx="4023360" cy="5943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880360" y="3343691"/>
            <a:ext cx="37490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单轮问答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766560" y="3200400"/>
            <a:ext cx="4572000" cy="5943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903720" y="3343691"/>
            <a:ext cx="4297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需用户审批研究计划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48640" y="3794760"/>
            <a:ext cx="21945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85800" y="3922663"/>
            <a:ext cx="19202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自主性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743200" y="3794760"/>
            <a:ext cx="40233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880360" y="3938051"/>
            <a:ext cx="37490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被动执行单次检索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6766560" y="3794760"/>
            <a:ext cx="45720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903720" y="3938051"/>
            <a:ext cx="4297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智能体自主决策、动态换关键词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548640" y="4389120"/>
            <a:ext cx="2194560" cy="5943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5800" y="4517023"/>
            <a:ext cx="19202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输出形式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743200" y="4389120"/>
            <a:ext cx="4023360" cy="5943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880360" y="4532411"/>
            <a:ext cx="37490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条目式简短答案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766560" y="4389120"/>
            <a:ext cx="4572000" cy="5943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903720" y="4532411"/>
            <a:ext cx="4297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结构化长报告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规范引用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548640" y="4983480"/>
            <a:ext cx="21945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85800" y="5111383"/>
            <a:ext cx="19202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典型任务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743200" y="4983480"/>
            <a:ext cx="40233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880360" y="5126771"/>
            <a:ext cx="37490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查天气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找单一事实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简短解释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6766560" y="4983480"/>
            <a:ext cx="45720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903720" y="5126771"/>
            <a:ext cx="44348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文献综述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跨学科论坛策划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决策报告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48640" y="5577840"/>
            <a:ext cx="2194560" cy="5943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85800" y="5705743"/>
            <a:ext cx="19202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最佳类比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2743200" y="5577840"/>
            <a:ext cx="4023360" cy="5943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2880360" y="5721131"/>
            <a:ext cx="37490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便携字典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6766560" y="5577840"/>
            <a:ext cx="4572000" cy="5943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903720" y="5721131"/>
            <a:ext cx="4297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学术调研助理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37 / 42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2.5.4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如何选择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基础联网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vs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深度研究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36494" y="914400"/>
            <a:ext cx="11113546" cy="5134986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6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使用基础联网</a:t>
            </a:r>
            <a:r>
              <a:rPr sz="2600" b="1" dirty="0">
                <a:solidFill>
                  <a:srgbClr val="0066CC"/>
                </a:solidFill>
                <a:latin typeface="Microsoft YaHei"/>
                <a:ea typeface="Microsoft YaHei"/>
              </a:rPr>
              <a:t> AI · </a:t>
            </a:r>
            <a:r>
              <a:rPr sz="26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单一事实查询</a:t>
            </a:r>
            <a:endParaRPr sz="26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当你的问题仅需要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一个事实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（开门的自习室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天气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概念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你自己查也只需几秒浏览。基础联网快速回答即可，不必久等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6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使用深度研究</a:t>
            </a:r>
            <a:r>
              <a:rPr sz="2600" b="1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6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复杂综合任务</a:t>
            </a:r>
            <a:endParaRPr sz="26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当任务需要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综合多种观点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/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权衡利弊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/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复杂结论</a:t>
            </a: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（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每日步数与长期健康的医学关联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自己手动做要花几十分钟到几小时阅读数十篇文献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明确调用深度研究模式，让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AI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后台深度思考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几分钟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，而不是满足于流传的几个肤浅答案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0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了解边界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= 让 AI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成为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强大的学术代理人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(Agent)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38 / 42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0" b="1" i="0">
                <a:solidFill>
                  <a:srgbClr val="FFFFFF"/>
                </a:solidFill>
                <a:latin typeface="Arial"/>
                <a:ea typeface="Arial"/>
              </a:rPr>
              <a:t>2.6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388037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本章实训</a:t>
            </a:r>
            <a:endParaRPr sz="4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65760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84048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四个动手实验：联网开关对比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深度研究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vs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普通搜索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上传本地文档定向问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错别字理解力测试</a:t>
            </a:r>
            <a:r>
              <a:rPr sz="18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39 / 42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2.6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本章实训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四个动手实验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557784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051560"/>
            <a:ext cx="100584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118354"/>
            <a:ext cx="10058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实验一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508760" y="1179463"/>
            <a:ext cx="429768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对比</a:t>
            </a:r>
            <a:r>
              <a:rPr sz="22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"</a:t>
            </a:r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开启</a:t>
            </a:r>
            <a:r>
              <a:rPr sz="22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 vs "</a:t>
            </a:r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关闭</a:t>
            </a:r>
            <a:r>
              <a:rPr sz="22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 </a:t>
            </a:r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联网搜索</a:t>
            </a:r>
            <a:endParaRPr sz="22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8640" y="1737360"/>
            <a:ext cx="5212080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 dirty="0" err="1">
                <a:solidFill>
                  <a:srgbClr val="F58020"/>
                </a:solidFill>
                <a:latin typeface="Microsoft YaHei"/>
                <a:ea typeface="Microsoft YaHei"/>
              </a:rPr>
              <a:t>目的：直观感受预训练知识的时效性局限与联网检索的作用</a:t>
            </a:r>
            <a:r>
              <a:rPr sz="2200" b="0" i="1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472273"/>
            <a:ext cx="521208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提问："2026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春节档票房冠军是哪部电影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？"
→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关闭联网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vs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开启联网，对比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是承认不知道还是胡编</a:t>
            </a:r>
            <a:r>
              <a:rPr sz="13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1051560"/>
            <a:ext cx="557784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80760" y="1051560"/>
            <a:ext cx="100584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80760" y="1118354"/>
            <a:ext cx="10058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实验二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223760" y="1179463"/>
            <a:ext cx="429768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对比</a:t>
            </a:r>
            <a:r>
              <a:rPr sz="22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"</a:t>
            </a:r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普通搜索</a:t>
            </a:r>
            <a:r>
              <a:rPr sz="22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 vs "</a:t>
            </a:r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深度研究</a:t>
            </a:r>
            <a:r>
              <a:rPr sz="22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707776"/>
            <a:ext cx="521208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 dirty="0" err="1">
                <a:solidFill>
                  <a:srgbClr val="F58020"/>
                </a:solidFill>
                <a:latin typeface="Microsoft YaHei"/>
                <a:ea typeface="Microsoft YaHei"/>
              </a:rPr>
              <a:t>目的：体会两种模式在复杂学术问题上的深度与信息量差异</a:t>
            </a:r>
            <a:r>
              <a:rPr sz="2000" b="0" i="1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365117"/>
            <a:ext cx="521208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："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评估司美格鲁肽作为日常减脂的安全性，引用高质量医学来源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。"
→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比较耗时、引用数量、报告逻辑深度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520440"/>
            <a:ext cx="557784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100584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3587234"/>
            <a:ext cx="10058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实验三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508760" y="3648343"/>
            <a:ext cx="429768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上传本地文档定向提问</a:t>
            </a:r>
            <a:endParaRPr sz="22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8640" y="4206240"/>
            <a:ext cx="521208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 dirty="0" err="1">
                <a:solidFill>
                  <a:srgbClr val="F58020"/>
                </a:solidFill>
                <a:latin typeface="Microsoft YaHei"/>
                <a:ea typeface="Microsoft YaHei"/>
              </a:rPr>
              <a:t>目的：验证</a:t>
            </a:r>
            <a:r>
              <a:rPr sz="2000" b="0" i="1" dirty="0">
                <a:solidFill>
                  <a:srgbClr val="F58020"/>
                </a:solidFill>
                <a:latin typeface="Microsoft YaHei"/>
                <a:ea typeface="Microsoft YaHei"/>
              </a:rPr>
              <a:t> AI </a:t>
            </a:r>
            <a:r>
              <a:rPr sz="2000" b="0" i="1" dirty="0" err="1">
                <a:solidFill>
                  <a:srgbClr val="F58020"/>
                </a:solidFill>
                <a:latin typeface="Microsoft YaHei"/>
                <a:ea typeface="Microsoft YaHei"/>
              </a:rPr>
              <a:t>结合外部专属文件解决具体问题的能力</a:t>
            </a:r>
            <a:r>
              <a:rPr sz="2000" b="0" i="1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65802"/>
            <a:ext cx="557784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上传本校最新《研究生学位论文盲审及答辩管理规定》PDF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→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询问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盲审得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C，总分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80+，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能否按期毕业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？"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0760" y="3520440"/>
            <a:ext cx="557784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080760" y="3520440"/>
            <a:ext cx="100584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80760" y="3587234"/>
            <a:ext cx="10058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实验四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223760" y="3648343"/>
            <a:ext cx="429768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测试</a:t>
            </a:r>
            <a:r>
              <a:rPr sz="22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AI </a:t>
            </a:r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对错别字的理解力</a:t>
            </a:r>
            <a:endParaRPr sz="22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263640" y="4206240"/>
            <a:ext cx="521208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 dirty="0" err="1">
                <a:solidFill>
                  <a:srgbClr val="F58020"/>
                </a:solidFill>
                <a:latin typeface="Microsoft YaHei"/>
                <a:ea typeface="Microsoft YaHei"/>
              </a:rPr>
              <a:t>目的：体验大模型的语义纠错能力与基础知识深刻记忆</a:t>
            </a:r>
            <a:r>
              <a:rPr sz="2000" b="0" i="1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890373"/>
            <a:ext cx="521208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："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为啥做深杜学习总要调超参树？薛定俄的猫是个啥玩样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？"
→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与语法正确的相同提问对比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输出质量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40 / 42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2004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200" b="1" i="0">
                <a:solidFill>
                  <a:srgbClr val="0066CC"/>
                </a:solidFill>
                <a:latin typeface="Microsoft YaHei"/>
                <a:ea typeface="Microsoft YaHei"/>
              </a:rPr>
              <a:t>本章小结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2847" y="1234440"/>
            <a:ext cx="22860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777240" cy="128016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600200"/>
            <a:ext cx="77724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2.1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1600200"/>
            <a:ext cx="4709160" cy="128016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1655064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AI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新手</a:t>
            </a:r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→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专家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325880" y="2039112"/>
            <a:ext cx="434340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摒弃搜索引擎思维；思维链、人设、迭代三种进阶；背景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任务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约束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输出格式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四要素提示词框架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61888" y="1600200"/>
            <a:ext cx="777240" cy="128016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61888" y="1600200"/>
            <a:ext cx="77724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2.2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39128" y="1600200"/>
            <a:ext cx="4709160" cy="128016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22008" y="1655064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模型的内在大脑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922008" y="2039112"/>
            <a:ext cx="434340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预训练知识来源（互联网论坛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百科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学术库）与两大局限：静态冻结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公开互联网；高词频带来惊人容错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990088"/>
            <a:ext cx="777240" cy="128016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2990088"/>
            <a:ext cx="77724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2.3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2990088"/>
            <a:ext cx="4709160" cy="128016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25880" y="3044952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联网检索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3429000"/>
            <a:ext cx="43434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突破知识截断的桥梁；实时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位置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小众三大触发场景；模型自动决策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vs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用户强制指令</a:t>
            </a:r>
            <a:r>
              <a:rPr sz="1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61888" y="2990088"/>
            <a:ext cx="777240" cy="128016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61888" y="2990088"/>
            <a:ext cx="77724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2.4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39128" y="2990088"/>
            <a:ext cx="4709160" cy="128016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22008" y="3044952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驾驭外部数据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922008" y="3429000"/>
            <a:ext cx="434340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信源约束抵御营销号；网页时效性陷阱必看引用日期；双代理机制中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主模型未读全文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的隐患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379976"/>
            <a:ext cx="777240" cy="128016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4379976"/>
            <a:ext cx="77724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2.5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4379976"/>
            <a:ext cx="4709160" cy="128016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325880" y="4434840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深度研究</a:t>
            </a:r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智能代理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325880" y="4818888"/>
            <a:ext cx="434340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从被动搜索到主动探索；并行抓取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动态换词的多轮循环；多维度输出形态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(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图表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网页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报告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)。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61888" y="4379976"/>
            <a:ext cx="777240" cy="128016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1888" y="4379976"/>
            <a:ext cx="77724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2.6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39128" y="4379976"/>
            <a:ext cx="4709160" cy="128016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922008" y="4434840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本章实训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922008" y="4818888"/>
            <a:ext cx="43434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四个动手实验：联网开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关对比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普通vs深度对比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上传本地文档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错别字理解力测试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897880"/>
            <a:ext cx="11475720" cy="6858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65760" y="6056114"/>
            <a:ext cx="114757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✦  从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被动盲从者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到 "AI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时代的领航员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—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这是本章带给你的核心跃迁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41 / 42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0" y="4114800"/>
            <a:ext cx="6858000" cy="2743200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2286000"/>
            <a:ext cx="12191695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0" b="1" i="0">
                <a:solidFill>
                  <a:srgbClr val="FFFFFF"/>
                </a:solidFill>
                <a:latin typeface="Arial"/>
                <a:ea typeface="Arial"/>
              </a:rPr>
              <a:t>THANKS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solidFill>
                  <a:srgbClr val="E6F2FC"/>
                </a:solidFill>
                <a:latin typeface="Microsoft YaHei"/>
                <a:ea typeface="Microsoft YaHei"/>
              </a:rPr>
              <a:t>感 谢 聆 听 ， 欢 迎 提 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>
                <a:solidFill>
                  <a:srgbClr val="E6F2FC"/>
                </a:solidFill>
                <a:latin typeface="Microsoft YaHei"/>
                <a:ea typeface="Microsoft YaHei"/>
              </a:rPr>
              <a:t>扬州大学  ·  第 2 章  ·  大模型的知识与检索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</TotalTime>
  <Words>2599</Words>
  <Application>Microsoft Office PowerPoint</Application>
  <PresentationFormat>宽屏</PresentationFormat>
  <Paragraphs>611</Paragraphs>
  <Slides>50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50</vt:i4>
      </vt:variant>
    </vt:vector>
  </HeadingPairs>
  <TitlesOfParts>
    <vt:vector size="55" baseType="lpstr">
      <vt:lpstr>Microsoft YaHei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朋 王</cp:lastModifiedBy>
  <cp:revision>5</cp:revision>
  <dcterms:created xsi:type="dcterms:W3CDTF">2013-01-27T09:14:16Z</dcterms:created>
  <dcterms:modified xsi:type="dcterms:W3CDTF">2026-05-28T13:22:37Z</dcterms:modified>
  <cp:category/>
</cp:coreProperties>
</file>