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98" r:id="rId8"/>
    <p:sldId id="262" r:id="rId9"/>
    <p:sldId id="263" r:id="rId10"/>
    <p:sldId id="264" r:id="rId11"/>
    <p:sldId id="265" r:id="rId12"/>
    <p:sldId id="266" r:id="rId13"/>
    <p:sldId id="267" r:id="rId14"/>
    <p:sldId id="299" r:id="rId15"/>
    <p:sldId id="268" r:id="rId16"/>
    <p:sldId id="300" r:id="rId17"/>
    <p:sldId id="269" r:id="rId18"/>
    <p:sldId id="301" r:id="rId19"/>
    <p:sldId id="270" r:id="rId20"/>
    <p:sldId id="302" r:id="rId21"/>
    <p:sldId id="271" r:id="rId22"/>
    <p:sldId id="272" r:id="rId23"/>
    <p:sldId id="273" r:id="rId24"/>
    <p:sldId id="30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304" r:id="rId37"/>
    <p:sldId id="285" r:id="rId38"/>
    <p:sldId id="286" r:id="rId39"/>
    <p:sldId id="287" r:id="rId40"/>
    <p:sldId id="288" r:id="rId41"/>
    <p:sldId id="289" r:id="rId42"/>
    <p:sldId id="305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97"/>
  </p:normalViewPr>
  <p:slideViewPr>
    <p:cSldViewPr snapToGrid="0" snapToObjects="1">
      <p:cViewPr varScale="1">
        <p:scale>
          <a:sx n="85" d="100"/>
          <a:sy n="85" d="100"/>
        </p:scale>
        <p:origin x="8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6562166" y="0"/>
            <a:ext cx="5629530" cy="34290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6849036" y="2940424"/>
            <a:ext cx="5342660" cy="3917576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生成式人工智能与科研素养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</a:rPr>
              <a:t>第 2 章   大模型的知识与检索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122433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04768" y="1645920"/>
            <a:ext cx="3738592" cy="4983438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742278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  <a:endParaRPr sz="5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46888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468880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468880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新手与专家的思维差异</a:t>
            </a:r>
            <a:endParaRPr sz="22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3145536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14553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3145536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145536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模型的内在 "大脑"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22192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82219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822192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3822192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联网检索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98848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49884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498848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4498848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驾驭外部数据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75504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17550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5175504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5175504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复杂任务的智能代理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85216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5852160"/>
            <a:ext cx="539496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37360" y="5852160"/>
            <a:ext cx="52578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为什么必须读懂大模型的知识机制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大语言模型</a:t>
            </a:r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无所不知的魔法黑盒</a:t>
            </a:r>
            <a:endParaRPr sz="28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一个有着明确知识边界、工作机制和局限性的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计算系统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4068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5440680" cy="5029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672834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✗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被动盲从者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新手陷阱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4892040" cy="259082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把 AI 当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凑合能用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的搜索框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不知道它何时出色、何时失效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全盘接收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幻觉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误导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用过时信息写综述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引伪造文献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上传机密数据到公开模型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80760" y="2606040"/>
            <a:ext cx="544068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80760" y="2606040"/>
            <a:ext cx="54406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2672834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 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时代的领航员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本章目标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291840"/>
            <a:ext cx="4892040" cy="260604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精准预判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行为与边界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用提示词工程激活深层推理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合理甄别信源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-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识破时效陷阱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联网检索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深度研究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攻克复杂任务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用 </a:t>
            </a:r>
            <a:r>
              <a:rPr sz="2000" b="1" dirty="0">
                <a:solidFill>
                  <a:srgbClr val="0066CC"/>
                </a:solidFill>
                <a:latin typeface="Arial"/>
                <a:ea typeface="Arial"/>
              </a:rPr>
              <a:t>Agent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完成跨工具学术调研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48517" y="2514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新手与专家的思维差异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从短指令到任务背景，从单次问答到多轮辩论。掌握提示词工程，让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问答机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蜕变为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学术外脑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什么是提示词工程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250" y="1087777"/>
            <a:ext cx="11247120" cy="435169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提示词工程不是玄学，而是一种与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高效沟通的</a:t>
            </a: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系统性方法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在学术科研语境下，它本质上是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人类领域认知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←→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大模型高维概率空间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之间的精密接口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优秀的提示词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精准的钥匙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，迅速约束生成空间，激活深层推理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低质量提问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触发模型的随机性与表面敷衍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同一个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AI，因构建提示词的思维模型不同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最终获得的科研支持质量往往呈现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两极分化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两种思维模式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1026459"/>
            <a:ext cx="7251551" cy="53596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新手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短指令、模糊请求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期望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脑补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帮我找论文选题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一堆假大空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水词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具备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同理心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"，为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准备充足上下文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上传最新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PDF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附带个人初步思路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明确高阶要求：分析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研究空白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+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实施难度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8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从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问答机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蜕变为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学术外脑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为开题阶段节省海量案头摸索时间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D6E77-8299-DFE5-3707-1019CC69B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B8E5792C-D2BB-3F95-D134-A3265AAB1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D43935-85B4-3072-B96E-F97D5BEAC78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62A95-2687-12AC-E0EE-0D962981789C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F0BF3B-B170-1FFB-DC97-46A710468CF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792BFA-7A54-DAD5-A285-DFB70546BA8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两种思维模式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C957F5-0017-0FFD-391B-8F8BA18F8796}"/>
              </a:ext>
            </a:extLst>
          </p:cNvPr>
          <p:cNvSpPr txBox="1"/>
          <p:nvPr/>
        </p:nvSpPr>
        <p:spPr>
          <a:xfrm>
            <a:off x="3603611" y="6475199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提出复杂问题：AI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vs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专家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045954-6EB7-085C-6F6A-87B2179EFDEC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42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C472D58B-7339-4684-90C1-E2ED2EE50564}"/>
              </a:ext>
            </a:extLst>
          </p:cNvPr>
          <p:cNvGrpSpPr/>
          <p:nvPr/>
        </p:nvGrpSpPr>
        <p:grpSpPr>
          <a:xfrm>
            <a:off x="523170" y="878560"/>
            <a:ext cx="11145660" cy="5615879"/>
            <a:chOff x="523170" y="878560"/>
            <a:chExt cx="11145660" cy="5615879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150ED184-84E6-445D-8B2C-76FAB413FA66}"/>
                </a:ext>
              </a:extLst>
            </p:cNvPr>
            <p:cNvSpPr/>
            <p:nvPr/>
          </p:nvSpPr>
          <p:spPr>
            <a:xfrm>
              <a:off x="762009" y="2032938"/>
              <a:ext cx="4626062" cy="56869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帮我拟几个关于人工智能的毕业论文题目。</a:t>
              </a:r>
              <a:endPara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F125C209-845A-4E37-8ACD-A4AA9566003E}"/>
                </a:ext>
              </a:extLst>
            </p:cNvPr>
            <p:cNvSpPr/>
            <p:nvPr/>
          </p:nvSpPr>
          <p:spPr>
            <a:xfrm>
              <a:off x="6731888" y="2855087"/>
              <a:ext cx="4320000" cy="131845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我正在构思毕业论文的选题。请仔细阅读这两篇最新的综述文献和我写的初步想法。深思熟虑后，帮我梳理出三个既符合我个人兴趣，又能填补当前研究空白的具体切入点，并对比它们的实施难度。</a:t>
              </a:r>
            </a:p>
          </p:txBody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EC84C06E-38AB-4584-8BA8-1243DE6A8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08378" y="2036900"/>
              <a:ext cx="512568" cy="506538"/>
            </a:xfrm>
            <a:prstGeom prst="rect">
              <a:avLst/>
            </a:prstGeom>
          </p:spPr>
        </p:pic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1FB30943-F5C0-45A9-BB61-FB3E23BAD0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3170" y="2882514"/>
              <a:ext cx="536007" cy="523685"/>
            </a:xfrm>
            <a:prstGeom prst="rect">
              <a:avLst/>
            </a:prstGeom>
          </p:spPr>
        </p:pic>
        <p:pic>
          <p:nvPicPr>
            <p:cNvPr id="42" name="图片 41">
              <a:extLst>
                <a:ext uri="{FF2B5EF4-FFF2-40B4-BE49-F238E27FC236}">
                  <a16:creationId xmlns:a16="http://schemas.microsoft.com/office/drawing/2014/main" id="{40C6BB5F-1D5B-4669-B2A4-73C49B21B1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09238" y="4224342"/>
              <a:ext cx="536007" cy="523685"/>
            </a:xfrm>
            <a:prstGeom prst="rect">
              <a:avLst/>
            </a:prstGeom>
          </p:spPr>
        </p:pic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9A7587D7-A424-4DFA-80AC-783E92B9D36C}"/>
                </a:ext>
              </a:extLst>
            </p:cNvPr>
            <p:cNvCxnSpPr>
              <a:cxnSpLocks/>
            </p:cNvCxnSpPr>
            <p:nvPr/>
          </p:nvCxnSpPr>
          <p:spPr>
            <a:xfrm>
              <a:off x="6083292" y="918970"/>
              <a:ext cx="4795" cy="507203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4" name="内容占位符 22">
              <a:extLst>
                <a:ext uri="{FF2B5EF4-FFF2-40B4-BE49-F238E27FC236}">
                  <a16:creationId xmlns:a16="http://schemas.microsoft.com/office/drawing/2014/main" id="{7460922C-2753-4458-A1EB-7D77BC200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378" r="22260"/>
            <a:stretch>
              <a:fillRect/>
            </a:stretch>
          </p:blipFill>
          <p:spPr>
            <a:xfrm>
              <a:off x="1484007" y="4578035"/>
              <a:ext cx="758434" cy="736610"/>
            </a:xfrm>
            <a:prstGeom prst="rect">
              <a:avLst/>
            </a:prstGeom>
          </p:spPr>
        </p:pic>
        <p:sp>
          <p:nvSpPr>
            <p:cNvPr id="45" name="思想气泡: 云 44">
              <a:extLst>
                <a:ext uri="{FF2B5EF4-FFF2-40B4-BE49-F238E27FC236}">
                  <a16:creationId xmlns:a16="http://schemas.microsoft.com/office/drawing/2014/main" id="{613D80C0-1559-42C1-940A-6721D784E17A}"/>
                </a:ext>
              </a:extLst>
            </p:cNvPr>
            <p:cNvSpPr/>
            <p:nvPr/>
          </p:nvSpPr>
          <p:spPr>
            <a:xfrm>
              <a:off x="2641089" y="4489303"/>
              <a:ext cx="2754580" cy="1481041"/>
            </a:xfrm>
            <a:prstGeom prst="cloudCallout">
              <a:avLst>
                <a:gd name="adj1" fmla="val -62779"/>
                <a:gd name="adj2" fmla="val -19301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这也太宽泛了吧，全是废话，根本没法直接拿来做我的毕业设计</a:t>
              </a:r>
              <a:r>
                <a:rPr lang="en-US" altLang="zh-CN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4882AF5D-CA56-4144-89A5-BE2EEB0464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36586" y="5424949"/>
              <a:ext cx="829034" cy="838618"/>
            </a:xfrm>
            <a:prstGeom prst="rect">
              <a:avLst/>
            </a:prstGeom>
          </p:spPr>
        </p:pic>
        <p:sp>
          <p:nvSpPr>
            <p:cNvPr id="47" name="思想气泡: 云 46">
              <a:extLst>
                <a:ext uri="{FF2B5EF4-FFF2-40B4-BE49-F238E27FC236}">
                  <a16:creationId xmlns:a16="http://schemas.microsoft.com/office/drawing/2014/main" id="{3EA5CDB6-2845-46F3-AE8E-DF6E87EC7CCD}"/>
                </a:ext>
              </a:extLst>
            </p:cNvPr>
            <p:cNvSpPr/>
            <p:nvPr/>
          </p:nvSpPr>
          <p:spPr>
            <a:xfrm>
              <a:off x="7037018" y="5522627"/>
              <a:ext cx="3071983" cy="971812"/>
            </a:xfrm>
            <a:prstGeom prst="cloudCallout">
              <a:avLst>
                <a:gd name="adj1" fmla="val 64241"/>
                <a:gd name="adj2" fmla="val -30822"/>
              </a:avLst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“太棒了！这简直像和导师做了一次深度的开题指导！”</a:t>
              </a:r>
              <a:endPara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EFD50849-9363-4B0D-AE2A-EF3770D2E31B}"/>
                </a:ext>
              </a:extLst>
            </p:cNvPr>
            <p:cNvSpPr/>
            <p:nvPr/>
          </p:nvSpPr>
          <p:spPr>
            <a:xfrm>
              <a:off x="762009" y="887656"/>
              <a:ext cx="5040000" cy="90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AI</a:t>
              </a:r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新手</a:t>
              </a:r>
              <a:endPara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核心特征标签：使用</a:t>
              </a:r>
              <a:r>
                <a:rPr lang="en-US" altLang="zh-CN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AI</a:t>
              </a:r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回答简单的问题。</a:t>
              </a:r>
            </a:p>
          </p:txBody>
        </p: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02CEC709-08EC-4808-8543-D01143EAE775}"/>
                </a:ext>
              </a:extLst>
            </p:cNvPr>
            <p:cNvSpPr/>
            <p:nvPr/>
          </p:nvSpPr>
          <p:spPr>
            <a:xfrm>
              <a:off x="6371857" y="878560"/>
              <a:ext cx="5040000" cy="9000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AI</a:t>
              </a:r>
              <a:r>
                <a:rPr lang="zh-CN" altLang="en-US" sz="20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专家</a:t>
              </a:r>
              <a:endPara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核心特征标签：给 </a:t>
              </a:r>
              <a:r>
                <a:rPr lang="en-US" altLang="zh-CN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AI </a:t>
              </a:r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分配困难任务，并给它时间思考。</a:t>
              </a:r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12B1C115-09AB-4B2C-A220-F100A6CBD22F}"/>
                </a:ext>
              </a:extLst>
            </p:cNvPr>
            <p:cNvSpPr/>
            <p:nvPr/>
          </p:nvSpPr>
          <p:spPr>
            <a:xfrm>
              <a:off x="1068071" y="2924079"/>
              <a:ext cx="4320000" cy="1244226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没问题，为您推荐以下热门题目：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>
                <a:spcBef>
                  <a:spcPts val="600"/>
                </a:spcBef>
              </a:pP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1.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人工智能的发展史研究；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>
                <a:spcBef>
                  <a:spcPts val="600"/>
                </a:spcBef>
              </a:pP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2.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深度学习在医疗领域的应用；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>
                <a:spcBef>
                  <a:spcPts val="600"/>
                </a:spcBef>
              </a:pP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3. AI 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对未来就业的影响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8B976FF3-AD8D-40ED-B190-6AA8C32C1746}"/>
                </a:ext>
              </a:extLst>
            </p:cNvPr>
            <p:cNvSpPr txBox="1"/>
            <p:nvPr/>
          </p:nvSpPr>
          <p:spPr>
            <a:xfrm>
              <a:off x="9350059" y="1782956"/>
              <a:ext cx="211393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最新综述</a:t>
              </a:r>
              <a:r>
                <a:rPr lang="en-US" altLang="zh-CN" sz="1600" dirty="0" err="1">
                  <a:latin typeface="宋体" panose="02010600030101010101" pitchFamily="2" charset="-122"/>
                  <a:ea typeface="宋体" panose="02010600030101010101" pitchFamily="2" charset="-122"/>
                </a:rPr>
                <a:t>A.pdf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、最新综述</a:t>
              </a:r>
              <a:r>
                <a:rPr lang="en-US" altLang="zh-CN" sz="1600" dirty="0" err="1">
                  <a:latin typeface="宋体" panose="02010600030101010101" pitchFamily="2" charset="-122"/>
                  <a:ea typeface="宋体" panose="02010600030101010101" pitchFamily="2" charset="-122"/>
                </a:rPr>
                <a:t>B.pdf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、我的初步想法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.docx </a:t>
              </a:r>
              <a:endPara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2" name="矩形: 圆角 12">
              <a:extLst>
                <a:ext uri="{FF2B5EF4-FFF2-40B4-BE49-F238E27FC236}">
                  <a16:creationId xmlns:a16="http://schemas.microsoft.com/office/drawing/2014/main" id="{96F11E24-E0D5-4AD7-BA92-1265AA45D5EF}"/>
                </a:ext>
              </a:extLst>
            </p:cNvPr>
            <p:cNvSpPr/>
            <p:nvPr/>
          </p:nvSpPr>
          <p:spPr>
            <a:xfrm>
              <a:off x="7096325" y="1964753"/>
              <a:ext cx="1609933" cy="4061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3" name="下箭头 2">
              <a:extLst>
                <a:ext uri="{FF2B5EF4-FFF2-40B4-BE49-F238E27FC236}">
                  <a16:creationId xmlns:a16="http://schemas.microsoft.com/office/drawing/2014/main" id="{A57E925B-0D4E-4412-8865-2F7F209AFE46}"/>
                </a:ext>
              </a:extLst>
            </p:cNvPr>
            <p:cNvSpPr/>
            <p:nvPr/>
          </p:nvSpPr>
          <p:spPr>
            <a:xfrm>
              <a:off x="7901291" y="2489833"/>
              <a:ext cx="381470" cy="292771"/>
            </a:xfrm>
            <a:prstGeom prst="downArrow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EFFD8C23-3154-46AE-BA4A-82BC09C06BB3}"/>
                </a:ext>
              </a:extLst>
            </p:cNvPr>
            <p:cNvCxnSpPr/>
            <p:nvPr/>
          </p:nvCxnSpPr>
          <p:spPr>
            <a:xfrm flipH="1">
              <a:off x="8983534" y="2080192"/>
              <a:ext cx="366525" cy="1996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BB96E0A1-E565-484B-BA55-092AAFE19C70}"/>
                </a:ext>
              </a:extLst>
            </p:cNvPr>
            <p:cNvSpPr/>
            <p:nvPr/>
          </p:nvSpPr>
          <p:spPr>
            <a:xfrm>
              <a:off x="6731857" y="4286335"/>
              <a:ext cx="4320000" cy="1138614"/>
            </a:xfrm>
            <a:prstGeom prst="roundRect">
              <a:avLst/>
            </a:prstGeom>
            <a:solidFill>
              <a:schemeClr val="bg1"/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这是一份为您量身定制的选题评估报告：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切入点一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：完美结合了文献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A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的盲区和您的兴趣，但数据收集难度较高；</a:t>
              </a:r>
              <a:endPara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切入点二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652B6615-16B9-4414-A0E8-249D9D9D7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56262" y="2936633"/>
              <a:ext cx="512568" cy="506538"/>
            </a:xfrm>
            <a:prstGeom prst="rect">
              <a:avLst/>
            </a:prstGeom>
          </p:spPr>
        </p:pic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4712F601-83BC-4956-8B5E-66E4C37C465A}"/>
                </a:ext>
              </a:extLst>
            </p:cNvPr>
            <p:cNvSpPr txBox="1"/>
            <p:nvPr/>
          </p:nvSpPr>
          <p:spPr>
            <a:xfrm>
              <a:off x="7246611" y="1955685"/>
              <a:ext cx="159828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2400" kern="0" dirty="0">
                  <a:solidFill>
                    <a:srgbClr val="1F1F1F"/>
                  </a:solidFill>
                  <a:effectLst/>
                  <a:latin typeface="Apple Color Emoji" pitchFamily="2" charset="0"/>
                  <a:ea typeface="宋体" panose="02010600030101010101" pitchFamily="2" charset="-122"/>
                  <a:cs typeface="Apple Color Emoji" pitchFamily="2" charset="0"/>
                </a:rPr>
                <a:t>        </a:t>
              </a:r>
              <a:r>
                <a:rPr lang="zh-CN" altLang="zh-CN" sz="2400" dirty="0">
                  <a:effectLst/>
                </a:rPr>
                <a:t> </a:t>
              </a:r>
              <a:endParaRPr lang="zh-CN" altLang="en-US" sz="2400" dirty="0"/>
            </a:p>
          </p:txBody>
        </p:sp>
        <p:pic>
          <p:nvPicPr>
            <p:cNvPr id="58" name="Picture 2" descr="毕业论文图标矢量图向量例证. 插画包括有学院, 夹子, 学术论文, 查出, 线路, 颜色, 女孩- 273242201">
              <a:extLst>
                <a:ext uri="{FF2B5EF4-FFF2-40B4-BE49-F238E27FC236}">
                  <a16:creationId xmlns:a16="http://schemas.microsoft.com/office/drawing/2014/main" id="{9045762F-2072-4940-B3EC-2DC2FBEA94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2099" y="2002472"/>
              <a:ext cx="351316" cy="351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2" descr="毕业论文图标矢量图向量例证. 插画包括有学院, 夹子, 学术论文, 查出, 线路, 颜色, 女孩- 273242201">
              <a:extLst>
                <a:ext uri="{FF2B5EF4-FFF2-40B4-BE49-F238E27FC236}">
                  <a16:creationId xmlns:a16="http://schemas.microsoft.com/office/drawing/2014/main" id="{299752BB-83C0-4717-89CF-1E4505446D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443" y="2003994"/>
              <a:ext cx="351316" cy="351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AutoShape 4" descr="5.5万Document with pen illustration 免版税图片、库存照片和图像| Shutterstock">
              <a:extLst>
                <a:ext uri="{FF2B5EF4-FFF2-40B4-BE49-F238E27FC236}">
                  <a16:creationId xmlns:a16="http://schemas.microsoft.com/office/drawing/2014/main" id="{E05CC40A-C5E1-40F3-9225-73FAD51DFF6F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6842289" y="4946340"/>
              <a:ext cx="304800" cy="3048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44BFC52C-4D0B-427F-91E2-F17C30B4D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41948" y="1969835"/>
              <a:ext cx="350571" cy="3990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9794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搜索引擎思维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思考伙伴思维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2-1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两种底层思维模式核心对比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22860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64413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26080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80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搜索引擎思维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新手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思考伙伴思维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228600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23849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输入形式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926080" y="2103120"/>
            <a:ext cx="420624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63240" y="22692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短关键词，碎片化片段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132320" y="2103120"/>
            <a:ext cx="438912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2692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高密度任务背景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长篇文献喂入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40080" y="2743200"/>
            <a:ext cx="2286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287857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26080" y="2743200"/>
            <a:ext cx="4206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63240" y="290935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事实检索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概念核实工具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32320" y="27432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69480" y="290935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多学科顾问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学术外脑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80" y="3383280"/>
            <a:ext cx="228600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351865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核心预期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926080" y="3383280"/>
            <a:ext cx="420624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63240" y="354943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返回静态答案，一次性结束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132320" y="3383280"/>
            <a:ext cx="438912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69480" y="354943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进行多轮辩论与思维碰撞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40080" y="4023360"/>
            <a:ext cx="2286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15873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对话深度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926080" y="4023360"/>
            <a:ext cx="4206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63240" y="418951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一问一答，单次结束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132320" y="40233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69480" y="418951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迭代追问，层层深挖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0080" y="4663440"/>
            <a:ext cx="228600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479881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输出形式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926080" y="4663440"/>
            <a:ext cx="420624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482959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网页链接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简短回答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132320" y="4663440"/>
            <a:ext cx="4389120" cy="6400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69480" y="482959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推理依据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40080" y="5303520"/>
            <a:ext cx="2286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" y="5438894"/>
            <a:ext cx="20116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典型场景</a:t>
            </a:r>
            <a:endParaRPr sz="2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926080" y="5303520"/>
            <a:ext cx="4206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063240" y="54696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查概念、找定义、问事实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132320" y="530352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269480" y="54696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梳理论文逻辑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拆解假设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寻找盲点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7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进阶思维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①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激发思维链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(Chain of Thought)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86876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大模型底层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预测下一个词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面对复杂科研难题直接要答案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缺乏中间推理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严重逻辑错误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新手做法：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直接询问结果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这三种算法哪个更好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？"</a:t>
            </a:r>
            <a:endParaRPr sz="20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lang="en-US"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花费额外计算资源进行多步推理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高度严谨的对比报告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8 / 42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D73E585-8FC2-DBC9-86C5-024CD442B793}"/>
              </a:ext>
            </a:extLst>
          </p:cNvPr>
          <p:cNvSpPr txBox="1"/>
          <p:nvPr/>
        </p:nvSpPr>
        <p:spPr>
          <a:xfrm>
            <a:off x="5289176" y="2501891"/>
            <a:ext cx="6399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专家做法：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强制模型展示推理过程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      </a:t>
            </a:r>
            <a:r>
              <a:rPr lang="zh-CN" altLang="en-US" sz="2400" dirty="0">
                <a:solidFill>
                  <a:srgbClr val="004CA0"/>
                </a:solidFill>
                <a:latin typeface="Microsoft YaHei"/>
                <a:ea typeface="Microsoft YaHei"/>
              </a:rPr>
              <a:t>上传数十页系统参数 </a:t>
            </a:r>
            <a:r>
              <a:rPr lang="en-US" altLang="zh-CN" sz="2400" dirty="0">
                <a:solidFill>
                  <a:srgbClr val="004CA0"/>
                </a:solidFill>
                <a:latin typeface="Microsoft YaHei"/>
                <a:ea typeface="Microsoft YaHei"/>
              </a:rPr>
              <a:t>/ </a:t>
            </a:r>
            <a:r>
              <a:rPr lang="zh-CN" altLang="en-US" sz="2400" dirty="0">
                <a:solidFill>
                  <a:srgbClr val="004CA0"/>
                </a:solidFill>
                <a:latin typeface="Microsoft YaHei"/>
                <a:ea typeface="Microsoft YaHei"/>
              </a:rPr>
              <a:t>实验数据</a:t>
            </a:r>
            <a:endParaRPr lang="zh-CN" altLang="en-US" sz="2000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      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+ </a:t>
            </a:r>
            <a:r>
              <a:rPr lang="en-US" altLang="zh-CN" sz="2400" b="1" dirty="0">
                <a:solidFill>
                  <a:srgbClr val="0066CC"/>
                </a:solidFill>
                <a:latin typeface="Consolas"/>
                <a:ea typeface="Consolas"/>
              </a:rPr>
              <a:t>“</a:t>
            </a:r>
            <a:r>
              <a:rPr lang="zh-CN" altLang="en-US" sz="2400" b="1" dirty="0">
                <a:solidFill>
                  <a:srgbClr val="0066CC"/>
                </a:solidFill>
                <a:latin typeface="Consolas"/>
                <a:ea typeface="Consolas"/>
              </a:rPr>
              <a:t>请仔细阅读所有文件，深思熟虑后，             </a:t>
            </a:r>
            <a:r>
              <a:rPr lang="en-US" altLang="zh-CN" sz="2400" b="1" dirty="0">
                <a:solidFill>
                  <a:srgbClr val="0066CC"/>
                </a:solidFill>
                <a:latin typeface="Consolas"/>
                <a:ea typeface="Consolas"/>
              </a:rPr>
              <a:t>	</a:t>
            </a:r>
            <a:r>
              <a:rPr lang="zh-CN" altLang="en-US" sz="2400" b="1" dirty="0">
                <a:solidFill>
                  <a:srgbClr val="0066CC"/>
                </a:solidFill>
                <a:latin typeface="Consolas"/>
                <a:ea typeface="Consolas"/>
              </a:rPr>
              <a:t>一步一步地推导出这三个算法在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     </a:t>
            </a:r>
            <a:r>
              <a:rPr lang="zh-CN" altLang="en-US" sz="2400" b="1" dirty="0">
                <a:solidFill>
                  <a:srgbClr val="0066CC"/>
                </a:solidFill>
                <a:latin typeface="Consolas"/>
                <a:ea typeface="Consolas"/>
              </a:rPr>
              <a:t>时间复杂度和空间复杂度上的权衡取舍。</a:t>
            </a:r>
            <a:r>
              <a:rPr lang="en-US" altLang="zh-CN" sz="20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进阶思维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②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赋予专业人设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1429" y="886069"/>
            <a:ext cx="10900186" cy="553355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搜索引擎是没有性格和专业视角的，但大模型有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当你把它视为伙伴时，你可以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定义它的专业背景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万能开头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请你扮演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 ……"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迅速收束模型的知识库，使其输出更具学术深度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科研映射示例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简单说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帮我润色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✓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请你扮演一位资深同行评审专家，以极其严苛的视角审视这段引言的</a:t>
            </a:r>
            <a:endParaRPr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   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逻辑连贯性，并指出是否有逻辑跳跃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常用人设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顶尖期刊编辑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临床医生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算法工程师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农学专家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法务顾问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…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9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进阶思维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③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拥抱多轮迭代探讨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97774"/>
            <a:ext cx="11247120" cy="568590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使用搜索引擎：搜不到就换关键词重新搜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使用大模型：要像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和导师讨论课题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一样，进行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来回拉锯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第一轮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：你抛出初步的实验设计方案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   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  <a:endParaRPr sz="20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第二轮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：AI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给出反馈并指出可能存在的数据偏差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   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第三轮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：你补充控制变量方法，反问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AI: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Consolas"/>
                <a:ea typeface="Consolas"/>
              </a:rPr>
              <a:t>现在方案的严谨度如何？还有哪些盲区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？"</a:t>
            </a:r>
            <a:endParaRPr sz="1800" b="1" dirty="0">
              <a:solidFill>
                <a:srgbClr val="004CA0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    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更多轮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：基于反馈继续迭代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…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通过多轮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认知碰撞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，AI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能协助你发现研究盲点、产生新的灵感火花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10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构建有效提示词的核心要素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学术级专业提示词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(4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要素框架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457200" cy="2286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169164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5623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37744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多模态充足上下文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4663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把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想象成聪明但对你一无所知的实习生。上传文献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PDF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实验数据，标明研究进度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691640"/>
            <a:ext cx="457200" cy="2286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46520" y="169164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169164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85623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37744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拆解迭代式工作流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29400" y="2788920"/>
            <a:ext cx="46634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搭骨架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调结构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填血肉，渐进式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搭积木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避免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在长文本中丢失上下文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114800"/>
            <a:ext cx="457200" cy="22860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411480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411480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7939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F58020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F58020"/>
                </a:solidFill>
                <a:latin typeface="Microsoft YaHei"/>
                <a:ea typeface="Microsoft YaHei"/>
              </a:rPr>
              <a:t> Constraints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0060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克服讨好型人格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46634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中立提问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评分量表，强制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客观（如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0-100 分），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抵御阿谀奉承的迎合输出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114800"/>
            <a:ext cx="457200" cy="2286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4114800"/>
            <a:ext cx="5029200" cy="2286000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89320" y="4114800"/>
            <a:ext cx="4572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  <a:ea typeface="Arial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79392"/>
            <a:ext cx="4663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2E8B57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2E8B57"/>
                </a:solidFill>
                <a:latin typeface="Microsoft YaHei"/>
                <a:ea typeface="Microsoft YaHei"/>
              </a:rPr>
              <a:t> Format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80060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规范最终呈现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212080"/>
            <a:ext cx="4663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明确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Markdown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LaTeX / JSON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字数限制，让输出无缝接入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Word / Python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(Context)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多模态充足上下文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899261"/>
            <a:ext cx="8013551" cy="106310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把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想象成一位极其聪明、高度自律的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新晋毕业生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但她对你过去一年的经历一无所知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42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1C2ECB-E81C-1E79-D9A1-C998116D4F04}"/>
              </a:ext>
            </a:extLst>
          </p:cNvPr>
          <p:cNvSpPr txBox="1"/>
          <p:nvPr/>
        </p:nvSpPr>
        <p:spPr>
          <a:xfrm>
            <a:off x="6831063" y="2502256"/>
            <a:ext cx="5253361" cy="25976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专家做法：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上传最新综述文献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附上初步构思笔记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明确分析 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研究空白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+ "</a:t>
            </a:r>
            <a:r>
              <a:rPr lang="zh-CN" alt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实施难度</a:t>
            </a:r>
            <a:r>
              <a:rPr lang="en-US" altLang="zh-CN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5FC797-7C3B-FC91-BF10-61D637E451CF}"/>
              </a:ext>
            </a:extLst>
          </p:cNvPr>
          <p:cNvSpPr txBox="1"/>
          <p:nvPr/>
        </p:nvSpPr>
        <p:spPr>
          <a:xfrm>
            <a:off x="1532964" y="5373095"/>
            <a:ext cx="744070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</a:t>
            </a:r>
            <a:r>
              <a:rPr lang="zh-CN" altLang="en-US" sz="2800" b="1" dirty="0">
                <a:solidFill>
                  <a:srgbClr val="004CA0"/>
                </a:solidFill>
                <a:latin typeface="Microsoft YaHei"/>
                <a:ea typeface="Microsoft YaHei"/>
              </a:rPr>
              <a:t>精准捕捉符合你兴趣的 </a:t>
            </a:r>
            <a:r>
              <a:rPr lang="zh-CN" altLang="en-US" sz="2800" b="1" dirty="0">
                <a:solidFill>
                  <a:srgbClr val="F58020"/>
                </a:solidFill>
                <a:latin typeface="Microsoft YaHei"/>
                <a:ea typeface="Microsoft YaHei"/>
              </a:rPr>
              <a:t>具体切入点</a:t>
            </a: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7A09F32-ECB6-B9EB-3F58-E108847D9D1F}"/>
              </a:ext>
            </a:extLst>
          </p:cNvPr>
          <p:cNvSpPr txBox="1"/>
          <p:nvPr/>
        </p:nvSpPr>
        <p:spPr>
          <a:xfrm>
            <a:off x="487834" y="2446733"/>
            <a:ext cx="6450805" cy="25976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新手宽泛指令：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lang="zh-CN" altLang="en-US" sz="2400" b="1" dirty="0">
                <a:solidFill>
                  <a:srgbClr val="F58020"/>
                </a:solidFill>
                <a:latin typeface="Consolas"/>
                <a:ea typeface="Consolas"/>
              </a:rPr>
              <a:t>帮我拟几个关于人工智能的毕业论文题目</a:t>
            </a:r>
            <a:r>
              <a:rPr lang="en-US" altLang="zh-CN"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"AI 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发展史研究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" / "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深度学习在医疗的应用</a:t>
            </a: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40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放之四海而皆准的废话</a:t>
            </a:r>
            <a:r>
              <a:rPr lang="zh-CN" altLang="en-US" sz="24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zh-CN" altLang="en-US" sz="140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BC502-4185-1DDF-E7E7-ED699F0AD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9FF79EE8-DC79-D579-13A4-341C99EF0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FDAB97A-0E54-D56A-2B9C-BC500AAA1AF1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7DE6BA-70F4-0E64-B519-09B6518DCFC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18924-17A4-E833-E26F-14E6B8BE7292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8C5303-41AC-A8C7-1BEC-2C3006D4310E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(Context)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多模态充足上下文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8F859-5079-DF07-AC5E-B9E6FECD1748}"/>
              </a:ext>
            </a:extLst>
          </p:cNvPr>
          <p:cNvSpPr txBox="1"/>
          <p:nvPr/>
        </p:nvSpPr>
        <p:spPr>
          <a:xfrm>
            <a:off x="3934452" y="567244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提供正确的上下文的重要性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47D6D-D28C-D2DF-85A3-59F2B630637E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42</a:t>
            </a:r>
          </a:p>
        </p:txBody>
      </p:sp>
      <p:pic>
        <p:nvPicPr>
          <p:cNvPr id="13" name="内容占位符 22">
            <a:extLst>
              <a:ext uri="{FF2B5EF4-FFF2-40B4-BE49-F238E27FC236}">
                <a16:creationId xmlns:a16="http://schemas.microsoft.com/office/drawing/2014/main" id="{E50A0C53-3DEF-4795-9FF5-C3A062D5D8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78" r="22260"/>
          <a:stretch>
            <a:fillRect/>
          </a:stretch>
        </p:blipFill>
        <p:spPr>
          <a:xfrm>
            <a:off x="2129953" y="4301966"/>
            <a:ext cx="758434" cy="736610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3CF3CA0-897D-4567-8548-807F0264346D}"/>
              </a:ext>
            </a:extLst>
          </p:cNvPr>
          <p:cNvSpPr/>
          <p:nvPr/>
        </p:nvSpPr>
        <p:spPr>
          <a:xfrm>
            <a:off x="1636542" y="900728"/>
            <a:ext cx="4153884" cy="9492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新手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核心特征标签：使用简短的提示词，并指望</a:t>
            </a:r>
            <a:r>
              <a: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能自己填补空白。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FD56BC4-CA60-4BAF-89EA-7E33ED6ABB37}"/>
              </a:ext>
            </a:extLst>
          </p:cNvPr>
          <p:cNvCxnSpPr/>
          <p:nvPr/>
        </p:nvCxnSpPr>
        <p:spPr>
          <a:xfrm>
            <a:off x="6083292" y="918971"/>
            <a:ext cx="36154" cy="411960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图片 15">
            <a:extLst>
              <a:ext uri="{FF2B5EF4-FFF2-40B4-BE49-F238E27FC236}">
                <a16:creationId xmlns:a16="http://schemas.microsoft.com/office/drawing/2014/main" id="{B2C74391-67FB-4F30-9E34-1D516E093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2062" y="2121865"/>
            <a:ext cx="547307" cy="540868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DD497A8-B54D-499B-A97D-2029445B3B34}"/>
              </a:ext>
            </a:extLst>
          </p:cNvPr>
          <p:cNvSpPr/>
          <p:nvPr/>
        </p:nvSpPr>
        <p:spPr>
          <a:xfrm>
            <a:off x="1980236" y="2121865"/>
            <a:ext cx="3189426" cy="64825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请写一份出色的自我年终总结，我要发给我的老板。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547A62F2-6450-44AB-919F-A1A6030918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499" y="3024187"/>
            <a:ext cx="536007" cy="523685"/>
          </a:xfrm>
          <a:prstGeom prst="rect">
            <a:avLst/>
          </a:prstGeom>
        </p:spPr>
      </p:pic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2A5C696-2BD3-4A1C-8B30-E30929E5C84E}"/>
              </a:ext>
            </a:extLst>
          </p:cNvPr>
          <p:cNvSpPr/>
          <p:nvPr/>
        </p:nvSpPr>
        <p:spPr>
          <a:xfrm>
            <a:off x="1980235" y="3024187"/>
            <a:ext cx="3810191" cy="991858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亲爱的老板，我不仅仅是一个好员工。我是一个能创造价值的员工。让我们来深入探讨一下原因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思想气泡: 云 19">
            <a:extLst>
              <a:ext uri="{FF2B5EF4-FFF2-40B4-BE49-F238E27FC236}">
                <a16:creationId xmlns:a16="http://schemas.microsoft.com/office/drawing/2014/main" id="{98D9CFD1-88CF-46F3-B99A-5A3D17B751F8}"/>
              </a:ext>
            </a:extLst>
          </p:cNvPr>
          <p:cNvSpPr/>
          <p:nvPr/>
        </p:nvSpPr>
        <p:spPr>
          <a:xfrm>
            <a:off x="3254901" y="4172915"/>
            <a:ext cx="2416258" cy="880301"/>
          </a:xfrm>
          <a:prstGeom prst="cloudCallout">
            <a:avLst>
              <a:gd name="adj1" fmla="val -62779"/>
              <a:gd name="adj2" fmla="val -19301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这根本没有反映出我实际的工作内容</a:t>
            </a:r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……”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439B20C-C352-4406-9C64-3A12272EB307}"/>
              </a:ext>
            </a:extLst>
          </p:cNvPr>
          <p:cNvSpPr/>
          <p:nvPr/>
        </p:nvSpPr>
        <p:spPr>
          <a:xfrm>
            <a:off x="6396487" y="918971"/>
            <a:ext cx="4447032" cy="91276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专家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</a:t>
            </a:r>
            <a:r>
              <a:rPr lang="zh-CN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添加高质量的上下文、文件和图像</a:t>
            </a:r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E51400F9-7D23-407A-850B-D487B178C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3174" y="3080062"/>
            <a:ext cx="547307" cy="540868"/>
          </a:xfrm>
          <a:prstGeom prst="rect">
            <a:avLst/>
          </a:prstGeom>
        </p:spPr>
      </p:pic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A433B4B-74D9-4F5A-8568-70C59792159A}"/>
              </a:ext>
            </a:extLst>
          </p:cNvPr>
          <p:cNvSpPr/>
          <p:nvPr/>
        </p:nvSpPr>
        <p:spPr>
          <a:xfrm>
            <a:off x="6361738" y="3197102"/>
            <a:ext cx="3749036" cy="64825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帮我写一份发给老板的自我年终总结。以上是我最近做过的工作资料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E78121BD-0BA7-45BF-AFFB-7D5562F15B4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709" y="4003584"/>
            <a:ext cx="829034" cy="838618"/>
          </a:xfrm>
          <a:prstGeom prst="rect">
            <a:avLst/>
          </a:prstGeom>
        </p:spPr>
      </p:pic>
      <p:sp>
        <p:nvSpPr>
          <p:cNvPr id="25" name="思想气泡: 云 24">
            <a:extLst>
              <a:ext uri="{FF2B5EF4-FFF2-40B4-BE49-F238E27FC236}">
                <a16:creationId xmlns:a16="http://schemas.microsoft.com/office/drawing/2014/main" id="{F757F45D-8E5A-487E-9CB2-02DADAFD2153}"/>
              </a:ext>
            </a:extLst>
          </p:cNvPr>
          <p:cNvSpPr/>
          <p:nvPr/>
        </p:nvSpPr>
        <p:spPr>
          <a:xfrm>
            <a:off x="6511456" y="4090951"/>
            <a:ext cx="3071983" cy="853924"/>
          </a:xfrm>
          <a:prstGeom prst="cloudCallout">
            <a:avLst>
              <a:gd name="adj1" fmla="val 64241"/>
              <a:gd name="adj2" fmla="val -30822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“这真的完美捕捉到了我最引以为傲的成绩！”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8FCC0D3-9B2E-4EE6-944B-1BC1939B1103}"/>
              </a:ext>
            </a:extLst>
          </p:cNvPr>
          <p:cNvSpPr txBox="1"/>
          <p:nvPr/>
        </p:nvSpPr>
        <p:spPr>
          <a:xfrm>
            <a:off x="9526814" y="1951205"/>
            <a:ext cx="1635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项目文档</a:t>
            </a:r>
            <a:r>
              <a: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个人工作内容</a:t>
            </a:r>
            <a:r>
              <a: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等</a:t>
            </a:r>
          </a:p>
        </p:txBody>
      </p:sp>
      <p:sp>
        <p:nvSpPr>
          <p:cNvPr id="27" name="矩形: 圆角 12">
            <a:extLst>
              <a:ext uri="{FF2B5EF4-FFF2-40B4-BE49-F238E27FC236}">
                <a16:creationId xmlns:a16="http://schemas.microsoft.com/office/drawing/2014/main" id="{3E5D6347-8602-45C6-88B7-774E7D472793}"/>
              </a:ext>
            </a:extLst>
          </p:cNvPr>
          <p:cNvSpPr/>
          <p:nvPr/>
        </p:nvSpPr>
        <p:spPr>
          <a:xfrm>
            <a:off x="7168462" y="2249353"/>
            <a:ext cx="1796586" cy="40614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DAD07C0D-05EC-4867-87D7-8C4FA456318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3452" y="2258145"/>
            <a:ext cx="1609524" cy="380952"/>
          </a:xfrm>
          <a:prstGeom prst="rect">
            <a:avLst/>
          </a:prstGeom>
        </p:spPr>
      </p:pic>
      <p:sp>
        <p:nvSpPr>
          <p:cNvPr id="29" name="下箭头 2">
            <a:extLst>
              <a:ext uri="{FF2B5EF4-FFF2-40B4-BE49-F238E27FC236}">
                <a16:creationId xmlns:a16="http://schemas.microsoft.com/office/drawing/2014/main" id="{CC231B48-2BE3-4B04-9531-81400EA4968E}"/>
              </a:ext>
            </a:extLst>
          </p:cNvPr>
          <p:cNvSpPr/>
          <p:nvPr/>
        </p:nvSpPr>
        <p:spPr>
          <a:xfrm>
            <a:off x="7991276" y="2792822"/>
            <a:ext cx="400068" cy="317361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2DD2BC5-7E37-4491-9DE5-AFB17F094B94}"/>
              </a:ext>
            </a:extLst>
          </p:cNvPr>
          <p:cNvCxnSpPr/>
          <p:nvPr/>
        </p:nvCxnSpPr>
        <p:spPr>
          <a:xfrm flipH="1">
            <a:off x="9050038" y="2270386"/>
            <a:ext cx="366525" cy="199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713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(Task)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拆解迭代式工作流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897665"/>
            <a:ext cx="8345245" cy="515960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一步到位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帮我写一篇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 XX 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领域的文献综述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冗长、空洞、枯燥的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废话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专家"搭积木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三步法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第一步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搭骨架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上传阅读笔记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散乱想法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提炼成大纲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第二步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调结构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审视大纲流向，提出具体修改意见，直至符合预期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第三步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填血肉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 dirty="0">
                <a:solidFill>
                  <a:srgbClr val="333333"/>
                </a:solidFill>
                <a:latin typeface="Microsoft YaHei"/>
                <a:ea typeface="Microsoft YaHei"/>
              </a:rPr>
              <a:t> 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大纲确认后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命令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逐个小节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扩充核心要点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避免长文本丢失上下文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学术逻辑由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人类作者牢牢掌控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661B8-E8AC-CBCE-9ADB-0805DD14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220B9E-8832-6286-DBD3-CD7D7D5857A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6EEF6A60-87BF-9AC8-E1B1-9DADA2D14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C704692-B1E3-4872-B3CD-17D8DC789F4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16114-3804-4A89-ABA2-112B681E873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361B43-EB9E-D911-2025-CD69299F1CB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926E9-F0FA-1922-E537-97A52354C03E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(Task)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拆解迭代式工作流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DE63C8-095A-16B7-9F17-3A3B2D6E7023}"/>
              </a:ext>
            </a:extLst>
          </p:cNvPr>
          <p:cNvSpPr txBox="1"/>
          <p:nvPr/>
        </p:nvSpPr>
        <p:spPr>
          <a:xfrm>
            <a:off x="3188626" y="644518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2-3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写作方式的差异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2C108-BC3A-8D54-30F1-06186CC9F965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42</a:t>
            </a:r>
          </a:p>
        </p:txBody>
      </p:sp>
      <p:sp>
        <p:nvSpPr>
          <p:cNvPr id="13" name="内容占位符 5">
            <a:extLst>
              <a:ext uri="{FF2B5EF4-FFF2-40B4-BE49-F238E27FC236}">
                <a16:creationId xmlns:a16="http://schemas.microsoft.com/office/drawing/2014/main" id="{C00F066F-0094-4591-97AB-8A9FA542B25D}"/>
              </a:ext>
            </a:extLst>
          </p:cNvPr>
          <p:cNvSpPr txBox="1">
            <a:spLocks/>
          </p:cNvSpPr>
          <p:nvPr/>
        </p:nvSpPr>
        <p:spPr>
          <a:xfrm>
            <a:off x="838200" y="636422"/>
            <a:ext cx="5181600" cy="5540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/>
              <a:t> </a:t>
            </a:r>
            <a:endParaRPr lang="zh-CN" altLang="en-US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EA06C32-434F-4EF5-8A37-4C65C67BA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962" y="1842977"/>
            <a:ext cx="547307" cy="540868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6D3F332-3D54-4B94-A8AE-F7F0245366CB}"/>
              </a:ext>
            </a:extLst>
          </p:cNvPr>
          <p:cNvSpPr/>
          <p:nvPr/>
        </p:nvSpPr>
        <p:spPr>
          <a:xfrm>
            <a:off x="1080121" y="1874875"/>
            <a:ext cx="4320000" cy="64825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请帮我写一篇关于‘大模型幻觉’的文献综述，大概两千字。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7A06BE1-C772-4BE6-8A72-933EF263C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50" y="2710567"/>
            <a:ext cx="536007" cy="523685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679CFC4-FFB3-47C9-AE72-B1159BE7A6C5}"/>
              </a:ext>
            </a:extLst>
          </p:cNvPr>
          <p:cNvSpPr/>
          <p:nvPr/>
        </p:nvSpPr>
        <p:spPr>
          <a:xfrm>
            <a:off x="1102757" y="2641072"/>
            <a:ext cx="4320000" cy="1315465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随着人工智能的飞速发展，大模型幻觉成为了一个重要问题。许多学者对此进行了深入研究。总的来说，幻觉可以分为几种情况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41EC8616-EDE5-4CDF-A425-233BA86ED78E}"/>
              </a:ext>
            </a:extLst>
          </p:cNvPr>
          <p:cNvSpPr/>
          <p:nvPr/>
        </p:nvSpPr>
        <p:spPr>
          <a:xfrm>
            <a:off x="6851676" y="1853469"/>
            <a:ext cx="4320001" cy="72205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我准备写一节关于‘大模型幻觉抑制技术’的文献综述。请先帮我拟定一个三级逻辑大纲。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776AFD69-5490-4969-9AFF-F9C69F4D94FF}"/>
              </a:ext>
            </a:extLst>
          </p:cNvPr>
          <p:cNvSpPr/>
          <p:nvPr/>
        </p:nvSpPr>
        <p:spPr>
          <a:xfrm>
            <a:off x="6852850" y="2668886"/>
            <a:ext cx="4320000" cy="692293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这是为您生成的大纲：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1.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幻觉的定义与分类；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2.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数据层面的抑制；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3.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算法层面的抑制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21D6E9E-A73E-4F68-94A3-1377EC116967}"/>
              </a:ext>
            </a:extLst>
          </p:cNvPr>
          <p:cNvSpPr/>
          <p:nvPr/>
        </p:nvSpPr>
        <p:spPr>
          <a:xfrm>
            <a:off x="6835234" y="3438259"/>
            <a:ext cx="4320000" cy="81826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“大纲整体不错，但请跳过第 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2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节。请把重点放在算法层面，并额外增加一个关于‘检索增强（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RAG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）外部抑制’的独立小节。”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067456A-0463-430D-8E7E-1E3C3CABC568}"/>
              </a:ext>
            </a:extLst>
          </p:cNvPr>
          <p:cNvSpPr/>
          <p:nvPr/>
        </p:nvSpPr>
        <p:spPr>
          <a:xfrm>
            <a:off x="6792942" y="4390782"/>
            <a:ext cx="4320000" cy="424594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“这是修改后的大纲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C62F40FB-F765-4A95-A6D2-E1EBBCE3B9F4}"/>
              </a:ext>
            </a:extLst>
          </p:cNvPr>
          <p:cNvSpPr/>
          <p:nvPr/>
        </p:nvSpPr>
        <p:spPr>
          <a:xfrm>
            <a:off x="6792942" y="4920235"/>
            <a:ext cx="4320000" cy="42459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“很好，现在把它扩充成核心要点。”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5B108B-633F-482E-8266-A64A8B74F3AC}"/>
              </a:ext>
            </a:extLst>
          </p:cNvPr>
          <p:cNvSpPr txBox="1"/>
          <p:nvPr/>
        </p:nvSpPr>
        <p:spPr>
          <a:xfrm>
            <a:off x="6952866" y="5397579"/>
            <a:ext cx="43628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“……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经过更多轮的来回交流后才最终成文！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F0FC76F-115B-4449-BC5D-243ED756033F}"/>
              </a:ext>
            </a:extLst>
          </p:cNvPr>
          <p:cNvSpPr/>
          <p:nvPr/>
        </p:nvSpPr>
        <p:spPr>
          <a:xfrm>
            <a:off x="809821" y="866968"/>
            <a:ext cx="5040000" cy="9000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新手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核心特征标签：只要求 </a:t>
            </a:r>
            <a:r>
              <a:rPr lang="en-US" altLang="zh-CN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 </a:t>
            </a:r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直接写东西。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3FE3E36-A571-4143-90F0-06DC02A3D1A6}"/>
              </a:ext>
            </a:extLst>
          </p:cNvPr>
          <p:cNvSpPr/>
          <p:nvPr/>
        </p:nvSpPr>
        <p:spPr>
          <a:xfrm>
            <a:off x="6475234" y="867043"/>
            <a:ext cx="5040000" cy="90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专家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核心特征标签：从大纲开始，经过批判修改、迭代，最后再扩充。</a:t>
            </a: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4BE14-EA58-4387-A980-F772A894E97A}"/>
              </a:ext>
            </a:extLst>
          </p:cNvPr>
          <p:cNvCxnSpPr>
            <a:cxnSpLocks/>
          </p:cNvCxnSpPr>
          <p:nvPr/>
        </p:nvCxnSpPr>
        <p:spPr>
          <a:xfrm flipH="1">
            <a:off x="6065139" y="918970"/>
            <a:ext cx="18154" cy="54906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7" name="内容占位符 22">
            <a:extLst>
              <a:ext uri="{FF2B5EF4-FFF2-40B4-BE49-F238E27FC236}">
                <a16:creationId xmlns:a16="http://schemas.microsoft.com/office/drawing/2014/main" id="{99BB0225-17AD-4EDF-824A-DFCB8C320A1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78" r="22260"/>
          <a:stretch>
            <a:fillRect/>
          </a:stretch>
        </p:blipFill>
        <p:spPr>
          <a:xfrm>
            <a:off x="1575160" y="4511128"/>
            <a:ext cx="758434" cy="736610"/>
          </a:xfrm>
          <a:prstGeom prst="rect">
            <a:avLst/>
          </a:prstGeom>
        </p:spPr>
      </p:pic>
      <p:sp>
        <p:nvSpPr>
          <p:cNvPr id="28" name="思想气泡: 云 27">
            <a:extLst>
              <a:ext uri="{FF2B5EF4-FFF2-40B4-BE49-F238E27FC236}">
                <a16:creationId xmlns:a16="http://schemas.microsoft.com/office/drawing/2014/main" id="{425C7BCF-2A1B-4D3E-8607-611F9108721F}"/>
              </a:ext>
            </a:extLst>
          </p:cNvPr>
          <p:cNvSpPr/>
          <p:nvPr/>
        </p:nvSpPr>
        <p:spPr>
          <a:xfrm>
            <a:off x="2641917" y="4382077"/>
            <a:ext cx="2416258" cy="880301"/>
          </a:xfrm>
          <a:prstGeom prst="cloudCallout">
            <a:avLst>
              <a:gd name="adj1" fmla="val -62779"/>
              <a:gd name="adj2" fmla="val -19301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这听起来就像是劣质的 </a:t>
            </a:r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废话。”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217C596F-64A9-4FBD-A82E-1809AE1EB6F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994" y="5728018"/>
            <a:ext cx="829034" cy="838618"/>
          </a:xfrm>
          <a:prstGeom prst="rect">
            <a:avLst/>
          </a:prstGeom>
        </p:spPr>
      </p:pic>
      <p:sp>
        <p:nvSpPr>
          <p:cNvPr id="30" name="思想气泡: 云 29">
            <a:extLst>
              <a:ext uri="{FF2B5EF4-FFF2-40B4-BE49-F238E27FC236}">
                <a16:creationId xmlns:a16="http://schemas.microsoft.com/office/drawing/2014/main" id="{6E84E3BA-1044-42B4-BB7A-34FA6F7D2889}"/>
              </a:ext>
            </a:extLst>
          </p:cNvPr>
          <p:cNvSpPr/>
          <p:nvPr/>
        </p:nvSpPr>
        <p:spPr>
          <a:xfrm>
            <a:off x="6952866" y="5831007"/>
            <a:ext cx="3071983" cy="853924"/>
          </a:xfrm>
          <a:prstGeom prst="cloudCallout">
            <a:avLst>
              <a:gd name="adj1" fmla="val 64241"/>
              <a:gd name="adj2" fmla="val -30822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“我感觉充满灵感，准备好完成最后的写作了！”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4D70130B-D518-4EEB-A617-2157506C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1677" y="2203823"/>
            <a:ext cx="547307" cy="540868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89337706-D61F-40BF-9701-C79754709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869" y="3377805"/>
            <a:ext cx="547307" cy="540868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7ACCE3D3-78F1-4042-BB9D-C70CA7CFC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1677" y="4875743"/>
            <a:ext cx="547307" cy="540868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38D987F2-6975-4D22-B7CE-FEB2C40145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6096" y="2668886"/>
            <a:ext cx="536007" cy="523685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9D28D5F1-0A02-4937-B5ED-0E67B666C5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513" y="4325755"/>
            <a:ext cx="536007" cy="52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053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(Constraints)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克服讨好型人格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1805" y="844034"/>
            <a:ext cx="9406219" cy="53596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大模型在对齐训练中被设定为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让用户满意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→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严重副作用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阿谀奉承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带有偏见地提问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Consolas"/>
                <a:ea typeface="Consolas"/>
              </a:rPr>
              <a:t>我有一个绝妙的商业想法：开一辆边旅行边</a:t>
            </a:r>
            <a:endParaRPr sz="22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Consolas"/>
                <a:ea typeface="Consolas"/>
              </a:rPr>
              <a:t>营业的移动咖啡车，请评价一下</a:t>
            </a:r>
            <a:r>
              <a:rPr sz="2200" b="1" dirty="0">
                <a:solidFill>
                  <a:srgbClr val="F58020"/>
                </a:solidFill>
                <a:latin typeface="Consolas"/>
                <a:ea typeface="Consolas"/>
              </a:rPr>
              <a:t>。"</a:t>
            </a:r>
            <a:endParaRPr lang="en-US" sz="2200" b="1" dirty="0">
              <a:solidFill>
                <a:srgbClr val="F58020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AI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顺从迎合，大肆赞美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专家做法：中立提问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评分量表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是否存在真实的痛点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是否有足够的市场需求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是否具备竞争优势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明确量表约束下，AI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毫不留情打出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15/100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并指出致命缺陷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69CAF-FF88-E621-BD98-39CEFC522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30E782-4617-F425-14CD-C4880B9231C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E9DE4FC-E723-D66D-B36A-9AF8A4E5D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9E5B6D2-D68E-02FB-D6B3-05C96A3167BE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B6FDEC-531C-134A-40EE-153C06E11A5D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86601E-105F-B05D-9281-E0ED46F68AF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7D0EC-8ADC-975B-E47E-66D3C5A5AEF2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约束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(Constraints)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克服讨好型人格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732E9-CEEE-4BA1-C8B5-A8375EB75E70}"/>
              </a:ext>
            </a:extLst>
          </p:cNvPr>
          <p:cNvSpPr txBox="1"/>
          <p:nvPr/>
        </p:nvSpPr>
        <p:spPr>
          <a:xfrm>
            <a:off x="3758587" y="630668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获取诚实的反馈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53E7D5-0B37-CD00-6188-61606E81050F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42</a:t>
            </a:r>
          </a:p>
        </p:txBody>
      </p:sp>
      <p:sp>
        <p:nvSpPr>
          <p:cNvPr id="13" name="内容占位符 4">
            <a:extLst>
              <a:ext uri="{FF2B5EF4-FFF2-40B4-BE49-F238E27FC236}">
                <a16:creationId xmlns:a16="http://schemas.microsoft.com/office/drawing/2014/main" id="{3F5FAF42-FC1B-44E2-8EF7-BC35353CD2EE}"/>
              </a:ext>
            </a:extLst>
          </p:cNvPr>
          <p:cNvSpPr txBox="1">
            <a:spLocks/>
          </p:cNvSpPr>
          <p:nvPr/>
        </p:nvSpPr>
        <p:spPr>
          <a:xfrm>
            <a:off x="838200" y="782726"/>
            <a:ext cx="5181600" cy="539423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altLang="zh-CN"/>
              <a:t> </a:t>
            </a:r>
            <a:endParaRPr lang="zh-CN" altLang="en-US" dirty="0"/>
          </a:p>
        </p:txBody>
      </p:sp>
      <p:sp>
        <p:nvSpPr>
          <p:cNvPr id="14" name="内容占位符 5">
            <a:extLst>
              <a:ext uri="{FF2B5EF4-FFF2-40B4-BE49-F238E27FC236}">
                <a16:creationId xmlns:a16="http://schemas.microsoft.com/office/drawing/2014/main" id="{6151A6A2-5636-4E3B-A2DC-D0BB5A2CAE26}"/>
              </a:ext>
            </a:extLst>
          </p:cNvPr>
          <p:cNvSpPr txBox="1">
            <a:spLocks/>
          </p:cNvSpPr>
          <p:nvPr/>
        </p:nvSpPr>
        <p:spPr>
          <a:xfrm>
            <a:off x="6172200" y="782726"/>
            <a:ext cx="5181600" cy="53942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/>
              <a:t> </a:t>
            </a:r>
            <a:endParaRPr lang="zh-CN" altLang="en-US" dirty="0"/>
          </a:p>
        </p:txBody>
      </p:sp>
      <p:sp>
        <p:nvSpPr>
          <p:cNvPr id="15" name="内容占位符 5">
            <a:extLst>
              <a:ext uri="{FF2B5EF4-FFF2-40B4-BE49-F238E27FC236}">
                <a16:creationId xmlns:a16="http://schemas.microsoft.com/office/drawing/2014/main" id="{0E08E40D-819B-4424-8544-83028CB9A167}"/>
              </a:ext>
            </a:extLst>
          </p:cNvPr>
          <p:cNvSpPr txBox="1">
            <a:spLocks/>
          </p:cNvSpPr>
          <p:nvPr/>
        </p:nvSpPr>
        <p:spPr>
          <a:xfrm>
            <a:off x="838200" y="636422"/>
            <a:ext cx="5181600" cy="5540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/>
              <a:t> </a:t>
            </a:r>
            <a:endParaRPr lang="zh-CN" altLang="en-US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5F7BEA6B-1AE9-4FEA-ACE0-802BDC85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177" y="1954838"/>
            <a:ext cx="547307" cy="540868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A8B1D7D-F240-4028-80B4-9BDC23F023ED}"/>
              </a:ext>
            </a:extLst>
          </p:cNvPr>
          <p:cNvSpPr/>
          <p:nvPr/>
        </p:nvSpPr>
        <p:spPr>
          <a:xfrm>
            <a:off x="963624" y="1959678"/>
            <a:ext cx="4320000" cy="87195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“我有一个绝妙的商业想法：开一辆边旅行边营业的移动咖啡车。请评价它？”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9B26EAC9-213F-443F-9F21-C09A62E16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10" y="2997127"/>
            <a:ext cx="536007" cy="523685"/>
          </a:xfrm>
          <a:prstGeom prst="rect">
            <a:avLst/>
          </a:prstGeom>
        </p:spPr>
      </p:pic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F1D85ED-55FB-4901-987B-BC4ED7287544}"/>
              </a:ext>
            </a:extLst>
          </p:cNvPr>
          <p:cNvSpPr/>
          <p:nvPr/>
        </p:nvSpPr>
        <p:spPr>
          <a:xfrm>
            <a:off x="920308" y="3026528"/>
            <a:ext cx="4320000" cy="949246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好主意！这是一个无比浪漫且充满自由的创意商业模式，完美契合了当下年轻人的生活方式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思想气泡: 云 19">
            <a:extLst>
              <a:ext uri="{FF2B5EF4-FFF2-40B4-BE49-F238E27FC236}">
                <a16:creationId xmlns:a16="http://schemas.microsoft.com/office/drawing/2014/main" id="{A888BC56-3822-4C3E-B016-CB6A7FCB794B}"/>
              </a:ext>
            </a:extLst>
          </p:cNvPr>
          <p:cNvSpPr/>
          <p:nvPr/>
        </p:nvSpPr>
        <p:spPr>
          <a:xfrm>
            <a:off x="2339828" y="4495153"/>
            <a:ext cx="2943796" cy="742368"/>
          </a:xfrm>
          <a:prstGeom prst="cloudCallout">
            <a:avLst>
              <a:gd name="adj1" fmla="val -62779"/>
              <a:gd name="adj2" fmla="val -19301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你是不是只挑我想听的话告诉我？”</a:t>
            </a:r>
            <a:endParaRPr lang="zh-CN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思想气泡: 云 20">
            <a:extLst>
              <a:ext uri="{FF2B5EF4-FFF2-40B4-BE49-F238E27FC236}">
                <a16:creationId xmlns:a16="http://schemas.microsoft.com/office/drawing/2014/main" id="{22439EC0-15BC-4FF9-9622-5F869A637536}"/>
              </a:ext>
            </a:extLst>
          </p:cNvPr>
          <p:cNvSpPr/>
          <p:nvPr/>
        </p:nvSpPr>
        <p:spPr>
          <a:xfrm>
            <a:off x="6460665" y="5434937"/>
            <a:ext cx="3763754" cy="936088"/>
          </a:xfrm>
          <a:prstGeom prst="cloudCallout">
            <a:avLst>
              <a:gd name="adj1" fmla="val 61603"/>
              <a:gd name="adj2" fmla="val -35361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“好吧，虽然得分低，但我很高兴得到了一个清晰且极其现实的视角！”</a:t>
            </a:r>
            <a:endParaRPr lang="zh-CN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D63EA25-45C7-4FE8-9391-B1DF096AB226}"/>
              </a:ext>
            </a:extLst>
          </p:cNvPr>
          <p:cNvSpPr/>
          <p:nvPr/>
        </p:nvSpPr>
        <p:spPr>
          <a:xfrm>
            <a:off x="6834274" y="2826260"/>
            <a:ext cx="4320000" cy="91597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“请客观分析以下商业想法：边旅行边营业的移动咖啡车。不要迎合我。请严格使用上述量表进行打分。”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3" name="内容占位符 22">
            <a:extLst>
              <a:ext uri="{FF2B5EF4-FFF2-40B4-BE49-F238E27FC236}">
                <a16:creationId xmlns:a16="http://schemas.microsoft.com/office/drawing/2014/main" id="{DF9DF50C-5578-4E21-95F1-36E1BA8D852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78" r="22260"/>
          <a:stretch>
            <a:fillRect/>
          </a:stretch>
        </p:blipFill>
        <p:spPr>
          <a:xfrm>
            <a:off x="1248147" y="4495153"/>
            <a:ext cx="758434" cy="736610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CE5BA32C-E27E-4A3F-967B-4CAF504F6CF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813" y="5386834"/>
            <a:ext cx="829034" cy="838618"/>
          </a:xfrm>
          <a:prstGeom prst="rect">
            <a:avLst/>
          </a:prstGeom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C6801F7-DA61-42D2-B7F3-8B78821E0709}"/>
              </a:ext>
            </a:extLst>
          </p:cNvPr>
          <p:cNvSpPr/>
          <p:nvPr/>
        </p:nvSpPr>
        <p:spPr>
          <a:xfrm>
            <a:off x="653367" y="864781"/>
            <a:ext cx="5040000" cy="9000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新手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核心特征标签：提出带有偏见的问题，得到带有偏见的答案。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C1A7DBE8-ACA6-4AC8-B6F0-996D43FEA969}"/>
              </a:ext>
            </a:extLst>
          </p:cNvPr>
          <p:cNvSpPr/>
          <p:nvPr/>
        </p:nvSpPr>
        <p:spPr>
          <a:xfrm>
            <a:off x="6474274" y="867349"/>
            <a:ext cx="5040000" cy="90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专家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核心特征标签：提出中立的问题，并使用量表进行批判性分析。</a:t>
            </a: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4E395362-A454-4C76-B5D0-BF34496FCA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7189" y="1816221"/>
            <a:ext cx="3704141" cy="772760"/>
          </a:xfrm>
          <a:prstGeom prst="rect">
            <a:avLst/>
          </a:prstGeom>
        </p:spPr>
      </p:pic>
      <p:sp>
        <p:nvSpPr>
          <p:cNvPr id="28" name="下箭头 2">
            <a:extLst>
              <a:ext uri="{FF2B5EF4-FFF2-40B4-BE49-F238E27FC236}">
                <a16:creationId xmlns:a16="http://schemas.microsoft.com/office/drawing/2014/main" id="{CD77FA8B-983B-420A-AEE9-C96D236DAF69}"/>
              </a:ext>
            </a:extLst>
          </p:cNvPr>
          <p:cNvSpPr/>
          <p:nvPr/>
        </p:nvSpPr>
        <p:spPr>
          <a:xfrm>
            <a:off x="8911524" y="2571397"/>
            <a:ext cx="547307" cy="237279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0C93137-ED82-4D1C-A653-E48D64F9892B}"/>
              </a:ext>
            </a:extLst>
          </p:cNvPr>
          <p:cNvSpPr/>
          <p:nvPr/>
        </p:nvSpPr>
        <p:spPr>
          <a:xfrm>
            <a:off x="6838695" y="3853360"/>
            <a:ext cx="4320000" cy="1462650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“综合得分为 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15/100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。以下是它得分极低的原因：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42900" indent="-342900" algn="just">
              <a:buAutoNum type="arabicPeriod"/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缺乏固定客源；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42900" indent="-342900" algn="just">
              <a:buAutoNum type="arabicPeriod"/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场地与城管合规风险极高；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42900" indent="-342900" algn="just">
              <a:buAutoNum type="arabicPeriod"/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咖啡微薄的利润无法覆盖旅行的油耗与车辆折旧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0EE58B7-A585-4F73-A581-EEEB280D9500}"/>
              </a:ext>
            </a:extLst>
          </p:cNvPr>
          <p:cNvCxnSpPr>
            <a:cxnSpLocks/>
          </p:cNvCxnSpPr>
          <p:nvPr/>
        </p:nvCxnSpPr>
        <p:spPr>
          <a:xfrm>
            <a:off x="6083292" y="918970"/>
            <a:ext cx="985" cy="52579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1" name="图片 30">
            <a:extLst>
              <a:ext uri="{FF2B5EF4-FFF2-40B4-BE49-F238E27FC236}">
                <a16:creationId xmlns:a16="http://schemas.microsoft.com/office/drawing/2014/main" id="{9C7F488A-21F8-4BC2-9575-6C04A2CEA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2549" y="2790049"/>
            <a:ext cx="547307" cy="540868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77BFA59F-15A7-4C18-B394-E7954B51B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444" y="3874142"/>
            <a:ext cx="536007" cy="52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269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规范最终呈现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937555"/>
            <a:ext cx="9418321" cy="527964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不限定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默认输出大段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文本墙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极大增加你后期阅读、提炼、排版的时间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学术汇报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转化为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PPT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汇报</a:t>
            </a:r>
            <a:r>
              <a:rPr lang="zh-CN" altLang="en-US" sz="2200" b="1" dirty="0">
                <a:solidFill>
                  <a:srgbClr val="004CA0"/>
                </a:solidFill>
                <a:latin typeface="Consolas"/>
                <a:ea typeface="Consolas"/>
              </a:rPr>
              <a:t>的精简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短句，每要点不超过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15 字"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代码与排版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输出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LaTeX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格式的评价指标数学公式代码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转化为可在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Python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中解析的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JSON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格式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严格字数限制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生成严格控制在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300-400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字以内的英文摘要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结构化输出：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Markdown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思维导图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列表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YAML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让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输出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无缝接入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Word / LaTeX / Python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现有科研工作流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4CE2-4ADE-74BC-C113-C870D6830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FA9EB6-CD15-1620-80AC-C2A217DC9EE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ED9C2C06-B89B-D9F7-BF34-37BBEDBED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2C05913-2332-D827-775A-62063D947C45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4D0CB-8EB6-A222-47C3-B09790B15A9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D17EDA-D93A-F855-84CF-B346E58259B0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71060D-E28F-09CA-DDE9-EBAFE870B1FF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输出格式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规范最终呈现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60D1BD-279D-36AC-EB05-66510B63555E}"/>
              </a:ext>
            </a:extLst>
          </p:cNvPr>
          <p:cNvSpPr txBox="1"/>
          <p:nvPr/>
        </p:nvSpPr>
        <p:spPr>
          <a:xfrm>
            <a:off x="3688977" y="576046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输出格式约束带来的效率差异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BDF28B-2E9C-EAFE-DEE4-D8B7BC538406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42</a:t>
            </a:r>
          </a:p>
        </p:txBody>
      </p:sp>
      <p:pic>
        <p:nvPicPr>
          <p:cNvPr id="13" name="内容占位符 22">
            <a:extLst>
              <a:ext uri="{FF2B5EF4-FFF2-40B4-BE49-F238E27FC236}">
                <a16:creationId xmlns:a16="http://schemas.microsoft.com/office/drawing/2014/main" id="{B75998E3-649A-437B-AF30-8EB64A6A05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78" r="22260"/>
          <a:stretch>
            <a:fillRect/>
          </a:stretch>
        </p:blipFill>
        <p:spPr>
          <a:xfrm>
            <a:off x="1334318" y="4372013"/>
            <a:ext cx="758434" cy="736610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98B19E2-71F4-40D8-B584-43360EEAF7BC}"/>
              </a:ext>
            </a:extLst>
          </p:cNvPr>
          <p:cNvSpPr/>
          <p:nvPr/>
        </p:nvSpPr>
        <p:spPr>
          <a:xfrm>
            <a:off x="738887" y="900868"/>
            <a:ext cx="5040000" cy="9000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新手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核心特征标签：不加限制，得到难以阅读的“文本墙”。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98A24022-0B3A-49D8-9D1A-EC7C311276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344" y="1934224"/>
            <a:ext cx="547307" cy="540868"/>
          </a:xfrm>
          <a:prstGeom prst="rect">
            <a:avLst/>
          </a:prstGeom>
        </p:spPr>
      </p:pic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79D440E-2DAE-44DD-B128-28AD384EB6DC}"/>
              </a:ext>
            </a:extLst>
          </p:cNvPr>
          <p:cNvSpPr/>
          <p:nvPr/>
        </p:nvSpPr>
        <p:spPr>
          <a:xfrm>
            <a:off x="1069962" y="1976256"/>
            <a:ext cx="4320000" cy="81884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“请帮我总结这五篇关于社交媒体使用对大学生心理健康影响的文献。”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C8AB3655-9540-44C0-9F84-B8D8A7316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469" y="2905811"/>
            <a:ext cx="536007" cy="523685"/>
          </a:xfrm>
          <a:prstGeom prst="rect">
            <a:avLst/>
          </a:prstGeom>
        </p:spPr>
      </p:pic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86194EA-B102-4897-863C-5E56938916B5}"/>
              </a:ext>
            </a:extLst>
          </p:cNvPr>
          <p:cNvSpPr/>
          <p:nvPr/>
        </p:nvSpPr>
        <p:spPr>
          <a:xfrm>
            <a:off x="1069960" y="2903518"/>
            <a:ext cx="4320000" cy="991858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“第一篇指出社交媒体加剧了错失恐惧，第二篇发现夜间使用与抑郁相关，第三篇认为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思想气泡: 云 18">
            <a:extLst>
              <a:ext uri="{FF2B5EF4-FFF2-40B4-BE49-F238E27FC236}">
                <a16:creationId xmlns:a16="http://schemas.microsoft.com/office/drawing/2014/main" id="{F998E43F-FEBA-46DA-8AD1-AE3600A32100}"/>
              </a:ext>
            </a:extLst>
          </p:cNvPr>
          <p:cNvSpPr/>
          <p:nvPr/>
        </p:nvSpPr>
        <p:spPr>
          <a:xfrm>
            <a:off x="2459266" y="4076706"/>
            <a:ext cx="2416258" cy="1046557"/>
          </a:xfrm>
          <a:prstGeom prst="cloudCallout">
            <a:avLst>
              <a:gd name="adj1" fmla="val -62779"/>
              <a:gd name="adj2" fmla="val -19301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天哪，在一堆废话中找重点太浪费时间了</a:t>
            </a:r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91EEC58-018D-42D4-BED8-A01829D7C178}"/>
              </a:ext>
            </a:extLst>
          </p:cNvPr>
          <p:cNvSpPr/>
          <p:nvPr/>
        </p:nvSpPr>
        <p:spPr>
          <a:xfrm>
            <a:off x="6421426" y="894032"/>
            <a:ext cx="5040000" cy="90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专家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核心特征标签：像设计数据库一样，下达精准的结构化指令。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C132E7AE-535E-42FD-9C20-223F8E7B8C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2038" y="1931390"/>
            <a:ext cx="488178" cy="482435"/>
          </a:xfrm>
          <a:prstGeom prst="rect">
            <a:avLst/>
          </a:prstGeom>
        </p:spPr>
      </p:pic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CAAC84B3-C45B-4186-9037-C89726D3F5EB}"/>
              </a:ext>
            </a:extLst>
          </p:cNvPr>
          <p:cNvSpPr/>
          <p:nvPr/>
        </p:nvSpPr>
        <p:spPr>
          <a:xfrm>
            <a:off x="6707628" y="1976256"/>
            <a:ext cx="4320000" cy="106765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“请提取这五篇文献的核心信息。请以 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Markdown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表格的形式输出，必须包含：第一作者与年份、核心变量、主要结论、研究局限性。”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31C344BF-5630-4CDD-A555-B3D74CC249C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9592" y="4517637"/>
            <a:ext cx="829034" cy="838618"/>
          </a:xfrm>
          <a:prstGeom prst="rect">
            <a:avLst/>
          </a:prstGeom>
        </p:spPr>
      </p:pic>
      <p:sp>
        <p:nvSpPr>
          <p:cNvPr id="24" name="思想气泡: 云 23">
            <a:extLst>
              <a:ext uri="{FF2B5EF4-FFF2-40B4-BE49-F238E27FC236}">
                <a16:creationId xmlns:a16="http://schemas.microsoft.com/office/drawing/2014/main" id="{018A1B91-0277-474C-A6F6-12A50A3408AD}"/>
              </a:ext>
            </a:extLst>
          </p:cNvPr>
          <p:cNvSpPr/>
          <p:nvPr/>
        </p:nvSpPr>
        <p:spPr>
          <a:xfrm>
            <a:off x="6827339" y="4372013"/>
            <a:ext cx="3071983" cy="1086915"/>
          </a:xfrm>
          <a:prstGeom prst="cloudCallout">
            <a:avLst>
              <a:gd name="adj1" fmla="val 64241"/>
              <a:gd name="adj2" fmla="val -30822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“太完美了！直接复制进我的文献管理笔记里。”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5A925B31-E5E8-4DB5-A9BC-E01B521CFF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2838" y="3163946"/>
            <a:ext cx="536007" cy="523685"/>
          </a:xfrm>
          <a:prstGeom prst="rect">
            <a:avLst/>
          </a:prstGeom>
        </p:spPr>
      </p:pic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CFCCAAD-7BD4-49AF-9611-7FAC0BC771D2}"/>
              </a:ext>
            </a:extLst>
          </p:cNvPr>
          <p:cNvSpPr/>
          <p:nvPr/>
        </p:nvSpPr>
        <p:spPr>
          <a:xfrm>
            <a:off x="6707628" y="3163946"/>
            <a:ext cx="4320000" cy="912760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B664F276-1DCC-4EC0-B49A-F8528C6B17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85" y="3261318"/>
            <a:ext cx="3745249" cy="725128"/>
          </a:xfrm>
          <a:prstGeom prst="rect">
            <a:avLst/>
          </a:prstGeom>
        </p:spPr>
      </p:pic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50B1BED-9825-4F18-BDE2-8F65B7A93979}"/>
              </a:ext>
            </a:extLst>
          </p:cNvPr>
          <p:cNvCxnSpPr>
            <a:cxnSpLocks/>
          </p:cNvCxnSpPr>
          <p:nvPr/>
        </p:nvCxnSpPr>
        <p:spPr>
          <a:xfrm>
            <a:off x="6083292" y="918970"/>
            <a:ext cx="12708" cy="468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160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41114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建立合理预期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缺陷与价值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865325"/>
            <a:ext cx="7442194" cy="591673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表面的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翻车案例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算不清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strawberry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里有几个字母</a:t>
            </a:r>
            <a:r>
              <a:rPr lang="en-US" altLang="zh-CN"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r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建议你把车留在家里步行去洗车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社交媒体广泛传播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endParaRPr lang="en-US"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让新手低估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实际能力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真正的价值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(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专家视角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)：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撰写复杂的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深度研究报告</a:t>
            </a:r>
            <a:endParaRPr lang="en-US"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对海量个人健康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运动数据进行</a:t>
            </a: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趋势分析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为非计算机专业的学生自动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编写并部署交互式网站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结论：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熟练掌握提示词工程不只是节省时间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endParaRPr lang="zh-CN" alt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更是帮助你在学术界与工业界 </a:t>
            </a:r>
            <a:r>
              <a:rPr lang="zh-CN" altLang="en-US"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脱颖而出</a:t>
            </a: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的高阶技能。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3479" y="4882836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2-6 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可能犯的错误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真正的价值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16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79FBAED-5646-20FE-4389-A8AC3D30A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9" y="828594"/>
            <a:ext cx="6705295" cy="401986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1624" y="2403612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模型的内在</a:t>
            </a:r>
            <a:r>
              <a:rPr sz="4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大脑</a:t>
            </a:r>
            <a:r>
              <a:rPr sz="4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它的知识从何而来？了解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的来源与边界，是预判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何时出色、何时胡说八道的前提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预训练知识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包罗万象的博学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49766" y="1130449"/>
            <a:ext cx="8667975" cy="482259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Arial"/>
                <a:ea typeface="Arial"/>
              </a:rPr>
              <a:t>预训练</a:t>
            </a:r>
            <a:r>
              <a:rPr sz="2400" b="1" dirty="0">
                <a:solidFill>
                  <a:srgbClr val="0066CC"/>
                </a:solidFill>
                <a:latin typeface="Arial"/>
                <a:ea typeface="Arial"/>
              </a:rPr>
              <a:t> (Pre-training)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模型在投入实际应用前吸收海量数据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构建神经网络权重的初始阶段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的知识广度令人惊叹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生活常识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"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手机掉进水里怎么办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？"</a:t>
            </a:r>
            <a:endParaRPr sz="1700" b="0" dirty="0">
              <a:solidFill>
                <a:srgbClr val="333333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专业知识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"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薛定谔的猫到底是什么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利基冷知识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"1977 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年旅行者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 1 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号金唱片里录了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 55 </a:t>
            </a:r>
            <a:r>
              <a:rPr sz="2400" b="0" dirty="0" err="1">
                <a:solidFill>
                  <a:srgbClr val="333333"/>
                </a:solidFill>
                <a:latin typeface="Consolas"/>
                <a:ea typeface="Consolas"/>
              </a:rPr>
              <a:t>种语言问候</a:t>
            </a:r>
            <a:r>
              <a:rPr sz="2400" b="0" dirty="0">
                <a:solidFill>
                  <a:srgbClr val="333333"/>
                </a:solidFill>
                <a:latin typeface="Consolas"/>
                <a:ea typeface="Consolas"/>
              </a:rPr>
              <a:t>。"</a:t>
            </a:r>
            <a:endParaRPr sz="1700" b="0" dirty="0">
              <a:solidFill>
                <a:srgbClr val="333333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700" b="0" dirty="0">
              <a:solidFill>
                <a:srgbClr val="333333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随时调取跨学科知识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单个人类难以企及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的能力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9CE30-8483-EFBC-1650-964F595F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AD08C8-4FCA-F274-C0EA-A0D97D81923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D85E1CB6-ECD2-9309-24B1-A9B91D058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58538C9-039C-3542-1D10-8F46A0095EE0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A4219-CC90-CD60-68C9-FE1EC63872A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7EC7-0581-69B6-CB1E-C1E414E971F3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FA542-80ED-CC95-A468-5434C9C28E2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预训练知识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包罗万象的博学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B536AD-41EC-A17A-A2B9-8F857786BB7E}"/>
              </a:ext>
            </a:extLst>
          </p:cNvPr>
          <p:cNvSpPr txBox="1"/>
          <p:nvPr/>
        </p:nvSpPr>
        <p:spPr>
          <a:xfrm>
            <a:off x="3965745" y="442710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2-7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大模型可以回答各种主题的问题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C1D70F-ED73-F4F7-FC30-35E04DF4361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42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ED59B52-F5FD-4956-964A-1FB8AFD51396}"/>
              </a:ext>
            </a:extLst>
          </p:cNvPr>
          <p:cNvSpPr/>
          <p:nvPr/>
        </p:nvSpPr>
        <p:spPr>
          <a:xfrm>
            <a:off x="1970667" y="1044845"/>
            <a:ext cx="2627585" cy="64825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对话</a:t>
            </a:r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生活常识）</a:t>
            </a:r>
            <a:endParaRPr lang="en-US" altLang="zh-CN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F5A332A-17B7-4B92-ABD0-7EC6DF2BEF4D}"/>
              </a:ext>
            </a:extLst>
          </p:cNvPr>
          <p:cNvSpPr/>
          <p:nvPr/>
        </p:nvSpPr>
        <p:spPr>
          <a:xfrm>
            <a:off x="7581040" y="1044844"/>
            <a:ext cx="2508358" cy="64825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对话</a:t>
            </a:r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专业知识）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D6EC77D-57F9-443C-AC94-67509073B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434" y="1918053"/>
            <a:ext cx="547307" cy="540868"/>
          </a:xfrm>
          <a:prstGeom prst="rect">
            <a:avLst/>
          </a:prstGeom>
        </p:spPr>
      </p:pic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C5C6425-D851-4DD7-AD16-4F9C6216514F}"/>
              </a:ext>
            </a:extLst>
          </p:cNvPr>
          <p:cNvSpPr/>
          <p:nvPr/>
        </p:nvSpPr>
        <p:spPr>
          <a:xfrm>
            <a:off x="1032194" y="1958675"/>
            <a:ext cx="4320000" cy="64825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“手机掉进水里怎么办？”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2C23041A-4CD2-4793-8CCF-C25093E9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633" y="2883007"/>
            <a:ext cx="536007" cy="523685"/>
          </a:xfrm>
          <a:prstGeom prst="rect">
            <a:avLst/>
          </a:prstGeom>
        </p:spPr>
      </p:pic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FCEF781-941A-4A96-8FE6-226275EE4744}"/>
              </a:ext>
            </a:extLst>
          </p:cNvPr>
          <p:cNvSpPr/>
          <p:nvPr/>
        </p:nvSpPr>
        <p:spPr>
          <a:xfrm>
            <a:off x="995640" y="2933071"/>
            <a:ext cx="4320000" cy="991858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“立即关机并擦干表面，切勿使用吹风机，建议放入有干燥剂的密封袋中静置 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24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小时。”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40D5870B-FA2F-4E2F-80D6-6209CA586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65" y="1904097"/>
            <a:ext cx="547307" cy="540868"/>
          </a:xfrm>
          <a:prstGeom prst="rect">
            <a:avLst/>
          </a:prstGeom>
        </p:spPr>
      </p:pic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95308BD-0027-49A6-AAA1-848F64663FA9}"/>
              </a:ext>
            </a:extLst>
          </p:cNvPr>
          <p:cNvSpPr/>
          <p:nvPr/>
        </p:nvSpPr>
        <p:spPr>
          <a:xfrm>
            <a:off x="6698739" y="1958675"/>
            <a:ext cx="4320000" cy="64825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“什么是‘薛定谔的猫’？”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CB7B0931-474A-4B8A-8753-724699001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585" y="2914628"/>
            <a:ext cx="536007" cy="523685"/>
          </a:xfrm>
          <a:prstGeom prst="rect">
            <a:avLst/>
          </a:prstGeom>
        </p:spPr>
      </p:pic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0722A7A-365D-435E-A0C4-39D116FE8DE6}"/>
              </a:ext>
            </a:extLst>
          </p:cNvPr>
          <p:cNvSpPr/>
          <p:nvPr/>
        </p:nvSpPr>
        <p:spPr>
          <a:xfrm>
            <a:off x="6698739" y="2943723"/>
            <a:ext cx="4320000" cy="991858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“这是一个量子力学思想实验，用于说明微观粒子在被测量前，处于‘生’与‘死’的叠加态。” 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BE5F07A-5889-46C9-9A96-0EBF243F09E9}"/>
              </a:ext>
            </a:extLst>
          </p:cNvPr>
          <p:cNvCxnSpPr>
            <a:cxnSpLocks/>
          </p:cNvCxnSpPr>
          <p:nvPr/>
        </p:nvCxnSpPr>
        <p:spPr>
          <a:xfrm>
            <a:off x="6083292" y="918970"/>
            <a:ext cx="12708" cy="31260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768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多元数据来源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两大天然局限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6065" y="854857"/>
            <a:ext cx="7215693" cy="54427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数据来源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(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中文模型如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DeepSeek / Kimi /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智谱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)：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互联网论坛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知乎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CSDN · Reddit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百科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&amp;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数字图书馆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百度百科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Wikipedia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•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新闻门户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+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学术数据库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CNKI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arXiv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· PubMed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局限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① 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知识是静态的（冻结状态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一旦训练结束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知识库被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冻结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在训练截止日期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无法回答任何新事件或最新发表的学术成果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局限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② 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知识边界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公开互联网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课题组未发表数据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企业机密文档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封闭数据库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-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一无所知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643" y="5371301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2-8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预训练知识的多元来源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19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D988E8A-A35A-FDF6-A84A-9C8FFBBF8F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9" y="2106706"/>
            <a:ext cx="4875803" cy="303471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词频与认知边界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预训练反映数据规律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2236" y="880854"/>
            <a:ext cx="6578893" cy="551970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超级复杂的概率预测引擎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对某主题的掌握程度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该主题在训练库中的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endParaRPr lang="en-US"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频次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互联网的信息分布是极度不均衡的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📚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高频主题：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烹饪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名人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电影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 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模型</a:t>
            </a:r>
            <a:endParaRPr lang="en-US"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了如指掌</a:t>
            </a: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🔬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低频学术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类星体辐射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模型知之甚少</a:t>
            </a:r>
            <a:endParaRPr sz="19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专有数据：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你课题组未发表实验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一无所知</a:t>
            </a:r>
            <a:endParaRPr sz="19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评估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响应可靠性的经验法则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思考你的课题在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互联网上公开讨论的频率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3365" y="4264867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2-9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预训练知识反映训练数据的规律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20 / 42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255017D-4ED3-5783-2F86-83A343D36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830" y="899142"/>
            <a:ext cx="5769865" cy="324382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F56F0B58-B6DF-2858-F521-F3F9664E6C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19"/>
          <a:stretch>
            <a:fillRect/>
          </a:stretch>
        </p:blipFill>
        <p:spPr>
          <a:xfrm>
            <a:off x="6722282" y="1760220"/>
            <a:ext cx="5058588" cy="3429000"/>
          </a:xfrm>
          <a:prstGeom prst="rect">
            <a:avLst/>
          </a:prstGeom>
        </p:spPr>
      </p:pic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高频数据的双刃剑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容错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幻觉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1011" y="844034"/>
            <a:ext cx="8749554" cy="591673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惊人的容错能力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输入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："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咖啡撒电脑上了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咋搞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急" —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错字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+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缺标点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+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极其口语化</a:t>
            </a:r>
            <a:endParaRPr sz="2200" b="1" dirty="0">
              <a:solidFill>
                <a:srgbClr val="004CA0"/>
              </a:solidFill>
              <a:latin typeface="Consolas"/>
              <a:ea typeface="Consolas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完美理解焦急状态，给出正确电脑急救指南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因为它在贴吧、微博读过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无数带错字的求助帖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启示：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把注意力集中在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把需求表达清楚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		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而不是像写正式公文般字斟句酌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致命缺陷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伪造文献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询问冷门交叉领域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模型找不到匹配项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endParaRPr lang="en-US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但底层指令是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预测下一个词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而非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我不知道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利用熟知词汇进行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8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1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概率缝合</a:t>
            </a:r>
            <a:r>
              <a:rPr sz="18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拼凑出</a:t>
            </a:r>
            <a:r>
              <a:rPr sz="1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看似格式完美、名称专业，但根本不</a:t>
            </a:r>
            <a:r>
              <a:rPr lang="zh-CN" altLang="en-US" sz="1800" b="1" dirty="0">
                <a:solidFill>
                  <a:srgbClr val="F58020"/>
                </a:solidFill>
                <a:latin typeface="Microsoft YaHei"/>
                <a:ea typeface="Microsoft YaHei"/>
              </a:rPr>
              <a:t>存在</a:t>
            </a:r>
            <a:r>
              <a:rPr sz="1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的论文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这就是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幻觉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(Hallucination)"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摒弃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全盘接受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的心态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3190" y="5189220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2-10 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模型展现出惊人的理解力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21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评估模型输出的可靠性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三大杂质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501187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公共数据对学术严谨性威胁最大的因素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拼写错误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上一节已讲，高频带来强容错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错误认知与偏见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网友们论坛信誓旦旦的伪科学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（"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左脑理性右脑感性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"、"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某些食物相克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"），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由于出现频率极高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被模型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作为事实吸收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，输出时极易被当作学术结论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③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过时信息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知识截断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每个大模型都有明确的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知识截止日期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。问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某顶级期刊上个月发表了什么突破性成果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不仅不知，还可能为了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迎合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你而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伪造一篇文献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9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核心技能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通过优化提示词，引导模型规避错误认知与过时信息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  <a:endParaRPr sz="1900" b="1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22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9553" y="2412576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突破知识截断的桥梁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让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睁眼看世界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回答超出训练范围的新问题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23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知识截断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模型的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出厂日期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065" y="934122"/>
            <a:ext cx="7601175" cy="531965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Arial"/>
                <a:ea typeface="Arial"/>
              </a:rPr>
              <a:t>知识截断日期</a:t>
            </a:r>
            <a:r>
              <a:rPr sz="2400" b="1" dirty="0">
                <a:solidFill>
                  <a:srgbClr val="0066CC"/>
                </a:solidFill>
                <a:latin typeface="Arial"/>
                <a:ea typeface="Arial"/>
              </a:rPr>
              <a:t> (Knowledge Cutoff)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开发者必须在某一时刻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停止喂入数据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才能完成训练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模型只阅读过该日期之前的互联网信息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以 DeepSeek V4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</a:t>
            </a:r>
            <a:r>
              <a:rPr lang="zh-CN" altLang="en-US"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例：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✓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什么是牛顿三大定律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依赖预训练知识，秒回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✗ "2026 </a:t>
            </a:r>
            <a:r>
              <a:rPr sz="2400" b="1" dirty="0" err="1">
                <a:solidFill>
                  <a:srgbClr val="F58020"/>
                </a:solidFill>
                <a:latin typeface="Consolas"/>
                <a:ea typeface="Consolas"/>
              </a:rPr>
              <a:t>年五一档票房冠军是哪部</a:t>
            </a:r>
            <a:r>
              <a:rPr sz="2400" b="1" dirty="0">
                <a:solidFill>
                  <a:srgbClr val="F58020"/>
                </a:solidFill>
                <a:latin typeface="Consolas"/>
                <a:ea typeface="Consolas"/>
              </a:rPr>
              <a:t>？"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事件在截断日之后，预训练大脑找不到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      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聪明的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会意识到盲区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自动触发联网检索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97949" y="4895287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2-11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知识截断与联网检索的时间线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24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BD08DA-6D8C-D315-5016-497F63E4C97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70" b="11735"/>
          <a:stretch>
            <a:fillRect/>
          </a:stretch>
        </p:blipFill>
        <p:spPr bwMode="auto">
          <a:xfrm>
            <a:off x="5629835" y="2177804"/>
            <a:ext cx="6378980" cy="255387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大模型何时触发联网检索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双轨机制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2-2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大模型应对不同类型提问的信息获取策略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1945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52051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提问类型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0320" y="1554480"/>
            <a:ext cx="21945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60320" y="1652051"/>
            <a:ext cx="2194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底层机制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754880" y="1554480"/>
            <a:ext cx="3291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1652051"/>
            <a:ext cx="3291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应对策略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46720" y="1554480"/>
            <a:ext cx="3749039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1652051"/>
            <a:ext cx="3749039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举例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" y="20574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2464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静态经典理论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560320" y="20574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97480" y="22618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内部参数知识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754880" y="2057400"/>
            <a:ext cx="32918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2618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直接调用预训练权重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46720" y="2057400"/>
            <a:ext cx="3749039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80" y="22618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牛顿三大定律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经典哲学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" y="27432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29322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实时近期动态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560320" y="27432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97480" y="29476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外部检索增强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754880" y="2743200"/>
            <a:ext cx="3291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29476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触发联网搜索最新网页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46720" y="2743200"/>
            <a:ext cx="3749039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83880" y="2809102"/>
            <a:ext cx="3474719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昨日新闻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最新股市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期刊投稿要求变更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34290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36180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位置动态信息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60320" y="34290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97480" y="36334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外部检索增强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754880" y="3429000"/>
            <a:ext cx="32918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92040" y="36334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调用地图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评价数据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046720" y="3429000"/>
            <a:ext cx="3749039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183880" y="36334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海淀区通宵自习室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附近店铺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" y="41148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43038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小众冷门动态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560320" y="4114800"/>
            <a:ext cx="21945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697480" y="43192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外部检索增强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754880" y="4114800"/>
            <a:ext cx="32918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892040" y="43192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查阅官方通告与垂类源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046720" y="4114800"/>
            <a:ext cx="3749039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183880" y="43192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贵州村超本周赛程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小众活动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65760" y="48006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2920" y="49896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专有内部数据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560320" y="4800600"/>
            <a:ext cx="21945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697480" y="5005000"/>
            <a:ext cx="1920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无法回答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754880" y="4800600"/>
            <a:ext cx="32918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892040" y="500500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需用户上传文档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RAG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800600"/>
            <a:ext cx="3749039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183880" y="5005000"/>
            <a:ext cx="347471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课题组未发表数据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内部文档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如何触发联网检索？两种模式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1109968"/>
            <a:ext cx="11247120" cy="50041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主流大模型联网检索的触发机制</a:t>
            </a:r>
            <a:r>
              <a:rPr sz="26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模型自动决策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004CA0"/>
                </a:solidFill>
                <a:latin typeface="Arial"/>
                <a:ea typeface="Arial"/>
              </a:rPr>
              <a:t>(Auto-trigger)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当提示词包含以下时效性词汇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模型自动判断并启动搜索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000" b="1" dirty="0">
                <a:solidFill>
                  <a:srgbClr val="0066CC"/>
                </a:solidFill>
                <a:latin typeface="Consolas"/>
                <a:ea typeface="Consolas"/>
              </a:rPr>
              <a:t>        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最新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 · "2026 年" ·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今天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 ·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附近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 · 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刚刚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用户强制指令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004CA0"/>
                </a:solidFill>
                <a:latin typeface="Arial"/>
                <a:ea typeface="Arial"/>
              </a:rPr>
              <a:t>(Explicit-trigger)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当发现模型用陈旧的预训练知识敷衍你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直接下达命令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800" b="1" dirty="0">
                <a:solidFill>
                  <a:srgbClr val="0066CC"/>
                </a:solidFill>
                <a:latin typeface="Consolas"/>
                <a:ea typeface="Consolas"/>
              </a:rPr>
              <a:t>        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400" b="1" dirty="0" err="1">
                <a:solidFill>
                  <a:srgbClr val="0066CC"/>
                </a:solidFill>
                <a:latin typeface="Consolas"/>
                <a:ea typeface="Consolas"/>
              </a:rPr>
              <a:t>请务必先进行联网搜索，再告诉我这项技术的最新进展</a:t>
            </a:r>
            <a:r>
              <a:rPr sz="2400" b="1" dirty="0">
                <a:solidFill>
                  <a:srgbClr val="0066CC"/>
                </a:solidFill>
                <a:latin typeface="Consolas"/>
                <a:ea typeface="Consolas"/>
              </a:rPr>
              <a:t>。"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8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或直接点击对话框旁的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开启联网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/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搜索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按钮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26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联网检索的局限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仅解决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最新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未解决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最准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914400"/>
            <a:ext cx="10789920" cy="520269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联网检索是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AI 的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睁眼看世界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用最新互联网资讯增强预训练知识，减少学术幻觉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但作为严谨的研究生，你必须保持清醒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就像日常使用百度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必应一样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——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搜索引擎返回的网页同样包含大量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      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劣质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虚假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充满偏见的垃圾信息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如果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抓取的是带偏见的营销号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伪造的学术报道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——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总结出的答案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依然是错误的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联网检索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解决了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信息最新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，但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未解决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信息最准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下一节将探讨如何引导大模型使用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更可靠、更权威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的学术信源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27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14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驾驭外部数据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联网检索非万能。学会信源约束、识破时效陷阱、洞察双代理机制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才能让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提供真正学术严谨的答案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28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主动设定信源约束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892304"/>
            <a:ext cx="9665441" cy="508965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联网时的天然偏好：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流量高、受欢迎的公共来源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→ Reddit / Wikipedia / YouTube  · 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知乎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百度百科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/ B 站 / 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小红书</a:t>
            </a:r>
            <a:endParaRPr lang="en-US" sz="22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不加限制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大概率从最容易获取的公共平台提取答案，而非从最可靠的学术来源中提取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  <a:endParaRPr lang="en-US"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专家做法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endParaRPr lang="en-US"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		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在提示词中主动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引导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信源类型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示例：询问某种前沿药物或实验试剂的安全性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无约束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社交媒体个人经验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商家营销话术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有约束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请使用官方组织或具有严格科学依据的研究机构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AI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提供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具有科学公信力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的答案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879CA-45E4-2A38-D3E5-2BA9F2E39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25CBBE-6595-B722-C156-ED662B1DBCB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B4AF1D29-6660-B476-BA75-74ADF6134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893186C-8C15-DC0A-6043-B712EC42B548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C1982-DB6C-C8B8-D79E-8BCCECD43AF8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550D89-AE68-1D94-8783-34F14BBC692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428B22-B85D-6972-A85B-1D02209B6697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主动设定信源约束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9434E9-B029-7ADB-4707-2732AF21AC1F}"/>
              </a:ext>
            </a:extLst>
          </p:cNvPr>
          <p:cNvSpPr txBox="1"/>
          <p:nvPr/>
        </p:nvSpPr>
        <p:spPr>
          <a:xfrm>
            <a:off x="3869001" y="6257008"/>
            <a:ext cx="489797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提示词信源约束对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检索结果的影响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0AC70-C2D0-D9C8-68F4-EDCD1A369866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42</a:t>
            </a:r>
          </a:p>
        </p:txBody>
      </p:sp>
      <p:pic>
        <p:nvPicPr>
          <p:cNvPr id="13" name="内容占位符 22">
            <a:extLst>
              <a:ext uri="{FF2B5EF4-FFF2-40B4-BE49-F238E27FC236}">
                <a16:creationId xmlns:a16="http://schemas.microsoft.com/office/drawing/2014/main" id="{454F11F3-B9E3-448A-B07F-8BD717239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78" r="22260"/>
          <a:stretch>
            <a:fillRect/>
          </a:stretch>
        </p:blipFill>
        <p:spPr>
          <a:xfrm>
            <a:off x="1251977" y="4763145"/>
            <a:ext cx="758434" cy="736610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842D787-1985-4304-AF09-8B65C055FC43}"/>
              </a:ext>
            </a:extLst>
          </p:cNvPr>
          <p:cNvSpPr/>
          <p:nvPr/>
        </p:nvSpPr>
        <p:spPr>
          <a:xfrm>
            <a:off x="734901" y="926574"/>
            <a:ext cx="5040000" cy="7200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新手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核心特征标签：无信源约束。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C8D570E0-DABB-47FF-9D36-962289E381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0136" y="1755406"/>
            <a:ext cx="547307" cy="540868"/>
          </a:xfrm>
          <a:prstGeom prst="rect">
            <a:avLst/>
          </a:prstGeom>
        </p:spPr>
      </p:pic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B125B3-209A-4732-A06A-E2195D1B7C1D}"/>
              </a:ext>
            </a:extLst>
          </p:cNvPr>
          <p:cNvSpPr/>
          <p:nvPr/>
        </p:nvSpPr>
        <p:spPr>
          <a:xfrm>
            <a:off x="1033690" y="1798527"/>
            <a:ext cx="4320000" cy="8193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“请问现在市面上流行的‘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NMN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β-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烟酰胺单核苷酸）长寿药’作为日常抗衰老补充剂安全吗？”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574D59C-52DC-43E2-89DC-ED52A43DCF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234" y="3585953"/>
            <a:ext cx="536007" cy="523685"/>
          </a:xfrm>
          <a:prstGeom prst="rect">
            <a:avLst/>
          </a:prstGeom>
        </p:spPr>
      </p:pic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FC59568-D921-4F9B-A004-BCFE2D69C52E}"/>
              </a:ext>
            </a:extLst>
          </p:cNvPr>
          <p:cNvSpPr/>
          <p:nvPr/>
        </p:nvSpPr>
        <p:spPr>
          <a:xfrm>
            <a:off x="1093509" y="3610016"/>
            <a:ext cx="4320000" cy="745452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“非常安全，许多网友分享了他们服用后精力充沛的经验，且没有任何副作用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思想气泡: 云 18">
            <a:extLst>
              <a:ext uri="{FF2B5EF4-FFF2-40B4-BE49-F238E27FC236}">
                <a16:creationId xmlns:a16="http://schemas.microsoft.com/office/drawing/2014/main" id="{3C17C553-5DA4-40F0-AA84-A098C6C09B1E}"/>
              </a:ext>
            </a:extLst>
          </p:cNvPr>
          <p:cNvSpPr/>
          <p:nvPr/>
        </p:nvSpPr>
        <p:spPr>
          <a:xfrm>
            <a:off x="2376923" y="4634093"/>
            <a:ext cx="3060000" cy="1080000"/>
          </a:xfrm>
          <a:prstGeom prst="cloudCallout">
            <a:avLst>
              <a:gd name="adj1" fmla="val -62779"/>
              <a:gd name="adj2" fmla="val -19301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这根本没有</a:t>
            </a:r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解决我的核心安全担忧，全是个人的主观经验和营销干扰</a:t>
            </a:r>
            <a:r>
              <a:rPr lang="en-US" altLang="zh-CN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……”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6F61F3CD-057F-4554-9A07-23DCE839A13D}"/>
              </a:ext>
            </a:extLst>
          </p:cNvPr>
          <p:cNvSpPr/>
          <p:nvPr/>
        </p:nvSpPr>
        <p:spPr>
          <a:xfrm>
            <a:off x="6418491" y="902240"/>
            <a:ext cx="504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</a:t>
            </a:r>
            <a:r>
              <a:rPr lang="zh-CN" altLang="en-US" sz="20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专家</a:t>
            </a:r>
            <a:endParaRPr lang="en-US" altLang="zh-CN" sz="20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核心特征标签：有信源约束。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0D2923C0-F1A3-4D3D-ADC1-B0C467C7B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8604" y="1768543"/>
            <a:ext cx="547307" cy="540868"/>
          </a:xfrm>
          <a:prstGeom prst="rect">
            <a:avLst/>
          </a:prstGeom>
        </p:spPr>
      </p:pic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8E8E4EF-8FA7-4453-94B4-DD8EC2F884D9}"/>
              </a:ext>
            </a:extLst>
          </p:cNvPr>
          <p:cNvSpPr/>
          <p:nvPr/>
        </p:nvSpPr>
        <p:spPr>
          <a:xfrm>
            <a:off x="6728019" y="1798527"/>
            <a:ext cx="4320000" cy="135112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“请问‘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NMN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长寿药’作为日常抗衰老补充剂安全吗？请仅参考国家药监局（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NMPA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）、世界卫生组织（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WHO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）的官方文件以及权威医学期刊（如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《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自然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》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或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《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细胞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》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）的临床研究数据进行回答。”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D5703E8B-C164-42C4-AE4C-DFF8C77B03D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632" y="5067285"/>
            <a:ext cx="829034" cy="838618"/>
          </a:xfrm>
          <a:prstGeom prst="rect">
            <a:avLst/>
          </a:prstGeom>
        </p:spPr>
      </p:pic>
      <p:sp>
        <p:nvSpPr>
          <p:cNvPr id="24" name="思想气泡: 云 23">
            <a:extLst>
              <a:ext uri="{FF2B5EF4-FFF2-40B4-BE49-F238E27FC236}">
                <a16:creationId xmlns:a16="http://schemas.microsoft.com/office/drawing/2014/main" id="{85E48965-F6A5-4280-9DA1-965FF2B32AC4}"/>
              </a:ext>
            </a:extLst>
          </p:cNvPr>
          <p:cNvSpPr/>
          <p:nvPr/>
        </p:nvSpPr>
        <p:spPr>
          <a:xfrm>
            <a:off x="6811378" y="5129711"/>
            <a:ext cx="3060000" cy="1080000"/>
          </a:xfrm>
          <a:prstGeom prst="cloudCallout">
            <a:avLst>
              <a:gd name="adj1" fmla="val 64241"/>
              <a:gd name="adj2" fmla="val -30822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“这真的太好了，它给了我客观、基于证据的结论，让我能科学地评估风险”</a:t>
            </a:r>
            <a:endParaRPr lang="zh-CN" altLang="zh-CN" sz="14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6B747D4F-033D-425F-99F5-93F59F5F60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5986" y="2801895"/>
            <a:ext cx="2757830" cy="696665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DE0B9578-BEA3-4D19-A119-76A090CB90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5960" y="3227606"/>
            <a:ext cx="4016726" cy="684098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0725B783-75DA-4D72-ABCD-B7F5A7429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3215" y="3997022"/>
            <a:ext cx="536007" cy="523685"/>
          </a:xfrm>
          <a:prstGeom prst="rect">
            <a:avLst/>
          </a:prstGeom>
        </p:spPr>
      </p:pic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57A1491-B6AB-433A-B8BB-C541172DD2CB}"/>
              </a:ext>
            </a:extLst>
          </p:cNvPr>
          <p:cNvSpPr/>
          <p:nvPr/>
        </p:nvSpPr>
        <p:spPr>
          <a:xfrm>
            <a:off x="6778491" y="4004161"/>
            <a:ext cx="4320000" cy="1058918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“目前存在争议。根据最新的严格临床试验数据，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NMPA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尚未正式批准其作为普通食品添加剂，其长期人体使用的安全性及确切功效仍需进一步的临床验证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B94A7BB-F01E-4668-BA65-DEE682562706}"/>
              </a:ext>
            </a:extLst>
          </p:cNvPr>
          <p:cNvCxnSpPr>
            <a:cxnSpLocks/>
          </p:cNvCxnSpPr>
          <p:nvPr/>
        </p:nvCxnSpPr>
        <p:spPr>
          <a:xfrm>
            <a:off x="6083292" y="918970"/>
            <a:ext cx="12708" cy="468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7102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网页的时效性陷阱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极易踩坑的真实场景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5320" y="862322"/>
            <a:ext cx="10344374" cy="540974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Consolas"/>
                <a:ea typeface="Consolas"/>
              </a:rPr>
              <a:t>提问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："</a:t>
            </a:r>
            <a:r>
              <a:rPr sz="2400" b="1" dirty="0" err="1">
                <a:solidFill>
                  <a:srgbClr val="004CA0"/>
                </a:solidFill>
                <a:latin typeface="Consolas"/>
                <a:ea typeface="Consolas"/>
              </a:rPr>
              <a:t>北京海淀黄庄附近通宵自习场地</a:t>
            </a:r>
            <a:r>
              <a:rPr sz="24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触发联网检索，自信地罗列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800" b="1" dirty="0">
                <a:solidFill>
                  <a:srgbClr val="0066CC"/>
                </a:solidFill>
                <a:latin typeface="Consolas"/>
                <a:ea typeface="Consolas"/>
              </a:rPr>
              <a:t>        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某某大学南门旧教书馆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 — 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全天候开放、无需刷卡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 …"</a:t>
            </a:r>
            <a:endParaRPr sz="18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深夜跑过去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→ 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吃闭门羹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点开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提供的引用链接：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原文是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2016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年的高校论坛旧帖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底层原因：搜索引擎给老网页高权重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后台搜索助手任务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匹配关键词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把权重高的"老古董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当成最新资讯，用现代语气转述给你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学术中的严重危害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核心期刊投稿格式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抓到几年前的旧通告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学术会议延期截稿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错过真实截止日期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学位论文盲审规定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按过时格式排版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✓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肌肉记忆：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强时效性信息必亲自点击来源链接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核对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发布日期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30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如何阅读网页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双代理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5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步协同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主模型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← → 搜索助手模型：5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步协同流水线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228600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任务下发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01168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用户提问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主模型判断知识不足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转交搜索助手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7480" y="1554480"/>
            <a:ext cx="2286000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生成搜索词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69748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2331720"/>
            <a:ext cx="201168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搜索助手把原话拆解为多个精准关键词并并行检索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0" y="1554480"/>
            <a:ext cx="228600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筛选过滤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2920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66360" y="2331720"/>
            <a:ext cx="201168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海量网页相关性评估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保留干货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剔除干扰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286000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提取摘要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6092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2331720"/>
            <a:ext cx="201168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节省算力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仅切片核心文本片段（非全文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0" y="1554480"/>
            <a:ext cx="228600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0" y="1689854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⑤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生成结果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692640" y="2194560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29800" y="2331720"/>
            <a:ext cx="201168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主模型缝合摘要</a:t>
            </a:r>
            <a:r>
              <a:rPr sz="2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输出条理清晰的回答</a:t>
            </a:r>
            <a:endParaRPr sz="22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4754880"/>
            <a:ext cx="11430000" cy="155448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4846320"/>
            <a:ext cx="110642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隐藏的幻觉机制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5257800"/>
            <a:ext cx="1106424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主模型实际并未通读它为你引用的网页全文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—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它只看到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搜索助手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提炼的摘要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。
→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这导致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0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信誓旦旦引用某网页，但你点开链接后却发现原文意思截然相反。务必亲自点开来源链接核对</a:t>
            </a:r>
            <a:r>
              <a:rPr sz="2200" b="0" i="0" dirty="0">
                <a:solidFill>
                  <a:srgbClr val="FFFFFF"/>
                </a:solidFill>
                <a:latin typeface="Microsoft YaHei"/>
                <a:ea typeface="Microsoft YaHei"/>
              </a:rPr>
              <a:t>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31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2.4.4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传统搜索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场景分工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2-3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传统搜索引擎与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联网大模型的选择策略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31089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1274"/>
            <a:ext cx="3108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科研场景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474720" y="1554480"/>
            <a:ext cx="42062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162127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传统搜索引擎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80960" y="1554480"/>
            <a:ext cx="42062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0" y="162127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联网大模型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2057400"/>
            <a:ext cx="31089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310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寻找目标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链接定位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20574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11880" y="2261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直接跳转期刊官网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数据集首页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680960" y="20574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8120" y="2261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不必要的概率组合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27432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9168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寻找目标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概念构建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474720" y="27432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11880" y="29476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△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几十个零散链接需自己阅读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80960" y="27432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18120" y="29476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语义整合，秒给综合性评述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31089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36026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zh-CN" altLang="en-US"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获取实体 </a:t>
            </a:r>
            <a:r>
              <a:rPr lang="en-US" altLang="zh-CN"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精确索引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474720" y="34290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11880" y="36334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召回官方采购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原厂说明书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680960" y="34290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18120" y="36334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△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不及搜索高效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" y="41148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2884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获取实体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利弊权衡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474720" y="41148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11880" y="43192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关键词匹配失效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680960" y="41148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8918" y="4231821"/>
            <a:ext cx="387112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跨论坛白皮书浓缩提炼，输出决策方案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65760" y="4800600"/>
            <a:ext cx="310896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49742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数据溯源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一手严谨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474720" y="48006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11880" y="50050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100%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真实，保护学术生命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80960" y="4800600"/>
            <a:ext cx="4206240" cy="6858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18120" y="50050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✘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概率预测可能引入幻觉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65760" y="54864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5660023"/>
            <a:ext cx="28346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数据溯源</a:t>
            </a:r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二手清洗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474720" y="54864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11880" y="5690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△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需自行翻阅冗长报告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680960" y="5486400"/>
            <a:ext cx="42062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18120" y="5690800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数字清算师，去粗取精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32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84376" y="2514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复杂任务的智能代理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从被动搜索到主动探索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— 让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像学术助理一样自主拟计划、并行抓取、动态迭代，撰写规范引用的长篇研究报告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33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从被动搜索到主动探索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1051560"/>
            <a:ext cx="9140499" cy="492736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场景：导师要你下月办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跨学科研究生创新论坛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的策划案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  <a:endParaRPr lang="en-US"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普通联网检索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一堆零散的网页链接，让你自己去拼凑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en-US" sz="2000" b="1" dirty="0">
              <a:solidFill>
                <a:srgbClr val="0066CC"/>
              </a:solidFill>
              <a:latin typeface="Arial"/>
              <a:ea typeface="Arial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Arial"/>
                <a:ea typeface="Arial"/>
              </a:rPr>
              <a:t>深度研究</a:t>
            </a:r>
            <a:r>
              <a:rPr sz="2200" b="1" dirty="0">
                <a:solidFill>
                  <a:srgbClr val="0066CC"/>
                </a:solidFill>
                <a:latin typeface="Arial"/>
                <a:ea typeface="Arial"/>
              </a:rPr>
              <a:t> (Deep Research)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像成熟的学术助理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先向你询问关键问题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 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(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场地大小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预算限制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拟定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研究计划框架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列出分步骤如何查找综合信息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③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你审批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编辑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补充遗漏维度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(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如校园报备规定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④ AI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自主执行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智能体决策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资料不深就主动发起新检索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⑤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几分钟后交付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详尽研究报告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合规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安保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流程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引用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34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8609A-0B5F-F241-5104-AD86EA910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2C9A6254-0274-173F-DACF-42EC6A615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8C56380-1527-BCEA-F58B-FD6E1A89DC0B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A8086-8F29-9411-3680-FEF8D144BDB8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250934-1915-DF17-65B2-56FCC94546FA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22924D-4872-40F8-4D1A-F1DB61A5A54C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从被动搜索到主动探索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A42067-B83F-6266-1B6E-C148222E00CE}"/>
              </a:ext>
            </a:extLst>
          </p:cNvPr>
          <p:cNvSpPr txBox="1"/>
          <p:nvPr/>
        </p:nvSpPr>
        <p:spPr>
          <a:xfrm>
            <a:off x="9798130" y="3367374"/>
            <a:ext cx="2210685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深度研究的人机协同与自主决策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1FEA-E887-5C40-DC00-35035110AEA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34 / 42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47DE0C10-F661-4376-AC8D-9A7D46AC7AC9}"/>
              </a:ext>
            </a:extLst>
          </p:cNvPr>
          <p:cNvSpPr/>
          <p:nvPr/>
        </p:nvSpPr>
        <p:spPr>
          <a:xfrm>
            <a:off x="1545040" y="841729"/>
            <a:ext cx="934978" cy="294400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规划与对齐（人机多轮交互）</a:t>
            </a:r>
            <a:endParaRPr lang="en-US" altLang="zh-CN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ADB1663-BB04-470C-B681-205C560C4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7184" y="841729"/>
            <a:ext cx="481320" cy="461492"/>
          </a:xfrm>
          <a:prstGeom prst="rect">
            <a:avLst/>
          </a:prstGeom>
        </p:spPr>
      </p:pic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AFB60F8-4F36-4384-A994-9E61B79258AE}"/>
              </a:ext>
            </a:extLst>
          </p:cNvPr>
          <p:cNvSpPr/>
          <p:nvPr/>
        </p:nvSpPr>
        <p:spPr>
          <a:xfrm>
            <a:off x="2992948" y="841729"/>
            <a:ext cx="5812461" cy="39372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“请帮我策划一场下个月举办的跨学科研究生创新论坛。”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247CD27-5325-40A6-BF50-36CDBC3629C7}"/>
              </a:ext>
            </a:extLst>
          </p:cNvPr>
          <p:cNvSpPr/>
          <p:nvPr/>
        </p:nvSpPr>
        <p:spPr>
          <a:xfrm>
            <a:off x="2992948" y="1296803"/>
            <a:ext cx="5812460" cy="718284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“好的！为了让策划更精准，请问：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42900" indent="-342900" algn="just">
              <a:buAutoNum type="arabicPeriod"/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场地是室内还是室外？多大面积？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42900" indent="-342900" algn="just">
              <a:buAutoNum type="arabicPeriod"/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预算规模大概是多少？”</a:t>
            </a:r>
            <a:endParaRPr lang="zh-CN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D3E696C1-E705-4625-89A1-9C92F5B4D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159" y="2020415"/>
            <a:ext cx="481320" cy="461492"/>
          </a:xfrm>
          <a:prstGeom prst="rect">
            <a:avLst/>
          </a:prstGeom>
        </p:spPr>
      </p:pic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41419C54-D83C-4AEA-BE15-B10A000F2EA8}"/>
              </a:ext>
            </a:extLst>
          </p:cNvPr>
          <p:cNvSpPr/>
          <p:nvPr/>
        </p:nvSpPr>
        <p:spPr>
          <a:xfrm>
            <a:off x="3011161" y="2086284"/>
            <a:ext cx="5794247" cy="36568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“室内校园报告厅，约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</a:rPr>
              <a:t>500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平方米，预算有限，越经济越好。”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4654887-22E5-4C18-A044-7DCB95FB3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566" y="2470018"/>
            <a:ext cx="471383" cy="44683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8B81390B-6DB2-49DE-8909-70BBC9BD6B0D}"/>
              </a:ext>
            </a:extLst>
          </p:cNvPr>
          <p:cNvSpPr/>
          <p:nvPr/>
        </p:nvSpPr>
        <p:spPr>
          <a:xfrm>
            <a:off x="2968583" y="2523166"/>
            <a:ext cx="5836825" cy="795748"/>
          </a:xfrm>
          <a:prstGeom prst="roundRect">
            <a:avLst/>
          </a:prstGeom>
          <a:noFill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收到。我为您拟定了以下深度研究框架：学校大型室内活动审批规则；</a:t>
            </a:r>
            <a:endParaRPr lang="en-US" altLang="zh-CN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低成本茶歇与会场布置方案；</a:t>
            </a:r>
            <a:endParaRPr lang="en-US" altLang="zh-CN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学术论坛标准议程参考。您是否同意按照此框架开始执行深度研究？”</a:t>
            </a:r>
            <a:endParaRPr lang="zh-CN" altLang="zh-CN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41" name="图片 40">
            <a:extLst>
              <a:ext uri="{FF2B5EF4-FFF2-40B4-BE49-F238E27FC236}">
                <a16:creationId xmlns:a16="http://schemas.microsoft.com/office/drawing/2014/main" id="{9DA5B86C-86AB-49E3-BB5B-64C4AEB39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435" y="3324242"/>
            <a:ext cx="481320" cy="461492"/>
          </a:xfrm>
          <a:prstGeom prst="rect">
            <a:avLst/>
          </a:prstGeom>
        </p:spPr>
      </p:pic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DFE23C4D-5321-461A-8AAD-31D9603BA4A9}"/>
              </a:ext>
            </a:extLst>
          </p:cNvPr>
          <p:cNvSpPr/>
          <p:nvPr/>
        </p:nvSpPr>
        <p:spPr>
          <a:xfrm>
            <a:off x="2968583" y="3390112"/>
            <a:ext cx="5812460" cy="39562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“同意，开始吧！”</a:t>
            </a: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A17A3D44-FF6D-4257-87AA-6B4ABA04D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566" y="1336792"/>
            <a:ext cx="471383" cy="446830"/>
          </a:xfrm>
          <a:prstGeom prst="rect">
            <a:avLst/>
          </a:prstGeom>
        </p:spPr>
      </p:pic>
      <p:pic>
        <p:nvPicPr>
          <p:cNvPr id="44" name="图片 43">
            <a:extLst>
              <a:ext uri="{FF2B5EF4-FFF2-40B4-BE49-F238E27FC236}">
                <a16:creationId xmlns:a16="http://schemas.microsoft.com/office/drawing/2014/main" id="{3D00D73D-D540-4D16-BE61-B0745FDF74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28"/>
          <a:stretch>
            <a:fillRect/>
          </a:stretch>
        </p:blipFill>
        <p:spPr>
          <a:xfrm>
            <a:off x="2480018" y="3985396"/>
            <a:ext cx="488565" cy="2832834"/>
          </a:xfrm>
          <a:prstGeom prst="rect">
            <a:avLst/>
          </a:prstGeom>
        </p:spPr>
      </p:pic>
      <p:sp>
        <p:nvSpPr>
          <p:cNvPr id="45" name="文本框 44">
            <a:extLst>
              <a:ext uri="{FF2B5EF4-FFF2-40B4-BE49-F238E27FC236}">
                <a16:creationId xmlns:a16="http://schemas.microsoft.com/office/drawing/2014/main" id="{ACC0FB26-D87F-4A1B-BCE0-462E575DC1F0}"/>
              </a:ext>
            </a:extLst>
          </p:cNvPr>
          <p:cNvSpPr txBox="1"/>
          <p:nvPr/>
        </p:nvSpPr>
        <p:spPr>
          <a:xfrm>
            <a:off x="2968583" y="3897266"/>
            <a:ext cx="5836825" cy="9191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执行步骤 </a:t>
            </a:r>
            <a:r>
              <a:rPr lang="en-US" altLang="zh-CN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： 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抓取关于举办大型校园活动的场地审批规则、安保条例等官方文件。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8BD79FA-3D81-4E44-B405-A9260979ECB8}"/>
              </a:ext>
            </a:extLst>
          </p:cNvPr>
          <p:cNvSpPr txBox="1"/>
          <p:nvPr/>
        </p:nvSpPr>
        <p:spPr>
          <a:xfrm>
            <a:off x="2944759" y="4941528"/>
            <a:ext cx="5860649" cy="9191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执行步骤 </a:t>
            </a:r>
            <a:r>
              <a:rPr lang="en-US" altLang="zh-CN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综合场地噪音限制、消防安全指南以及活动备案要求。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FADE0892-0777-473C-A5CB-0A51125971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700" y="4227589"/>
            <a:ext cx="2201631" cy="493216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372B184-1CD1-4226-9B18-009405B7EE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5426" y="5290623"/>
            <a:ext cx="2474425" cy="541148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41624065-2B50-45AB-AF56-39022515BB65}"/>
              </a:ext>
            </a:extLst>
          </p:cNvPr>
          <p:cNvSpPr txBox="1"/>
          <p:nvPr/>
        </p:nvSpPr>
        <p:spPr>
          <a:xfrm>
            <a:off x="2941205" y="5925735"/>
            <a:ext cx="5839837" cy="9191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执行步骤 </a:t>
            </a:r>
            <a:r>
              <a:rPr lang="en-US" altLang="zh-CN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自动发散搜索关于学术论坛茶歇布置、签到流程的优秀案例与高性价比采购渠道。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50" name="图片 49">
            <a:extLst>
              <a:ext uri="{FF2B5EF4-FFF2-40B4-BE49-F238E27FC236}">
                <a16:creationId xmlns:a16="http://schemas.microsoft.com/office/drawing/2014/main" id="{D65688FD-7BCE-45EE-9304-849DD30CF5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2901" y="6234453"/>
            <a:ext cx="2330859" cy="520331"/>
          </a:xfrm>
          <a:prstGeom prst="rect">
            <a:avLst/>
          </a:prstGeom>
        </p:spPr>
      </p:pic>
      <p:sp>
        <p:nvSpPr>
          <p:cNvPr id="51" name="矩形: 圆角 25">
            <a:extLst>
              <a:ext uri="{FF2B5EF4-FFF2-40B4-BE49-F238E27FC236}">
                <a16:creationId xmlns:a16="http://schemas.microsoft.com/office/drawing/2014/main" id="{9D678252-5C07-4916-AB30-796B73F25D6E}"/>
              </a:ext>
            </a:extLst>
          </p:cNvPr>
          <p:cNvSpPr/>
          <p:nvPr/>
        </p:nvSpPr>
        <p:spPr>
          <a:xfrm>
            <a:off x="1545040" y="3897267"/>
            <a:ext cx="934979" cy="294759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高度自主的智能体执行</a:t>
            </a:r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6000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深度研究的底层工作流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并行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迭代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4814" y="796011"/>
            <a:ext cx="8078688" cy="603369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效率优势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并行处理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：同时发起大量网页搜索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，</a:t>
            </a:r>
            <a:endParaRPr lang="en-US"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无需像人类一样逐个标签页缓慢查阅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🔄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多轮迭代循环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①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并行搜索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一次抓取数十至上百网页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  <a:endParaRPr sz="18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②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快速评估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分辨强相关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✓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无关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</a:t>
            </a:r>
            <a:r>
              <a:rPr sz="1800" b="1" dirty="0">
                <a:solidFill>
                  <a:srgbClr val="0066CC"/>
                </a:solidFill>
                <a:latin typeface="Microsoft YaHei"/>
                <a:ea typeface="Microsoft YaHei"/>
              </a:rPr>
              <a:t>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③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自主研判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证据链不足？动态换全新关键词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 dirty="0">
                <a:solidFill>
                  <a:srgbClr val="004CA0"/>
                </a:solidFill>
                <a:latin typeface="Consolas"/>
                <a:ea typeface="Consolas"/>
              </a:rPr>
              <a:t>     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例：从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跨学科论坛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 → "</a:t>
            </a:r>
            <a:r>
              <a:rPr sz="2200" b="1" dirty="0" err="1">
                <a:solidFill>
                  <a:srgbClr val="004CA0"/>
                </a:solidFill>
                <a:latin typeface="Consolas"/>
                <a:ea typeface="Consolas"/>
              </a:rPr>
              <a:t>学术会议茶歇标准</a:t>
            </a:r>
            <a:r>
              <a:rPr sz="2200" b="1" dirty="0">
                <a:solidFill>
                  <a:srgbClr val="004CA0"/>
                </a:solidFill>
                <a:latin typeface="Consolas"/>
                <a:ea typeface="Consolas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dirty="0">
                <a:solidFill>
                  <a:srgbClr val="0066CC"/>
                </a:solidFill>
                <a:latin typeface="Microsoft YaHei"/>
                <a:ea typeface="Microsoft YaHei"/>
              </a:rPr>
              <a:t>            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④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再次搜索</a:t>
            </a:r>
            <a:r>
              <a:rPr sz="19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回到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②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重新评估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直到信息足够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跳出循环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综合、引用、起草报告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6560" y="4773939"/>
            <a:ext cx="42976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深度研究的底层循环机制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35 / 42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869DAE5-598A-1779-C17B-D498925BBE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144" b="16210"/>
          <a:stretch>
            <a:fillRect/>
          </a:stretch>
        </p:blipFill>
        <p:spPr>
          <a:xfrm>
            <a:off x="5435628" y="1376236"/>
            <a:ext cx="6756067" cy="283528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多样化输出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一键转化交互式可视化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44034"/>
            <a:ext cx="6583680" cy="579978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的能力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≠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纯文本输出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现代大模型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(Gemini / ChatGPT / Claude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通义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)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支持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以筹办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跨学科研究生论坛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为例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  <a:endParaRPr sz="22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点击几下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长篇报告转化为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📊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交互式网页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可点击展开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跳转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📈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数据可视化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经费预算饼状图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📋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流程图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场地审批可视化流程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✅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待办清单</a:t>
            </a:r>
            <a:r>
              <a:rPr sz="18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筹备执行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Checklist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制作组会汇报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PPT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课题海报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图文方案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颠覆性的效率提升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4276" y="5740826"/>
            <a:ext cx="429768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2-16  Gemini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深度研究结果的多维度格式转化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36 / 42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0A0E94C-F7C8-8397-1FB4-90FAB078E1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475" y="1234459"/>
            <a:ext cx="4168140" cy="423414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场景对比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2-4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与深度研究模式的场景对比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219456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9841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43200" y="1554480"/>
            <a:ext cx="402336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159841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554480"/>
            <a:ext cx="457200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1598414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(Deep Research)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1168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13958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响应时长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743200" y="201168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80360" y="215497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秒级响应（10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秒内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01168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215497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分钟级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(5-30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0604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273394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处理深度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0" y="260604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80360" y="27493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浅层信息抓取，最相关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1-3 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2606040"/>
            <a:ext cx="4572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27493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并行抓取数十至上百网页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48640" y="320040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332830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人机协同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743200" y="320040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80360" y="334369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单轮问答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766560" y="320040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03720" y="334369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需用户审批研究计划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48640" y="379476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392266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自主性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743200" y="379476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80360" y="393805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被动执行单次检索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766560" y="3794760"/>
            <a:ext cx="4572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03720" y="393805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智能体自主决策、动态换关键词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48640" y="438912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451702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输出形式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743200" y="438912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80360" y="453241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条目式简短答案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766560" y="438912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03720" y="453241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结构化长报告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规范引用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48640" y="498348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511138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典型任务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43200" y="498348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880360" y="512677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查天气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找单一事实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简短解释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766560" y="4983480"/>
            <a:ext cx="4572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03720" y="5126771"/>
            <a:ext cx="44348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文献综述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跨学科论坛策划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决策报告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40" y="5577840"/>
            <a:ext cx="21945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5705743"/>
            <a:ext cx="192024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最佳类比</a:t>
            </a:r>
            <a:endParaRPr sz="2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743200" y="5577840"/>
            <a:ext cx="402336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880360" y="57211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便携字典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766560" y="5577840"/>
            <a:ext cx="4572000" cy="5943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903720" y="57211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学术调研助理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37 /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2.5.4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如何选择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基础联网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深度研究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6494" y="914400"/>
            <a:ext cx="11113546" cy="513498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使用基础联网</a:t>
            </a:r>
            <a:r>
              <a:rPr sz="2600" b="1" dirty="0">
                <a:solidFill>
                  <a:srgbClr val="0066CC"/>
                </a:solidFill>
                <a:latin typeface="Microsoft YaHei"/>
                <a:ea typeface="Microsoft YaHei"/>
              </a:rPr>
              <a:t> AI · </a:t>
            </a: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单一事实查询</a:t>
            </a:r>
            <a:endParaRPr sz="26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当你的问题仅需要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一个事实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（开门的自习室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天气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你自己查也只需几秒浏览。基础联网快速回答即可，不必久等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使用深度研究</a:t>
            </a:r>
            <a:r>
              <a:rPr sz="26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复杂综合任务</a:t>
            </a:r>
            <a:endParaRPr sz="26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当任务需要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综合多种观点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权衡利弊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复杂结论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每日步数与长期健康的医学关联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自己手动做要花几十分钟到几小时阅读数十篇文献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明确调用深度研究模式，让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后台深度思考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几分钟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，而不是满足于流传的几个肤浅答案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了解边界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= 让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成为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强大的学术代理人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(Agent)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38 / 42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0" b="1" i="0">
                <a:solidFill>
                  <a:srgbClr val="FFFFFF"/>
                </a:solidFill>
                <a:latin typeface="Arial"/>
                <a:ea typeface="Arial"/>
              </a:rPr>
              <a:t>2.6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88037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42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65760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四个动手实验：联网开关对比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深度研究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普通搜索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上传本地文档定向问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错别字理解力测试</a:t>
            </a:r>
            <a:r>
              <a:rPr sz="18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39 / 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2.6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本章实训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四个动手实验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11835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08760" y="117946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对比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开启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vs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关闭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联网搜索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521208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目的：直观感受预训练知识的时效性局限与联网检索的作用</a:t>
            </a:r>
            <a:r>
              <a:rPr sz="22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72273"/>
            <a:ext cx="52120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提问："2026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春节档票房冠军是哪部电影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关闭联网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开启联网，对比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是承认不知道还是胡编</a:t>
            </a:r>
            <a:r>
              <a:rPr sz="13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05156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05156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0760" y="111835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223760" y="117946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对比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普通搜索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vs "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深度研究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707776"/>
            <a:ext cx="52120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目的：体会两种模式在复杂学术问题上的深度与信息量差异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65117"/>
            <a:ext cx="52120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评估司美格鲁肽作为日常减脂的安全性，引用高质量医学来源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。"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比较耗时、引用数量、报告逻辑深度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2044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58723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实验三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08760" y="364834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上传本地文档定向提问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52120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目的：验证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 AI </a:t>
            </a:r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结合外部专属文件解决具体问题的能力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65802"/>
            <a:ext cx="55778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上传本校最新《研究生学位论文盲审及答辩管理规定》PDF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询问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盲审得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C，总分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80+，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能否按期毕业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520440"/>
            <a:ext cx="557784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80760" y="3520440"/>
            <a:ext cx="100584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3587234"/>
            <a:ext cx="1005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实验四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23760" y="3648343"/>
            <a:ext cx="42976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测试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对错别字的理解力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63640" y="4206240"/>
            <a:ext cx="52120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dirty="0" err="1">
                <a:solidFill>
                  <a:srgbClr val="F58020"/>
                </a:solidFill>
                <a:latin typeface="Microsoft YaHei"/>
                <a:ea typeface="Microsoft YaHei"/>
              </a:rPr>
              <a:t>目的：体验大模型的语义纠错能力与基础知识深刻记忆</a:t>
            </a:r>
            <a:r>
              <a:rPr sz="2000" b="0" i="1" dirty="0">
                <a:solidFill>
                  <a:srgbClr val="F5802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90373"/>
            <a:ext cx="52120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为啥做深杜学习总要调超参树？薛定俄的猫是个啥玩样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？"
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与语法正确的相同提问对比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输出质量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40 / 42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23444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600200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5506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新手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专家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039112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摒弃搜索引擎思维；思维链、人设、迭代三种进阶；背景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约束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输出格式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四要素提示词框架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600200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600200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600200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5506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模型的内在大脑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2039112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预训练知识来源（互联网论坛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百科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学术库）与两大局限：静态冻结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公开互联网；高词频带来惊人容错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0088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990088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990088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304495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联网检索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429000"/>
            <a:ext cx="4343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突破知识截断的桥梁；实时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位置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小众三大触发场景；模型自动决策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用户强制指令</a:t>
            </a:r>
            <a:r>
              <a:rPr sz="12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990088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990088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990088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304495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驾驭外部数据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429000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信源约束抵御营销号；网页时效性陷阱必看引用日期；双代理机制中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主模型未读全文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的隐患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379976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379976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379976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43484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深度研究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智能代理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818888"/>
            <a:ext cx="43434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从被动搜索到主动探索；并行抓取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动态换词的多轮循环；多维度输出形态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(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报告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)。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379976"/>
            <a:ext cx="777240" cy="128016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379976"/>
            <a:ext cx="7772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2.6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379976"/>
            <a:ext cx="4709160" cy="128016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43484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本章实训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818888"/>
            <a:ext cx="4343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四个动手实验：联网开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普通vs深度对比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上传本地文档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错别字理解力测试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97880"/>
            <a:ext cx="11475720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6056114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被动盲从者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时代的领航员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这是本章带给你的核心跃迁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41 / 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2 章  ·  大模型的知识与检索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4109</Words>
  <Application>Microsoft Macintosh PowerPoint</Application>
  <PresentationFormat>宽屏</PresentationFormat>
  <Paragraphs>709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57" baseType="lpstr">
      <vt:lpstr>宋体</vt:lpstr>
      <vt:lpstr>Microsoft YaHei</vt:lpstr>
      <vt:lpstr>Apple Color Emoji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Microsoft Office User</cp:lastModifiedBy>
  <cp:revision>13</cp:revision>
  <dcterms:created xsi:type="dcterms:W3CDTF">2013-01-27T09:14:16Z</dcterms:created>
  <dcterms:modified xsi:type="dcterms:W3CDTF">2026-06-08T15:24:06Z</dcterms:modified>
  <cp:category/>
</cp:coreProperties>
</file>