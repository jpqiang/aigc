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97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98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99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朋 王" initials="朋王" lastIdx="1" clrIdx="0">
    <p:extLst>
      <p:ext uri="{19B8F6BF-5375-455C-9EA6-DF929625EA0E}">
        <p15:presenceInfo xmlns:p15="http://schemas.microsoft.com/office/powerpoint/2012/main" userId="fffea06f79926c4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29"/>
    <p:restoredTop sz="94716"/>
  </p:normalViewPr>
  <p:slideViewPr>
    <p:cSldViewPr snapToGrid="0" snapToObjects="1">
      <p:cViewPr varScale="1">
        <p:scale>
          <a:sx n="73" d="100"/>
          <a:sy n="73" d="100"/>
        </p:scale>
        <p:origin x="60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68012F-1D4C-4AF4-A40B-C39E20819B30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14D250-02A7-4328-9C11-28E78D37E2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967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Text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参考来源（查阅日期：2026-09-24）</a:t>
            </a:r>
          </a:p>
          <a:p>
            <a:r>
              <a:t>Mata v. Avianca, 2023-06-22 sanctions order: https://www.nhd.uscourts.gov/sites/default/files/pdf/Mata-v-Avianca-sanctions-order.PDF</a:t>
            </a:r>
          </a:p>
          <a:p>
            <a:r>
              <a:t>通州法院案例报道：https://www.thepaper.cn/newsDetail_forward_31847359</a:t>
            </a:r>
          </a:p>
          <a:p>
            <a:r>
              <a:t>最高人民检察院，2025-06-17，原创画作经AI处理后差别不大构成侵权吗：https://www.spp.gov.cn/zdgz/202506/t20250617_698492.shtml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Text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参考来源（查阅日期：2026-09-24）</a:t>
            </a:r>
          </a:p>
          <a:p>
            <a:r>
              <a:t>Mata v. Avianca sanctions order: https://www.nhd.uscourts.gov/sites/default/files/pdf/Mata-v-Avianca-sanctions-order.PDF</a:t>
            </a:r>
          </a:p>
          <a:p>
            <a:r>
              <a:t>通州法院案例报道：https://www.thepaper.cn/newsDetail_forward_31847359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Text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参考来源（查阅日期：2026-09-24）</a:t>
            </a:r>
          </a:p>
          <a:p>
            <a:r>
              <a:t>最高人民检察院，2025-06-17：https://www.spp.gov.cn/zdgz/202506/t20250617_698492.shtml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Text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参考来源（查阅日期：2026-09-24）</a:t>
            </a:r>
          </a:p>
          <a:p>
            <a:r>
              <a:t>WIPO, Generative AI: Navigating Intellectual Property: https://www.wipo.int/edocs/mdocs/mdocs/en/wipo_webinar_ft_24_1/wipo_webinar_ft_24_1_guidelines.pdf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Text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参考来源（查阅日期：2026-09-24）</a:t>
            </a:r>
          </a:p>
          <a:p>
            <a:r>
              <a:t>WIPO, Generative AI: Navigating Intellectual Property: https://www.wipo.int/edocs/mdocs/mdocs/en/wipo_webinar_ft_24_1/wipo_webinar_ft_24_1_guidelines.pdf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Text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参考来源（查阅日期：2026-09-24）</a:t>
            </a:r>
          </a:p>
          <a:p>
            <a:r>
              <a:t>ICMJE, Use of AI by Authors: https://www.icmje.org/recommendations/browse/artificial-intelligence/ai-use-by-authors.html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Text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参考来源（查阅日期：2026-09-24）</a:t>
            </a:r>
          </a:p>
          <a:p>
            <a:r>
              <a:t>ICMJE, Use of AI by Authors: https://www.icmje.org/recommendations/browse/artificial-intelligence/ai-use-by-authors.html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7314895" y="21516"/>
            <a:ext cx="4876800" cy="3523129"/>
          </a:xfrm>
          <a:prstGeom prst="parallelogram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7924495" y="3544645"/>
            <a:ext cx="4267200" cy="3313355"/>
          </a:xfrm>
          <a:prstGeom prst="parallelogram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2373421"/>
            <a:ext cx="12191695" cy="830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《</a:t>
            </a:r>
            <a:r>
              <a:rPr sz="5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生成式人工智能</a:t>
            </a:r>
            <a:r>
              <a:rPr lang="zh-CN" altLang="en-US" sz="5400" b="1" dirty="0">
                <a:solidFill>
                  <a:srgbClr val="FFFFFF"/>
                </a:solidFill>
                <a:latin typeface="Microsoft YaHei"/>
                <a:ea typeface="Microsoft YaHei"/>
              </a:rPr>
              <a:t>与科研素养</a:t>
            </a:r>
            <a:r>
              <a:rPr sz="5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38328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Microsoft YaHei"/>
                <a:ea typeface="Microsoft YaHei"/>
              </a:rPr>
              <a:t>第 8 章   生成式人工智能伦理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57784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扬州大学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Arrow 2"/>
          <p:cNvSpPr/>
          <p:nvPr/>
        </p:nvSpPr>
        <p:spPr>
          <a:xfrm>
            <a:off x="7955585" y="1645920"/>
            <a:ext cx="3904721" cy="4800600"/>
          </a:xfrm>
          <a:prstGeom prst="rightArrow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600" b="1" i="0">
                <a:solidFill>
                  <a:srgbClr val="333333"/>
                </a:solidFill>
                <a:latin typeface="Microsoft YaHei"/>
                <a:ea typeface="Microsoft YaHei"/>
              </a:rPr>
              <a:t>目录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200400" cy="35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2468880"/>
            <a:ext cx="960120" cy="676656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9601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8.1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0" y="2468880"/>
            <a:ext cx="5852160" cy="676656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37360" y="2468880"/>
            <a:ext cx="57150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0066CC"/>
                </a:solidFill>
                <a:latin typeface="Microsoft YaHei"/>
                <a:ea typeface="Microsoft YaHei"/>
              </a:rPr>
              <a:t>学术场景中的大模型使用原则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46704"/>
            <a:ext cx="960120" cy="676656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346704"/>
            <a:ext cx="9601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8.2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3346704"/>
            <a:ext cx="5852160" cy="676656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37360" y="3346704"/>
            <a:ext cx="57150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0066CC"/>
                </a:solidFill>
                <a:latin typeface="Microsoft YaHei"/>
                <a:ea typeface="Microsoft YaHei"/>
              </a:rPr>
              <a:t>大模型的主要局限与真实性问题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24528"/>
            <a:ext cx="960120" cy="676656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224528"/>
            <a:ext cx="9601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8.3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4224528"/>
            <a:ext cx="5852160" cy="676656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737360" y="4224528"/>
            <a:ext cx="57150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0066CC"/>
                </a:solidFill>
                <a:latin typeface="Microsoft YaHei"/>
                <a:ea typeface="Microsoft YaHei"/>
              </a:rPr>
              <a:t>大模型辅助科研的操作规范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102352"/>
            <a:ext cx="960120" cy="676656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5102352"/>
            <a:ext cx="9601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8.4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00200" y="5102352"/>
            <a:ext cx="5852160" cy="676656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37360" y="5102352"/>
            <a:ext cx="57150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0066CC"/>
                </a:solidFill>
                <a:latin typeface="Microsoft YaHei"/>
                <a:ea typeface="Microsoft YaHei"/>
              </a:rPr>
              <a:t>学术规范与责任归属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3091" y="6446520"/>
            <a:ext cx="535724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/>
              </a:rPr>
              <a:t>2 / 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endParaRPr sz="1100" dirty="0">
              <a:solidFill>
                <a:srgbClr val="99999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导言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辅助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科研中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的伦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理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与责任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11247120" cy="7772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112471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 dirty="0">
                <a:solidFill>
                  <a:srgbClr val="FFFFFF"/>
                </a:solidFill>
                <a:latin typeface="Microsoft YaHei"/>
                <a:ea typeface="Microsoft YaHei"/>
              </a:rPr>
              <a:t>使用AI</a:t>
            </a:r>
            <a:r>
              <a:rPr sz="26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时，需要同时评估内容可靠性、数据安全和学术规范。</a:t>
            </a:r>
            <a:endParaRPr sz="26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研究者应主导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研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究过程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，核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查证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据，并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对提交的成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果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负责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97480"/>
            <a:ext cx="2697480" cy="74980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723126"/>
            <a:ext cx="26974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Arial"/>
                <a:ea typeface="Arial"/>
              </a:rPr>
              <a:t>8.1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79742"/>
            <a:ext cx="26974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使用原则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48640" y="3447288"/>
            <a:ext cx="2697480" cy="1627632"/>
          </a:xfrm>
          <a:prstGeom prst="rect">
            <a:avLst/>
          </a:prstGeom>
          <a:solidFill>
            <a:srgbClr val="E6F2FC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889631"/>
            <a:ext cx="2423160" cy="7612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真实性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人工主导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
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安全合规与责任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429000" y="2697480"/>
            <a:ext cx="2697480" cy="749808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29000" y="2723126"/>
            <a:ext cx="26974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Arial"/>
                <a:ea typeface="Arial"/>
              </a:rPr>
              <a:t>8.2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079742"/>
            <a:ext cx="26974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主要局限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429000" y="3447288"/>
            <a:ext cx="2697480" cy="1627632"/>
          </a:xfrm>
          <a:prstGeom prst="rect">
            <a:avLst/>
          </a:prstGeom>
          <a:solidFill>
            <a:srgbClr val="E6F2FC"/>
          </a:solidFill>
          <a:ln w="12700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66160" y="3889631"/>
            <a:ext cx="2423160" cy="7612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幻觉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语料偏见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
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算法黑箱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309360" y="2697480"/>
            <a:ext cx="2697480" cy="749808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60" y="2723126"/>
            <a:ext cx="26974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Arial"/>
                <a:ea typeface="Arial"/>
              </a:rPr>
              <a:t>8.3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079742"/>
            <a:ext cx="26974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操作规范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309360" y="3447288"/>
            <a:ext cx="2697480" cy="1627632"/>
          </a:xfrm>
          <a:prstGeom prst="rect">
            <a:avLst/>
          </a:prstGeom>
          <a:solidFill>
            <a:srgbClr val="E6F2FC"/>
          </a:solidFill>
          <a:ln w="12700">
            <a:solidFill>
              <a:srgbClr val="F5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3889631"/>
            <a:ext cx="2423160" cy="7612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版权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数据隐私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
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提示词注入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189720" y="2697480"/>
            <a:ext cx="2697480" cy="74980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89720" y="2723126"/>
            <a:ext cx="26974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Arial"/>
                <a:ea typeface="Arial"/>
              </a:rPr>
              <a:t>8.4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3079742"/>
            <a:ext cx="26974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责任归属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189720" y="3447288"/>
            <a:ext cx="2697480" cy="1627632"/>
          </a:xfrm>
          <a:prstGeom prst="rect">
            <a:avLst/>
          </a:prstGeom>
          <a:solidFill>
            <a:srgbClr val="E6F2FC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26880" y="3889631"/>
            <a:ext cx="2423160" cy="7612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辅助与代写的边界
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作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者的核查责任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45098" y="5721358"/>
            <a:ext cx="11247120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2287" y="5856732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本章讨论如何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在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使用AI的同时，保留独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立判断、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真实记录与明确的责任分工。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473091" y="6446520"/>
            <a:ext cx="535724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/>
              </a:rPr>
              <a:t>3 / 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endParaRPr sz="1100" dirty="0">
              <a:solidFill>
                <a:srgbClr val="99999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91440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0" b="1" i="0">
                <a:solidFill>
                  <a:srgbClr val="FFFFFF"/>
                </a:solidFill>
                <a:latin typeface="Arial"/>
                <a:ea typeface="Arial"/>
              </a:rPr>
              <a:t>8.1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671483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学术场景中的大模型使用原则</a:t>
            </a:r>
            <a:endParaRPr sz="38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0" y="3840480"/>
            <a:ext cx="13716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4023360"/>
            <a:ext cx="67665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学术成果需要真实、可核验，研究过程应有记录。AI可以辅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助研究，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作者仍需理解内容、核查依据并承担相应责任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473091" y="6446520"/>
            <a:ext cx="535724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/>
              </a:rPr>
              <a:t>4 / 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endParaRPr sz="1100" dirty="0">
              <a:solidFill>
                <a:srgbClr val="99999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8.1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真实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性、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人工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主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导与安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全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责任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从内容、研究过程和数据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使用三个方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面检查AI的使用方式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1480" y="1600200"/>
            <a:ext cx="3679850" cy="4648200"/>
          </a:xfrm>
          <a:prstGeom prst="rect">
            <a:avLst/>
          </a:prstGeom>
          <a:solidFill>
            <a:srgbClr val="FFFFFF"/>
          </a:solidFill>
          <a:ln w="222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600200"/>
            <a:ext cx="3679850" cy="56692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698998"/>
            <a:ext cx="340553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① 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真实性原则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2276856"/>
            <a:ext cx="3359810" cy="2591278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核查内容与来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源：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概念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/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事实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/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数据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/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文献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/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结论均真实可靠、来源可查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；</a:t>
            </a:r>
            <a:endParaRPr lang="en-US"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不编造文献、不虚构数据；结果真实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+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过程真实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5922" y="1600200"/>
            <a:ext cx="3679850" cy="4648200"/>
          </a:xfrm>
          <a:prstGeom prst="rect">
            <a:avLst/>
          </a:prstGeom>
          <a:solidFill>
            <a:srgbClr val="FFFFFF"/>
          </a:solidFill>
          <a:ln w="22225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55922" y="1600200"/>
            <a:ext cx="3679850" cy="566928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93082" y="1698998"/>
            <a:ext cx="340553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② 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人工主导原则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38802" y="2276856"/>
            <a:ext cx="3314090" cy="2591278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保留独立判断</a:t>
            </a:r>
            <a:r>
              <a:rPr sz="1500" b="1" dirty="0">
                <a:solidFill>
                  <a:srgbClr val="004CA0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研究目标、路径、方法、判断与表达由作者主导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；</a:t>
            </a:r>
            <a:endParaRPr lang="en-US"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工具可参与过程，但不能取代主体判断</a:t>
            </a:r>
            <a:r>
              <a:rPr sz="1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0364" y="1600200"/>
            <a:ext cx="3679850" cy="4648200"/>
          </a:xfrm>
          <a:prstGeom prst="rect">
            <a:avLst/>
          </a:prstGeom>
          <a:solidFill>
            <a:srgbClr val="FFFFFF"/>
          </a:solidFill>
          <a:ln w="22225">
            <a:solidFill>
              <a:srgbClr val="F5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00364" y="1600200"/>
            <a:ext cx="3679850" cy="566928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37524" y="1698998"/>
            <a:ext cx="340553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③ 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安全合规与责任归属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83244" y="2276856"/>
            <a:ext cx="3314090" cy="2591278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明确使用边界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使用边界、数据边界、责任边界必须清晰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；</a:t>
            </a:r>
            <a:endParaRPr lang="en-US"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作者应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核查提交内容，并按规定披露AI使用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3091" y="6446520"/>
            <a:ext cx="535724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/>
              </a:rPr>
              <a:t>5 / 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endParaRPr sz="1100" dirty="0">
              <a:solidFill>
                <a:srgbClr val="99999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8.1.1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研究结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果与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研究过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程的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真实性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0659" y="960120"/>
            <a:ext cx="6185648" cy="5392365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AI生成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的文字可作为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线索或草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稿。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用于学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术成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果前，</a:t>
            </a:r>
            <a:r>
              <a:rPr sz="2200" dirty="0" err="1">
                <a:latin typeface="Microsoft YaHei"/>
                <a:ea typeface="Microsoft YaHei"/>
              </a:rPr>
              <a:t>必须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核对来源、证据和适用条件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① 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文献信息必须真实可查</a:t>
            </a:r>
            <a:endParaRPr sz="22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作者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/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题名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/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刊名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/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年份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/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卷期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/DOI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均回正式数据库逐项核查；</a:t>
            </a:r>
            <a:r>
              <a:rPr sz="2000" b="0" dirty="0" err="1">
                <a:solidFill>
                  <a:srgbClr val="F58020"/>
                </a:solidFill>
                <a:latin typeface="Microsoft YaHei"/>
                <a:ea typeface="Microsoft YaHei"/>
              </a:rPr>
              <a:t>尤其避免直接引用</a:t>
            </a:r>
            <a:r>
              <a:rPr sz="2000" b="0" dirty="0">
                <a:solidFill>
                  <a:srgbClr val="F58020"/>
                </a:solidFill>
                <a:latin typeface="Microsoft YaHei"/>
                <a:ea typeface="Microsoft YaHei"/>
              </a:rPr>
              <a:t> AIGC </a:t>
            </a:r>
            <a:r>
              <a:rPr sz="2000" b="0" dirty="0" err="1">
                <a:solidFill>
                  <a:srgbClr val="F58020"/>
                </a:solidFill>
                <a:latin typeface="Microsoft YaHei"/>
                <a:ea typeface="Microsoft YaHei"/>
              </a:rPr>
              <a:t>自动生成的"参考文献列表</a:t>
            </a:r>
            <a:r>
              <a:rPr sz="2000" b="0" dirty="0">
                <a:solidFill>
                  <a:srgbClr val="F58020"/>
                </a:solidFill>
                <a:latin typeface="Microsoft YaHei"/>
                <a:ea typeface="Microsoft YaHei"/>
              </a:rPr>
              <a:t>"。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② 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事实表述必须有据可依</a:t>
            </a:r>
            <a:endParaRPr sz="22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以原始来源为准、权威来源为准、最新有效版本为准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③ 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数据和研究过程必须真实呈现</a:t>
            </a:r>
            <a:endParaRPr sz="22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不得用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AIGC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生成数据冒充实测；不得虚构访谈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/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问卷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/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实验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④ 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结论表达必须符合证据边界</a:t>
            </a:r>
            <a:endParaRPr sz="22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警惕过度归纳、夸大因果、拔高意义、虚增创新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47873" y="6550223"/>
            <a:ext cx="55930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图 8-1 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学术场景中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AIGC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内容的真实性检验流程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73091" y="6446520"/>
            <a:ext cx="535724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/>
              </a:rPr>
              <a:t>6 / 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endParaRPr sz="1100" dirty="0">
              <a:solidFill>
                <a:srgbClr val="999999"/>
              </a:solidFill>
              <a:latin typeface="Arial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356EC4C-B4C6-B8A2-79CD-96CF439EC7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2206" y="777240"/>
            <a:ext cx="5333590" cy="54284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8.1.1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不同学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科中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的真实性要求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各学科都需要核查证据，但重点随研究对象与方法而有所不同。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1480" y="1600200"/>
            <a:ext cx="3679850" cy="4684059"/>
          </a:xfrm>
          <a:prstGeom prst="rect">
            <a:avLst/>
          </a:prstGeom>
          <a:solidFill>
            <a:srgbClr val="FFFFFF"/>
          </a:solidFill>
          <a:ln w="222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533406"/>
            <a:ext cx="3679850" cy="738662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946" y="1670566"/>
            <a:ext cx="340553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人文社科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概念与文献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666" y="2380465"/>
            <a:ext cx="3314090" cy="1295538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重点关注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概念误读、文献误引、政策失据、案例失真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5922" y="1600200"/>
            <a:ext cx="3679850" cy="4684059"/>
          </a:xfrm>
          <a:prstGeom prst="rect">
            <a:avLst/>
          </a:prstGeom>
          <a:solidFill>
            <a:srgbClr val="FFFFFF"/>
          </a:solidFill>
          <a:ln w="22225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55922" y="1533405"/>
            <a:ext cx="3679850" cy="738663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93082" y="1698998"/>
            <a:ext cx="340553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理工农医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数据与方法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38802" y="2391922"/>
            <a:ext cx="3314090" cy="1701803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重点关注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实验数据、图表结果、模型参数、程序输出、方法条件的真实性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0364" y="1600200"/>
            <a:ext cx="3679850" cy="4684059"/>
          </a:xfrm>
          <a:prstGeom prst="rect">
            <a:avLst/>
          </a:prstGeom>
          <a:solidFill>
            <a:srgbClr val="FFFFFF"/>
          </a:solidFill>
          <a:ln w="22225">
            <a:solidFill>
              <a:srgbClr val="F5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00364" y="1533406"/>
            <a:ext cx="3679850" cy="756166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8283244" y="1568135"/>
            <a:ext cx="3405530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艺术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/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设计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/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教育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/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管理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实践与过程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64195" y="2446440"/>
            <a:ext cx="3314090" cy="1701803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重点关注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作品生成过程、实践记录、案例来源、评价依据的真实性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3091" y="6446520"/>
            <a:ext cx="535724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/>
              </a:rPr>
              <a:t>7 / 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endParaRPr sz="1100" dirty="0">
              <a:solidFill>
                <a:srgbClr val="99999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8.1.2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研究者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主导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与工具辅助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3579" y="960120"/>
            <a:ext cx="9967856" cy="5288683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学术价值不仅在文本产出，更在阅读、思考、论证、实验、修正所形成的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知识能力与研究能力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过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度依赖AI可能减少独立阅读、推理与验证的训练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endParaRPr sz="1800" b="1" dirty="0">
              <a:solidFill>
                <a:srgbClr val="F5802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使用时应注意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① 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明确哪些环节可以辅助，哪些判断由作者作</a:t>
            </a:r>
            <a:r>
              <a:rPr lang="en-US" altLang="zh-CN"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出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lang="zh-CN" altLang="en-US"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② 对 </a:t>
            </a:r>
            <a:r>
              <a:rPr lang="en-US" altLang="zh-CN"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AIGC </a:t>
            </a:r>
            <a:r>
              <a:rPr lang="zh-CN" altLang="en-US"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输出具备独立判断与重新加工能力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0" dirty="0">
                <a:solidFill>
                  <a:srgbClr val="333333"/>
                </a:solidFill>
                <a:latin typeface="Microsoft YaHei"/>
                <a:ea typeface="Microsoft YaHei"/>
              </a:rPr>
              <a:t>  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能解释为何采用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/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舍弃；讲不清来源逻辑的内容不得进入成果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③ 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能解释研究依据、方法与结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论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0" dirty="0">
                <a:solidFill>
                  <a:srgbClr val="333333"/>
                </a:solidFill>
                <a:latin typeface="Microsoft YaHei"/>
                <a:ea typeface="Microsoft YaHei"/>
              </a:rPr>
              <a:t>  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凡以作者名义提交，必须真正理解、真正参与、真正负责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endParaRPr sz="15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提交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成果前，应能说明关键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内容的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来源与理由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3091" y="6446520"/>
            <a:ext cx="535724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/>
              </a:rPr>
              <a:t>8 / 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endParaRPr sz="1100" dirty="0">
              <a:solidFill>
                <a:srgbClr val="99999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F27AA-169F-BFF2-305A-327001681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299163-7431-C459-017D-F1F2992BE82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>
            <a:extLst>
              <a:ext uri="{FF2B5EF4-FFF2-40B4-BE49-F238E27FC236}">
                <a16:creationId xmlns:a16="http://schemas.microsoft.com/office/drawing/2014/main" id="{32B1E945-053C-220E-F153-E30A9B5E7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F49BD16-4404-F51F-FA04-FEED505C08DC}"/>
              </a:ext>
            </a:extLst>
          </p:cNvPr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D6FA14-16E7-61ED-016C-DB93584E3E46}"/>
              </a:ext>
            </a:extLst>
          </p:cNvPr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8.1.2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F0728C-E756-D1AC-FCB1-7D853E2D4AD9}"/>
              </a:ext>
            </a:extLst>
          </p:cNvPr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504A0B-DBE2-ABD7-7C23-E2E8AA51B781}"/>
              </a:ext>
            </a:extLst>
          </p:cNvPr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研究者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主导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与工具辅助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BAD6ED-DF41-B2BC-3BAA-ADE23B45537D}"/>
              </a:ext>
            </a:extLst>
          </p:cNvPr>
          <p:cNvSpPr txBox="1"/>
          <p:nvPr/>
        </p:nvSpPr>
        <p:spPr>
          <a:xfrm>
            <a:off x="3113895" y="6201800"/>
            <a:ext cx="567602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图 8-2 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学术任务中"可辅助"与"应主导"的边界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2BBE59-6678-E318-59C6-F633CCC90E6D}"/>
              </a:ext>
            </a:extLst>
          </p:cNvPr>
          <p:cNvSpPr txBox="1"/>
          <p:nvPr/>
        </p:nvSpPr>
        <p:spPr>
          <a:xfrm>
            <a:off x="11511563" y="6446520"/>
            <a:ext cx="497252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lang="en-US" sz="1100" dirty="0">
                <a:solidFill>
                  <a:srgbClr val="999999"/>
                </a:solidFill>
                <a:latin typeface="Arial"/>
              </a:rPr>
              <a:t>9</a:t>
            </a:r>
            <a:r>
              <a:rPr sz="1100" dirty="0">
                <a:solidFill>
                  <a:srgbClr val="999999"/>
                </a:solidFill>
                <a:latin typeface="Arial"/>
              </a:rPr>
              <a:t> / 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endParaRPr sz="1100" dirty="0">
              <a:solidFill>
                <a:srgbClr val="999999"/>
              </a:solidFill>
              <a:latin typeface="Arial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9A6362D-2A46-3F52-5097-D95DD5411A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238" y="1002047"/>
            <a:ext cx="8905218" cy="501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164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8.1.2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辅助任务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与作者主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导的任务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表 </a:t>
            </a:r>
            <a:r>
              <a:rPr lang="en-US"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8-1 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人工主导原则下的任务边界划分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18007" y="1554480"/>
            <a:ext cx="16459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8007" y="1621274"/>
            <a:ext cx="16459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类别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163927" y="1554480"/>
            <a:ext cx="48463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63927" y="1621274"/>
            <a:ext cx="48463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可由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AIGC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辅助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010247" y="1554480"/>
            <a:ext cx="466344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10247" y="1621274"/>
            <a:ext cx="46634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应由作者主导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18007" y="2057400"/>
            <a:ext cx="1645920" cy="86868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5167" y="2337851"/>
            <a:ext cx="13716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共性边界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163927" y="2057400"/>
            <a:ext cx="4846320" cy="86868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301087" y="2183965"/>
            <a:ext cx="457200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提纲梳理、信息提取、改写表达、术语解释、代码框架、格式检查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010247" y="2057400"/>
            <a:ext cx="4663440" cy="86868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47407" y="2183965"/>
            <a:ext cx="438912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问题提出与界定、方案设计、概念建构、方法选择、数据解释、结论提炼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18007" y="2926080"/>
            <a:ext cx="1645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5167" y="3206531"/>
            <a:ext cx="13716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人文社科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163927" y="2926080"/>
            <a:ext cx="48463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301087" y="3206531"/>
            <a:ext cx="4572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资料初筛、语言润色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010247" y="2926080"/>
            <a:ext cx="46634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47407" y="3052643"/>
            <a:ext cx="438912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选题立意、理论分析、案例解读、政策评价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18007" y="3794760"/>
            <a:ext cx="1645920" cy="86868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5167" y="4075211"/>
            <a:ext cx="13716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理工农医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163927" y="3794760"/>
            <a:ext cx="4846320" cy="86868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301087" y="4075211"/>
            <a:ext cx="4572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代码表达优化、图表样式建议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010247" y="3794760"/>
            <a:ext cx="4663440" cy="86868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47407" y="3921323"/>
            <a:ext cx="438912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模型构建、参数设定、实验设计、结果归因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18007" y="4663440"/>
            <a:ext cx="1645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5167" y="4943891"/>
            <a:ext cx="13716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艺术</a:t>
            </a:r>
            <a:r>
              <a:rPr sz="2000" b="1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实践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163927" y="4663440"/>
            <a:ext cx="48463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301087" y="4943891"/>
            <a:ext cx="4572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素材整理、排版辅助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010247" y="4663440"/>
            <a:ext cx="46634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47407" y="4790003"/>
            <a:ext cx="438912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创意形成、方案生成、作品阐释、实践总结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26567" y="5771078"/>
            <a:ext cx="11247120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作者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应作出实质性学术贡献，并理解、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核查和说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明AI参与的环节。具体要求以所在机构和期刊规范为准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lang="en-US" sz="1100" dirty="0">
                <a:solidFill>
                  <a:srgbClr val="999999"/>
                </a:solidFill>
                <a:latin typeface="Arial"/>
              </a:rPr>
              <a:t>10</a:t>
            </a:r>
            <a:r>
              <a:rPr sz="1100" dirty="0">
                <a:solidFill>
                  <a:srgbClr val="999999"/>
                </a:solidFill>
                <a:latin typeface="Arial"/>
              </a:rPr>
              <a:t> / 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endParaRPr sz="1100" dirty="0">
              <a:solidFill>
                <a:srgbClr val="99999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8.1.3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安全合规与责任归属原则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表 8-</a:t>
            </a:r>
            <a:r>
              <a:rPr lang="en-US"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2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   AIGC 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使用中的风险边界与责任归属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18007" y="1554480"/>
            <a:ext cx="201168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8007" y="1644134"/>
            <a:ext cx="20116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风险维度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529687" y="1554480"/>
            <a:ext cx="512064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29687" y="1644134"/>
            <a:ext cx="51206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风险点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50327" y="1554480"/>
            <a:ext cx="402336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50327" y="1644134"/>
            <a:ext cx="402336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边界与责任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18007" y="2103120"/>
            <a:ext cx="2011680" cy="10058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5167" y="2452151"/>
            <a:ext cx="17373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数据安全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529687" y="2103120"/>
            <a:ext cx="5120640" cy="10058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66847" y="2298263"/>
            <a:ext cx="484632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未脱敏科研数据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/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方案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/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病例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/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隐私上传公共平台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650327" y="2103120"/>
            <a:ext cx="4023360" cy="10058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87487" y="2298264"/>
            <a:ext cx="374904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按制度审批，禁止向未获授权的平台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输入敏感资料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8007" y="3108960"/>
            <a:ext cx="2011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5167" y="3457991"/>
            <a:ext cx="17373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知识产权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529687" y="3108960"/>
            <a:ext cx="51206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66847" y="3457991"/>
            <a:ext cx="48463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生成内容可能含受版权保护表达；冒充原创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650327" y="3108960"/>
            <a:ext cx="4023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87487" y="3304104"/>
            <a:ext cx="374904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尊重许可、必要披露、不冒充独立创作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18007" y="4114800"/>
            <a:ext cx="2011680" cy="10058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5167" y="4463831"/>
            <a:ext cx="17373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责任归属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529687" y="4114800"/>
            <a:ext cx="5120640" cy="10058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666847" y="4463831"/>
            <a:ext cx="48463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把错误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/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失实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/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侵权后果转嫁工具或平台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650327" y="4114800"/>
            <a:ext cx="4023360" cy="10058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87487" y="4309944"/>
            <a:ext cx="374904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作者负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核查责任；法律责任结合具体行为认定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7200" y="5440680"/>
            <a:ext cx="11247120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同时检查输入资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料、生成内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容与使用方式。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学术责任不能以“AI生成”为由免除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，法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律责任需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按具体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事实判断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/>
              </a:rPr>
              <a:t>1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1</a:t>
            </a:r>
            <a:r>
              <a:rPr sz="1100" dirty="0">
                <a:solidFill>
                  <a:srgbClr val="999999"/>
                </a:solidFill>
                <a:latin typeface="Arial"/>
              </a:rPr>
              <a:t> / 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endParaRPr sz="1100" dirty="0">
              <a:solidFill>
                <a:srgbClr val="99999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8.1.4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典型案例总览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表 8-</a:t>
            </a:r>
            <a:r>
              <a:rPr lang="en-US"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3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   AIGC 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典型风险案例与启示对照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9447" y="1554480"/>
            <a:ext cx="246888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447" y="1644134"/>
            <a:ext cx="24688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案例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078327" y="1554480"/>
            <a:ext cx="237744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78327" y="1644134"/>
            <a:ext cx="23774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场景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55767" y="1554480"/>
            <a:ext cx="420624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55767" y="1644134"/>
            <a:ext cx="42062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核心问题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662007" y="1554480"/>
            <a:ext cx="192024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62007" y="1644134"/>
            <a:ext cx="19202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对应原则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09447" y="2103120"/>
            <a:ext cx="2468880" cy="841248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6607" y="2369855"/>
            <a:ext cx="2194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333333"/>
                </a:solidFill>
                <a:latin typeface="Microsoft YaHei"/>
                <a:ea typeface="Microsoft YaHei"/>
              </a:rPr>
              <a:t>Mata v. Avianca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78327" y="2103120"/>
            <a:ext cx="2377440" cy="841248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15487" y="2385244"/>
            <a:ext cx="21031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美国法院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(2023)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55767" y="2103120"/>
            <a:ext cx="4206240" cy="841248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92927" y="2385244"/>
            <a:ext cx="406908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提交虚构判例并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作不实陈述，律师受到制裁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662007" y="2103120"/>
            <a:ext cx="1920240" cy="841248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27539" y="2394841"/>
            <a:ext cx="16459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真实性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09447" y="2944368"/>
            <a:ext cx="24688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6607" y="3211103"/>
            <a:ext cx="2194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通州法院虚假援引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078327" y="2944368"/>
            <a:ext cx="23774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15487" y="3226492"/>
            <a:ext cx="21031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国内司法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(2025)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55767" y="2944368"/>
            <a:ext cx="42062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92927" y="3226492"/>
            <a:ext cx="39319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AI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编造"高度契合"案号，未予采纳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662007" y="2944368"/>
            <a:ext cx="19202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27539" y="3244071"/>
            <a:ext cx="16459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真实性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09447" y="3785616"/>
            <a:ext cx="2468880" cy="841248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6607" y="4052351"/>
            <a:ext cx="2194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三星敏感信息上传事件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078327" y="3785616"/>
            <a:ext cx="2377440" cy="841248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15487" y="4067740"/>
            <a:ext cx="21031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企业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(2023)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55767" y="3785616"/>
            <a:ext cx="4206240" cy="841248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592927" y="4067740"/>
            <a:ext cx="39319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员工上传源代码等，引发保密风险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9662007" y="3785616"/>
            <a:ext cx="1920240" cy="841248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027539" y="4074468"/>
            <a:ext cx="16459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安全合规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09447" y="4626864"/>
            <a:ext cx="24688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46607" y="4893599"/>
            <a:ext cx="2194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AI</a:t>
            </a:r>
            <a:r>
              <a:rPr sz="2000" b="1" i="0" dirty="0">
                <a:solidFill>
                  <a:srgbClr val="333333"/>
                </a:solidFill>
                <a:latin typeface="Microsoft YaHei"/>
                <a:ea typeface="Microsoft YaHei"/>
              </a:rPr>
              <a:t>微调作</a:t>
            </a:r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品制售案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078327" y="4626864"/>
            <a:ext cx="23774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215487" y="4908988"/>
            <a:ext cx="21031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刑事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(2025)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55767" y="4626864"/>
            <a:ext cx="42062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592927" y="4908988"/>
            <a:ext cx="39319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未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经许可改图制售，引发侵权追责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9662007" y="4626864"/>
            <a:ext cx="19202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027539" y="4933295"/>
            <a:ext cx="16459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责任归属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57200" y="5894308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案例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分别涉及引用核验、敏感信息输入和作品使用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，可联系科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研任务讨论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/>
              </a:rPr>
              <a:t>1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2</a:t>
            </a:r>
            <a:r>
              <a:rPr sz="1100" dirty="0">
                <a:solidFill>
                  <a:srgbClr val="999999"/>
                </a:solidFill>
                <a:latin typeface="Arial"/>
              </a:rPr>
              <a:t> / 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endParaRPr sz="1100" dirty="0">
              <a:solidFill>
                <a:srgbClr val="99999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8.1.4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案例分析：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引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用内容的核验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4332" y="956548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即使生成内容与问题高度相关，也需要检查原始来源。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1480" y="1600200"/>
            <a:ext cx="5602071" cy="4621306"/>
          </a:xfrm>
          <a:prstGeom prst="rect">
            <a:avLst/>
          </a:prstGeom>
          <a:solidFill>
            <a:srgbClr val="FFFFFF"/>
          </a:solidFill>
          <a:ln w="222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600200"/>
            <a:ext cx="5602071" cy="56692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714387"/>
            <a:ext cx="5327751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案例一</a:t>
            </a:r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 Mata v. </a:t>
            </a:r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Avianca（美国</a:t>
            </a:r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· 2023）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76856"/>
            <a:ext cx="5236311" cy="2811915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律师提交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含虚构判例的材料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，</a:t>
            </a:r>
            <a:r>
              <a:rPr sz="2000" dirty="0" err="1">
                <a:solidFill>
                  <a:srgbClr val="333333"/>
                </a:solidFill>
                <a:latin typeface="Microsoft YaHei"/>
                <a:ea typeface="Microsoft YaHei"/>
              </a:rPr>
              <a:t>并在核查中作不实陈述，法院予以制裁</a:t>
            </a:r>
            <a:r>
              <a:rPr sz="200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endParaRPr lang="en-US" sz="200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启示</a:t>
            </a: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：使用AI不能替</a:t>
            </a: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代提交</a:t>
            </a: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材料前的核查</a:t>
            </a: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  <a:endParaRPr lang="en-US" sz="20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endParaRPr sz="20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案例名称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、案号与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引文格式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完整，仍可能没有真实依据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8143" y="1600200"/>
            <a:ext cx="5602071" cy="4621306"/>
          </a:xfrm>
          <a:prstGeom prst="rect">
            <a:avLst/>
          </a:prstGeom>
          <a:solidFill>
            <a:srgbClr val="FFFFFF"/>
          </a:solidFill>
          <a:ln w="22225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8143" y="1600200"/>
            <a:ext cx="5602071" cy="566928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15303" y="1714387"/>
            <a:ext cx="5602071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案例二</a:t>
            </a:r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 </a:t>
            </a:r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通州法院虚假援引（国内</a:t>
            </a:r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· 2025）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1023" y="2276856"/>
            <a:ext cx="5236311" cy="2811915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代理人提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交AI</a:t>
            </a:r>
            <a:r>
              <a:rPr sz="2000" dirty="0">
                <a:solidFill>
                  <a:srgbClr val="333333"/>
                </a:solidFill>
                <a:latin typeface="Microsoft YaHei"/>
                <a:ea typeface="Microsoft YaHei"/>
              </a:rPr>
              <a:t>生成的虚假案例和案号，法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院核查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后发现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内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容不实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endParaRPr lang="en-US"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法院</a:t>
            </a: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未采纳相关意见，并对该行为提出批评</a:t>
            </a: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  <a:endParaRPr lang="en-US" sz="20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endParaRPr sz="20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启示：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引用中文案例同样需要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核查案号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、原文和适用条件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/>
              </a:rPr>
              <a:t>1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3</a:t>
            </a:r>
            <a:r>
              <a:rPr sz="1100" dirty="0">
                <a:solidFill>
                  <a:srgbClr val="999999"/>
                </a:solidFill>
                <a:latin typeface="Arial"/>
              </a:rPr>
              <a:t> / 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endParaRPr sz="1100" dirty="0">
              <a:solidFill>
                <a:srgbClr val="99999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8.1.4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案例分析：敏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感输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入与作品使用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输入资料和输出成果都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需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要检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查授权与使用范围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600200"/>
            <a:ext cx="5602071" cy="2958737"/>
          </a:xfrm>
          <a:prstGeom prst="rect">
            <a:avLst/>
          </a:prstGeom>
          <a:solidFill>
            <a:srgbClr val="FFFFFF"/>
          </a:solidFill>
          <a:ln w="222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600200"/>
            <a:ext cx="5602071" cy="56692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714387"/>
            <a:ext cx="5327751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案例三</a:t>
            </a:r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 </a:t>
            </a:r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三星敏感信息上传</a:t>
            </a:r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事件（2023）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76856"/>
            <a:ext cx="5236311" cy="1965016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员工将</a:t>
            </a:r>
            <a:r>
              <a:rPr sz="20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源代码、会议内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容等输入外部AI服务，引发企业对资料保密的担忧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endParaRPr lang="en-US"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启示：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使用前先判断输入内容的保密等级、敏感程度、授权状态与平台边界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8143" y="1600200"/>
            <a:ext cx="5602071" cy="2958737"/>
          </a:xfrm>
          <a:prstGeom prst="rect">
            <a:avLst/>
          </a:prstGeom>
          <a:solidFill>
            <a:srgbClr val="FFFFFF"/>
          </a:solidFill>
          <a:ln w="22225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8143" y="1600200"/>
            <a:ext cx="5602071" cy="566928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15303" y="1714387"/>
            <a:ext cx="5434737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案例四</a:t>
            </a:r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 A</a:t>
            </a:r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I微调作</a:t>
            </a:r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品制售案（北</a:t>
            </a:r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京，2025）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1023" y="2276856"/>
            <a:ext cx="5236311" cy="1965016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案件涉及未经许可将他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人画作经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AI局部修改后制</a:t>
            </a:r>
            <a:r>
              <a:rPr sz="20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作拼图销售，检方指控侵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犯著作权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endParaRPr lang="en-US"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启示：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局部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改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图不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自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动消除原作品权利，使用前仍需核查授权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/>
              </a:rPr>
              <a:t>1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r>
              <a:rPr sz="1100" dirty="0">
                <a:solidFill>
                  <a:srgbClr val="999999"/>
                </a:solidFill>
                <a:latin typeface="Arial"/>
              </a:rPr>
              <a:t> / 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endParaRPr sz="1100" dirty="0">
              <a:solidFill>
                <a:srgbClr val="99999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91440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0" b="1" i="0">
                <a:solidFill>
                  <a:srgbClr val="FFFFFF"/>
                </a:solidFill>
                <a:latin typeface="Arial"/>
                <a:ea typeface="Arial"/>
              </a:rPr>
              <a:t>8.2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98567" y="2579320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大模型的主要局限</a:t>
            </a:r>
            <a:endParaRPr sz="38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0" y="3840480"/>
            <a:ext cx="13716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4023360"/>
            <a:ext cx="67665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模型可能生成事实错误、偏向性内容或缺少依据的解释。表达流畅、语气肯定，都不能替代证据核查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/>
              </a:rPr>
              <a:t>1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5</a:t>
            </a:r>
            <a:r>
              <a:rPr sz="1100" dirty="0">
                <a:solidFill>
                  <a:srgbClr val="999999"/>
                </a:solidFill>
                <a:latin typeface="Arial"/>
              </a:rPr>
              <a:t> / 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endParaRPr sz="1100" dirty="0">
              <a:solidFill>
                <a:srgbClr val="99999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8.2.1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模型幻觉的机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制与表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现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0452" y="888086"/>
            <a:ext cx="10629901" cy="5646730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语言生成与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事实核查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是不同任务</a:t>
            </a:r>
            <a:endParaRPr sz="2400" b="1" dirty="0">
              <a:solidFill>
                <a:srgbClr val="F5802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语言模型依据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训练中学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到的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模式与当前上下文逐步生成词元。生成过程本身不保证每项事实都有可靠来源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endParaRPr lang="en-US"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信息不足时，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模型仍可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能生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成貌似合理的回答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数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据库检索则需要检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查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记录是否存在、内容是否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匹配。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缺少依据的补全、错误关联或对材料的误读，都可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能影响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回答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18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示例：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格式完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整的虚构文献</a:t>
            </a:r>
            <a:endParaRPr sz="2400" b="1" dirty="0">
              <a:solidFill>
                <a:srgbClr val="0066CC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虚构文献也可能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采用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规范的引用格式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标题、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作者、期刊和DOI看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似完整，却可能无法检索，或与真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实文献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内容不符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16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引用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前应核对文献是否存在，以及原文是否支持所述结论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/>
              </a:rPr>
              <a:t>1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6</a:t>
            </a:r>
            <a:r>
              <a:rPr sz="1100" dirty="0">
                <a:solidFill>
                  <a:srgbClr val="999999"/>
                </a:solidFill>
                <a:latin typeface="Arial"/>
              </a:rPr>
              <a:t> / 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endParaRPr sz="1100" dirty="0">
              <a:solidFill>
                <a:srgbClr val="99999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8.2.1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事实错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误与推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理错误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表 8</a:t>
            </a:r>
            <a:r>
              <a:rPr lang="en-US"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-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4 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  模型输出中两类错误的比较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43687" y="1554480"/>
            <a:ext cx="201168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3687" y="1644134"/>
            <a:ext cx="20116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类型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255367" y="1554480"/>
            <a:ext cx="402336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55367" y="1644134"/>
            <a:ext cx="402336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表现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78727" y="1554480"/>
            <a:ext cx="237744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78727" y="1644134"/>
            <a:ext cx="23774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学术危害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656167" y="1554480"/>
            <a:ext cx="329184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56167" y="1644134"/>
            <a:ext cx="32918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典型例子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43687" y="2103120"/>
            <a:ext cx="2011680" cy="109728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0847" y="2497871"/>
            <a:ext cx="17373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事实性幻觉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255367" y="2103120"/>
            <a:ext cx="4023360" cy="109728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392527" y="2343983"/>
            <a:ext cx="374904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无中生有，凭空捏造实体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/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数据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/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事件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278727" y="2103120"/>
            <a:ext cx="2377440" cy="109728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15887" y="2497871"/>
            <a:ext cx="21031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造成虚假引用或错误判断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656167" y="2103120"/>
            <a:ext cx="3291840" cy="109728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93327" y="2343985"/>
            <a:ext cx="301752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虚构靶向药相互作用、编造清代档案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43687" y="3200400"/>
            <a:ext cx="20116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0847" y="3595151"/>
            <a:ext cx="17373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逻辑性幻觉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255367" y="320040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392527" y="3441263"/>
            <a:ext cx="374904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已有事实之间的推断缺少依据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278727" y="3200400"/>
            <a:ext cx="23774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15887" y="3595151"/>
            <a:ext cx="21031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推理链断裂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656167" y="3200400"/>
            <a:ext cx="32918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93327" y="3441265"/>
            <a:ext cx="301752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把相关性误作因果，或忽略关键前提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80060" y="5124971"/>
            <a:ext cx="11156729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推理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错误有时较难发现。除核对事实外，还需检查前提、推导步骤与结论的适用范围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/>
              </a:rPr>
              <a:t>1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7</a:t>
            </a:r>
            <a:r>
              <a:rPr sz="1100" dirty="0">
                <a:solidFill>
                  <a:srgbClr val="999999"/>
                </a:solidFill>
                <a:latin typeface="Arial"/>
              </a:rPr>
              <a:t> / 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endParaRPr sz="1100" dirty="0">
              <a:solidFill>
                <a:srgbClr val="99999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8.2.2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训练语料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与输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出偏差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1079709"/>
            <a:ext cx="10980869" cy="3972682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模型输出可能带有训练材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料和评价过程中的偏差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训练数据对语言、地区与群体的覆盖并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不均衡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。数据选择与训练方法都会影响生成结果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endParaRPr sz="18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历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史偏差可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能进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入模型输出</a:t>
            </a:r>
            <a:endParaRPr sz="24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模型会学习数据中的统计关联与表达模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式。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若某些群体长期与特定职业或负面描述关联，模型可能重复这些模式。偏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差的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程度因模型、</a:t>
            </a:r>
            <a:r>
              <a:rPr sz="2200" dirty="0" err="1">
                <a:solidFill>
                  <a:srgbClr val="333333"/>
                </a:solidFill>
                <a:latin typeface="Microsoft YaHei"/>
                <a:ea typeface="Microsoft YaHei"/>
              </a:rPr>
              <a:t>任务和提示词而异</a:t>
            </a:r>
            <a:r>
              <a:rPr sz="220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endParaRPr sz="17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应比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较不同群体和语境下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的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输出，检查是否存在无依据的概括或刻板印象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/>
              </a:rPr>
              <a:t>1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8</a:t>
            </a:r>
            <a:r>
              <a:rPr sz="1100" dirty="0">
                <a:solidFill>
                  <a:srgbClr val="999999"/>
                </a:solidFill>
                <a:latin typeface="Arial"/>
              </a:rPr>
              <a:t> / 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endParaRPr sz="1100" dirty="0">
              <a:solidFill>
                <a:srgbClr val="99999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590B4-3225-43EC-7131-B8F47991C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303D52-F6CB-C01C-BAE9-A5CF6C8732E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>
            <a:extLst>
              <a:ext uri="{FF2B5EF4-FFF2-40B4-BE49-F238E27FC236}">
                <a16:creationId xmlns:a16="http://schemas.microsoft.com/office/drawing/2014/main" id="{CBF0C3B5-AAE7-BD39-0C90-30DA79A3C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040F9F4-0398-7ADD-4122-38CBEC8E38D1}"/>
              </a:ext>
            </a:extLst>
          </p:cNvPr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460B7C-BDE1-5BF5-30F2-3E9DB1C262DE}"/>
              </a:ext>
            </a:extLst>
          </p:cNvPr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8.2.2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FAB550-EF65-8955-9894-0BD6D4FF8CEA}"/>
              </a:ext>
            </a:extLst>
          </p:cNvPr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CC71C7-CB5D-37B5-4BAE-B4DC034E6AFF}"/>
              </a:ext>
            </a:extLst>
          </p:cNvPr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训练语料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与输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出偏差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CC69A6-CBE0-AFEE-82DF-CBA3280F0B40}"/>
              </a:ext>
            </a:extLst>
          </p:cNvPr>
          <p:cNvSpPr txBox="1"/>
          <p:nvPr/>
        </p:nvSpPr>
        <p:spPr>
          <a:xfrm>
            <a:off x="3404642" y="6284937"/>
            <a:ext cx="5971833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图 8-3 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训练语料偏见向模型输出偏见的传导机制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D500C7-9092-672F-8FE7-6EB4B8EAFF19}"/>
              </a:ext>
            </a:extLst>
          </p:cNvPr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/>
              </a:rPr>
              <a:t>1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9 </a:t>
            </a:r>
            <a:r>
              <a:rPr sz="1100" dirty="0">
                <a:solidFill>
                  <a:srgbClr val="999999"/>
                </a:solidFill>
                <a:latin typeface="Arial"/>
              </a:rPr>
              <a:t>/ 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endParaRPr sz="1100" dirty="0">
              <a:solidFill>
                <a:srgbClr val="999999"/>
              </a:solidFill>
              <a:latin typeface="Arial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26D13BF-74B8-FBC9-B685-DAAAE6929FE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94" b="4308"/>
          <a:stretch/>
        </p:blipFill>
        <p:spPr bwMode="auto">
          <a:xfrm>
            <a:off x="1745073" y="915752"/>
            <a:ext cx="8683855" cy="530239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624585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8.2.2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招聘与图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像生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成中的偏差示例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 dirty="0">
                <a:solidFill>
                  <a:srgbClr val="0066CC"/>
                </a:solidFill>
                <a:latin typeface="Microsoft YaHei"/>
                <a:ea typeface="Microsoft YaHei"/>
              </a:rPr>
              <a:t>以下情</a:t>
            </a:r>
            <a:r>
              <a:rPr sz="28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境说明历史数据与提示方式可能如何影响结果。</a:t>
            </a:r>
            <a:endParaRPr sz="28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1480" y="1600200"/>
            <a:ext cx="5602071" cy="4585447"/>
          </a:xfrm>
          <a:prstGeom prst="rect">
            <a:avLst/>
          </a:prstGeom>
          <a:solidFill>
            <a:srgbClr val="FFFFFF"/>
          </a:solidFill>
          <a:ln w="222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600199"/>
            <a:ext cx="5602071" cy="750927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670566"/>
            <a:ext cx="5327751" cy="6771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文本领</a:t>
            </a:r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域</a:t>
            </a:r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  </a:t>
            </a:r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招聘</a:t>
            </a:r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筛选中的偏</a:t>
            </a:r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差</a:t>
            </a:r>
            <a:endParaRPr lang="en-US" sz="22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  <a:p>
            <a:pPr algn="l"/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（教学情境）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42437"/>
            <a:ext cx="5236311" cy="2773442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dirty="0" err="1">
                <a:solidFill>
                  <a:srgbClr val="333333"/>
                </a:solidFill>
                <a:latin typeface="Microsoft YaHei"/>
                <a:ea typeface="Microsoft YaHei"/>
              </a:rPr>
              <a:t>若训练简历</a:t>
            </a:r>
            <a:r>
              <a:rPr sz="2000" dirty="0">
                <a:solidFill>
                  <a:srgbClr val="333333"/>
                </a:solidFill>
                <a:latin typeface="Microsoft YaHei"/>
                <a:ea typeface="Microsoft YaHei"/>
              </a:rPr>
              <a:t>主要来自</a:t>
            </a:r>
            <a:r>
              <a:rPr sz="2000" dirty="0" err="1">
                <a:solidFill>
                  <a:srgbClr val="333333"/>
                </a:solidFill>
                <a:latin typeface="Microsoft YaHei"/>
                <a:ea typeface="Microsoft YaHei"/>
              </a:rPr>
              <a:t>某一群体，模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型可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能学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到与岗位能力无关的特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征。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例如，把性别相关词语或学校背景作为评分依据，影响公平性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endParaRPr lang="en-US" sz="20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需要检查评价标准、样本覆盖及不同</a:t>
            </a: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群体的表现</a:t>
            </a: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8143" y="1600200"/>
            <a:ext cx="5602071" cy="4585447"/>
          </a:xfrm>
          <a:prstGeom prst="rect">
            <a:avLst/>
          </a:prstGeom>
          <a:solidFill>
            <a:srgbClr val="FFFFFF"/>
          </a:solidFill>
          <a:ln w="22225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8143" y="1600200"/>
            <a:ext cx="5602071" cy="747474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66763" y="1621310"/>
            <a:ext cx="5327751" cy="6771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图像领域</a:t>
            </a:r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 职业</a:t>
            </a:r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形象的刻板印象</a:t>
            </a:r>
            <a:endParaRPr lang="en-US" sz="22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  <a:p>
            <a:pPr algn="l"/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（教学情境）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5031" y="2633472"/>
            <a:ext cx="5325009" cy="2773442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生成“CEO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”或“教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授”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时，</a:t>
            </a:r>
            <a:r>
              <a:rPr sz="2000" dirty="0">
                <a:solidFill>
                  <a:srgbClr val="333333"/>
                </a:solidFill>
                <a:latin typeface="Microsoft YaHei"/>
                <a:ea typeface="Microsoft YaHei"/>
              </a:rPr>
              <a:t>某类</a:t>
            </a:r>
            <a:r>
              <a:rPr sz="2000" dirty="0" err="1">
                <a:solidFill>
                  <a:srgbClr val="333333"/>
                </a:solidFill>
                <a:latin typeface="Microsoft YaHei"/>
                <a:ea typeface="Microsoft YaHei"/>
              </a:rPr>
              <a:t>人物形象可能过多出现</a:t>
            </a:r>
            <a:r>
              <a:rPr sz="200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生成其他职业时，也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可能反复使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用固定的性别或族裔形象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endParaRPr lang="en-US" sz="20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应多</a:t>
            </a: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次对照测试，避免凭单张图概括模型偏差</a:t>
            </a: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lang="en-US" sz="1100" dirty="0">
                <a:solidFill>
                  <a:srgbClr val="999999"/>
                </a:solidFill>
                <a:latin typeface="Arial"/>
              </a:rPr>
              <a:t>20</a:t>
            </a:r>
            <a:r>
              <a:rPr sz="1100" dirty="0">
                <a:solidFill>
                  <a:srgbClr val="999999"/>
                </a:solidFill>
                <a:latin typeface="Arial"/>
              </a:rPr>
              <a:t> / 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endParaRPr sz="1100" dirty="0">
              <a:solidFill>
                <a:srgbClr val="99999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8.2.2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语言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覆盖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与本土研究语境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28974" y="1038911"/>
            <a:ext cx="10434021" cy="5164225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dirty="0" err="1">
                <a:solidFill>
                  <a:srgbClr val="333333"/>
                </a:solidFill>
                <a:latin typeface="Microsoft YaHei"/>
                <a:ea typeface="Microsoft YaHei"/>
              </a:rPr>
              <a:t>不同模型的语料来源与语言覆盖不同，回答可能偏向资料较丰富的地区和理论传</a:t>
            </a:r>
            <a:r>
              <a:rPr sz="2400" dirty="0">
                <a:solidFill>
                  <a:srgbClr val="333333"/>
                </a:solidFill>
                <a:latin typeface="Microsoft YaHei"/>
                <a:ea typeface="Microsoft YaHei"/>
              </a:rPr>
              <a:t>统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理论框架的适用范围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分析人文社科问题时，应检查模型采用的概念与经验是否适用于研究对象，避免直接套用其他地区的解释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17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本土研究中的核查重点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研究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乡村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振兴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、教育资源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或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基层治理时，需要结合本地政策、实证材料与历史背景，</a:t>
            </a:r>
            <a:r>
              <a:rPr sz="2200" dirty="0">
                <a:solidFill>
                  <a:srgbClr val="333333"/>
                </a:solidFill>
                <a:latin typeface="Microsoft YaHei"/>
                <a:ea typeface="Microsoft YaHei"/>
              </a:rPr>
              <a:t>核对</a:t>
            </a:r>
            <a:r>
              <a:rPr sz="2200" dirty="0" err="1">
                <a:solidFill>
                  <a:srgbClr val="333333"/>
                </a:solidFill>
                <a:latin typeface="Microsoft YaHei"/>
                <a:ea typeface="Microsoft YaHei"/>
              </a:rPr>
              <a:t>模型建议是否适用</a:t>
            </a:r>
            <a:r>
              <a:rPr sz="220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17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理论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比较需要证据，也需要说明不同社会情境的差异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700" b="1" dirty="0">
                <a:solidFill>
                  <a:srgbClr val="004CA0"/>
                </a:solidFill>
                <a:latin typeface="Microsoft YaHei"/>
                <a:ea typeface="Microsoft YaHei"/>
              </a:rPr>
              <a:t>AI可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提供检索与比较线索，解释和判断仍由研究者完成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  <a:endParaRPr sz="1700" b="1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lang="en-US" sz="1100" dirty="0">
                <a:solidFill>
                  <a:srgbClr val="999999"/>
                </a:solidFill>
                <a:latin typeface="Arial"/>
              </a:rPr>
              <a:t>21</a:t>
            </a:r>
            <a:r>
              <a:rPr sz="1100" dirty="0">
                <a:solidFill>
                  <a:srgbClr val="999999"/>
                </a:solidFill>
                <a:latin typeface="Arial"/>
              </a:rPr>
              <a:t> / 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endParaRPr sz="1100" dirty="0">
              <a:solidFill>
                <a:srgbClr val="99999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8.2.3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模型解释的局限与研究可复核性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研究结论需要依据，关键方法与推导应能够检查。</a:t>
            </a:r>
            <a:endParaRPr sz="28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1480" y="1600200"/>
            <a:ext cx="5602071" cy="2409444"/>
          </a:xfrm>
          <a:prstGeom prst="rect">
            <a:avLst/>
          </a:prstGeom>
          <a:solidFill>
            <a:srgbClr val="FFFFFF"/>
          </a:solidFill>
          <a:ln w="222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600200"/>
            <a:ext cx="5602071" cy="56692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714387"/>
            <a:ext cx="5327751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①  </a:t>
            </a:r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什么是算法黑箱</a:t>
            </a:r>
            <a:endParaRPr sz="22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2200263"/>
            <a:ext cx="5419191" cy="1820426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内部计算难以完整追</a:t>
            </a: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踪：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模型包含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大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量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参数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与复杂运算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，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通常难以把一次输出完整对应到可读的决策规则。可解释性方法能够提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供部分线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索，但仍有局限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8143" y="1600200"/>
            <a:ext cx="5602071" cy="2409444"/>
          </a:xfrm>
          <a:prstGeom prst="rect">
            <a:avLst/>
          </a:prstGeom>
          <a:solidFill>
            <a:srgbClr val="FFFFFF"/>
          </a:solidFill>
          <a:ln w="22225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8143" y="1600200"/>
            <a:ext cx="5602071" cy="566928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15303" y="1714387"/>
            <a:ext cx="5327751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②  </a:t>
            </a:r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研究依据的说明</a:t>
            </a:r>
            <a:endParaRPr sz="22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61023" y="2276856"/>
            <a:ext cx="5236311" cy="1526499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作者需要解释方法选</a:t>
            </a: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择：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"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你为何选这几个变量？底层逻辑是什么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？"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仅回答“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AI建议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如此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”不能说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明选择的依据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b="0" dirty="0" err="1">
                <a:solidFill>
                  <a:srgbClr val="F58020"/>
                </a:solidFill>
                <a:latin typeface="Microsoft YaHei"/>
                <a:ea typeface="Microsoft YaHei"/>
              </a:rPr>
              <a:t>应提供理论、数据或</a:t>
            </a:r>
            <a:r>
              <a:rPr b="0" dirty="0">
                <a:solidFill>
                  <a:srgbClr val="F58020"/>
                </a:solidFill>
                <a:latin typeface="Microsoft YaHei"/>
                <a:ea typeface="Microsoft YaHei"/>
              </a:rPr>
              <a:t>验证结果</a:t>
            </a:r>
            <a:r>
              <a:rPr b="0" dirty="0" err="1">
                <a:solidFill>
                  <a:srgbClr val="F58020"/>
                </a:solidFill>
                <a:latin typeface="Microsoft YaHei"/>
                <a:ea typeface="Microsoft YaHei"/>
              </a:rPr>
              <a:t>支持判</a:t>
            </a:r>
            <a:r>
              <a:rPr b="0" dirty="0">
                <a:solidFill>
                  <a:srgbClr val="F58020"/>
                </a:solidFill>
                <a:latin typeface="Microsoft YaHei"/>
                <a:ea typeface="Microsoft YaHei"/>
              </a:rPr>
              <a:t>断。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174236"/>
            <a:ext cx="5602071" cy="2272284"/>
          </a:xfrm>
          <a:prstGeom prst="rect">
            <a:avLst/>
          </a:prstGeom>
          <a:solidFill>
            <a:srgbClr val="FFFFFF"/>
          </a:solidFill>
          <a:ln w="22225">
            <a:solidFill>
              <a:srgbClr val="F5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480" y="4174236"/>
            <a:ext cx="5602071" cy="566928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4288423"/>
            <a:ext cx="5327751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③  解</a:t>
            </a:r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释文本与实际计算</a:t>
            </a:r>
            <a:endParaRPr sz="22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4360" y="4850892"/>
            <a:ext cx="5236311" cy="1526499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解释也需要核</a:t>
            </a: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查：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模型生成的理由未必忠实反映内部运算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，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也可能包含事后组织的解释或错误前提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应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逐项检查理由与证据是否对应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8143" y="4174236"/>
            <a:ext cx="5602071" cy="2272284"/>
          </a:xfrm>
          <a:prstGeom prst="rect">
            <a:avLst/>
          </a:prstGeom>
          <a:solidFill>
            <a:srgbClr val="FFFFFF"/>
          </a:solidFill>
          <a:ln w="222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8143" y="4174236"/>
            <a:ext cx="5602071" cy="5669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15303" y="4288423"/>
            <a:ext cx="5327751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✦  </a:t>
            </a:r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应对</a:t>
            </a:r>
            <a:endParaRPr sz="22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61023" y="4850892"/>
            <a:ext cx="5236311" cy="1155628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保留可检查的研究过程</a:t>
            </a: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保存数据、代码、方法与关键推导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，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通过复算、实验或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独立证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据检查结论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/>
              </a:rPr>
              <a:t>2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2</a:t>
            </a:r>
            <a:r>
              <a:rPr sz="1100" dirty="0">
                <a:solidFill>
                  <a:srgbClr val="999999"/>
                </a:solidFill>
                <a:latin typeface="Arial"/>
              </a:rPr>
              <a:t> / 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endParaRPr sz="1100" dirty="0">
              <a:solidFill>
                <a:srgbClr val="99999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8.2.4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跨学科任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务中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的误导风险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42298"/>
            <a:ext cx="10971904" cy="4973404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进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入不熟悉的领域时，更需要专业核查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缺少相关学科知识时，研究者可能难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以识别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术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语误用、方法不当或证据不足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18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可能出现的问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题：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•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医</a:t>
            </a: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学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与生命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科学：混淆通路、误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读文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献，或生成没有依据的药物作用描述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•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 农</a:t>
            </a: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学与生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态学：忽略当地气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候、土壤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和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实验条件，给出不适用的建议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•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 人文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社科：直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接使用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生成代码，未发现统计方法或变量定义不符合研究设计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15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跨学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科研究应补充必要的方法学习与专业协作，核查各环节的证据和适用条件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/>
              </a:rPr>
              <a:t>2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3</a:t>
            </a:r>
            <a:r>
              <a:rPr sz="1100" dirty="0">
                <a:solidFill>
                  <a:srgbClr val="999999"/>
                </a:solidFill>
                <a:latin typeface="Arial"/>
              </a:rPr>
              <a:t> / 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endParaRPr sz="1100" dirty="0">
              <a:solidFill>
                <a:srgbClr val="99999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BA916ABC-35A5-83DD-7DE9-8B7F0F3C75D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128" y="1585224"/>
            <a:ext cx="6405557" cy="3492978"/>
          </a:xfrm>
          <a:prstGeom prst="rect">
            <a:avLst/>
          </a:prstGeom>
        </p:spPr>
      </p:pic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8.2.4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事实核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查与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原始来源追溯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6065" y="1511910"/>
            <a:ext cx="5852981" cy="4832724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将模型建议与独立资料对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照：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① AI </a:t>
            </a: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提供线索</a:t>
            </a: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 → ② </a:t>
            </a: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切回权威库溯源</a:t>
            </a: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 → ③ </a:t>
            </a: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找到原文支撑</a:t>
            </a:r>
            <a:endParaRPr sz="20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文科返回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CNKI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查原始档案与核心期刊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；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理工农医登录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Web of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Science、PubMed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精确实体检索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找到原文后，还需检查研究方法、语境及其是否支持结论</a:t>
            </a: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  <a:endParaRPr sz="16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提示词可明确核查要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求：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"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仅基于我上传的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PDF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总结，禁止引入外部知识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"；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“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标明来源与不确定内容，区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分原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文信息和推断。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5602" y="5381751"/>
            <a:ext cx="42062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图 8-4 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信息三角定位示意图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/>
              </a:rPr>
              <a:t>2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r>
              <a:rPr sz="1100" dirty="0">
                <a:solidFill>
                  <a:srgbClr val="999999"/>
                </a:solidFill>
                <a:latin typeface="Arial"/>
              </a:rPr>
              <a:t> / 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endParaRPr sz="1100" dirty="0">
              <a:solidFill>
                <a:srgbClr val="999999"/>
              </a:solidFill>
              <a:latin typeface="Arial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8D542F0-AF2E-BE69-EE34-6E4756490C1E}"/>
              </a:ext>
            </a:extLst>
          </p:cNvPr>
          <p:cNvSpPr txBox="1"/>
          <p:nvPr/>
        </p:nvSpPr>
        <p:spPr>
          <a:xfrm>
            <a:off x="480060" y="904812"/>
            <a:ext cx="9447904" cy="856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这些要求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有助于核查，但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不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能保证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模型遵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守，也</a:t>
            </a:r>
            <a:r>
              <a:rPr lang="zh-CN" altLang="en-US" sz="2200" dirty="0">
                <a:solidFill>
                  <a:srgbClr val="333333"/>
                </a:solidFill>
                <a:latin typeface="Microsoft YaHei"/>
                <a:ea typeface="Microsoft YaHei"/>
              </a:rPr>
              <a:t>不能代替</a:t>
            </a:r>
            <a:r>
              <a:rPr lang="en-US" altLang="zh-CN" sz="2200" dirty="0">
                <a:solidFill>
                  <a:srgbClr val="333333"/>
                </a:solidFill>
                <a:latin typeface="Microsoft YaHei"/>
                <a:ea typeface="Microsoft YaHei"/>
              </a:rPr>
              <a:t>阅</a:t>
            </a:r>
            <a:r>
              <a:rPr lang="zh-CN" altLang="en-US" sz="2200" dirty="0">
                <a:solidFill>
                  <a:srgbClr val="333333"/>
                </a:solidFill>
                <a:latin typeface="Microsoft YaHei"/>
                <a:ea typeface="Microsoft YaHei"/>
              </a:rPr>
              <a:t>读原</a:t>
            </a:r>
            <a:r>
              <a:rPr lang="en-US" altLang="zh-CN" sz="2200" dirty="0">
                <a:solidFill>
                  <a:srgbClr val="333333"/>
                </a:solidFill>
                <a:latin typeface="Microsoft YaHei"/>
                <a:ea typeface="Microsoft YaHei"/>
              </a:rPr>
              <a:t>文</a:t>
            </a:r>
            <a:r>
              <a:rPr lang="zh-CN" altLang="en-US" sz="220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8.2.4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辅助科研的事实核查流程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695" y="899031"/>
            <a:ext cx="11247120" cy="972821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把核查安排在资料整理、分析和写作的关键环节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记录问题、核查来源与处理结果，便于后续复查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9" name="Picture 8" descr="image5.png"/>
          <p:cNvPicPr>
            <a:picLocks noChangeAspect="1"/>
          </p:cNvPicPr>
          <p:nvPr/>
        </p:nvPicPr>
        <p:blipFill rotWithShape="1">
          <a:blip r:embed="rId3"/>
          <a:srcRect t="18167" b="6565"/>
          <a:stretch/>
        </p:blipFill>
        <p:spPr>
          <a:xfrm>
            <a:off x="480060" y="2062882"/>
            <a:ext cx="11548480" cy="42451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-144850" y="6446010"/>
            <a:ext cx="1219169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图 8-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5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 对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生成内容进行核查，再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决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定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采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用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、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修改或剔除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/>
              </a:rPr>
              <a:t>2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5</a:t>
            </a:r>
            <a:r>
              <a:rPr sz="1100" dirty="0">
                <a:solidFill>
                  <a:srgbClr val="999999"/>
                </a:solidFill>
                <a:latin typeface="Arial"/>
              </a:rPr>
              <a:t> / 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endParaRPr sz="1100" dirty="0">
              <a:solidFill>
                <a:srgbClr val="99999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91440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0" b="1" i="0">
                <a:solidFill>
                  <a:srgbClr val="FFFFFF"/>
                </a:solidFill>
                <a:latin typeface="Arial"/>
                <a:ea typeface="Arial"/>
              </a:rPr>
              <a:t>8.3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560320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大模型辅助科研的操作规范</a:t>
            </a:r>
            <a:endParaRPr sz="38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0" y="3840480"/>
            <a:ext cx="13716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4023360"/>
            <a:ext cx="67665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本节讨论资料授权、数据处理与工具权限，帮助研究者根据任务和机构要求选择使用方式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/>
              </a:rPr>
              <a:t>2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6</a:t>
            </a:r>
            <a:r>
              <a:rPr sz="1100" dirty="0">
                <a:solidFill>
                  <a:srgbClr val="999999"/>
                </a:solidFill>
                <a:latin typeface="Arial"/>
              </a:rPr>
              <a:t> / 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endParaRPr sz="1100" dirty="0">
              <a:solidFill>
                <a:srgbClr val="99999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8.3.1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训练材料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与生成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内容的版权风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14400"/>
            <a:ext cx="11247120" cy="5202697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需要区分输入材料的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授权、输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出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内容的使用和成果的权利归属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17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训练材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料的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使用存在法律争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议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训练可能涉及受保护的文字、图像和代码。是否合法，需要结合授权、使用方式与适用法律判断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• 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文字材料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：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关注复制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、训练使用与输出相似性</a:t>
            </a:r>
            <a:endParaRPr sz="15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• 图像与代码：关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注原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作表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达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、许可及署名要求</a:t>
            </a:r>
            <a:endParaRPr sz="15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15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使用者应检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查输出来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源与相似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性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生成内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容可能重复他人表达或受许可约束的代码。使用前应核查来源、授权与引用要求，不能自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动当作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自己的原创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endParaRPr lang="en-US"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AI生成不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等于取得授权，也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不意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味着不存在侵权风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险。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/>
              </a:rPr>
              <a:t>2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7</a:t>
            </a:r>
            <a:r>
              <a:rPr sz="1100" dirty="0">
                <a:solidFill>
                  <a:srgbClr val="999999"/>
                </a:solidFill>
                <a:latin typeface="Arial"/>
              </a:rPr>
              <a:t> / 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endParaRPr sz="1100" dirty="0">
              <a:solidFill>
                <a:srgbClr val="99999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8.3.1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生成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内容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的权利归属与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AI润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色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695" y="969264"/>
            <a:ext cx="10614517" cy="4815540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权利归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属需要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结合具体创作过程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判断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各法域对AI</a:t>
            </a:r>
            <a:r>
              <a:rPr sz="2200" dirty="0">
                <a:solidFill>
                  <a:srgbClr val="333333"/>
                </a:solidFill>
                <a:latin typeface="Microsoft YaHei"/>
                <a:ea typeface="Microsoft YaHei"/>
              </a:rPr>
              <a:t>生成</a:t>
            </a:r>
            <a:r>
              <a:rPr sz="2200" dirty="0" err="1">
                <a:solidFill>
                  <a:srgbClr val="333333"/>
                </a:solidFill>
                <a:latin typeface="Microsoft YaHei"/>
                <a:ea typeface="Microsoft YaHei"/>
              </a:rPr>
              <a:t>内容的保护规则</a:t>
            </a:r>
            <a:r>
              <a:rPr sz="2200" dirty="0">
                <a:solidFill>
                  <a:srgbClr val="333333"/>
                </a:solidFill>
                <a:latin typeface="Microsoft YaHei"/>
                <a:ea typeface="Microsoft YaHei"/>
              </a:rPr>
              <a:t>存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在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差异，人的创作贡献往往是重要因素，不能一概认定有版</a:t>
            </a:r>
            <a:r>
              <a:rPr sz="22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权或无版权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endParaRPr lang="en-US"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输入提示词或多次生成，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不自动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决定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权利归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属。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应结合具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体贡献、适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用法律及平台协议判断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保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留构思、选择、编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排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与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修改记录，有助于说明人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的贡献，但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不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保证获得保护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16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AI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润色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与人的创作贡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献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1" dirty="0">
                <a:solidFill>
                  <a:srgbClr val="2E8B57"/>
                </a:solidFill>
                <a:latin typeface="Microsoft YaHei"/>
                <a:ea typeface="Microsoft YaHei"/>
              </a:rPr>
              <a:t>作者</a:t>
            </a:r>
            <a:r>
              <a:rPr sz="2200" b="1" dirty="0" err="1">
                <a:solidFill>
                  <a:srgbClr val="2E8B57"/>
                </a:solidFill>
                <a:latin typeface="Microsoft YaHei"/>
                <a:ea typeface="Microsoft YaHei"/>
              </a:rPr>
              <a:t>完成原稿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后使用AI修改表达，不宜简单认定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为丧失版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权；仍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应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核查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新增内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容与他人作品的关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系。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1" dirty="0">
                <a:solidFill>
                  <a:srgbClr val="C0392B"/>
                </a:solidFill>
                <a:latin typeface="Microsoft YaHei"/>
                <a:ea typeface="Microsoft YaHei"/>
              </a:rPr>
              <a:t>大段</a:t>
            </a:r>
            <a:r>
              <a:rPr sz="2200" b="1" dirty="0" err="1">
                <a:solidFill>
                  <a:srgbClr val="C0392B"/>
                </a:solidFill>
                <a:latin typeface="Microsoft YaHei"/>
                <a:ea typeface="Microsoft YaHei"/>
              </a:rPr>
              <a:t>生成内容的保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护范围与使用条件需具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体判断，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也要遵守学术披露要求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/>
              </a:rPr>
              <a:t>2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8</a:t>
            </a:r>
            <a:r>
              <a:rPr sz="1100" dirty="0">
                <a:solidFill>
                  <a:srgbClr val="999999"/>
                </a:solidFill>
                <a:latin typeface="Arial"/>
              </a:rPr>
              <a:t> / 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endParaRPr sz="1100" dirty="0">
              <a:solidFill>
                <a:srgbClr val="99999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8.3.1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署名、配图与创新成果的使用要求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提交成果前，核对所在机构、期刊及相关制度的具体要求。</a:t>
            </a:r>
            <a:endParaRPr sz="28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1480" y="1600200"/>
            <a:ext cx="3679850" cy="4621306"/>
          </a:xfrm>
          <a:prstGeom prst="rect">
            <a:avLst/>
          </a:prstGeom>
          <a:solidFill>
            <a:srgbClr val="FFFFFF"/>
          </a:solidFill>
          <a:ln w="222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600200"/>
            <a:ext cx="3679850" cy="56692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698998"/>
            <a:ext cx="340553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①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 论文署名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2276856"/>
            <a:ext cx="3314090" cy="2371281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AI工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具不承担作者职责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ICMJE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建议不将AI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工具列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为论文作者</a:t>
            </a:r>
            <a:r>
              <a:rPr lang="zh-CN" altLang="en-US" sz="200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作者需核查内容，并按期刊要求说明AI使用</a:t>
            </a:r>
            <a:r>
              <a:rPr sz="1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5922" y="1600200"/>
            <a:ext cx="3679850" cy="4621306"/>
          </a:xfrm>
          <a:prstGeom prst="rect">
            <a:avLst/>
          </a:prstGeom>
          <a:solidFill>
            <a:srgbClr val="FFFFFF"/>
          </a:solidFill>
          <a:ln w="22225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55922" y="1600200"/>
            <a:ext cx="3679850" cy="566928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93082" y="1698998"/>
            <a:ext cx="340553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② 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A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I配图与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数据图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38802" y="2276856"/>
            <a:ext cx="3314090" cy="2001949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区分绘图辅助与证据伪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造：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 err="1">
                <a:solidFill>
                  <a:srgbClr val="F58020"/>
                </a:solidFill>
                <a:latin typeface="Microsoft YaHei"/>
                <a:ea typeface="Microsoft YaHei"/>
              </a:rPr>
              <a:t>可辅助</a:t>
            </a:r>
            <a:r>
              <a:rPr sz="2000" b="0" dirty="0">
                <a:solidFill>
                  <a:srgbClr val="F58020"/>
                </a:solidFill>
                <a:latin typeface="Microsoft YaHei"/>
                <a:ea typeface="Microsoft YaHei"/>
              </a:rPr>
              <a:t>编写代码</a:t>
            </a:r>
            <a:r>
              <a:rPr sz="2000" b="0" dirty="0" err="1">
                <a:solidFill>
                  <a:srgbClr val="F58020"/>
                </a:solidFill>
                <a:latin typeface="Microsoft YaHei"/>
                <a:ea typeface="Microsoft YaHei"/>
              </a:rPr>
              <a:t>绘制真实数据图，不能伪造实验图像或数据</a:t>
            </a:r>
            <a:r>
              <a:rPr sz="2000" b="0" dirty="0">
                <a:solidFill>
                  <a:srgbClr val="F58020"/>
                </a:solidFill>
                <a:latin typeface="Microsoft YaHei"/>
                <a:ea typeface="Microsoft YaHei"/>
              </a:rPr>
              <a:t>；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使用生成图还需核对期刊政策，并按要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求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标明来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源。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0364" y="1600200"/>
            <a:ext cx="3679850" cy="4621306"/>
          </a:xfrm>
          <a:prstGeom prst="rect">
            <a:avLst/>
          </a:prstGeom>
          <a:solidFill>
            <a:srgbClr val="FFFFFF"/>
          </a:solidFill>
          <a:ln w="22225">
            <a:solidFill>
              <a:srgbClr val="F5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00364" y="1600200"/>
            <a:ext cx="3679850" cy="566928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37524" y="1698998"/>
            <a:ext cx="340553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③  创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新记录与权利申请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83244" y="2276856"/>
            <a:ext cx="3314090" cy="1594145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保留人的贡献与研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发过程：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涉及专利申请时，核查发明人、保密与公开要求，必要时咨询机构知识产权部门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/>
              </a:rPr>
              <a:t>2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9</a:t>
            </a:r>
            <a:r>
              <a:rPr sz="1100" dirty="0">
                <a:solidFill>
                  <a:srgbClr val="999999"/>
                </a:solidFill>
                <a:latin typeface="Arial"/>
              </a:rPr>
              <a:t> / 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endParaRPr sz="1100" dirty="0">
              <a:solidFill>
                <a:srgbClr val="99999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8.3.2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科研数据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上传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的隐私与保密风险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1029261"/>
            <a:ext cx="10408615" cy="5183526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情境：将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500份包含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年龄、病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史及间接身份线索的临床记录上传云端模型。分析前，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应先</a:t>
            </a:r>
            <a:r>
              <a:rPr sz="22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核查授权、数据处理要求及平台是否获准使用</a:t>
            </a:r>
            <a:r>
              <a:rPr sz="2200" b="1" dirty="0">
                <a:solidFill>
                  <a:srgbClr val="F58020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1700" b="1" dirty="0">
              <a:solidFill>
                <a:srgbClr val="F5802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费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用高低不能直接说明隐私保护水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平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数据是否用于训练、保存多久、谁能访问，因产品、账户和协议而异，应在上传前查明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1" dirty="0">
                <a:solidFill>
                  <a:srgbClr val="F58020"/>
                </a:solidFill>
                <a:latin typeface="Microsoft YaHei"/>
                <a:ea typeface="Microsoft YaHei"/>
              </a:rPr>
              <a:t>关闭</a:t>
            </a:r>
            <a:r>
              <a:rPr sz="22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训练选项不一定等于不保存数据或立即删除历史记</a:t>
            </a:r>
            <a:r>
              <a:rPr sz="2200" b="1" dirty="0">
                <a:solidFill>
                  <a:srgbClr val="F58020"/>
                </a:solidFill>
                <a:latin typeface="Microsoft YaHei"/>
                <a:ea typeface="Microsoft YaHei"/>
              </a:rPr>
              <a:t>录。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2200" b="1" dirty="0">
              <a:solidFill>
                <a:srgbClr val="F5802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1" dirty="0">
                <a:solidFill>
                  <a:srgbClr val="C0392B"/>
                </a:solidFill>
                <a:latin typeface="Microsoft YaHei"/>
                <a:ea typeface="Microsoft YaHei"/>
              </a:rPr>
              <a:t>风险示例：将未公开代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码上传外部服务，可能超出原有保密范围。不能据此推断模型必然会向其他用户泄露代码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endParaRPr lang="en-US"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涉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及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被试的资料：检查授权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、伦理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审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批和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再识别风险</a:t>
            </a: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未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公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开成果：核查保密协议、合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作约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定与公开计划</a:t>
            </a: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lang="en-US" sz="1100" dirty="0">
                <a:solidFill>
                  <a:srgbClr val="999999"/>
                </a:solidFill>
                <a:latin typeface="Arial"/>
              </a:rPr>
              <a:t>30</a:t>
            </a:r>
            <a:r>
              <a:rPr sz="1100" dirty="0">
                <a:solidFill>
                  <a:srgbClr val="999999"/>
                </a:solidFill>
                <a:latin typeface="Arial"/>
              </a:rPr>
              <a:t> / 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endParaRPr sz="1100" dirty="0">
              <a:solidFill>
                <a:srgbClr val="99999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8.3.2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科研数据分类与处理方式示例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表 8-5  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 教学用分类示例，实际以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机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构制度与数据要求为准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18007" y="1554480"/>
            <a:ext cx="164592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8007" y="1644134"/>
            <a:ext cx="16459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类别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163927" y="1554480"/>
            <a:ext cx="512064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63927" y="1644134"/>
            <a:ext cx="51206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数据示例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284567" y="1554480"/>
            <a:ext cx="438912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84567" y="1644134"/>
            <a:ext cx="43891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安全处理方式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18007" y="2103120"/>
            <a:ext cx="1645920" cy="96012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5167" y="2398519"/>
            <a:ext cx="13716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公开资料</a:t>
            </a:r>
            <a:endParaRPr sz="24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163927" y="2103120"/>
            <a:ext cx="5120640" cy="96012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301087" y="2429291"/>
            <a:ext cx="48463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已发表论文、公开数据集、教材内容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284567" y="2103120"/>
            <a:ext cx="4389120" cy="96012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21727" y="2429291"/>
            <a:ext cx="4114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核查许可及使用范围后选择工具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18007" y="3063240"/>
            <a:ext cx="16459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5167" y="3358634"/>
            <a:ext cx="13716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内部资料</a:t>
            </a:r>
            <a:endParaRPr sz="24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163927" y="3063240"/>
            <a:ext cx="51206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301087" y="3389411"/>
            <a:ext cx="48463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课题组讨论、未定稿初稿、一般实验记录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284567" y="3063240"/>
            <a:ext cx="43891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21727" y="3310348"/>
            <a:ext cx="4177554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核查授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权、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脱敏要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求与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平台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协议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8007" y="4023360"/>
            <a:ext cx="1645920" cy="96012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5167" y="4318754"/>
            <a:ext cx="13716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敏感资料</a:t>
            </a:r>
            <a:endParaRPr sz="24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163927" y="4023360"/>
            <a:ext cx="5120640" cy="96012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301087" y="4349531"/>
            <a:ext cx="48463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未发表数据、专利配方、被试隐私、病例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284567" y="4023360"/>
            <a:ext cx="4389120" cy="96012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84481" y="4233108"/>
            <a:ext cx="411480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使用机构批准的受控环境</a:t>
            </a:r>
            <a:endParaRPr lang="en-US"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/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（按要求配置访问与网络）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8007" y="5364494"/>
            <a:ext cx="11247120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资料能否输入某项服务，应依据具体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内容、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授权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和机构制度判断，不能只看工具名称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lang="en-US" sz="1100" dirty="0">
                <a:solidFill>
                  <a:srgbClr val="999999"/>
                </a:solidFill>
                <a:latin typeface="Arial"/>
              </a:rPr>
              <a:t>31</a:t>
            </a:r>
            <a:r>
              <a:rPr sz="1100" dirty="0">
                <a:solidFill>
                  <a:srgbClr val="999999"/>
                </a:solidFill>
                <a:latin typeface="Arial"/>
              </a:rPr>
              <a:t> / 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endParaRPr sz="1100" dirty="0">
              <a:solidFill>
                <a:srgbClr val="99999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8.3.2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数据输入前的检查要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495" y="969981"/>
            <a:ext cx="112471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先确认资料能否使用，再选择</a:t>
            </a:r>
            <a:r>
              <a:rPr sz="2800" b="1" i="0" dirty="0">
                <a:solidFill>
                  <a:srgbClr val="0066CC"/>
                </a:solidFill>
                <a:latin typeface="Microsoft YaHei"/>
                <a:ea typeface="Microsoft YaHei"/>
              </a:rPr>
              <a:t>处理环</a:t>
            </a:r>
            <a:r>
              <a:rPr sz="28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境与操作方式。</a:t>
            </a:r>
            <a:endParaRPr sz="28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1480" y="1600200"/>
            <a:ext cx="3679850" cy="4648200"/>
          </a:xfrm>
          <a:prstGeom prst="rect">
            <a:avLst/>
          </a:prstGeom>
          <a:solidFill>
            <a:srgbClr val="FFFFFF"/>
          </a:solidFill>
          <a:ln w="222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600200"/>
            <a:ext cx="3679850" cy="766262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9214" y="1627798"/>
            <a:ext cx="3405530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①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 数据最小化与脱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6606" y="2625728"/>
            <a:ext cx="3157835" cy="3073012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只提供任务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必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需字段。替换姓名等直接标识后，还需检查年龄、地区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等组合信息是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否可识别个人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endParaRPr lang="en-US"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>
                <a:solidFill>
                  <a:srgbClr val="F58020"/>
                </a:solidFill>
                <a:latin typeface="Microsoft YaHei"/>
                <a:ea typeface="Microsoft YaHei"/>
              </a:rPr>
              <a:t>不要</a:t>
            </a:r>
            <a:r>
              <a:rPr sz="2000" b="0" dirty="0" err="1">
                <a:solidFill>
                  <a:srgbClr val="F58020"/>
                </a:solidFill>
                <a:latin typeface="Microsoft YaHei"/>
                <a:ea typeface="Microsoft YaHei"/>
              </a:rPr>
              <a:t>先把原始敏感资料上传</a:t>
            </a:r>
            <a:r>
              <a:rPr sz="2000" b="0" dirty="0">
                <a:solidFill>
                  <a:srgbClr val="F58020"/>
                </a:solidFill>
                <a:latin typeface="Microsoft YaHei"/>
                <a:ea typeface="Microsoft YaHei"/>
              </a:rPr>
              <a:t>未经批准的服</a:t>
            </a:r>
            <a:r>
              <a:rPr sz="2000" b="0" dirty="0" err="1">
                <a:solidFill>
                  <a:srgbClr val="F58020"/>
                </a:solidFill>
                <a:latin typeface="Microsoft YaHei"/>
                <a:ea typeface="Microsoft YaHei"/>
              </a:rPr>
              <a:t>务，再要求其脱敏</a:t>
            </a:r>
            <a:r>
              <a:rPr sz="2000" b="0" dirty="0">
                <a:solidFill>
                  <a:srgbClr val="F5802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5922" y="1600200"/>
            <a:ext cx="3679850" cy="4648200"/>
          </a:xfrm>
          <a:prstGeom prst="rect">
            <a:avLst/>
          </a:prstGeom>
          <a:solidFill>
            <a:srgbClr val="FFFFFF"/>
          </a:solidFill>
          <a:ln w="22225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55922" y="1600200"/>
            <a:ext cx="3679850" cy="766262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93082" y="1698998"/>
            <a:ext cx="340553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② 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平台协议与隐私设置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08342" y="2718195"/>
            <a:ext cx="2975010" cy="1888072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核对训练使用、保存期限、访问权限与删除机制。企业版或API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也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需检查合同和机构授权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0364" y="1600200"/>
            <a:ext cx="3679850" cy="4648200"/>
          </a:xfrm>
          <a:prstGeom prst="rect">
            <a:avLst/>
          </a:prstGeom>
          <a:solidFill>
            <a:srgbClr val="FFFFFF"/>
          </a:solidFill>
          <a:ln w="22225">
            <a:solidFill>
              <a:srgbClr val="F5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00364" y="1600200"/>
            <a:ext cx="3679850" cy="766262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37524" y="1618130"/>
            <a:ext cx="3405530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③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 受控部署与访问管理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75179" y="2696500"/>
            <a:ext cx="3030215" cy="2626736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本地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部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署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可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减少数据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外传，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但仍需管理账户、网络、工具权限、日志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与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备份。</a:t>
            </a:r>
            <a:r>
              <a:rPr sz="2000" b="0" dirty="0" err="1">
                <a:solidFill>
                  <a:srgbClr val="004CA0"/>
                </a:solidFill>
                <a:latin typeface="Microsoft YaHei"/>
                <a:ea typeface="Microsoft YaHei"/>
              </a:rPr>
              <a:t>涉密数据按专门制度处理</a:t>
            </a:r>
            <a:r>
              <a:rPr sz="2000" b="0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/>
              </a:rPr>
              <a:t>3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2</a:t>
            </a:r>
            <a:r>
              <a:rPr sz="1100" dirty="0">
                <a:solidFill>
                  <a:srgbClr val="999999"/>
                </a:solidFill>
                <a:latin typeface="Arial"/>
              </a:rPr>
              <a:t> / 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endParaRPr sz="1100" dirty="0">
              <a:solidFill>
                <a:srgbClr val="99999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8.3.3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提示词注入与工具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越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权风险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19" y="960120"/>
            <a:ext cx="10962939" cy="5102093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工具权限扩大后，需要检查指令来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源：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具备工具能力的智能体可在授权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范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围内读写文件、运行代码和访问服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务，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操作范围应与任务相符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endParaRPr sz="18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提示词注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入的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常见形式</a:t>
            </a:r>
            <a:endParaRPr sz="24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网页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、文档或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工具结果</a:t>
            </a:r>
            <a:r>
              <a:rPr sz="22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可能夹带与任务无关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的指令，包括不易在页面上察觉的文字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200" b="0" dirty="0">
                <a:solidFill>
                  <a:srgbClr val="C0392B"/>
                </a:solidFill>
                <a:latin typeface="Consolas"/>
                <a:ea typeface="Consolas"/>
              </a:rPr>
              <a:t>例</a:t>
            </a:r>
            <a:r>
              <a:rPr sz="2200" b="0" dirty="0" err="1">
                <a:solidFill>
                  <a:srgbClr val="C0392B"/>
                </a:solidFill>
                <a:latin typeface="Consolas"/>
                <a:ea typeface="Consolas"/>
              </a:rPr>
              <a:t>如，诱导智能体忽略任务要求、读取</a:t>
            </a:r>
            <a:r>
              <a:rPr sz="2200" b="0" dirty="0">
                <a:solidFill>
                  <a:srgbClr val="C0392B"/>
                </a:solidFill>
                <a:latin typeface="Consolas"/>
                <a:ea typeface="Consolas"/>
              </a:rPr>
              <a:t>无</a:t>
            </a:r>
            <a:r>
              <a:rPr sz="2200" b="0" dirty="0" err="1">
                <a:solidFill>
                  <a:srgbClr val="C0392B"/>
                </a:solidFill>
                <a:latin typeface="Consolas"/>
                <a:ea typeface="Consolas"/>
              </a:rPr>
              <a:t>关文件并向外部地址发送。此类内容应作为不可信资料处</a:t>
            </a:r>
            <a:r>
              <a:rPr sz="2200" b="0" dirty="0">
                <a:solidFill>
                  <a:srgbClr val="C0392B"/>
                </a:solidFill>
                <a:latin typeface="Consolas"/>
                <a:ea typeface="Consolas"/>
              </a:rPr>
              <a:t>理。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endParaRPr sz="1500" b="0" dirty="0">
              <a:solidFill>
                <a:srgbClr val="C0392B"/>
              </a:solidFill>
              <a:latin typeface="Consolas"/>
              <a:ea typeface="Consolas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若系统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错误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地将资料中的指令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当作有效命令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，可能执行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越权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操作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。风险取决于可用工具、权限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和防护设置，并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非每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次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都会发生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/>
              </a:rPr>
              <a:t>3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3</a:t>
            </a:r>
            <a:r>
              <a:rPr sz="1100" dirty="0">
                <a:solidFill>
                  <a:srgbClr val="999999"/>
                </a:solidFill>
                <a:latin typeface="Arial"/>
              </a:rPr>
              <a:t> / 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endParaRPr sz="1100" dirty="0">
              <a:solidFill>
                <a:srgbClr val="99999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B3AB2-9057-6FB2-D82B-B078ED967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B2FDBE-2525-5E30-3DFA-AB7E08CE3C1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>
            <a:extLst>
              <a:ext uri="{FF2B5EF4-FFF2-40B4-BE49-F238E27FC236}">
                <a16:creationId xmlns:a16="http://schemas.microsoft.com/office/drawing/2014/main" id="{9026715D-7B30-25F1-77E1-D9184FA7C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C3AF1F6-6192-6BAD-0307-5BCFBD770FCF}"/>
              </a:ext>
            </a:extLst>
          </p:cNvPr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89F379-1FEC-3505-17C4-AD31C5E87EF5}"/>
              </a:ext>
            </a:extLst>
          </p:cNvPr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8.3.3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00FD5C-CBC0-FFD5-2C33-CBA8366099AC}"/>
              </a:ext>
            </a:extLst>
          </p:cNvPr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89CC3D-4FE6-7852-F3E6-B9BA346E0254}"/>
              </a:ext>
            </a:extLst>
          </p:cNvPr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提示词注入与工具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越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权风险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8E5310-7F30-8F54-B7CD-434BF03F3D62}"/>
              </a:ext>
            </a:extLst>
          </p:cNvPr>
          <p:cNvSpPr txBox="1"/>
          <p:nvPr/>
        </p:nvSpPr>
        <p:spPr>
          <a:xfrm>
            <a:off x="3628312" y="6362997"/>
            <a:ext cx="461892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图 8-6 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提示词注入攻击原理与拦截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BF135D-7DBC-1958-1EE2-2F7289524953}"/>
              </a:ext>
            </a:extLst>
          </p:cNvPr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/>
              </a:rPr>
              <a:t>3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r>
              <a:rPr sz="1100" dirty="0">
                <a:solidFill>
                  <a:srgbClr val="999999"/>
                </a:solidFill>
                <a:latin typeface="Arial"/>
              </a:rPr>
              <a:t> / 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endParaRPr sz="1100" dirty="0">
              <a:solidFill>
                <a:srgbClr val="999999"/>
              </a:solidFill>
              <a:latin typeface="Arial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09C8043-7C63-F4C8-B28A-EB3F4DE2601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07"/>
          <a:stretch/>
        </p:blipFill>
        <p:spPr bwMode="auto">
          <a:xfrm>
            <a:off x="886581" y="979925"/>
            <a:ext cx="10271207" cy="531627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826631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8.3.3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智能体的权限与输入管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" y="973276"/>
            <a:ext cx="112471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通过权限限制、操作审查和来源检查降低风险</a:t>
            </a:r>
            <a:r>
              <a:rPr sz="2800" b="1" i="0" dirty="0">
                <a:solidFill>
                  <a:srgbClr val="0066CC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600200"/>
            <a:ext cx="3679850" cy="4675094"/>
          </a:xfrm>
          <a:prstGeom prst="rect">
            <a:avLst/>
          </a:prstGeom>
          <a:solidFill>
            <a:srgbClr val="FFFFFF"/>
          </a:solidFill>
          <a:ln w="222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600200"/>
            <a:ext cx="3679850" cy="56692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698998"/>
            <a:ext cx="340553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① 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按任务限制权限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1223" y="2356525"/>
            <a:ext cx="3314090" cy="2334348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优先使用最小必要权限</a:t>
            </a: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；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仅处理指定目录时，不授予无关文件的访问权。隔离环境也需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正确配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置，并保留备份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5922" y="1600200"/>
            <a:ext cx="3679850" cy="4675094"/>
          </a:xfrm>
          <a:prstGeom prst="rect">
            <a:avLst/>
          </a:prstGeom>
          <a:solidFill>
            <a:srgbClr val="FFFFFF"/>
          </a:solidFill>
          <a:ln w="22225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55922" y="1600200"/>
            <a:ext cx="3679850" cy="566928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93082" y="1698998"/>
            <a:ext cx="340553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② 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审查关键操作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38802" y="2386224"/>
            <a:ext cx="3314090" cy="1965016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开启"高危操作确认</a:t>
            </a: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"：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删除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、覆盖、对外发送和发布等操作，应确认对象、范围与后果，并按既定授权执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行。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6639" y="1600199"/>
            <a:ext cx="3679850" cy="4675094"/>
          </a:xfrm>
          <a:prstGeom prst="rect">
            <a:avLst/>
          </a:prstGeom>
          <a:solidFill>
            <a:srgbClr val="FFFFFF"/>
          </a:solidFill>
          <a:ln w="22225">
            <a:solidFill>
              <a:srgbClr val="F5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00364" y="1600200"/>
            <a:ext cx="3679850" cy="566928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37524" y="1698998"/>
            <a:ext cx="340553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③ 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检查外部资料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83244" y="2374275"/>
            <a:ext cx="3314090" cy="2372820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区分资料内容与操作指</a:t>
            </a: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令：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检查附件、网页和代码来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源。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权威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网站的资料也不能自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动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当作操作指令，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引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用内容仍需核验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/>
              </a:rPr>
              <a:t>3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5</a:t>
            </a:r>
            <a:r>
              <a:rPr sz="1100" dirty="0">
                <a:solidFill>
                  <a:srgbClr val="999999"/>
                </a:solidFill>
                <a:latin typeface="Arial"/>
              </a:rPr>
              <a:t> / 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endParaRPr sz="1100" dirty="0">
              <a:solidFill>
                <a:srgbClr val="99999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91440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0" b="1" i="0">
                <a:solidFill>
                  <a:srgbClr val="FFFFFF"/>
                </a:solidFill>
                <a:latin typeface="Arial"/>
                <a:ea typeface="Arial"/>
              </a:rPr>
              <a:t>8.4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98567" y="2560320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学术规范与责任归属</a:t>
            </a:r>
            <a:endParaRPr sz="38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0" y="3840480"/>
            <a:ext cx="13716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4023360"/>
            <a:ext cx="67665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判断AI使用是否合规，需要结合真实贡献、引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用与披露情况，以及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课程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、机构和期刊要求，不能只看文字重复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率。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/>
              </a:rPr>
              <a:t>3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6</a:t>
            </a:r>
            <a:r>
              <a:rPr sz="1100" dirty="0">
                <a:solidFill>
                  <a:srgbClr val="999999"/>
                </a:solidFill>
                <a:latin typeface="Arial"/>
              </a:rPr>
              <a:t> / 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endParaRPr sz="1100" dirty="0">
              <a:solidFill>
                <a:srgbClr val="99999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8.4.1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润色、辅助与代写的边界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表 8-6   AI 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润色、辅助与代写的边界判断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9447" y="1554480"/>
            <a:ext cx="512064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447" y="1621274"/>
            <a:ext cx="51206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使用方式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730087" y="1554480"/>
            <a:ext cx="329184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30087" y="1621274"/>
            <a:ext cx="32918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性质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021927" y="1554480"/>
            <a:ext cx="25603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21927" y="1621274"/>
            <a:ext cx="25603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使用要求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09447" y="2057400"/>
            <a:ext cx="5120640" cy="73152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6607" y="2269271"/>
            <a:ext cx="48463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头脑风暴、提供研究切入点供批判挑选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30087" y="2057400"/>
            <a:ext cx="3291840" cy="73152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67247" y="2269271"/>
            <a:ext cx="3017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候选思路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21927" y="2057400"/>
            <a:ext cx="2560320" cy="73152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59087" y="2269271"/>
            <a:ext cx="2286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核查后自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主选择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09447" y="2788920"/>
            <a:ext cx="51206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6607" y="3000791"/>
            <a:ext cx="48463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文献预处理、提取摘要、辅助去重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730087" y="2788920"/>
            <a:ext cx="32918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67247" y="3000791"/>
            <a:ext cx="3017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资料整理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021927" y="2788920"/>
            <a:ext cx="25603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59087" y="3000791"/>
            <a:ext cx="2286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回原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文核对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09447" y="3520440"/>
            <a:ext cx="5120640" cy="73152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6607" y="3732311"/>
            <a:ext cx="48463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大纲逻辑自检、扮演审稿人挑薄弱环节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730087" y="3520440"/>
            <a:ext cx="3291840" cy="73152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867247" y="3732311"/>
            <a:ext cx="3017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辅助审视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021927" y="3520440"/>
            <a:ext cx="2560320" cy="73152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59087" y="3732311"/>
            <a:ext cx="2286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评估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后修改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09447" y="4251960"/>
            <a:ext cx="51206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6607" y="4463831"/>
            <a:ext cx="48463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语言润色、格式排版、中式英语→地道表达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730087" y="4251960"/>
            <a:ext cx="32918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867247" y="4463831"/>
            <a:ext cx="3017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表达辅助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021927" y="4251960"/>
            <a:ext cx="25603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59087" y="4463831"/>
            <a:ext cx="2286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保留原意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并复核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09447" y="4983480"/>
            <a:ext cx="5120640" cy="73152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6607" y="5195351"/>
            <a:ext cx="48463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未经理解与核验，将生成论证冒充独立成果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730087" y="4983480"/>
            <a:ext cx="3291840" cy="73152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867247" y="5195351"/>
            <a:ext cx="3017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替代核心工作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9021927" y="4983480"/>
            <a:ext cx="2560320" cy="73152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159087" y="5195351"/>
            <a:ext cx="2286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存在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失范风</a:t>
            </a:r>
            <a:r>
              <a:rPr sz="1500" b="0" i="0" dirty="0">
                <a:solidFill>
                  <a:srgbClr val="333333"/>
                </a:solidFill>
                <a:latin typeface="Microsoft YaHei"/>
                <a:ea typeface="Microsoft YaHei"/>
              </a:rPr>
              <a:t>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819943"/>
            <a:ext cx="11247120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上述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辅助方式均需符合具体规定，必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要时披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露。AI参与构思或起草本身，不足以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单独判定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学术不端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/>
              </a:rPr>
              <a:t>3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7</a:t>
            </a:r>
            <a:r>
              <a:rPr sz="1100" dirty="0">
                <a:solidFill>
                  <a:srgbClr val="999999"/>
                </a:solidFill>
                <a:latin typeface="Arial"/>
              </a:rPr>
              <a:t> / 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endParaRPr sz="1100" dirty="0">
              <a:solidFill>
                <a:srgbClr val="99999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8.4.1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AI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辅助研究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的常见方式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-45720" y="932688"/>
            <a:ext cx="112471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明确任务范围，检查输出，并按要</a:t>
            </a:r>
            <a:r>
              <a:rPr sz="2800" b="1" i="0" dirty="0">
                <a:solidFill>
                  <a:srgbClr val="0066CC"/>
                </a:solidFill>
                <a:latin typeface="Microsoft YaHei"/>
                <a:ea typeface="Microsoft YaHei"/>
              </a:rPr>
              <a:t>求</a:t>
            </a:r>
            <a:r>
              <a:rPr sz="28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记录与披露使用情况。</a:t>
            </a:r>
            <a:endParaRPr sz="28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1480" y="1600200"/>
            <a:ext cx="5602071" cy="2163811"/>
          </a:xfrm>
          <a:prstGeom prst="rect">
            <a:avLst/>
          </a:prstGeom>
          <a:solidFill>
            <a:srgbClr val="FFFFFF"/>
          </a:solidFill>
          <a:ln w="222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600200"/>
            <a:ext cx="5602071" cy="56692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714387"/>
            <a:ext cx="5327751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①  </a:t>
            </a:r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头脑风暴与灵感激发</a:t>
            </a:r>
            <a:endParaRPr sz="22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2276856"/>
            <a:ext cx="5236311" cy="818548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毫无头绪时，让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AI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提供几个不同视角的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研究切入点，供你批判性地挑选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8143" y="1600200"/>
            <a:ext cx="5602071" cy="2163811"/>
          </a:xfrm>
          <a:prstGeom prst="rect">
            <a:avLst/>
          </a:prstGeom>
          <a:solidFill>
            <a:srgbClr val="FFFFFF"/>
          </a:solidFill>
          <a:ln w="22225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8143" y="1600200"/>
            <a:ext cx="5602071" cy="566928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15303" y="1714387"/>
            <a:ext cx="5327751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②  </a:t>
            </a:r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文献预处理与去重</a:t>
            </a:r>
            <a:endParaRPr sz="22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61023" y="2276856"/>
            <a:ext cx="5236311" cy="818548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用长文本智能体（如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Kimi）快速提取摘要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，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帮你决定哪些文献值得人类亲自精读</a:t>
            </a:r>
            <a:r>
              <a:rPr sz="1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174236"/>
            <a:ext cx="5602071" cy="2163811"/>
          </a:xfrm>
          <a:prstGeom prst="rect">
            <a:avLst/>
          </a:prstGeom>
          <a:solidFill>
            <a:srgbClr val="FFFFFF"/>
          </a:solidFill>
          <a:ln w="22225">
            <a:solidFill>
              <a:srgbClr val="F5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480" y="4174236"/>
            <a:ext cx="5602071" cy="566928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4288423"/>
            <a:ext cx="5327751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③  </a:t>
            </a:r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大纲梳理与逻辑自检</a:t>
            </a:r>
            <a:endParaRPr sz="22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4360" y="4850892"/>
            <a:ext cx="5236311" cy="818548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写完初稿后，可请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AI按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明确标准检查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，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对提出的问题逐项核对并决定是否修改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8143" y="4174236"/>
            <a:ext cx="5602071" cy="2158097"/>
          </a:xfrm>
          <a:prstGeom prst="rect">
            <a:avLst/>
          </a:prstGeom>
          <a:solidFill>
            <a:srgbClr val="FFFFFF"/>
          </a:solidFill>
          <a:ln w="222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8143" y="4174236"/>
            <a:ext cx="5602071" cy="5669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15303" y="4288423"/>
            <a:ext cx="5327751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④  </a:t>
            </a:r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语言润色与格式排版</a:t>
            </a:r>
            <a:endParaRPr sz="22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61023" y="4850892"/>
            <a:ext cx="5236311" cy="818548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可请AI修改已有文字的语法和表达，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再检查是否改变原意、扩大结论或增加无依据内容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/>
              </a:rPr>
              <a:t>3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8</a:t>
            </a:r>
            <a:r>
              <a:rPr sz="1100" dirty="0">
                <a:solidFill>
                  <a:srgbClr val="999999"/>
                </a:solidFill>
                <a:latin typeface="Arial"/>
              </a:rPr>
              <a:t> / 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endParaRPr sz="1100" dirty="0">
              <a:solidFill>
                <a:srgbClr val="99999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8803F4A6-1F59-33EC-FE36-94F3578F94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688" y="1675803"/>
            <a:ext cx="5906376" cy="3324211"/>
          </a:xfrm>
          <a:prstGeom prst="rect">
            <a:avLst/>
          </a:prstGeom>
        </p:spPr>
      </p:pic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8.4.1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作者理解与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贡献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的自我检查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3185" y="960120"/>
            <a:ext cx="6603097" cy="5031305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提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交前可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用以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下问题检查准备情况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：</a:t>
            </a:r>
            <a:endParaRPr sz="2200" b="1" dirty="0">
              <a:solidFill>
                <a:srgbClr val="0066CC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不依赖AI即时回答时，我能否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解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释研究问题、关键方法和主要论证</a:t>
            </a:r>
            <a:r>
              <a:rPr lang="zh-CN" altLang="en-US" sz="2000" dirty="0">
                <a:solidFill>
                  <a:srgbClr val="333333"/>
                </a:solidFill>
                <a:latin typeface="Microsoft YaHei"/>
                <a:ea typeface="Microsoft YaHei"/>
              </a:rPr>
              <a:t>？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能否指出证据来源，说明采用某项建议的理由</a:t>
            </a: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？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endParaRPr sz="19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1" dirty="0">
                <a:solidFill>
                  <a:srgbClr val="2E8B57"/>
                </a:solidFill>
                <a:latin typeface="Microsoft YaHei"/>
                <a:ea typeface="Microsoft YaHei"/>
              </a:rPr>
              <a:t>能够解释：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继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续检查证据、原创贡献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与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披露要求。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表达流畅并不自动证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明研究或AI使用合规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endParaRPr sz="17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1" dirty="0">
                <a:solidFill>
                  <a:srgbClr val="C0392B"/>
                </a:solidFill>
                <a:latin typeface="Microsoft YaHei"/>
                <a:ea typeface="Microsoft YaHei"/>
              </a:rPr>
              <a:t>不能</a:t>
            </a:r>
            <a:r>
              <a:rPr sz="2000" b="1" dirty="0" err="1">
                <a:solidFill>
                  <a:srgbClr val="C0392B"/>
                </a:solidFill>
                <a:latin typeface="Microsoft YaHei"/>
                <a:ea typeface="Microsoft YaHei"/>
              </a:rPr>
              <a:t>解释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标记尚未理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解或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核查的内容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，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回到原始材料，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补做阅读、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计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算或实验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，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0" dirty="0">
                <a:solidFill>
                  <a:srgbClr val="F58020"/>
                </a:solidFill>
                <a:latin typeface="Microsoft YaHei"/>
                <a:ea typeface="Microsoft YaHei"/>
              </a:rPr>
              <a:t>在弄清依据后</a:t>
            </a:r>
            <a:r>
              <a:rPr sz="2000" b="0" dirty="0" err="1">
                <a:solidFill>
                  <a:srgbClr val="F58020"/>
                </a:solidFill>
                <a:latin typeface="Microsoft YaHei"/>
                <a:ea typeface="Microsoft YaHei"/>
              </a:rPr>
              <a:t>修改，无法支持的内容应删去</a:t>
            </a:r>
            <a:r>
              <a:rPr sz="2000" b="0" dirty="0">
                <a:solidFill>
                  <a:srgbClr val="F58020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endParaRPr sz="1700" b="0" dirty="0">
              <a:solidFill>
                <a:srgbClr val="F5802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这是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一项学习自查，不能代替机构对学术规范的正式判断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550" y="5240179"/>
            <a:ext cx="42062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图 8-7  作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者理解与贡献的自查流程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/>
              </a:rPr>
              <a:t>3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9</a:t>
            </a:r>
            <a:r>
              <a:rPr sz="1100" dirty="0">
                <a:solidFill>
                  <a:srgbClr val="999999"/>
                </a:solidFill>
                <a:latin typeface="Arial"/>
              </a:rPr>
              <a:t> / 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endParaRPr sz="1100" dirty="0">
              <a:solidFill>
                <a:srgbClr val="99999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2743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8.4.2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7432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作者责任与具体情形的认定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932329"/>
            <a:ext cx="10332720" cy="5161981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“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由AI生成”不能免除对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提交内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容的核查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研究者应理解成果，保留过程记录</a:t>
            </a:r>
            <a:r>
              <a:rPr sz="2200" b="1" dirty="0" err="1">
                <a:solidFill>
                  <a:srgbClr val="C0392B"/>
                </a:solidFill>
                <a:latin typeface="Microsoft YaHei"/>
                <a:ea typeface="Microsoft YaHei"/>
              </a:rPr>
              <a:t>，并处理发现的问题</a:t>
            </a:r>
            <a:r>
              <a:rPr sz="2200" b="1" dirty="0">
                <a:solidFill>
                  <a:srgbClr val="C0392B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2000" b="1" dirty="0">
              <a:solidFill>
                <a:srgbClr val="C0392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为什么AI工具不能履行论文作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者职责？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作者需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要对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内容准确性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、完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整性与原创性负责，并回应学术质疑。A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I工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具不能履行这些职责，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应按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要求说明其辅助作用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16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学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术责任与法律责任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应分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别讨论</a:t>
            </a:r>
            <a:endParaRPr sz="24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作者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对提交成果负有相应的学术责任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侵权、泄密等法律责任需结合行为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、过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错、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合同和适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用法律判断。使用者承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担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责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任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，不意味着平台或其他主体必然免责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lang="en-US" sz="1100" dirty="0">
                <a:solidFill>
                  <a:srgbClr val="999999"/>
                </a:solidFill>
                <a:latin typeface="Arial"/>
              </a:rPr>
              <a:t>40</a:t>
            </a:r>
            <a:r>
              <a:rPr sz="1100" dirty="0">
                <a:solidFill>
                  <a:srgbClr val="999999"/>
                </a:solidFill>
                <a:latin typeface="Arial"/>
              </a:rPr>
              <a:t> / 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endParaRPr sz="1100" dirty="0">
              <a:solidFill>
                <a:srgbClr val="99999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8.4.2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AI辅助研究中的核查职责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表 </a:t>
            </a:r>
            <a:r>
              <a:rPr lang="en-US"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8-7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 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  获取初稿之后需要完成的工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18007" y="1554480"/>
            <a:ext cx="201168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8007" y="1644134"/>
            <a:ext cx="20116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维度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529687" y="1554480"/>
            <a:ext cx="448056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29687" y="1644134"/>
            <a:ext cx="448056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获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取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初稿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010247" y="1554480"/>
            <a:ext cx="466344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10247" y="1644134"/>
            <a:ext cx="46634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核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查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与完善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18007" y="2103120"/>
            <a:ext cx="2011680" cy="841248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5167" y="2369855"/>
            <a:ext cx="17373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精力分配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529687" y="2103120"/>
            <a:ext cx="4480560" cy="841248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66847" y="2369855"/>
            <a:ext cx="42062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检索材料、组织文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10247" y="2103120"/>
            <a:ext cx="4663440" cy="841248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47407" y="2369855"/>
            <a:ext cx="43891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核对证据、检查方法与推论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18007" y="2944368"/>
            <a:ext cx="20116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5167" y="3211103"/>
            <a:ext cx="17373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333333"/>
                </a:solidFill>
                <a:latin typeface="Microsoft YaHei"/>
                <a:ea typeface="Microsoft YaHei"/>
              </a:rPr>
              <a:t>对 AI </a:t>
            </a:r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输出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529687" y="2944368"/>
            <a:ext cx="44805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66847" y="3211103"/>
            <a:ext cx="42062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将输出视为候选材料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010247" y="2944368"/>
            <a:ext cx="46634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47407" y="3211103"/>
            <a:ext cx="43891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核对关键事实与不确定内容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18007" y="3785616"/>
            <a:ext cx="2011680" cy="841248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5167" y="4052351"/>
            <a:ext cx="17373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核心动作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529687" y="3785616"/>
            <a:ext cx="4480560" cy="841248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666847" y="4052351"/>
            <a:ext cx="42062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提出需求、获取初稿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010247" y="3785616"/>
            <a:ext cx="4663440" cy="841248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47407" y="4052351"/>
            <a:ext cx="43891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核查来源、完善论证、记录修改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18007" y="4626864"/>
            <a:ext cx="20116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5167" y="4893599"/>
            <a:ext cx="17373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责任意识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529687" y="4626864"/>
            <a:ext cx="44805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666847" y="4893599"/>
            <a:ext cx="42062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明确使用工具的环节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010247" y="4626864"/>
            <a:ext cx="46634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47407" y="4893599"/>
            <a:ext cx="43891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理解并核查采用的内容，按要求披露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57200" y="5686355"/>
            <a:ext cx="11247120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工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具可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以减少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部分重复工作，研究者仍需完成关键判断，并对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发现的错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误作出纠正</a:t>
            </a:r>
            <a:r>
              <a:rPr sz="1600" b="1" i="0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lang="en-US" sz="1100" dirty="0">
                <a:solidFill>
                  <a:srgbClr val="999999"/>
                </a:solidFill>
                <a:latin typeface="Arial"/>
              </a:rPr>
              <a:t>41</a:t>
            </a:r>
            <a:r>
              <a:rPr sz="1100" dirty="0">
                <a:solidFill>
                  <a:srgbClr val="999999"/>
                </a:solidFill>
                <a:latin typeface="Arial"/>
              </a:rPr>
              <a:t> / 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endParaRPr sz="1100" dirty="0">
              <a:solidFill>
                <a:srgbClr val="99999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8.4.3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伦理使用自查清单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表 </a:t>
            </a:r>
            <a:r>
              <a:rPr lang="en-US"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8-8 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  A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I使用自查清单（按研究阶段检查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18007" y="1554480"/>
            <a:ext cx="201168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8007" y="1644134"/>
            <a:ext cx="20116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阶段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529687" y="1554480"/>
            <a:ext cx="603504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29687" y="1644134"/>
            <a:ext cx="60350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自查要点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564727" y="1554480"/>
            <a:ext cx="310896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64727" y="1644134"/>
            <a:ext cx="310896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底线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18007" y="2103120"/>
            <a:ext cx="2011680" cy="9144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5167" y="2406431"/>
            <a:ext cx="17373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选题构思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529687" y="2103120"/>
            <a:ext cx="6035040" cy="9144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66847" y="2421820"/>
            <a:ext cx="57607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是否理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解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并论证问题与假设？能否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说明自己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的贡献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64727" y="2103120"/>
            <a:ext cx="3108960" cy="9144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01887" y="2421820"/>
            <a:ext cx="283464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保留独立判断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18007" y="3017520"/>
            <a:ext cx="20116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5167" y="3320831"/>
            <a:ext cx="17373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资料处理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529687" y="3017520"/>
            <a:ext cx="60350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66847" y="3336220"/>
            <a:ext cx="57607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文献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/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事实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/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数据是否回权威库核验？是否拒绝幽灵文献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64727" y="3017520"/>
            <a:ext cx="3108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01887" y="3336220"/>
            <a:ext cx="283464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真实可追溯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18007" y="3931920"/>
            <a:ext cx="2011680" cy="9144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5167" y="4235231"/>
            <a:ext cx="17373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数据安全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529687" y="3931920"/>
            <a:ext cx="6035040" cy="9144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666846" y="4250620"/>
            <a:ext cx="6035039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是否获准使用这些数据？平台、权限与处理方式是否适当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64727" y="3931920"/>
            <a:ext cx="3108960" cy="9144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01887" y="4250620"/>
            <a:ext cx="283464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遵守数据制度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18007" y="4846320"/>
            <a:ext cx="20116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5167" y="5149631"/>
            <a:ext cx="17373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成果提交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529687" y="4846320"/>
            <a:ext cx="60350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666847" y="5165020"/>
            <a:ext cx="57607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是否核查内容、理解论证，并按要求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披露AI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使用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64727" y="4846320"/>
            <a:ext cx="3108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701887" y="5165020"/>
            <a:ext cx="283464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作者核查与负责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18007" y="5992106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保留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必要的使用记录与核查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依据，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让AI辅助过程可以说明和复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查。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lang="en-US" sz="1100" dirty="0">
                <a:solidFill>
                  <a:srgbClr val="999999"/>
                </a:solidFill>
                <a:latin typeface="Arial"/>
              </a:rPr>
              <a:t>42</a:t>
            </a:r>
            <a:r>
              <a:rPr sz="1100" dirty="0">
                <a:solidFill>
                  <a:srgbClr val="999999"/>
                </a:solidFill>
                <a:latin typeface="Arial"/>
              </a:rPr>
              <a:t> / 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endParaRPr sz="1100" dirty="0">
              <a:solidFill>
                <a:srgbClr val="99999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32004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200" b="1" i="0">
                <a:solidFill>
                  <a:srgbClr val="0066CC"/>
                </a:solidFill>
                <a:latin typeface="Microsoft YaHei"/>
                <a:ea typeface="Microsoft YaHei"/>
              </a:rPr>
              <a:t>本章小结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2847" y="1188720"/>
            <a:ext cx="22860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777240" cy="12344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77724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8.1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1554480"/>
            <a:ext cx="4709160" cy="1234440"/>
          </a:xfrm>
          <a:prstGeom prst="rect">
            <a:avLst/>
          </a:prstGeom>
          <a:solidFill>
            <a:srgbClr val="E6F2FC"/>
          </a:solidFill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1662810"/>
            <a:ext cx="4343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使用三原则</a:t>
            </a:r>
            <a:endParaRPr sz="20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25880" y="2121408"/>
            <a:ext cx="4343400" cy="501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核查内容与研究过程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，保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留作者判断，明确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资料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授权、使用要求与相应责任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61888" y="1554480"/>
            <a:ext cx="777240" cy="12344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61888" y="1554480"/>
            <a:ext cx="77724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8.2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39128" y="1554480"/>
            <a:ext cx="4709160" cy="1234440"/>
          </a:xfrm>
          <a:prstGeom prst="rect">
            <a:avLst/>
          </a:prstGeom>
          <a:solidFill>
            <a:srgbClr val="E6F2FC"/>
          </a:solidFill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22008" y="1641903"/>
            <a:ext cx="4343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主要局限</a:t>
            </a:r>
            <a:endParaRPr sz="20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22008" y="2091848"/>
            <a:ext cx="4343400" cy="501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关注事实错误、输出偏差与解释局限，通过原始资料和独立证据核查关键结论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98648"/>
            <a:ext cx="777240" cy="12344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2898648"/>
            <a:ext cx="77724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8.3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2898648"/>
            <a:ext cx="4709160" cy="1234440"/>
          </a:xfrm>
          <a:prstGeom prst="rect">
            <a:avLst/>
          </a:prstGeom>
          <a:solidFill>
            <a:srgbClr val="E6F2FC"/>
          </a:solidFill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25880" y="2953512"/>
            <a:ext cx="4343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操作规范</a:t>
            </a:r>
            <a:endParaRPr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25880" y="3319272"/>
            <a:ext cx="4343400" cy="501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检查版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权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与许可，按制度处理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数据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，限制工具权限并防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范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提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示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词注入</a:t>
            </a:r>
            <a:r>
              <a:rPr sz="12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61888" y="2898648"/>
            <a:ext cx="777240" cy="12344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61888" y="2898648"/>
            <a:ext cx="77724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8.4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39128" y="2898648"/>
            <a:ext cx="4709160" cy="1234440"/>
          </a:xfrm>
          <a:prstGeom prst="rect">
            <a:avLst/>
          </a:prstGeom>
          <a:solidFill>
            <a:srgbClr val="E6F2FC"/>
          </a:solidFill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22008" y="2953512"/>
            <a:ext cx="4343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责任归属</a:t>
            </a:r>
            <a:endParaRPr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22008" y="3319272"/>
            <a:ext cx="4343400" cy="501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按具体规范判断辅助与代写的边界，理解自己的贡献，核查内容并披露AI使用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0520" y="5698505"/>
            <a:ext cx="11475720" cy="713232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5870455"/>
            <a:ext cx="114757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可辅助研究，成果的依据、过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程与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作者贡献仍应清楚可查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/>
              </a:rPr>
              <a:t>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3</a:t>
            </a:r>
            <a:r>
              <a:rPr sz="1100" dirty="0">
                <a:solidFill>
                  <a:srgbClr val="999999"/>
                </a:solidFill>
                <a:latin typeface="Arial"/>
              </a:rPr>
              <a:t> / 4</a:t>
            </a:r>
            <a:r>
              <a:rPr lang="en-US" sz="1100" dirty="0">
                <a:solidFill>
                  <a:srgbClr val="999999"/>
                </a:solidFill>
                <a:latin typeface="Arial"/>
              </a:rPr>
              <a:t>4</a:t>
            </a:r>
            <a:endParaRPr sz="1100" dirty="0">
              <a:solidFill>
                <a:srgbClr val="99999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0" y="4114800"/>
            <a:ext cx="6858000" cy="2743200"/>
          </a:xfrm>
          <a:prstGeom prst="parallelogram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91695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0" b="1" i="0">
                <a:solidFill>
                  <a:srgbClr val="FFFFFF"/>
                </a:solidFill>
                <a:latin typeface="Arial"/>
                <a:ea typeface="Arial"/>
              </a:rPr>
              <a:t>THANKS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0" i="0">
                <a:solidFill>
                  <a:srgbClr val="E6F2FC"/>
                </a:solidFill>
                <a:latin typeface="Microsoft YaHei"/>
                <a:ea typeface="Microsoft YaHei"/>
              </a:rPr>
              <a:t>感 谢 聆 听 ， 欢 迎 提 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E6F2FC"/>
                </a:solidFill>
                <a:latin typeface="Microsoft YaHei"/>
                <a:ea typeface="Microsoft YaHei"/>
              </a:rPr>
              <a:t>扬州大学  ·  第 8 章  ·  生成式人工智能伦理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2103</Words>
  <Application>Microsoft Office PowerPoint</Application>
  <PresentationFormat>宽屏</PresentationFormat>
  <Paragraphs>582</Paragraphs>
  <Slides>44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1" baseType="lpstr">
      <vt:lpstr>等线</vt:lpstr>
      <vt:lpstr>宋体</vt:lpstr>
      <vt:lpstr>Microsoft YaHei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Windows 用户</cp:lastModifiedBy>
  <cp:revision>11</cp:revision>
  <dcterms:created xsi:type="dcterms:W3CDTF">2013-01-27T09:14:16Z</dcterms:created>
  <dcterms:modified xsi:type="dcterms:W3CDTF">2026-09-25T09:09:37Z</dcterms:modified>
  <cp:category/>
</cp:coreProperties>
</file>