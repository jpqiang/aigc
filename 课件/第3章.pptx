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2" r:id="rId9"/>
    <p:sldId id="263" r:id="rId10"/>
    <p:sldId id="264" r:id="rId11"/>
    <p:sldId id="265" r:id="rId12"/>
    <p:sldId id="293" r:id="rId13"/>
    <p:sldId id="294" r:id="rId14"/>
    <p:sldId id="266" r:id="rId15"/>
    <p:sldId id="267" r:id="rId16"/>
    <p:sldId id="295" r:id="rId17"/>
    <p:sldId id="268" r:id="rId18"/>
    <p:sldId id="269" r:id="rId19"/>
    <p:sldId id="296" r:id="rId20"/>
    <p:sldId id="270" r:id="rId21"/>
    <p:sldId id="297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9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朋 王" initials="朋王" lastIdx="1" clrIdx="0">
    <p:extLst>
      <p:ext uri="{19B8F6BF-5375-455C-9EA6-DF929625EA0E}">
        <p15:presenceInfo xmlns:p15="http://schemas.microsoft.com/office/powerpoint/2012/main" userId="fffea06f79926c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15200" y="0"/>
            <a:ext cx="4876800" cy="36576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601283" y="3246120"/>
            <a:ext cx="4590412" cy="361188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342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《</a:t>
            </a: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生成式人工智能与科研素养</a:t>
            </a:r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</a:rPr>
              <a:t>第 3 章   大模型的推理与协同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扬州大学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8077951" y="1231081"/>
            <a:ext cx="3565409" cy="5547982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333333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200400" cy="35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331720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331720"/>
            <a:ext cx="5486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331720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让大模型提出更有价值的想法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12364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912364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912364"/>
            <a:ext cx="5486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2912364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为复杂任务提供充分上下文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93008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493008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493008"/>
            <a:ext cx="5486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3493008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避免模型一味迎合观点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73652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073652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073652"/>
            <a:ext cx="5486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073652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深度推理与复杂任务处理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54296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654296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4654296"/>
            <a:ext cx="5486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37360" y="4654296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让大模型进入本地工作流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34940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234940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5234940"/>
            <a:ext cx="5486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5234940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用多模型协作检查文本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15584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815584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5815584"/>
            <a:ext cx="548640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37360" y="5815584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本章实训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大模型在复杂任务中的辅助作用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大模型</a:t>
            </a:r>
            <a:r>
              <a:rPr sz="26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可参</a:t>
            </a:r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与多轮讨论</a:t>
            </a:r>
            <a:r>
              <a:rPr sz="26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，辅助梳理</a:t>
            </a:r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问题、比较方案</a:t>
            </a:r>
            <a:r>
              <a:rPr sz="26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和检</a:t>
            </a:r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查文本</a:t>
            </a:r>
            <a:r>
              <a:rPr sz="26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使用效果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取决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于模型能力、相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关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材料与任务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要求，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结果仍需核验。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1828800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4252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创新激发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3474720"/>
            <a:ext cx="1828800" cy="16916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994475"/>
            <a:ext cx="19202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避免泛泛建议
补充研究背景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31720" y="2697480"/>
            <a:ext cx="1828800" cy="77724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3.2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14252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上下文机制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31720" y="3474720"/>
            <a:ext cx="1828800" cy="16916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41448" y="4035624"/>
            <a:ext cx="1609344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理解累积原理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善用对话重置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51960" y="2697480"/>
            <a:ext cx="1828800" cy="77724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3.3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14252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克服迎合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51960" y="3474720"/>
            <a:ext cx="1828800" cy="1691640"/>
          </a:xfrm>
          <a:prstGeom prst="rect">
            <a:avLst/>
          </a:prstGeom>
          <a:solidFill>
            <a:srgbClr val="E6F2FC"/>
          </a:solidFill>
          <a:ln w="1270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4035624"/>
            <a:ext cx="1609344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识别迎合倾向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采用中立提问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72200" y="2697480"/>
            <a:ext cx="1828800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3.4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14252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深度推理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72200" y="3474720"/>
            <a:ext cx="1828800" cy="16916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4035624"/>
            <a:ext cx="19202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选择合适模式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拆解复杂任务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92440" y="2697480"/>
            <a:ext cx="1828800" cy="77724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14252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本地化使用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092440" y="3474720"/>
            <a:ext cx="1828800" cy="16916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4035624"/>
            <a:ext cx="1609344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桌面智能体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数据安全防线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012680" y="2697480"/>
            <a:ext cx="1828800" cy="777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1268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  <a:ea typeface="Arial"/>
              </a:rPr>
              <a:t>3.6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14252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深度写作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012680" y="3474720"/>
            <a:ext cx="1828800" cy="1691640"/>
          </a:xfrm>
          <a:prstGeom prst="rect">
            <a:avLst/>
          </a:prstGeom>
          <a:solidFill>
            <a:srgbClr val="E6F2F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30968" y="4042455"/>
            <a:ext cx="181051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渐进式大纲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多模型交叉审稿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" y="5727264"/>
            <a:ext cx="1124712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5842338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本章重点：明</a:t>
            </a:r>
            <a:r>
              <a:rPr sz="28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确</a:t>
            </a:r>
            <a:r>
              <a:rPr sz="28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任务条件，检</a:t>
            </a:r>
            <a:r>
              <a:rPr sz="28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查分析过程，保</a:t>
            </a:r>
            <a:r>
              <a:rPr sz="28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留人的判断</a:t>
            </a:r>
            <a:r>
              <a:rPr sz="28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1460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让大模型提出更有价值的想法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提供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研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究背景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源条件与评价标准，通过多轮反馈细化想法，再检验其新颖性与可行性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头脑风暴中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常见局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065" y="960120"/>
            <a:ext cx="6202375" cy="569514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模型根据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训练中学到的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模式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，逐步生成词元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解释基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础概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念时，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常见表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述可以作为入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门参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考。</a:t>
            </a:r>
            <a:endParaRPr sz="22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构思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研究课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题时，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通用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建议往往还不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够具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体。</a:t>
            </a:r>
            <a:endParaRPr sz="22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需要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注意的问题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料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同主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题的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覆盖并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不均衡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缺少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背景和约束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时，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模型可能重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复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已有材料中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的常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见研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究思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直接索要灵感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能得到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相关但缺少针对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性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的建议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lang="en-US"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9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可加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入研究条件和不同视角，但建议的新颖性仍需通过文献核查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055" y="5532120"/>
            <a:ext cx="4754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3-1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  内容常见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程度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与独特性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的概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念示意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5 / 43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A193649-47B2-B87B-C79C-3EC1AD55A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859" y="1796150"/>
            <a:ext cx="5603956" cy="3735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不同学科的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题构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思示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3-1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 从宽泛方向到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具体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研究假设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（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均需论证）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6459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44134"/>
            <a:ext cx="16459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学科领域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1680" y="1554480"/>
            <a:ext cx="457200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644134"/>
            <a:ext cx="4572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较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宽泛的研究方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554480"/>
            <a:ext cx="51206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644134"/>
            <a:ext cx="5120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加入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条件后的候选思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64592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307074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医学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11680" y="2103120"/>
            <a:ext cx="457200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48840" y="235324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罗列已知致病基因做关联分析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2103120"/>
            <a:ext cx="51206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353240"/>
            <a:ext cx="4846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引入跨学科变量：用流体力学建模血流剪切力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288036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084314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教育学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011680" y="2880360"/>
            <a:ext cx="4572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313048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altLang="en-US" b="0" i="0" dirty="0">
                <a:solidFill>
                  <a:srgbClr val="333333"/>
                </a:solidFill>
                <a:latin typeface="Microsoft YaHei"/>
                <a:ea typeface="Microsoft YaHei"/>
              </a:rPr>
              <a:t>翻转课堂提升学习效果</a:t>
            </a:r>
            <a:r>
              <a:rPr lang="en-US" altLang="zh-CN"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0" y="288036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3130480"/>
            <a:ext cx="4846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约束：仅靠学生手机端微行为数据预测辍学风险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164592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861554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材料学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11680" y="3657600"/>
            <a:ext cx="457200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390772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穷举常见高分子配方做性能测试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583680" y="3657600"/>
            <a:ext cx="51206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3907720"/>
            <a:ext cx="4846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借鉴深海贻贝粘附蛋白，探索胶粘剂设计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638794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社会学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11680" y="4434840"/>
            <a:ext cx="4572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48840" y="468496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短视频影响青少年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问卷调查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583680" y="443484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0840" y="4684960"/>
            <a:ext cx="4846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探索外卖订单与城市生活方式的联系，验证指标适用性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5760" y="5212080"/>
            <a:ext cx="164592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416034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农学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011680" y="5212080"/>
            <a:ext cx="457200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48840" y="546220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测试不同氮肥用量对产量影响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583680" y="5212080"/>
            <a:ext cx="51206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20840" y="5462200"/>
            <a:ext cx="48463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交叉：借天文光谱方法做作物病害早期诊断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41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提供研究问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题与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具体条件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3165" y="960120"/>
            <a:ext cx="9727496" cy="536511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背景信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息有助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于限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定建议的范围。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说明已有数</a:t>
            </a:r>
            <a:r>
              <a:rPr sz="1900" b="0" dirty="0">
                <a:solidFill>
                  <a:srgbClr val="333333"/>
                </a:solidFill>
                <a:latin typeface="Microsoft YaHei"/>
                <a:ea typeface="Microsoft YaHei"/>
              </a:rPr>
              <a:t>据、</a:t>
            </a:r>
            <a:r>
              <a:rPr sz="19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可用设</a:t>
            </a:r>
            <a:r>
              <a:rPr sz="1900" b="0" dirty="0">
                <a:solidFill>
                  <a:srgbClr val="333333"/>
                </a:solidFill>
                <a:latin typeface="Microsoft YaHei"/>
                <a:ea typeface="Microsoft YaHei"/>
              </a:rPr>
              <a:t>备、</a:t>
            </a:r>
            <a:r>
              <a:rPr sz="19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预算和学科视角，让模型围绕实际条件提出方案</a:t>
            </a:r>
            <a:r>
              <a:rPr sz="19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“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锚点—变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量”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策略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锚点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：必须坚守的核心研究问题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变量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：你独有的个性化条件（数据少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零预算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冷门理论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  <a:endParaRPr sz="19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案例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城市交通拥堵课题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仅给研究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方向：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可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能得到红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绿灯优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化、道路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扩建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等建议。</a:t>
            </a:r>
            <a:endParaRPr sz="22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补充条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件：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只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有共享单车数据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，关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注突发暴雨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可进一步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极端天气下的骑行轨迹变化。</a:t>
            </a:r>
            <a:endParaRPr lang="en-US"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资源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限制也是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选题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条件，应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在讨论初期说明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BACA-E245-9E19-282D-78532D7D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62ED5C-6064-98D0-231E-748629DDF51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9D08EFCF-F333-8B1D-F90E-B7EA67948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915F51-5F45-42A1-87A0-D0873779DD20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14450-CAE7-676B-1C98-D6D2FA837771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3.1.2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D9B83-04C9-B7DE-C7BC-D0C4A65284A3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F72C5-9BA7-7E81-6C0C-F298BF7B72C6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提供研究问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题与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具体条件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C45F86-4242-9919-4CB6-F2D0F1E34949}"/>
              </a:ext>
            </a:extLst>
          </p:cNvPr>
          <p:cNvSpPr txBox="1"/>
          <p:nvPr/>
        </p:nvSpPr>
        <p:spPr>
          <a:xfrm>
            <a:off x="3445180" y="6113024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3-2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背景信息注入前后的提示词演变对比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3B99F-91D2-88BE-E0FB-BD76380B2183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8 / 43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BAB6132-53E7-AC85-C2A6-6C82DDD5169A}"/>
              </a:ext>
            </a:extLst>
          </p:cNvPr>
          <p:cNvGrpSpPr/>
          <p:nvPr/>
        </p:nvGrpSpPr>
        <p:grpSpPr>
          <a:xfrm>
            <a:off x="511326" y="1042416"/>
            <a:ext cx="10666665" cy="4969386"/>
            <a:chOff x="466001" y="902240"/>
            <a:chExt cx="11139910" cy="5307471"/>
          </a:xfrm>
        </p:grpSpPr>
        <p:pic>
          <p:nvPicPr>
            <p:cNvPr id="13" name="内容占位符 22">
              <a:extLst>
                <a:ext uri="{FF2B5EF4-FFF2-40B4-BE49-F238E27FC236}">
                  <a16:creationId xmlns:a16="http://schemas.microsoft.com/office/drawing/2014/main" id="{CC89A706-5194-03C2-468B-3E5D8E564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8" r="22260"/>
            <a:stretch>
              <a:fillRect/>
            </a:stretch>
          </p:blipFill>
          <p:spPr>
            <a:xfrm>
              <a:off x="1168744" y="4404699"/>
              <a:ext cx="758434" cy="736610"/>
            </a:xfrm>
            <a:prstGeom prst="rect">
              <a:avLst/>
            </a:prstGeom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502F00D-C430-75E1-A6C3-B844BA7CF033}"/>
                </a:ext>
              </a:extLst>
            </p:cNvPr>
            <p:cNvSpPr/>
            <p:nvPr/>
          </p:nvSpPr>
          <p:spPr>
            <a:xfrm>
              <a:off x="734901" y="926574"/>
              <a:ext cx="5040000" cy="72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未说明背景条件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C25BBBDF-7BBB-62F2-677B-3B5900A5F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70136" y="1755406"/>
              <a:ext cx="547307" cy="540868"/>
            </a:xfrm>
            <a:prstGeom prst="rect">
              <a:avLst/>
            </a:prstGeom>
          </p:spPr>
        </p:pic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BA043D9-1CD5-07CE-F20E-4B9E67652A17}"/>
                </a:ext>
              </a:extLst>
            </p:cNvPr>
            <p:cNvSpPr/>
            <p:nvPr/>
          </p:nvSpPr>
          <p:spPr>
            <a:xfrm>
              <a:off x="1033690" y="1798527"/>
              <a:ext cx="4320000" cy="819373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“帮我构思一个关于‘城市交通拥堵’的研究课题。”</a:t>
              </a: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6F7DA8F-9551-9005-EA38-B3E631B2E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001" y="3227507"/>
              <a:ext cx="536007" cy="523685"/>
            </a:xfrm>
            <a:prstGeom prst="rect">
              <a:avLst/>
            </a:prstGeom>
          </p:spPr>
        </p:pic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86D34A3-05AB-DDAA-5608-EF175906B80E}"/>
                </a:ext>
              </a:extLst>
            </p:cNvPr>
            <p:cNvSpPr/>
            <p:nvPr/>
          </p:nvSpPr>
          <p:spPr>
            <a:xfrm>
              <a:off x="1010276" y="3251570"/>
              <a:ext cx="4320000" cy="745452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研究方案：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1.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交叉路口红绿灯算法优化；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2.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城市道路拓宽对车流的影响。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思想气泡: 云 18">
              <a:extLst>
                <a:ext uri="{FF2B5EF4-FFF2-40B4-BE49-F238E27FC236}">
                  <a16:creationId xmlns:a16="http://schemas.microsoft.com/office/drawing/2014/main" id="{CFD9303A-41BD-7B11-FDFD-7EAAB8E1D13D}"/>
                </a:ext>
              </a:extLst>
            </p:cNvPr>
            <p:cNvSpPr/>
            <p:nvPr/>
          </p:nvSpPr>
          <p:spPr>
            <a:xfrm>
              <a:off x="2293690" y="4275647"/>
              <a:ext cx="3060000" cy="1080000"/>
            </a:xfrm>
            <a:prstGeom prst="cloudCallout">
              <a:avLst>
                <a:gd name="adj1" fmla="val -62779"/>
                <a:gd name="adj2" fmla="val -19301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这样的回答实在太宽泛了。”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6E4C6E64-E07E-1333-ED19-8B00010C33F8}"/>
                </a:ext>
              </a:extLst>
            </p:cNvPr>
            <p:cNvSpPr/>
            <p:nvPr/>
          </p:nvSpPr>
          <p:spPr>
            <a:xfrm>
              <a:off x="6418491" y="902240"/>
              <a:ext cx="5040000" cy="72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补充数据、环境与学科视角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56EEE462-4460-42B9-A3AD-724C6C3EC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58604" y="1768543"/>
              <a:ext cx="547307" cy="540868"/>
            </a:xfrm>
            <a:prstGeom prst="rect">
              <a:avLst/>
            </a:prstGeom>
          </p:spPr>
        </p:pic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608D9B9A-CABD-A865-9EF3-75A207AB908A}"/>
                </a:ext>
              </a:extLst>
            </p:cNvPr>
            <p:cNvSpPr/>
            <p:nvPr/>
          </p:nvSpPr>
          <p:spPr>
            <a:xfrm>
              <a:off x="6728019" y="1798526"/>
              <a:ext cx="4320000" cy="1630473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“帮我构思一个关于研究方向：‘城市交通拥堵’的研究课题。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1.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数据限制：‘我只有共享单车的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GPS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轨迹数据’；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2.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环境变量：‘关注突发性暴雨天气’；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3.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学科偏好：‘融入行为心理学’。”</a:t>
              </a:r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424E1CB-167E-64D8-DEA8-886121123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3632" y="5067285"/>
              <a:ext cx="829034" cy="838618"/>
            </a:xfrm>
            <a:prstGeom prst="rect">
              <a:avLst/>
            </a:prstGeom>
          </p:spPr>
        </p:pic>
        <p:sp>
          <p:nvSpPr>
            <p:cNvPr id="24" name="思想气泡: 云 23">
              <a:extLst>
                <a:ext uri="{FF2B5EF4-FFF2-40B4-BE49-F238E27FC236}">
                  <a16:creationId xmlns:a16="http://schemas.microsoft.com/office/drawing/2014/main" id="{59557D40-B5A2-6E56-A525-5A825C9220C9}"/>
                </a:ext>
              </a:extLst>
            </p:cNvPr>
            <p:cNvSpPr/>
            <p:nvPr/>
          </p:nvSpPr>
          <p:spPr>
            <a:xfrm>
              <a:off x="6811378" y="5129711"/>
              <a:ext cx="3060000" cy="1080000"/>
            </a:xfrm>
            <a:prstGeom prst="cloudCallout">
              <a:avLst>
                <a:gd name="adj1" fmla="val 64241"/>
                <a:gd name="adj2" fmla="val -30822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“这个方向更具体，还需检查数据能否支持研究问题。”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40461AC5-B46B-CAB2-70F5-2F2B88CB1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3215" y="3997022"/>
              <a:ext cx="536007" cy="523685"/>
            </a:xfrm>
            <a:prstGeom prst="rect">
              <a:avLst/>
            </a:prstGeom>
          </p:spPr>
        </p:pic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AC993A0-2E12-369C-BB51-068BCA7159F1}"/>
                </a:ext>
              </a:extLst>
            </p:cNvPr>
            <p:cNvSpPr/>
            <p:nvPr/>
          </p:nvSpPr>
          <p:spPr>
            <a:xfrm>
              <a:off x="6778491" y="4004161"/>
              <a:ext cx="4320000" cy="1058918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候选方向：分析突发暴雨下共享单车骑行与停放的变化。心理解释还需要补充调查等证据。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4EA9549-ADCE-A454-1DDB-FAFDC5A69014}"/>
                </a:ext>
              </a:extLst>
            </p:cNvPr>
            <p:cNvCxnSpPr>
              <a:cxnSpLocks/>
            </p:cNvCxnSpPr>
            <p:nvPr/>
          </p:nvCxnSpPr>
          <p:spPr>
            <a:xfrm>
              <a:off x="6083292" y="918970"/>
              <a:ext cx="12708" cy="4680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847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构建多轮反馈的迭代工作流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7812" y="960120"/>
            <a:ext cx="1159733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研究条件常在比较方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案时逐步明确，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可以通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过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反馈补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充遗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漏。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2670048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  <a:ea typeface="Arial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49874"/>
            <a:ext cx="19385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提出选项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2377440"/>
            <a:ext cx="2670048" cy="2514600"/>
          </a:xfrm>
          <a:prstGeom prst="rect">
            <a:avLst/>
          </a:prstGeom>
          <a:solidFill>
            <a:srgbClr val="E6F2FC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532888"/>
            <a:ext cx="2340864" cy="1815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给出基础课题背景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，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要求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提供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3-5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个不同方案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切忌让它直接下确定结论</a:t>
            </a:r>
            <a:r>
              <a:rPr sz="15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88036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66C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691640"/>
            <a:ext cx="2670048" cy="685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169164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  <a:ea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849874"/>
            <a:ext cx="19385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筛选批判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0" y="2377440"/>
            <a:ext cx="2670048" cy="2514600"/>
          </a:xfrm>
          <a:prstGeom prst="rect">
            <a:avLst/>
          </a:prstGeom>
          <a:solidFill>
            <a:srgbClr val="E6F2FC"/>
          </a:solidFill>
          <a:ln w="1587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4992" y="2532888"/>
            <a:ext cx="2340864" cy="1446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说明筛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选理由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：“方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案A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不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符合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目标，C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成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本太高，可以继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续细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化B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288036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691640"/>
            <a:ext cx="2670048" cy="68580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169164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  <a:ea typeface="Arial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49874"/>
            <a:ext cx="19385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补充新变量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89320" y="2377440"/>
            <a:ext cx="2670048" cy="2514600"/>
          </a:xfrm>
          <a:prstGeom prst="rect">
            <a:avLst/>
          </a:prstGeom>
          <a:solidFill>
            <a:srgbClr val="E6F2FC"/>
          </a:solidFill>
          <a:ln w="1587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53912" y="2532888"/>
            <a:ext cx="2340864" cy="1446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补充遗漏条件：“场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地没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有排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风系统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，需要重新评估材料和操作条件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2880360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5802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691640"/>
            <a:ext cx="2670048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169164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  <a:ea typeface="Arial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1849874"/>
            <a:ext cx="19385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继续完善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778240" y="2377440"/>
            <a:ext cx="2670048" cy="2514600"/>
          </a:xfrm>
          <a:prstGeom prst="rect">
            <a:avLst/>
          </a:prstGeom>
          <a:solidFill>
            <a:srgbClr val="E6F2FC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42832" y="2532888"/>
            <a:ext cx="2340864" cy="1446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结合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反馈生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成新的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方案，再检查是否符合数据、经费和实验条件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120640"/>
            <a:ext cx="11140440" cy="13258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反馈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应具体说明理由和条件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972800" cy="680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每轮</a:t>
            </a:r>
            <a:r>
              <a:rPr sz="2000" b="0" i="0" dirty="0">
                <a:solidFill>
                  <a:srgbClr val="FFFFFF"/>
                </a:solidFill>
                <a:latin typeface="Microsoft YaHei"/>
                <a:ea typeface="Microsoft YaHei"/>
              </a:rPr>
              <a:t>讨论</a:t>
            </a:r>
            <a:r>
              <a:rPr sz="20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后检查方案的依据与可行性。及</a:t>
            </a:r>
            <a:r>
              <a:rPr sz="2000" b="0" i="0" dirty="0">
                <a:solidFill>
                  <a:srgbClr val="FFFFFF"/>
                </a:solidFill>
                <a:latin typeface="Microsoft YaHei"/>
                <a:ea typeface="Microsoft YaHei"/>
              </a:rPr>
              <a:t>时</a:t>
            </a:r>
            <a:r>
              <a:rPr sz="20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说明数据、</a:t>
            </a:r>
            <a:r>
              <a:rPr sz="2000" b="0" i="0" dirty="0">
                <a:solidFill>
                  <a:srgbClr val="FFFFFF"/>
                </a:solidFill>
                <a:latin typeface="Microsoft YaHei"/>
                <a:ea typeface="Microsoft YaHei"/>
              </a:rPr>
              <a:t>设</a:t>
            </a:r>
            <a:r>
              <a:rPr sz="20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备和</a:t>
            </a:r>
            <a:r>
              <a:rPr sz="2000" b="0" i="0" dirty="0">
                <a:solidFill>
                  <a:srgbClr val="FFFFFF"/>
                </a:solidFill>
                <a:latin typeface="Microsoft YaHei"/>
                <a:ea typeface="Microsoft YaHei"/>
              </a:rPr>
              <a:t>预</a:t>
            </a:r>
            <a:r>
              <a:rPr sz="20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算限制</a:t>
            </a:r>
            <a:r>
              <a:rPr sz="2000" b="0" i="0" dirty="0">
                <a:solidFill>
                  <a:srgbClr val="FFFFFF"/>
                </a:solidFill>
                <a:latin typeface="Microsoft YaHei"/>
                <a:ea typeface="Microsoft YaHei"/>
              </a:rPr>
              <a:t>，减</a:t>
            </a:r>
            <a:r>
              <a:rPr sz="20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少不适用的建议。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468878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为复杂任务提供充分上下文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上下文包括任务指令、对话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记录和相关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材料。容量与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处理效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果因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模型而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异，应优先提供准确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、相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关的信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息。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多轮对话中的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上下文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43" y="960120"/>
            <a:ext cx="10315972" cy="495403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模型依据当前系统提供的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上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下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文生成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回答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产品会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组织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历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史对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话、文件和指令供模型使用，也可能压缩或截取较长记录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上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下文中的信息不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等于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模型永久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学会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了这些内容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9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上下文窗口的四大核心组件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①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系统提示词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（后台设定：日期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定位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工具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②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外部文件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（上传的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PDF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③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用户的历史提问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④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模型自身的历史回答</a:t>
            </a:r>
            <a:endParaRPr sz="19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无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关内容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和先前错误也可能影响后续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回答，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应及时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纠正并整理上下文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00B3-090B-4314-41C2-F911EB16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278732-1A05-F0EF-9BA0-2BC0B2F4F16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1B2941B2-3C99-0677-DEC4-2B406F9DA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CB8C8E-0917-6720-8B6F-E3B9B0A740AC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8B654-1760-E55D-69B2-22597C36CC1A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3.2.1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BB8A3-AA13-1BD1-53E8-23AC4F13BAA9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5B614-5017-6577-AAF8-55DC806C2FCD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多轮对话中的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上下文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积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1E873-3FDF-65FF-F1E0-EF900498A861}"/>
              </a:ext>
            </a:extLst>
          </p:cNvPr>
          <p:cNvSpPr txBox="1"/>
          <p:nvPr/>
        </p:nvSpPr>
        <p:spPr>
          <a:xfrm>
            <a:off x="3596335" y="6169521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3-4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大模型多轮对话的上下文累积原理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FFB42-A51D-4F7E-DC5E-4479BF944E8F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12 / 43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49C9332-3BFC-CE50-883B-A20732B49FFC}"/>
              </a:ext>
            </a:extLst>
          </p:cNvPr>
          <p:cNvGrpSpPr/>
          <p:nvPr/>
        </p:nvGrpSpPr>
        <p:grpSpPr>
          <a:xfrm>
            <a:off x="2164047" y="902203"/>
            <a:ext cx="7318165" cy="5009709"/>
            <a:chOff x="1712066" y="198622"/>
            <a:chExt cx="6777539" cy="5610208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47448C96-F04B-BE74-F405-693101A67E42}"/>
                </a:ext>
              </a:extLst>
            </p:cNvPr>
            <p:cNvSpPr/>
            <p:nvPr/>
          </p:nvSpPr>
          <p:spPr>
            <a:xfrm>
              <a:off x="1712066" y="230810"/>
              <a:ext cx="1361529" cy="124226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第一轮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C418FDA9-3A18-C8A4-019D-8A4FFA1A5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5040" y="198622"/>
              <a:ext cx="464273" cy="540868"/>
            </a:xfrm>
            <a:prstGeom prst="rect">
              <a:avLst/>
            </a:prstGeom>
          </p:spPr>
        </p:pic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6FFF1EF6-EE9B-6DD5-5001-255C78E26A09}"/>
                </a:ext>
              </a:extLst>
            </p:cNvPr>
            <p:cNvSpPr/>
            <p:nvPr/>
          </p:nvSpPr>
          <p:spPr>
            <a:xfrm>
              <a:off x="3969083" y="230811"/>
              <a:ext cx="4003761" cy="65440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A: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系统提示词（隐藏）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B: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“帮我制定三天减脂餐。”</a:t>
              </a: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937499C3-AF02-1F96-2B3A-7AB43F6139F8}"/>
                </a:ext>
              </a:extLst>
            </p:cNvPr>
            <p:cNvSpPr/>
            <p:nvPr/>
          </p:nvSpPr>
          <p:spPr>
            <a:xfrm>
              <a:off x="3969082" y="1011634"/>
              <a:ext cx="4003762" cy="461442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C: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“第一天吃沙拉，第二天吃鸡胸肉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...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38A2F397-32D2-8252-D32C-6C83481D6807}"/>
                </a:ext>
              </a:extLst>
            </p:cNvPr>
            <p:cNvSpPr/>
            <p:nvPr/>
          </p:nvSpPr>
          <p:spPr>
            <a:xfrm>
              <a:off x="3969082" y="1600673"/>
              <a:ext cx="4003761" cy="117356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A: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系统提示词（隐藏）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B: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“帮我制定三天减脂餐。”</a:t>
              </a: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C: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“第一天吃沙拉，第二天吃鸡胸肉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D: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“我对海鲜过敏，请修改。”</a:t>
              </a:r>
            </a:p>
          </p:txBody>
        </p:sp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8FE59FC9-7D9B-671F-1C9F-A28B1FEE0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18865" y="2804466"/>
              <a:ext cx="451947" cy="523685"/>
            </a:xfrm>
            <a:prstGeom prst="rect">
              <a:avLst/>
            </a:prstGeom>
          </p:spPr>
        </p:pic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D5CC8D4E-4FE7-8E52-0C29-9894F6706279}"/>
                </a:ext>
              </a:extLst>
            </p:cNvPr>
            <p:cNvSpPr/>
            <p:nvPr/>
          </p:nvSpPr>
          <p:spPr>
            <a:xfrm>
              <a:off x="3969082" y="2837523"/>
              <a:ext cx="4003761" cy="523685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E: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“已将第三天的龙虾替换为牛肉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...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</a:p>
          </p:txBody>
        </p:sp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4D81B926-5B1B-9BB0-5FA3-150D9A884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3135" y="1605149"/>
              <a:ext cx="464273" cy="540868"/>
            </a:xfrm>
            <a:prstGeom prst="rect">
              <a:avLst/>
            </a:prstGeom>
          </p:spPr>
        </p:pic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0EDC28CC-5528-35A3-F8E9-9F5010D46926}"/>
                </a:ext>
              </a:extLst>
            </p:cNvPr>
            <p:cNvSpPr/>
            <p:nvPr/>
          </p:nvSpPr>
          <p:spPr>
            <a:xfrm>
              <a:off x="3954872" y="3489444"/>
              <a:ext cx="4003761" cy="167788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A: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系统提示词（隐藏）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B: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“帮我制定三天减脂餐。”</a:t>
              </a: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C: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“第一天吃沙拉，第二天吃鸡胸肉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D: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“我对海鲜过敏，请修改。”</a:t>
              </a: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E: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“已将第三天的龙虾替换为牛肉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...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F: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“加上每天的卡路里估算”</a:t>
              </a:r>
            </a:p>
          </p:txBody>
        </p:sp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69FEAD76-134A-82E2-0B69-3B0799825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18866" y="1016774"/>
              <a:ext cx="451946" cy="523685"/>
            </a:xfrm>
            <a:prstGeom prst="rect">
              <a:avLst/>
            </a:prstGeom>
          </p:spPr>
        </p:pic>
        <p:sp>
          <p:nvSpPr>
            <p:cNvPr id="65" name="矩形: 圆角 25">
              <a:extLst>
                <a:ext uri="{FF2B5EF4-FFF2-40B4-BE49-F238E27FC236}">
                  <a16:creationId xmlns:a16="http://schemas.microsoft.com/office/drawing/2014/main" id="{2693DF67-A5DD-4FFF-C142-18C02A88BBDC}"/>
                </a:ext>
              </a:extLst>
            </p:cNvPr>
            <p:cNvSpPr/>
            <p:nvPr/>
          </p:nvSpPr>
          <p:spPr>
            <a:xfrm>
              <a:off x="1712066" y="1600675"/>
              <a:ext cx="1361530" cy="176053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第二轮</a:t>
              </a:r>
              <a:endPara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6" name="矩形: 圆角 25">
              <a:extLst>
                <a:ext uri="{FF2B5EF4-FFF2-40B4-BE49-F238E27FC236}">
                  <a16:creationId xmlns:a16="http://schemas.microsoft.com/office/drawing/2014/main" id="{A1B84883-BF7A-00B4-6988-B78558EB83C8}"/>
                </a:ext>
              </a:extLst>
            </p:cNvPr>
            <p:cNvSpPr/>
            <p:nvPr/>
          </p:nvSpPr>
          <p:spPr>
            <a:xfrm>
              <a:off x="1712066" y="3496759"/>
              <a:ext cx="1361530" cy="224982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第三轮</a:t>
              </a:r>
              <a:endPara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77EC5683-C120-7C62-B55F-50271A70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18865" y="5285145"/>
              <a:ext cx="451948" cy="523685"/>
            </a:xfrm>
            <a:prstGeom prst="rect">
              <a:avLst/>
            </a:prstGeom>
          </p:spPr>
        </p:pic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F4BFB95F-12F0-BEB0-F782-102C7519F19F}"/>
                </a:ext>
              </a:extLst>
            </p:cNvPr>
            <p:cNvSpPr/>
            <p:nvPr/>
          </p:nvSpPr>
          <p:spPr>
            <a:xfrm>
              <a:off x="3954871" y="5285145"/>
              <a:ext cx="4003761" cy="461443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G: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“包含卡路里计算的最终版食谱”</a:t>
              </a:r>
            </a:p>
          </p:txBody>
        </p: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D113396D-C7E9-3C09-1EB8-60F18C440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3135" y="3496758"/>
              <a:ext cx="466470" cy="5408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7298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2E02-ACEE-1A1B-2E7C-931F4739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4876655C-1629-AD02-8CB3-05AE1F8E1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6A5D5A-541F-C7D8-3BB4-98953B0DD117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7E0BC-FD24-EEBE-3056-3AFCA6D732ED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3.2.2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09E3F4-98B6-6818-FD0F-14163153F777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5B713-192D-4902-A55F-2C70219A6BAC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相关背景材料的作用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20C0F-32D6-73DD-D026-93B6DE486E67}"/>
              </a:ext>
            </a:extLst>
          </p:cNvPr>
          <p:cNvSpPr txBox="1"/>
          <p:nvPr/>
        </p:nvSpPr>
        <p:spPr>
          <a:xfrm>
            <a:off x="502919" y="960120"/>
            <a:ext cx="10591495" cy="510485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模型需要研究条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件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和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相关证据，才能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给出更有针对性的分析。材料应与任务相关，并符合数据使用要求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科研中的使用方法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✗ 让 AI 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自己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 "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猜测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 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真实意图</a:t>
            </a:r>
            <a:endParaRPr sz="22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✗ 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任由它凭通用常识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 "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编造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" 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方案</a:t>
            </a:r>
            <a:endParaRPr sz="22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提供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与问题相关的核心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文献，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并说明需要比较的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内容。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提供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必要的操作手册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和数据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，标注异常及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已尝试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的方法。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8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示例：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“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请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依据所给材料回答，标明出处，并说明缺少哪些信息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。”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7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资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料的相关性、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准确性和组织方式，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比单纯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增加数量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更重要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38584-B1F8-1FEA-4DCF-9E7165A6C01C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13 / 43</a:t>
            </a:r>
          </a:p>
        </p:txBody>
      </p:sp>
    </p:spTree>
    <p:extLst>
      <p:ext uri="{BB962C8B-B14F-4D97-AF65-F5344CB8AC3E}">
        <p14:creationId xmlns:p14="http://schemas.microsoft.com/office/powerpoint/2010/main" val="2467866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相关背景材料的作用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4196" y="6093435"/>
            <a:ext cx="603655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5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 提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供背景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前后的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建议差异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14 / 43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23AA5B4-1C1F-6F35-6C1D-99420F2A2535}"/>
              </a:ext>
            </a:extLst>
          </p:cNvPr>
          <p:cNvGrpSpPr/>
          <p:nvPr/>
        </p:nvGrpSpPr>
        <p:grpSpPr>
          <a:xfrm>
            <a:off x="669944" y="878129"/>
            <a:ext cx="10270248" cy="5151160"/>
            <a:chOff x="566750" y="636422"/>
            <a:chExt cx="11152233" cy="5773170"/>
          </a:xfrm>
        </p:grpSpPr>
        <p:sp>
          <p:nvSpPr>
            <p:cNvPr id="13" name="内容占位符 5">
              <a:extLst>
                <a:ext uri="{FF2B5EF4-FFF2-40B4-BE49-F238E27FC236}">
                  <a16:creationId xmlns:a16="http://schemas.microsoft.com/office/drawing/2014/main" id="{9A875569-9857-70A8-2168-016B0B6A1464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636422"/>
              <a:ext cx="5181600" cy="55405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CN"/>
                <a:t> </a:t>
              </a:r>
              <a:endParaRPr lang="zh-CN" altLang="en-US" dirty="0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1027D5C-2BB1-F4FE-C922-DFEC64602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5962" y="1842977"/>
              <a:ext cx="547307" cy="540868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0C27FDB-ACA5-0485-959E-EB159A5C1AFB}"/>
                </a:ext>
              </a:extLst>
            </p:cNvPr>
            <p:cNvSpPr/>
            <p:nvPr/>
          </p:nvSpPr>
          <p:spPr>
            <a:xfrm>
              <a:off x="1080121" y="1874875"/>
              <a:ext cx="4320000" cy="64825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“请比较一下研究‘量子计算’和‘计算生物学’的优缺点，哪个更好？”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E9D2D44-2A95-AD65-5825-04F229820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750" y="2710567"/>
              <a:ext cx="536007" cy="523685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BB2708D-B917-0E0B-ACB3-6563D63DAF64}"/>
                </a:ext>
              </a:extLst>
            </p:cNvPr>
            <p:cNvSpPr/>
            <p:nvPr/>
          </p:nvSpPr>
          <p:spPr>
            <a:xfrm>
              <a:off x="1102757" y="2641073"/>
              <a:ext cx="4320000" cy="997952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“量子计算前景广阔但门槛高；计算生物学交叉性强。选择哪个取决于您的个人兴趣和职业规划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77541B3E-269C-EC40-2066-04968AC57ECC}"/>
                </a:ext>
              </a:extLst>
            </p:cNvPr>
            <p:cNvSpPr/>
            <p:nvPr/>
          </p:nvSpPr>
          <p:spPr>
            <a:xfrm>
              <a:off x="6851676" y="1853469"/>
              <a:ext cx="4320001" cy="1094012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“我正在这两个研究方向中纠结。请仔细阅读我上传的本科成绩单、能力评估，以及这两个课题组的研究计划。综合评估我更适合哪一个？”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0B8EC4D-90F4-F96F-5656-8467FF558243}"/>
                </a:ext>
              </a:extLst>
            </p:cNvPr>
            <p:cNvSpPr/>
            <p:nvPr/>
          </p:nvSpPr>
          <p:spPr>
            <a:xfrm>
              <a:off x="6851676" y="3626330"/>
              <a:ext cx="4320001" cy="1241586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“材料显示，方向A较侧重数学与算法，方向B还需湿实验基础。建议结合课程经历、兴趣与培养安排进一步比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较。”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B4C2479-2E7A-556F-DEB0-CF404FB354E8}"/>
                </a:ext>
              </a:extLst>
            </p:cNvPr>
            <p:cNvSpPr/>
            <p:nvPr/>
          </p:nvSpPr>
          <p:spPr>
            <a:xfrm>
              <a:off x="809821" y="866968"/>
              <a:ext cx="5040000" cy="90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背景较少：通用建</a:t>
              </a:r>
              <a:r>
                <a:rPr lang="en-US" altLang="zh-CN" dirty="0"/>
                <a:t>议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274CE2C-B411-602D-0D1D-CFD16BB293AA}"/>
                </a:ext>
              </a:extLst>
            </p:cNvPr>
            <p:cNvSpPr/>
            <p:nvPr/>
          </p:nvSpPr>
          <p:spPr>
            <a:xfrm>
              <a:off x="6475234" y="867043"/>
              <a:ext cx="5040000" cy="90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背景较充分：结合材料比</a:t>
              </a:r>
              <a:r>
                <a:rPr lang="en-US" altLang="zh-CN" dirty="0"/>
                <a:t>较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3FF9211-2E16-62A8-95FA-B0418248C6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5139" y="918970"/>
              <a:ext cx="18154" cy="54906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内容占位符 22">
              <a:extLst>
                <a:ext uri="{FF2B5EF4-FFF2-40B4-BE49-F238E27FC236}">
                  <a16:creationId xmlns:a16="http://schemas.microsoft.com/office/drawing/2014/main" id="{9CC8376F-2AE6-D561-69A6-2D7239C4A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8" r="22260"/>
            <a:stretch>
              <a:fillRect/>
            </a:stretch>
          </p:blipFill>
          <p:spPr>
            <a:xfrm>
              <a:off x="1575160" y="4511128"/>
              <a:ext cx="758434" cy="736610"/>
            </a:xfrm>
            <a:prstGeom prst="rect">
              <a:avLst/>
            </a:prstGeom>
          </p:spPr>
        </p:pic>
        <p:sp>
          <p:nvSpPr>
            <p:cNvPr id="24" name="思想气泡: 云 23">
              <a:extLst>
                <a:ext uri="{FF2B5EF4-FFF2-40B4-BE49-F238E27FC236}">
                  <a16:creationId xmlns:a16="http://schemas.microsoft.com/office/drawing/2014/main" id="{1DDFFBAB-D765-574F-50EE-6A3BFB755056}"/>
                </a:ext>
              </a:extLst>
            </p:cNvPr>
            <p:cNvSpPr/>
            <p:nvPr/>
          </p:nvSpPr>
          <p:spPr>
            <a:xfrm>
              <a:off x="2641917" y="4264427"/>
              <a:ext cx="2486410" cy="997952"/>
            </a:xfrm>
            <a:prstGeom prst="cloudCallout">
              <a:avLst>
                <a:gd name="adj1" fmla="val -62779"/>
                <a:gd name="adj2" fmla="val -19301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这听起来就像是网络上的通用化知识。”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C1505E5-9179-B1A9-BBF0-CB8EAC215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2642" y="5144749"/>
              <a:ext cx="829034" cy="838618"/>
            </a:xfrm>
            <a:prstGeom prst="rect">
              <a:avLst/>
            </a:prstGeom>
          </p:spPr>
        </p:pic>
        <p:sp>
          <p:nvSpPr>
            <p:cNvPr id="26" name="思想气泡: 云 25">
              <a:extLst>
                <a:ext uri="{FF2B5EF4-FFF2-40B4-BE49-F238E27FC236}">
                  <a16:creationId xmlns:a16="http://schemas.microsoft.com/office/drawing/2014/main" id="{0AC3090F-9088-D586-F139-C1E35652A122}"/>
                </a:ext>
              </a:extLst>
            </p:cNvPr>
            <p:cNvSpPr/>
            <p:nvPr/>
          </p:nvSpPr>
          <p:spPr>
            <a:xfrm>
              <a:off x="6790928" y="5172437"/>
              <a:ext cx="3215568" cy="929225"/>
            </a:xfrm>
            <a:prstGeom prst="cloudCallout">
              <a:avLst>
                <a:gd name="adj1" fmla="val 64241"/>
                <a:gd name="adj2" fmla="val -30822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“建议更有针对性，可以作为进一步咨询的参考。”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CDBD67FF-8FF7-5625-54A3-8617E6C8E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71676" y="1874875"/>
              <a:ext cx="547307" cy="540868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A8B02851-4DB3-5EA4-9478-9882285DF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4922" y="3626330"/>
              <a:ext cx="536007" cy="523685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B4D47F91-7925-57F3-60A8-AB4D2B020A45}"/>
                </a:ext>
              </a:extLst>
            </p:cNvPr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6" t="23745" r="-456" b="33711"/>
            <a:stretch>
              <a:fillRect/>
            </a:stretch>
          </p:blipFill>
          <p:spPr>
            <a:xfrm>
              <a:off x="7867403" y="2987625"/>
              <a:ext cx="2255662" cy="6387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上下文污染与对话重置时机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19" y="960120"/>
            <a:ext cx="10388399" cy="448929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上下文污染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(Context Pollution)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前一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任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中的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术语、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约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束或错误可能影响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后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续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回答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。切换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无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关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任务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时，应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检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旧信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息是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否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仍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然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适用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“忘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记前文”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指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令的局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这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类指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令可以说明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新的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要求，但通常不等于删除已提供的历史内容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可采用的做法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 dirty="0">
                <a:solidFill>
                  <a:srgbClr val="F58020"/>
                </a:solidFill>
                <a:latin typeface="Microsoft YaHei"/>
                <a:ea typeface="Microsoft YaHei"/>
              </a:rPr>
              <a:t>无关的新任</a:t>
            </a:r>
            <a:r>
              <a:rPr sz="26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务</a:t>
            </a:r>
            <a:r>
              <a:rPr sz="2600" b="1" dirty="0">
                <a:solidFill>
                  <a:srgbClr val="F58020"/>
                </a:solidFill>
                <a:latin typeface="Microsoft YaHei"/>
                <a:ea typeface="Microsoft YaHei"/>
              </a:rPr>
              <a:t>可另开</a:t>
            </a:r>
            <a:r>
              <a:rPr sz="26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对话</a:t>
            </a:r>
            <a:endParaRPr sz="26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任务切换或反复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出现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旧错误时，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新建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对话，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并重新提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供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当前任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务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需要的背景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上下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文管理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包括保留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相关信息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和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减少无关干扰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52B2F-CE35-9C81-9021-A58C50AC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8F827-722B-D4C0-4CF0-6309585A044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A3B4FF47-15BD-FE4D-53B8-2C6251E4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D1788E-5D50-B9F1-D5CF-7A9E5B58A91E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58033-89BF-9818-22E5-023691D6FE53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3.2.3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5410FB-C702-A028-4C83-5B0337F92DAB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998A4-AE43-61B3-2BF1-9EAB822D3E39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上下文污染与对话重置时机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65D33-3800-3EBD-5F07-70FC07FF983C}"/>
              </a:ext>
            </a:extLst>
          </p:cNvPr>
          <p:cNvSpPr txBox="1"/>
          <p:nvPr/>
        </p:nvSpPr>
        <p:spPr>
          <a:xfrm>
            <a:off x="3261208" y="6327779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3-6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上下文污染导致的任务逻辑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串味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31D43-5A87-7E19-EB1A-F14B2030E791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16 / 43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A00B92B-D6A1-AB47-C5B5-0B7D2DD56EFF}"/>
              </a:ext>
            </a:extLst>
          </p:cNvPr>
          <p:cNvGrpSpPr/>
          <p:nvPr/>
        </p:nvGrpSpPr>
        <p:grpSpPr>
          <a:xfrm>
            <a:off x="1230213" y="898355"/>
            <a:ext cx="9189956" cy="5366116"/>
            <a:chOff x="544114" y="92040"/>
            <a:chExt cx="11250756" cy="6317552"/>
          </a:xfrm>
        </p:grpSpPr>
        <p:sp>
          <p:nvSpPr>
            <p:cNvPr id="14" name="内容占位符 5">
              <a:extLst>
                <a:ext uri="{FF2B5EF4-FFF2-40B4-BE49-F238E27FC236}">
                  <a16:creationId xmlns:a16="http://schemas.microsoft.com/office/drawing/2014/main" id="{F35A9361-F071-79D6-AD76-15E65905C95D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636422"/>
              <a:ext cx="5181600" cy="55405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CN"/>
                <a:t> </a:t>
              </a:r>
              <a:endParaRPr lang="zh-CN" altLang="en-US" dirty="0"/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88BF496-5632-9793-9EF7-73E8369E3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5962" y="1842977"/>
              <a:ext cx="547307" cy="540868"/>
            </a:xfrm>
            <a:prstGeom prst="rect">
              <a:avLst/>
            </a:prstGeom>
          </p:spPr>
        </p:pic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F6FB6049-9F5C-E6CC-BC56-B2965FCC0D75}"/>
                </a:ext>
              </a:extLst>
            </p:cNvPr>
            <p:cNvSpPr/>
            <p:nvPr/>
          </p:nvSpPr>
          <p:spPr>
            <a:xfrm>
              <a:off x="666570" y="1874874"/>
              <a:ext cx="4733551" cy="1037211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“请帮我写一段 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Python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代码，用于抓取过去十年的股票金融数据，重点计算复合年均增长率（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CAGR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）和风险回撤。”</a:t>
              </a: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4694849-C005-C237-454B-56BE29A26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4114" y="3479559"/>
              <a:ext cx="536007" cy="523685"/>
            </a:xfrm>
            <a:prstGeom prst="rect">
              <a:avLst/>
            </a:prstGeom>
          </p:spPr>
        </p:pic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E04DF23-429E-8349-A50C-2CD6C0C65F78}"/>
                </a:ext>
              </a:extLst>
            </p:cNvPr>
            <p:cNvSpPr/>
            <p:nvPr/>
          </p:nvSpPr>
          <p:spPr>
            <a:xfrm>
              <a:off x="1062960" y="3635859"/>
              <a:ext cx="4320000" cy="570171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“已为您生成数据抓取脚本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44A43B94-C158-A120-3DFF-4CDBC81B941B}"/>
                </a:ext>
              </a:extLst>
            </p:cNvPr>
            <p:cNvSpPr/>
            <p:nvPr/>
          </p:nvSpPr>
          <p:spPr>
            <a:xfrm>
              <a:off x="6851676" y="1853469"/>
              <a:ext cx="4320001" cy="1094012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“今天是我妻子的生日，请帮我写一封简短浪漫的生日邮件。”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412C5E05-407B-C090-90A7-49F2829AA8DD}"/>
                </a:ext>
              </a:extLst>
            </p:cNvPr>
            <p:cNvSpPr/>
            <p:nvPr/>
          </p:nvSpPr>
          <p:spPr>
            <a:xfrm>
              <a:off x="6851674" y="3238267"/>
              <a:ext cx="4798952" cy="1899645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“亲爱的老婆，祝你生日快乐！在我们婚姻的资产负债表上，你是我最核心的优质资产。我们的爱在过去几年实现了惊人的复合年均增长率，且没有任何风险回撤。愿我们未来的基本面永远向好！”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653C3AF4-3811-31F3-8239-96385568082A}"/>
                </a:ext>
              </a:extLst>
            </p:cNvPr>
            <p:cNvSpPr/>
            <p:nvPr/>
          </p:nvSpPr>
          <p:spPr>
            <a:xfrm>
              <a:off x="809821" y="866968"/>
              <a:ext cx="5040000" cy="90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历史任务 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：高度专业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26878018-89ED-2893-D3E5-929C4A1612FF}"/>
                </a:ext>
              </a:extLst>
            </p:cNvPr>
            <p:cNvSpPr/>
            <p:nvPr/>
          </p:nvSpPr>
          <p:spPr>
            <a:xfrm>
              <a:off x="6475234" y="867043"/>
              <a:ext cx="5040000" cy="90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新任务 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：生活情感（发生污染）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9DB1729-B6D8-679F-A4A0-FAE5B4BF9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5139" y="918970"/>
              <a:ext cx="18154" cy="54906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4" name="内容占位符 22">
              <a:extLst>
                <a:ext uri="{FF2B5EF4-FFF2-40B4-BE49-F238E27FC236}">
                  <a16:creationId xmlns:a16="http://schemas.microsoft.com/office/drawing/2014/main" id="{5DDCA8A2-3B6A-D806-3DDD-2B98CED5B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8" r="22260"/>
            <a:stretch>
              <a:fillRect/>
            </a:stretch>
          </p:blipFill>
          <p:spPr>
            <a:xfrm>
              <a:off x="10595366" y="5292489"/>
              <a:ext cx="758434" cy="736610"/>
            </a:xfrm>
            <a:prstGeom prst="rect">
              <a:avLst/>
            </a:prstGeom>
          </p:spPr>
        </p:pic>
        <p:sp>
          <p:nvSpPr>
            <p:cNvPr id="25" name="思想气泡: 云 24">
              <a:extLst>
                <a:ext uri="{FF2B5EF4-FFF2-40B4-BE49-F238E27FC236}">
                  <a16:creationId xmlns:a16="http://schemas.microsoft.com/office/drawing/2014/main" id="{459D6972-0561-EAFE-2A32-76C8D55B1751}"/>
                </a:ext>
              </a:extLst>
            </p:cNvPr>
            <p:cNvSpPr/>
            <p:nvPr/>
          </p:nvSpPr>
          <p:spPr>
            <a:xfrm>
              <a:off x="2528807" y="4750412"/>
              <a:ext cx="2571985" cy="982227"/>
            </a:xfrm>
            <a:prstGeom prst="cloudCallout">
              <a:avLst>
                <a:gd name="adj1" fmla="val -62779"/>
                <a:gd name="adj2" fmla="val -19301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非常专业的回答，能解决大部分问题。”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FB694061-8F86-C55E-A000-894F25EB2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4688" y="4972990"/>
              <a:ext cx="829034" cy="838618"/>
            </a:xfrm>
            <a:prstGeom prst="rect">
              <a:avLst/>
            </a:prstGeom>
          </p:spPr>
        </p:pic>
        <p:sp>
          <p:nvSpPr>
            <p:cNvPr id="27" name="思想气泡: 云 26">
              <a:extLst>
                <a:ext uri="{FF2B5EF4-FFF2-40B4-BE49-F238E27FC236}">
                  <a16:creationId xmlns:a16="http://schemas.microsoft.com/office/drawing/2014/main" id="{511B2CE7-C84E-C107-3A8D-B3BA71FBB298}"/>
                </a:ext>
              </a:extLst>
            </p:cNvPr>
            <p:cNvSpPr/>
            <p:nvPr/>
          </p:nvSpPr>
          <p:spPr>
            <a:xfrm>
              <a:off x="6934514" y="5247738"/>
              <a:ext cx="3071983" cy="853924"/>
            </a:xfrm>
            <a:prstGeom prst="cloudCallout">
              <a:avLst>
                <a:gd name="adj1" fmla="val 64241"/>
                <a:gd name="adj2" fmla="val -30822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“这听起来就没有浪漫的氛围！”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35837855-9572-5FDA-8F62-5FA4A8A2E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7563" y="1874874"/>
              <a:ext cx="547307" cy="540868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8AF7484-CAD2-DC41-8173-E53AF4A6C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4922" y="3238268"/>
              <a:ext cx="536007" cy="523685"/>
            </a:xfrm>
            <a:prstGeom prst="rect">
              <a:avLst/>
            </a:prstGeom>
          </p:spPr>
        </p:pic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A6888BB-434D-628B-1EA4-A7AF72E421E2}"/>
                </a:ext>
              </a:extLst>
            </p:cNvPr>
            <p:cNvSpPr/>
            <p:nvPr/>
          </p:nvSpPr>
          <p:spPr>
            <a:xfrm>
              <a:off x="3563293" y="92040"/>
              <a:ext cx="5040000" cy="72720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同一上下文窗口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07CFD686-D19E-E775-5A84-DA26292A7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5" t="18653" r="-445" b="13451"/>
            <a:stretch>
              <a:fillRect/>
            </a:stretch>
          </p:blipFill>
          <p:spPr>
            <a:xfrm>
              <a:off x="2280356" y="2959850"/>
              <a:ext cx="1878483" cy="665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6006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1460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避免</a:t>
            </a:r>
            <a:r>
              <a:rPr sz="4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模型一</a:t>
            </a:r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味迎合观点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模型可能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顺着提问中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的预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设立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场作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答。采用中立问题和明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确的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评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估标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准，有助于发现方案的不足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模型的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迎合倾向及可能原因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844034"/>
            <a:ext cx="11619670" cy="529195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不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同问法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的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对比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“远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程办公是不是更好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？”可能引出更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多优点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“到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公司是否效率更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高？”可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引出相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反侧重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在科研中，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片面肯定可能使研究者忽略反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例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和风险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可能原因：训练反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馈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与提问方式共同影响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如果训练评价偏向符合用户期待的回答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可能减少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直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接反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驳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，</a:t>
            </a:r>
            <a:endParaRPr sz="22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并增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加对用户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观点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定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  <a:endParaRPr sz="17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这是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一种需要关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注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的训练与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交互偏差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，不能据此认为模型有取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悦用户的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主观动机。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9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评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估方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案时，应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要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求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同时检查证据、反例和适用条件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FA7B-3E1C-A38D-462B-0B3F5FE5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6C4F45-76F5-1468-9803-62CB9612CE7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9FBA2A1A-DE0B-9315-A24F-6CD1C73A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111998-0FAC-79A8-88C5-042A0738D743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4A7BD-8298-20D6-B93A-C6B345618EFC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3.3.1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5BF494-DE5C-5D33-7C05-99AF79491AE9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AE0C5-8B94-3B56-6585-32923D082BE8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模型的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迎合倾向及可能原因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45B70-0278-86E8-CC68-C2687626D817}"/>
              </a:ext>
            </a:extLst>
          </p:cNvPr>
          <p:cNvSpPr txBox="1"/>
          <p:nvPr/>
        </p:nvSpPr>
        <p:spPr>
          <a:xfrm>
            <a:off x="3002128" y="6086118"/>
            <a:ext cx="580689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3-7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偏好反馈可能影响回答倾向（简化示意）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032DE3-AF79-FE58-B833-9FB7E906795B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19 / 43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389205B-2834-D6BA-F8FD-7BDD75B168CE}"/>
              </a:ext>
            </a:extLst>
          </p:cNvPr>
          <p:cNvGrpSpPr/>
          <p:nvPr/>
        </p:nvGrpSpPr>
        <p:grpSpPr>
          <a:xfrm>
            <a:off x="960120" y="946943"/>
            <a:ext cx="10270235" cy="5271549"/>
            <a:chOff x="748573" y="12126"/>
            <a:chExt cx="12269396" cy="6164837"/>
          </a:xfrm>
        </p:grpSpPr>
        <p:sp>
          <p:nvSpPr>
            <p:cNvPr id="13" name="内容占位符 5">
              <a:extLst>
                <a:ext uri="{FF2B5EF4-FFF2-40B4-BE49-F238E27FC236}">
                  <a16:creationId xmlns:a16="http://schemas.microsoft.com/office/drawing/2014/main" id="{67399DCC-5094-B9CE-544C-5187416C3D59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636422"/>
              <a:ext cx="5181600" cy="55405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CN"/>
                <a:t> </a:t>
              </a:r>
              <a:endParaRPr lang="zh-CN" altLang="en-US" dirty="0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AB1A26B4-3D35-F14C-81D9-8455A5850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40076" y="12126"/>
              <a:ext cx="547307" cy="540868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6213CB5-74CE-C83B-36CF-F4980DDC9DC8}"/>
                </a:ext>
              </a:extLst>
            </p:cNvPr>
            <p:cNvSpPr/>
            <p:nvPr/>
          </p:nvSpPr>
          <p:spPr>
            <a:xfrm>
              <a:off x="3914235" y="44024"/>
              <a:ext cx="4320000" cy="76419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“我觉得内向的人比外向的人更适合做科研，你同意吗？” 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EB6A5BF-F730-CE8E-BC31-75961D5FB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278" y="2330641"/>
              <a:ext cx="536007" cy="523685"/>
            </a:xfrm>
            <a:prstGeom prst="rect">
              <a:avLst/>
            </a:prstGeom>
          </p:spPr>
        </p:pic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AE4C0FE-5965-C9DF-C909-52688119864D}"/>
                </a:ext>
              </a:extLst>
            </p:cNvPr>
            <p:cNvSpPr/>
            <p:nvPr/>
          </p:nvSpPr>
          <p:spPr>
            <a:xfrm>
              <a:off x="1284579" y="2338267"/>
              <a:ext cx="4538886" cy="952392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“仅凭性格内外向，不能判断一个人是否适合科研。还需要考虑兴趣、训练、任务和协作方式。”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71FD18B4-31BA-761A-98C9-2A894E138B51}"/>
                </a:ext>
              </a:extLst>
            </p:cNvPr>
            <p:cNvSpPr/>
            <p:nvPr/>
          </p:nvSpPr>
          <p:spPr>
            <a:xfrm>
              <a:off x="6911890" y="2338268"/>
              <a:ext cx="5115584" cy="1007228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“我非常赞同您的观点！这是一个深刻的洞察。内向的人通常专注力更强，更适合长时间的实验室工作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44A59EC3-1821-CD13-32A3-33033D0A0F97}"/>
                </a:ext>
              </a:extLst>
            </p:cNvPr>
            <p:cNvSpPr/>
            <p:nvPr/>
          </p:nvSpPr>
          <p:spPr>
            <a:xfrm>
              <a:off x="792861" y="1123244"/>
              <a:ext cx="5040000" cy="90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客观反驳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4D65378E-71B1-C234-B0B6-E23931B65BA8}"/>
                </a:ext>
              </a:extLst>
            </p:cNvPr>
            <p:cNvSpPr/>
            <p:nvPr/>
          </p:nvSpPr>
          <p:spPr>
            <a:xfrm>
              <a:off x="6359139" y="1129581"/>
              <a:ext cx="5040000" cy="90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迎合顺从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15EEDC8-C945-A835-C1DE-FC1550CC170E}"/>
                </a:ext>
              </a:extLst>
            </p:cNvPr>
            <p:cNvCxnSpPr>
              <a:cxnSpLocks/>
            </p:cNvCxnSpPr>
            <p:nvPr/>
          </p:nvCxnSpPr>
          <p:spPr>
            <a:xfrm>
              <a:off x="6092389" y="1123245"/>
              <a:ext cx="94326" cy="45779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2" name="内容占位符 22">
              <a:extLst>
                <a:ext uri="{FF2B5EF4-FFF2-40B4-BE49-F238E27FC236}">
                  <a16:creationId xmlns:a16="http://schemas.microsoft.com/office/drawing/2014/main" id="{C74A2FE7-9EDF-B244-BD22-14142A898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8" r="22260"/>
            <a:stretch>
              <a:fillRect/>
            </a:stretch>
          </p:blipFill>
          <p:spPr>
            <a:xfrm>
              <a:off x="1504370" y="4654616"/>
              <a:ext cx="758434" cy="736610"/>
            </a:xfrm>
            <a:prstGeom prst="rect">
              <a:avLst/>
            </a:prstGeom>
          </p:spPr>
        </p:pic>
        <p:sp>
          <p:nvSpPr>
            <p:cNvPr id="23" name="思想气泡: 云 22">
              <a:extLst>
                <a:ext uri="{FF2B5EF4-FFF2-40B4-BE49-F238E27FC236}">
                  <a16:creationId xmlns:a16="http://schemas.microsoft.com/office/drawing/2014/main" id="{D43569B1-F0C1-38B5-D991-04EF16DA413C}"/>
                </a:ext>
              </a:extLst>
            </p:cNvPr>
            <p:cNvSpPr/>
            <p:nvPr/>
          </p:nvSpPr>
          <p:spPr>
            <a:xfrm>
              <a:off x="2478871" y="4502764"/>
              <a:ext cx="2416258" cy="880301"/>
            </a:xfrm>
            <a:prstGeom prst="cloudCallout">
              <a:avLst>
                <a:gd name="adj1" fmla="val -62779"/>
                <a:gd name="adj2" fmla="val -19301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“令人不悦 ，感到被否定”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8B1941B5-F396-5AC4-6CBF-663EE23A2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4978" y="4424231"/>
              <a:ext cx="829034" cy="838618"/>
            </a:xfrm>
            <a:prstGeom prst="rect">
              <a:avLst/>
            </a:prstGeom>
          </p:spPr>
        </p:pic>
        <p:sp>
          <p:nvSpPr>
            <p:cNvPr id="25" name="思想气泡: 云 24">
              <a:extLst>
                <a:ext uri="{FF2B5EF4-FFF2-40B4-BE49-F238E27FC236}">
                  <a16:creationId xmlns:a16="http://schemas.microsoft.com/office/drawing/2014/main" id="{6C0A9702-8E9C-3C76-6217-A60F659FCB9B}"/>
                </a:ext>
              </a:extLst>
            </p:cNvPr>
            <p:cNvSpPr/>
            <p:nvPr/>
          </p:nvSpPr>
          <p:spPr>
            <a:xfrm>
              <a:off x="6887095" y="4345694"/>
              <a:ext cx="3071983" cy="853924"/>
            </a:xfrm>
            <a:prstGeom prst="cloudCallout">
              <a:avLst>
                <a:gd name="adj1" fmla="val 64241"/>
                <a:gd name="adj2" fmla="val -30822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“令人愉悦，情绪价值高”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317AA0B-625C-5A75-5522-15769F6FC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5136" y="2338268"/>
              <a:ext cx="536007" cy="523685"/>
            </a:xfrm>
            <a:prstGeom prst="rect">
              <a:avLst/>
            </a:prstGeom>
          </p:spPr>
        </p:pic>
        <p:sp>
          <p:nvSpPr>
            <p:cNvPr id="27" name="箭头: 下 26">
              <a:extLst>
                <a:ext uri="{FF2B5EF4-FFF2-40B4-BE49-F238E27FC236}">
                  <a16:creationId xmlns:a16="http://schemas.microsoft.com/office/drawing/2014/main" id="{46F5EEEE-5437-CB1F-AA02-6A8CEE3293E0}"/>
                </a:ext>
              </a:extLst>
            </p:cNvPr>
            <p:cNvSpPr/>
            <p:nvPr/>
          </p:nvSpPr>
          <p:spPr>
            <a:xfrm rot="2178410">
              <a:off x="5779978" y="827026"/>
              <a:ext cx="262647" cy="387739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箭头: 下 27">
              <a:extLst>
                <a:ext uri="{FF2B5EF4-FFF2-40B4-BE49-F238E27FC236}">
                  <a16:creationId xmlns:a16="http://schemas.microsoft.com/office/drawing/2014/main" id="{30EB1687-DE0B-5402-F91F-1E647F0AADAF}"/>
                </a:ext>
              </a:extLst>
            </p:cNvPr>
            <p:cNvSpPr/>
            <p:nvPr/>
          </p:nvSpPr>
          <p:spPr>
            <a:xfrm rot="19116314">
              <a:off x="6149482" y="827028"/>
              <a:ext cx="262647" cy="387739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7290094-E802-B9D2-43E2-EA01106C844C}"/>
                </a:ext>
              </a:extLst>
            </p:cNvPr>
            <p:cNvSpPr txBox="1"/>
            <p:nvPr/>
          </p:nvSpPr>
          <p:spPr>
            <a:xfrm>
              <a:off x="1282106" y="3619430"/>
              <a:ext cx="44584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600" dirty="0">
                  <a:solidFill>
                    <a:srgbClr val="1F1F1F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若评价偏低，训练可能减少这类回答</a:t>
              </a:r>
              <a:r>
                <a:rPr lang="zh-CN" altLang="zh-CN" sz="1800" dirty="0">
                  <a:solidFill>
                    <a:srgbClr val="1F1F1F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lang="zh-CN" altLang="en-US" dirty="0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1705310C-C6A6-2CCB-89EC-866050888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8573" y="3539505"/>
              <a:ext cx="536007" cy="523685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BBA5CB3-DEE0-927A-D3BE-A5A72C2A46E3}"/>
                </a:ext>
              </a:extLst>
            </p:cNvPr>
            <p:cNvSpPr txBox="1"/>
            <p:nvPr/>
          </p:nvSpPr>
          <p:spPr>
            <a:xfrm>
              <a:off x="6923592" y="3667502"/>
              <a:ext cx="60943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600" dirty="0">
                  <a:solidFill>
                    <a:srgbClr val="1F1F1F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若评价偏高，训练可能增加这类回答。</a:t>
              </a:r>
              <a:endParaRPr lang="zh-CN" altLang="en-US" sz="1600" dirty="0"/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AFE6690-CFD7-FBD2-B800-4B745CC8B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95610" y="3531831"/>
              <a:ext cx="536007" cy="523685"/>
            </a:xfrm>
            <a:prstGeom prst="rect">
              <a:avLst/>
            </a:prstGeom>
          </p:spPr>
        </p:pic>
        <p:sp>
          <p:nvSpPr>
            <p:cNvPr id="33" name="箭头: 下弧形 32">
              <a:extLst>
                <a:ext uri="{FF2B5EF4-FFF2-40B4-BE49-F238E27FC236}">
                  <a16:creationId xmlns:a16="http://schemas.microsoft.com/office/drawing/2014/main" id="{3F2B25EB-2E97-0959-5F00-34F2BFF045CA}"/>
                </a:ext>
              </a:extLst>
            </p:cNvPr>
            <p:cNvSpPr/>
            <p:nvPr/>
          </p:nvSpPr>
          <p:spPr>
            <a:xfrm rot="17216670">
              <a:off x="5571269" y="3382883"/>
              <a:ext cx="595111" cy="370026"/>
            </a:xfrm>
            <a:prstGeom prst="curved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箭头: 下弧形 33">
              <a:extLst>
                <a:ext uri="{FF2B5EF4-FFF2-40B4-BE49-F238E27FC236}">
                  <a16:creationId xmlns:a16="http://schemas.microsoft.com/office/drawing/2014/main" id="{5331A4BA-DB6D-0855-3252-4BBDD30BC666}"/>
                </a:ext>
              </a:extLst>
            </p:cNvPr>
            <p:cNvSpPr/>
            <p:nvPr/>
          </p:nvSpPr>
          <p:spPr>
            <a:xfrm rot="16200000">
              <a:off x="11914894" y="3406428"/>
              <a:ext cx="733940" cy="363879"/>
            </a:xfrm>
            <a:prstGeom prst="curved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2276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从直白附和到隐蔽偏误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3224" y="878594"/>
            <a:ext cx="11688776" cy="523584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直白附和（易识破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）：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F58020"/>
                </a:solidFill>
                <a:latin typeface="Consolas"/>
                <a:ea typeface="Consolas"/>
              </a:rPr>
              <a:t>"</a:t>
            </a:r>
            <a:r>
              <a:rPr sz="2200" b="1" dirty="0" err="1">
                <a:solidFill>
                  <a:srgbClr val="F58020"/>
                </a:solidFill>
                <a:latin typeface="Consolas"/>
                <a:ea typeface="Consolas"/>
              </a:rPr>
              <a:t>我对刚写完的文章很自豪，你觉得怎么样</a:t>
            </a:r>
            <a:r>
              <a:rPr sz="2200" b="1" dirty="0">
                <a:solidFill>
                  <a:srgbClr val="F58020"/>
                </a:solidFill>
                <a:latin typeface="Consolas"/>
                <a:ea typeface="Consolas"/>
              </a:rPr>
              <a:t>？"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AI可能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给出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过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度肯定，缺少具体分析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这样的评价对修改文章帮助有限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选择性报告（较难发现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）：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F58020"/>
                </a:solidFill>
                <a:latin typeface="Consolas"/>
                <a:ea typeface="Consolas"/>
              </a:rPr>
              <a:t>"</a:t>
            </a:r>
            <a:r>
              <a:rPr sz="2200" b="1" dirty="0" err="1">
                <a:solidFill>
                  <a:srgbClr val="F58020"/>
                </a:solidFill>
                <a:latin typeface="Consolas"/>
                <a:ea typeface="Consolas"/>
              </a:rPr>
              <a:t>分析这份数据，找出本季度所有积极的业绩指标</a:t>
            </a:r>
            <a:r>
              <a:rPr sz="2200" b="1" dirty="0">
                <a:solidFill>
                  <a:srgbClr val="F58020"/>
                </a:solidFill>
                <a:latin typeface="Consolas"/>
                <a:ea typeface="Consolas"/>
              </a:rPr>
              <a:t>。"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→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隐含暗示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"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我只想要好消息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回答可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能只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列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收入和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利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润的改善，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遗漏客户流失或研发进度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等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即使数字没有编造，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信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息筛选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也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可能使结论失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衡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sz="19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应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检查提问是否预先限定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了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结论方向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5CC1-8B1B-D5F7-A854-959196484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250EE8-02BD-9018-EE13-3F2EF15A44A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CD8676A9-61A0-BD2A-6E00-1D8234B5C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AA8CBC-6F90-B2D2-BB6D-E454F9216D7C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97D6F-6BCF-3CA9-2FEB-E994859BDEEE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3.3.2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3E6FD1-9761-D985-0B2C-B8D9DAF077E7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200F5-8E55-A08B-E487-7CFC18A185E4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从直白附和到隐蔽偏误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E6AC5-2209-936E-BEEF-417EADD11FD8}"/>
              </a:ext>
            </a:extLst>
          </p:cNvPr>
          <p:cNvSpPr txBox="1"/>
          <p:nvPr/>
        </p:nvSpPr>
        <p:spPr>
          <a:xfrm>
            <a:off x="3469688" y="6073764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3-8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隐蔽迎合导致的信息过滤与扭曲机制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F1B517-377F-BD74-EBD2-CF4EED294842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21 / 43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E07169-55CB-C9CE-382C-BBF653E85519}"/>
              </a:ext>
            </a:extLst>
          </p:cNvPr>
          <p:cNvGrpSpPr/>
          <p:nvPr/>
        </p:nvGrpSpPr>
        <p:grpSpPr>
          <a:xfrm>
            <a:off x="3033998" y="896056"/>
            <a:ext cx="5265531" cy="4837545"/>
            <a:chOff x="3374310" y="680833"/>
            <a:chExt cx="5265531" cy="4837545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718CAD7-15B0-E6DD-5474-E316C1F5A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4310" y="4526520"/>
              <a:ext cx="536007" cy="523685"/>
            </a:xfrm>
            <a:prstGeom prst="rect">
              <a:avLst/>
            </a:prstGeom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F9176EB-4E47-F601-ED15-666706EF9A7D}"/>
                </a:ext>
              </a:extLst>
            </p:cNvPr>
            <p:cNvSpPr/>
            <p:nvPr/>
          </p:nvSpPr>
          <p:spPr>
            <a:xfrm>
              <a:off x="4099466" y="4526520"/>
              <a:ext cx="3993068" cy="991858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“数据明确显示：营收增长强劲，利润率持续改善。公司战略执行非常成功！”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03C99BE-18A1-44E0-9F82-75D4EDE36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2534" y="680833"/>
              <a:ext cx="547307" cy="540868"/>
            </a:xfrm>
            <a:prstGeom prst="rect">
              <a:avLst/>
            </a:prstGeom>
          </p:spPr>
        </p:pic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6ECDFEF-5860-55E4-70FE-DFCECA6BD010}"/>
                </a:ext>
              </a:extLst>
            </p:cNvPr>
            <p:cNvSpPr/>
            <p:nvPr/>
          </p:nvSpPr>
          <p:spPr>
            <a:xfrm>
              <a:off x="4082034" y="680833"/>
              <a:ext cx="3979467" cy="106640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[+]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营收增长 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15%”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、“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[+]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利润率改善、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[-]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老客户流失率上升 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5%”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、“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[-]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研发滞后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分析数据，找出所有积极的业绩指标。”</a:t>
              </a: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40BCE9CE-EA19-8173-ECAC-11F73AB3E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4310" y="2670814"/>
              <a:ext cx="536007" cy="523685"/>
            </a:xfrm>
            <a:prstGeom prst="rect">
              <a:avLst/>
            </a:prstGeom>
          </p:spPr>
        </p:pic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0272909-F7A2-2661-1BCE-F929F58F24F1}"/>
                </a:ext>
              </a:extLst>
            </p:cNvPr>
            <p:cNvSpPr/>
            <p:nvPr/>
          </p:nvSpPr>
          <p:spPr>
            <a:xfrm>
              <a:off x="4062782" y="2670814"/>
              <a:ext cx="3993068" cy="1066406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示意：问题只要求积极指标，回答可能省略风险信息。此处并非模型实际内部思考记录。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5EF1319-BCFF-A27D-A5F5-49950FA97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87" t="19609" r="22076" b="24048"/>
            <a:stretch>
              <a:fillRect/>
            </a:stretch>
          </p:blipFill>
          <p:spPr>
            <a:xfrm>
              <a:off x="5774987" y="1861444"/>
              <a:ext cx="642026" cy="695164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9FD048D7-F134-3C07-9DEE-E33CEE562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37" t="14111" r="18774" b="17079"/>
            <a:stretch>
              <a:fillRect/>
            </a:stretch>
          </p:blipFill>
          <p:spPr>
            <a:xfrm>
              <a:off x="5751473" y="3794667"/>
              <a:ext cx="615685" cy="7318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630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中立提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问与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平衡比较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3-2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触发迎合的偏见提问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vs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中立提问框架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6459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74911"/>
            <a:ext cx="1645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科研场景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1680" y="1554480"/>
            <a:ext cx="47548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674911"/>
            <a:ext cx="47548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带有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预设立场的提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554480"/>
            <a:ext cx="49377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674911"/>
            <a:ext cx="49377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✓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中立提问框架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6459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4292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方案评估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11680" y="2103120"/>
            <a:ext cx="47548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48840" y="244468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我这个想法不是完美填补了空白吗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103120"/>
            <a:ext cx="493776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4556" y="2287469"/>
            <a:ext cx="4389724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基于现有文献，该方向有哪些研究空白与风险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6324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38941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算法选型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011680" y="306324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340480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你同意用算法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A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效果更好吗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063240"/>
            <a:ext cx="4937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3266302"/>
            <a:ext cx="466344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“请按相同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标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准比较算法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A与B，并说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明适用条件。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16459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34953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数据分析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11680" y="4023360"/>
            <a:ext cx="47548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436492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分析数据，找出所有积极指标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4023360"/>
            <a:ext cx="493776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4226422"/>
            <a:ext cx="466344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“这些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数据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支持哪些结论，又不能支持哪些结论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8348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30965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论文评审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11680" y="498348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48840" y="532504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我对这篇文章很自豪，你觉得呢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？"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4983480"/>
            <a:ext cx="4937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5186541"/>
            <a:ext cx="466344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以审稿人视角，逐条指出逻辑断层与论证漏洞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endParaRPr sz="15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中立提问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两种方法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076550"/>
            <a:ext cx="10488541" cy="158305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评价时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减少暗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示性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的赞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扬与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倾向，同时保留理解任务所需的背景。中立问法有助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于减少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偏差，但不能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保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证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结论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客观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9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900" b="1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23 / 43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74BAE4-67F0-34B6-A1EA-DE4005D32079}"/>
              </a:ext>
            </a:extLst>
          </p:cNvPr>
          <p:cNvSpPr txBox="1"/>
          <p:nvPr/>
        </p:nvSpPr>
        <p:spPr>
          <a:xfrm>
            <a:off x="6096000" y="2364556"/>
            <a:ext cx="5135880" cy="401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方法二：先</a:t>
            </a:r>
            <a:r>
              <a:rPr lang="en-US" altLang="zh-CN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做描</a:t>
            </a: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述性分析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可先请模型描述数据特点</a:t>
            </a: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，再比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较研究假设。不要省略变量定义、</a:t>
            </a: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数据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来源和分析条件</a:t>
            </a:r>
            <a:r>
              <a:rPr lang="zh-CN" altLang="en-US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zh-CN" sz="22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  <a:r>
              <a:rPr lang="zh-CN" altLang="en-US" sz="2200" b="1" dirty="0">
                <a:solidFill>
                  <a:srgbClr val="0066CC"/>
                </a:solidFill>
                <a:latin typeface="Consolas"/>
                <a:ea typeface="Consolas"/>
              </a:rPr>
              <a:t>从这些客观数据中，能推导出哪些有效结论？</a:t>
            </a:r>
            <a:r>
              <a:rPr lang="en-US" altLang="zh-CN" sz="22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endParaRPr lang="en-US" altLang="zh-CN" sz="22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latin typeface="Microsoft YaHei"/>
                <a:ea typeface="Microsoft YaHei"/>
              </a:rPr>
              <a:t>描述结</a:t>
            </a:r>
            <a:r>
              <a:rPr lang="en-US" altLang="zh-CN" sz="2400" dirty="0">
                <a:latin typeface="Microsoft YaHei"/>
                <a:ea typeface="Microsoft YaHei"/>
              </a:rPr>
              <a:t>果与</a:t>
            </a:r>
            <a:r>
              <a:rPr lang="zh-CN" altLang="en-US" sz="2400" dirty="0">
                <a:latin typeface="Microsoft YaHei"/>
                <a:ea typeface="Microsoft YaHei"/>
              </a:rPr>
              <a:t>假设检验应区分，避免事后选择性解释。</a:t>
            </a: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FFD081-5766-BC0C-3F6E-59251B4102BB}"/>
              </a:ext>
            </a:extLst>
          </p:cNvPr>
          <p:cNvSpPr txBox="1"/>
          <p:nvPr/>
        </p:nvSpPr>
        <p:spPr>
          <a:xfrm>
            <a:off x="1013926" y="2364556"/>
            <a:ext cx="4808375" cy="360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方法一：</a:t>
            </a:r>
            <a:r>
              <a:rPr lang="en-US" altLang="zh-CN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按相</a:t>
            </a: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同标准比较选项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并列提供算法</a:t>
            </a: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A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与B，要求按</a:t>
            </a: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相同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维度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比较性能、成本和适用范围，并标明依据。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模型</a:t>
            </a:r>
            <a:r>
              <a:rPr lang="en-US" altLang="zh-CN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的比</a:t>
            </a: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较意见仍需通过实验或原始文献检验。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46275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深度推理与复杂任务处理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复杂任务需要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明确条件、拆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分步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骤，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并检查中间结果。合适的推理模式与工具可提供帮助，但不能代替验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证。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快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速回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答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与多步分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960120"/>
            <a:ext cx="8016391" cy="523969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复杂任务包含多重条件与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权衡，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latin typeface="Microsoft YaHei"/>
                <a:ea typeface="Microsoft YaHei"/>
              </a:rPr>
              <a:t>一次性索要结论容易遗漏依据或限制</a:t>
            </a:r>
            <a:r>
              <a:rPr sz="2000" b="1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“系统一／系统二”可作类比，不等同于模型内部结构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快速回答：</a:t>
            </a: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直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接组织已有信息，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适合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范围较明确的任务。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多步分析：拆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分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问题、检查条件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必要时结合检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索、计算等工具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处理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复杂问题时，可根据工具功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能</a:t>
            </a:r>
            <a:endParaRPr lang="en-US"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选择推理模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式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，并要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求提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供可核查的依据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055" y="5029200"/>
            <a:ext cx="4754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3-9  DeepSeek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网页版界面（注意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深度思考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按钮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25 / 43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F35399-D5EA-5642-D294-3DB59F596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902" y="2708477"/>
            <a:ext cx="6154913" cy="2137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推理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与工具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协作的任务流程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495" y="979968"/>
            <a:ext cx="11247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以下是结合工具完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成复杂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任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务的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示意，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并非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所有推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理模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型都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会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调用工具。</a:t>
            </a:r>
            <a:endParaRPr sz="20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64592" cy="9601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691640"/>
            <a:ext cx="4909875" cy="96012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577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①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初次推理</a:t>
            </a:r>
            <a:endParaRPr sz="20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4708707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基于预训练常识构建初步框架</a:t>
            </a:r>
            <a:endParaRPr lang="en-US"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5000"/>
              </a:lnSpc>
            </a:pP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（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如：故宫在市中心、老人小孩体力有限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9776"/>
            <a:ext cx="164592" cy="96012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" y="2779776"/>
            <a:ext cx="4909875" cy="960120"/>
          </a:xfrm>
          <a:prstGeom prst="rect">
            <a:avLst/>
          </a:prstGeom>
          <a:solidFill>
            <a:srgbClr val="E6F2FC"/>
          </a:solidFill>
          <a:ln w="1270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871216"/>
            <a:ext cx="5577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F58020"/>
                </a:solidFill>
                <a:latin typeface="Microsoft YaHei"/>
                <a:ea typeface="Microsoft YaHei"/>
              </a:rPr>
              <a:t>② </a:t>
            </a:r>
            <a:r>
              <a:rPr sz="2000" b="1" i="0" dirty="0" err="1">
                <a:solidFill>
                  <a:srgbClr val="F58020"/>
                </a:solidFill>
                <a:latin typeface="Microsoft YaHei"/>
                <a:ea typeface="Microsoft YaHei"/>
              </a:rPr>
              <a:t>发现信息断点</a:t>
            </a:r>
            <a:endParaRPr sz="2000" b="1" i="0" dirty="0">
              <a:solidFill>
                <a:srgbClr val="F58020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222922"/>
            <a:ext cx="557784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触碰知识盲区</a:t>
            </a:r>
            <a:endParaRPr lang="en-US" sz="16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5000"/>
              </a:lnSpc>
            </a:pP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（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如：周末中午打车需多久？哪家软食餐厅评价高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67912"/>
            <a:ext cx="164592" cy="96012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867912"/>
            <a:ext cx="4909875" cy="96012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959352"/>
            <a:ext cx="5577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③ 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调用工具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325112"/>
            <a:ext cx="557784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暂停生成，后台调用外部工具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（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触发网络搜索、查地图路线、检索点评</a:t>
            </a:r>
            <a:r>
              <a:rPr sz="14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56048"/>
            <a:ext cx="164592" cy="960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" y="4956048"/>
            <a:ext cx="4909875" cy="960120"/>
          </a:xfrm>
          <a:prstGeom prst="rect">
            <a:avLst/>
          </a:prstGeom>
          <a:solidFill>
            <a:srgbClr val="E6F2F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047488"/>
            <a:ext cx="5577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E8B57"/>
                </a:solidFill>
                <a:latin typeface="Microsoft YaHei"/>
                <a:ea typeface="Microsoft YaHei"/>
              </a:rPr>
              <a:t>④ </a:t>
            </a:r>
            <a:r>
              <a:rPr sz="2000" b="1" i="0" dirty="0" err="1">
                <a:solidFill>
                  <a:srgbClr val="2E8B57"/>
                </a:solidFill>
                <a:latin typeface="Microsoft YaHei"/>
                <a:ea typeface="Microsoft YaHei"/>
              </a:rPr>
              <a:t>重塑上下文与循环</a:t>
            </a:r>
            <a:endParaRPr sz="2000" b="1" i="0" dirty="0">
              <a:solidFill>
                <a:srgbClr val="2E8B57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5413248"/>
            <a:ext cx="557784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结合新信息调整方案，检查是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否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满足行程条件。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01968" y="5503873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3-10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 推理与工具协作的流程示意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33795" y="5874234"/>
            <a:ext cx="5029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处理时长与任务、模型及工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具设置有关，耗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时更长不代表结果一定更好</a:t>
            </a:r>
            <a:r>
              <a:rPr sz="16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26 / 43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8BE29B1-EBF3-F6A9-CB2B-24184BA63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835" y="1626213"/>
            <a:ext cx="6339853" cy="38023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复杂任务的四项使用建议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3-3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  复杂任务的使用建议（质谱仪采购示例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0116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212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法则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7440" y="1554480"/>
            <a:ext cx="457200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1621274"/>
            <a:ext cx="4572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核心要义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47548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621274"/>
            <a:ext cx="4754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科研实操示例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20116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38357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①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合适的模型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77440" y="2057400"/>
            <a:ext cx="457200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2260462"/>
            <a:ext cx="42976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根据任务表现、成本和可用工具选择模型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49440" y="2057400"/>
            <a:ext cx="47548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2260462"/>
            <a:ext cx="44805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先测试跨文献比较能力，再确定使用方案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34369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②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相关背景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77440" y="3017520"/>
            <a:ext cx="4572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14600" y="3220582"/>
            <a:ext cx="42976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在权限允许范围内，提供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必要的原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始材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01752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3220582"/>
            <a:ext cx="44805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上传三款质谱仪的白皮书、维护手册与试剂兼容性报告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3977640"/>
            <a:ext cx="20116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30381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③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角色</a:t>
            </a:r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拆解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377440" y="3977640"/>
            <a:ext cx="457200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4180701"/>
            <a:ext cx="42976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明确分析视角、评价维度与步骤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49440" y="3977640"/>
            <a:ext cx="47548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86600" y="4180702"/>
            <a:ext cx="44805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扮演实验室设备主管，分维度对比成本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精度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故障率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endParaRPr sz="14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493776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26393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④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核查推理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77440" y="4937760"/>
            <a:ext cx="45720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14600" y="5140822"/>
            <a:ext cx="42976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选择合适模式，要求说明依据和不确定性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949440" y="4937760"/>
            <a:ext cx="4754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86600" y="5140821"/>
            <a:ext cx="44805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“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请按维度比较，列出依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据、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缺失信息与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待核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查结论。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1460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让大模型进入本地工作流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桌面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智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能体可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在授权范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围内读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取文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件并调用工具。使用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时要明确操作范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围、检查方案并保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留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原始数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据。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桌面智能体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的文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件与工具操作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4935" y="1061066"/>
            <a:ext cx="10804859" cy="467704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单纯的对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话工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具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主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要提供建议，</a:t>
            </a:r>
            <a:endParaRPr sz="24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文件整理和程序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运行通常仍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需用户操作，或借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助工具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连接完成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桌面智能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体可使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用本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地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工具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合模型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分析与文件操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作能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力，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完成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授权范围内的部分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任务。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相关产品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包括桌面助手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和工作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流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能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体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具体能力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、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权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和数据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流向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应以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产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说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明为准。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示例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读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取指定目录的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论文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，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提出分类方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案，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经确认后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再移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动文件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1AE2-3323-F6AB-5B08-CED61A7C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A6E885-CAD5-2284-0753-0214EF38AFA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883133CA-35D9-85A9-4D61-C68BB1368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BA24A0-EBB6-8BDE-5001-A227AC173D89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E7B3D-E149-4949-B9DB-F901D7D75A1A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3.5.1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88C74A-8A94-767A-E005-E3FC28E5A053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00DBF-B4F2-527A-4C41-2738A514E222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桌面智能体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的文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件与工具操作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4B2898-A32A-C4AE-83C3-83E25A263884}"/>
              </a:ext>
            </a:extLst>
          </p:cNvPr>
          <p:cNvSpPr txBox="1"/>
          <p:nvPr/>
        </p:nvSpPr>
        <p:spPr>
          <a:xfrm>
            <a:off x="3379052" y="6154041"/>
            <a:ext cx="579210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3-11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桌面智能体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QoderWork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对论文整理分类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A6BA18-5A35-A9D3-C22E-6C491F39E15C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30 / 43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F4083D8-442D-DC14-0FCB-93BF1DD85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77" y="1001070"/>
            <a:ext cx="9713188" cy="491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35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传统对话端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vs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桌面级智能体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3-4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传统对话端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与桌面级智能体的核心能力对比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103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21274"/>
            <a:ext cx="2103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68880" y="1554480"/>
            <a:ext cx="448056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621274"/>
            <a:ext cx="4480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传统对话端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47548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621274"/>
            <a:ext cx="4754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桌面级智能体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210312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9213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交互方式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68880" y="2057400"/>
            <a:ext cx="4480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230752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手动复制粘贴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逐个上传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057400"/>
            <a:ext cx="475488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230752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在授权目录内检索和读取文件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06937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行动能力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68880" y="283464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06040" y="308476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主要生成回答，扩展能力视产品而定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49440" y="283464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308476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直接新建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移动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重命名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写入文件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3611880"/>
            <a:ext cx="210312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84661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上下文获取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468880" y="3611880"/>
            <a:ext cx="4480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06040" y="386200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通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过对话或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上传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提供材料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49440" y="3611880"/>
            <a:ext cx="475488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86600" y="386200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按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任务读取相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关文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件和工具结果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438912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62385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工作角色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468880" y="438912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06040" y="463924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提供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解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释与建议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438912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86600" y="463924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结合分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析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与授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权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操作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166360"/>
            <a:ext cx="210312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40109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本地权限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68880" y="5166360"/>
            <a:ext cx="4480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06040" y="541648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取决于产品与连接工具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949440" y="5166360"/>
            <a:ext cx="475488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0" y="5416480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按需授予读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写权限，限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制删除操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动态上下文与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人机回路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"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协作工作流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工作流程：先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规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划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，再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审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查，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最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后执行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并核对结果。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11880" cy="8686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611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规划
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3611880" cy="1783080"/>
          </a:xfrm>
          <a:prstGeom prst="rect">
            <a:avLst/>
          </a:prstGeom>
          <a:solidFill>
            <a:srgbClr val="E6F2FC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246120" cy="135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读取指定范围内的信息，形成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分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类或排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期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方案，说明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拟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修改的文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件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和操作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19202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11880" cy="86868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611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审查
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606040"/>
            <a:ext cx="3611880" cy="1783080"/>
          </a:xfrm>
          <a:prstGeom prst="rect">
            <a:avLst/>
          </a:prstGeom>
          <a:solidFill>
            <a:srgbClr val="E6F2FC"/>
          </a:solidFill>
          <a:ln w="1587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2788920"/>
            <a:ext cx="3246120" cy="1007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人类审阅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的规划蓝图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：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检查分类逻辑、确认操作范围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这是守住安全的关键一环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737360"/>
            <a:ext cx="3611880" cy="868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1737360"/>
            <a:ext cx="3611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执行
Execute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606040"/>
            <a:ext cx="3611880" cy="1783080"/>
          </a:xfrm>
          <a:prstGeom prst="rect">
            <a:avLst/>
          </a:prstGeom>
          <a:solidFill>
            <a:srgbClr val="E6F2FC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8180" y="2788920"/>
            <a:ext cx="3436620" cy="1007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确认方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案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后执行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批量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操作，记录修改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内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容，并检查结果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74920"/>
            <a:ext cx="11292840" cy="135331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193792"/>
            <a:ext cx="10881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究者负责确定范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围、审查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方案和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验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证结果。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24557"/>
            <a:ext cx="108813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自动执行可以减少重复操作，但不能免除对数据与研究过程的责任</a:t>
            </a:r>
            <a:r>
              <a:rPr sz="2200" b="0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3.5.3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高危操作与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沙盒隔离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"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安全规范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3-5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桌面智能体的高危操作与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"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沙盒隔离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"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安全规范对比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0116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212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风险维度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7440" y="1554480"/>
            <a:ext cx="48463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1621274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⚠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高危操作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23760" y="1554480"/>
            <a:ext cx="448056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621274"/>
            <a:ext cx="4480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✓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沙盒隔离安全规范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20116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38357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删除文件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77440" y="2057400"/>
            <a:ext cx="48463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2383571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不经回收站的粉碎性删除，数据极难恢复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223760" y="2057400"/>
            <a:ext cx="448056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20" y="2383571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操作前先手动备份一份只读副本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34369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修改覆盖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77440" y="3017520"/>
            <a:ext cx="4846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14600" y="3343691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无备份或版本记录时，覆盖修改可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能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难以恢复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23760" y="3017520"/>
            <a:ext cx="4480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20" y="3343691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在独立工作目录操作，保留原始版本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3977640"/>
            <a:ext cx="201168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30381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运行范围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377440" y="3977640"/>
            <a:ext cx="484632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4303811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授予与任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务无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关的全盘操作权限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223760" y="3977640"/>
            <a:ext cx="4480560" cy="96012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4303811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严格限定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仅在专用文件夹活动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493776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263931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数据安全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77440" y="4937760"/>
            <a:ext cx="4846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14600" y="5263931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云端算力处理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数据向外网传输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223760" y="4937760"/>
            <a:ext cx="4480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60920" y="5263931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按机构规定选择获批平台或本地部署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3.5.3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本地部署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数据保护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" y="887240"/>
            <a:ext cx="11832653" cy="566808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需要特别检查的操作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3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①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删除文件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部分工具删除文件不经过回收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站。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操作前应确认范围，并保留备份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②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覆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盖修改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依赖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撤销功能恢复全部修改。应使用独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工作目录和版本记录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敏感科研资料的处理要求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未申请专利的核心算法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伦理管控的临床隐私数据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未公开的安全水印研究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应遵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守项目和机构要求，避免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上传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未经授权的服务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本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地部署可减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少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数据外传，但还需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检查模型、工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具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和网络设置。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权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限控制、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日志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和备份同样重要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2316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用多模型协作检查文本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按大纲逐步写作，再结合明确标准与不同模型的反馈检查文本。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作者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负责核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查证据、修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改论证和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确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定最终表述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3.6.1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识别与警惕 "AI 腔"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960120"/>
            <a:ext cx="7708574" cy="544590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800" b="1" dirty="0">
                <a:solidFill>
                  <a:srgbClr val="F58020"/>
                </a:solidFill>
                <a:latin typeface="Microsoft YaHei"/>
                <a:ea typeface="Microsoft YaHei"/>
              </a:rPr>
              <a:t>“AI腔”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通常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指模板化、空泛或修饰过多的表达。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可检查以下写作问题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①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长句过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多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，标点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连</a:t>
            </a:r>
            <a:r>
              <a:rPr lang="zh-CN" altLang="en-US" b="1" dirty="0">
                <a:solidFill>
                  <a:srgbClr val="0066CC"/>
                </a:solidFill>
                <a:latin typeface="Microsoft YaHei"/>
                <a:ea typeface="Microsoft YaHei"/>
              </a:rPr>
              <a:t>接</a:t>
            </a:r>
            <a:r>
              <a:rPr lang="zh-CN" altLang="en-US" b="0" dirty="0">
                <a:solidFill>
                  <a:srgbClr val="333333"/>
                </a:solidFill>
                <a:latin typeface="Microsoft YaHei"/>
                <a:ea typeface="Microsoft YaHei"/>
              </a:rPr>
              <a:t>掩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盖了句间逻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辑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②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反</a:t>
            </a: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复</a:t>
            </a:r>
            <a:r>
              <a:rPr sz="18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使用</a:t>
            </a:r>
            <a:r>
              <a:rPr sz="1800" b="1" dirty="0">
                <a:solidFill>
                  <a:srgbClr val="0066CC"/>
                </a:solidFill>
                <a:latin typeface="Microsoft YaHei"/>
                <a:ea typeface="Microsoft YaHei"/>
              </a:rPr>
              <a:t>宽</a:t>
            </a:r>
            <a:r>
              <a:rPr sz="18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泛</a:t>
            </a:r>
            <a:r>
              <a:rPr sz="17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词语，</a:t>
            </a: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如“多维度”、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   </a:t>
            </a:r>
            <a:r>
              <a:rPr sz="17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“深</a:t>
            </a: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刻洞察</a:t>
            </a:r>
            <a:r>
              <a:rPr sz="17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”，</a:t>
            </a: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却没有具</a:t>
            </a:r>
            <a:r>
              <a:rPr sz="17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体解</a:t>
            </a: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释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③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重复</a:t>
            </a: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整</a:t>
            </a:r>
            <a:r>
              <a:rPr sz="1800" b="1" dirty="0">
                <a:solidFill>
                  <a:srgbClr val="0066CC"/>
                </a:solidFill>
                <a:latin typeface="Microsoft YaHei"/>
                <a:ea typeface="Microsoft YaHei"/>
              </a:rPr>
              <a:t>齐</a:t>
            </a:r>
            <a:r>
              <a:rPr sz="18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的并列</a:t>
            </a:r>
            <a:r>
              <a:rPr sz="1800" b="1" dirty="0">
                <a:solidFill>
                  <a:srgbClr val="0066CC"/>
                </a:solidFill>
                <a:latin typeface="Microsoft YaHei"/>
                <a:ea typeface="Microsoft YaHei"/>
              </a:rPr>
              <a:t>句</a:t>
            </a: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式，</a:t>
            </a:r>
            <a:r>
              <a:rPr sz="17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内容缺少层</a:t>
            </a: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④ 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形容词多，事实、证据和分析不足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表达风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格也可能趋于一致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频繁采用未经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修改的生成文本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endParaRPr lang="en-US"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dirty="0" err="1">
                <a:solidFill>
                  <a:srgbClr val="333333"/>
                </a:solidFill>
                <a:latin typeface="Microsoft YaHei"/>
                <a:ea typeface="Microsoft YaHei"/>
              </a:rPr>
              <a:t>可能使</a:t>
            </a:r>
            <a:r>
              <a:rPr sz="2000" dirty="0">
                <a:solidFill>
                  <a:srgbClr val="333333"/>
                </a:solidFill>
                <a:latin typeface="Microsoft YaHei"/>
                <a:ea typeface="Microsoft YaHei"/>
              </a:rPr>
              <a:t>文章依赖相似</a:t>
            </a:r>
            <a:r>
              <a:rPr sz="2000" dirty="0" err="1">
                <a:solidFill>
                  <a:srgbClr val="333333"/>
                </a:solidFill>
                <a:latin typeface="Microsoft YaHei"/>
                <a:ea typeface="Microsoft YaHei"/>
              </a:rPr>
              <a:t>的词汇</a:t>
            </a:r>
            <a:r>
              <a:rPr sz="2000" dirty="0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r>
              <a:rPr sz="2000" dirty="0" err="1">
                <a:solidFill>
                  <a:srgbClr val="333333"/>
                </a:solidFill>
                <a:latin typeface="Microsoft YaHei"/>
                <a:ea typeface="Microsoft YaHei"/>
              </a:rPr>
              <a:t>句式。</a:t>
            </a:r>
            <a:endParaRPr sz="20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应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根据证据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和作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者观点重写，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避免只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保留流畅但缺少实质内容的文字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7081" y="5092336"/>
            <a:ext cx="45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3-13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部分词汇使用变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化示意，不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能单独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据此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判断AI写作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36 / 43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00EF228-0A79-C887-5996-9C3B203F8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697" y="1488665"/>
            <a:ext cx="6306118" cy="354907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3.6.2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从大纲到段落的逐步写作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先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确定观点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与证据，再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组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织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大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纲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和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正文。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58368" cy="65836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508760"/>
            <a:ext cx="3108960" cy="658368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1684055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实证检索与观点交锋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79392" y="1508760"/>
            <a:ext cx="7452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699444"/>
            <a:ext cx="74523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查找并核验相关证据，整理支持与反对的观点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240280"/>
            <a:ext cx="658368" cy="65836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240280"/>
            <a:ext cx="3108960" cy="658368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2415575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多维度大纲脑暴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79392" y="2240280"/>
            <a:ext cx="7452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2430964"/>
            <a:ext cx="71780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围绕主题提出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不同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的大纲，比较论证重点。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658368" cy="65836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9718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2971800"/>
            <a:ext cx="3108960" cy="658368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80160" y="3147095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人类介入与逻辑重构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79392" y="2971800"/>
            <a:ext cx="7452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3198558"/>
            <a:ext cx="74523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检查大纲，补充必要反例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与比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较材料，避免牵强类比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03320"/>
            <a:ext cx="658368" cy="65836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3703320"/>
            <a:ext cx="3108960" cy="658368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80160" y="3878615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大纲要点展开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279392" y="3703320"/>
            <a:ext cx="7452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894004"/>
            <a:ext cx="71780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按各节论点列出证据、数据和待补充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信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息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34840"/>
            <a:ext cx="658368" cy="65836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43484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  <a:ea typeface="Arial"/>
              </a:rPr>
              <a:t>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4434840"/>
            <a:ext cx="3108960" cy="658368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80160" y="4610135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逐段精雕细琢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279392" y="4434840"/>
            <a:ext cx="7452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4625524"/>
            <a:ext cx="71780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逐段修改，比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较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表达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否准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确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、连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贯和符合文体。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7200" y="5393118"/>
            <a:ext cx="11292840" cy="101219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469897"/>
            <a:ext cx="10972800" cy="848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先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调整大纲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可以减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少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正文成稿后的重复修改。结构确定后仍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检查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段证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据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与衔接</a:t>
            </a:r>
            <a:r>
              <a:rPr sz="16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3.6.3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明确标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准的结构化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3-6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  科幻短篇小说评审量表示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0116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212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评审指标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7440" y="1554480"/>
            <a:ext cx="57607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1621274"/>
            <a:ext cx="5760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检查内容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621274"/>
            <a:ext cx="35661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评分规则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20116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3453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核心冲突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77440" y="2057400"/>
            <a:ext cx="576072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2345323"/>
            <a:ext cx="5486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前三段是否出现明确的主要矛盾冲突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057400"/>
            <a:ext cx="35661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345323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是 = 25 分 / 否 = 0 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7180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597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世界观自洽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77440" y="2971800"/>
            <a:ext cx="5760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14600" y="3259723"/>
            <a:ext cx="5486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科幻设定全文是否存在自相矛盾之处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97180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3259723"/>
            <a:ext cx="34747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无矛盾 </a:t>
            </a:r>
            <a:r>
              <a:rPr lang="en-US" altLang="zh-CN"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= 25 </a:t>
            </a:r>
            <a:r>
              <a:rPr lang="zh-CN" altLang="en-US"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分 </a:t>
            </a:r>
            <a:r>
              <a:rPr lang="en-US" altLang="zh-CN"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 </a:t>
            </a:r>
            <a:r>
              <a:rPr lang="zh-CN" altLang="en-US"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有 </a:t>
            </a:r>
            <a:r>
              <a:rPr lang="en-US" altLang="zh-CN"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= 0 </a:t>
            </a:r>
            <a:r>
              <a:rPr lang="zh-CN" altLang="en-US"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分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3886200"/>
            <a:ext cx="20116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1741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角色弧光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377440" y="3886200"/>
            <a:ext cx="576072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4174123"/>
            <a:ext cx="54864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主角是否经历了可观测的转变或成长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886200"/>
            <a:ext cx="35661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4174123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是 = 25 分 / 否 = 0 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0060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0885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语言精炼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77440" y="4800600"/>
            <a:ext cx="5760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14599" y="5088523"/>
            <a:ext cx="5760719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是否存在空泛修饰或重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复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表述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80060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20" y="5088523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满分25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分，每处扣5分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，最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低0分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879366"/>
            <a:ext cx="114300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量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表便于逐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项检查，但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评分仍有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主观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性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。要求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标注文本依据，并由作者复核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3.6.4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多模型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交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叉检查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19" y="914400"/>
            <a:ext cx="11505895" cy="445236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同一模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可能重复先前遗漏，可尝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试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独立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审查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或让其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他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模型检查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一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种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做法：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将初稿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与相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同评审标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准交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给另一模型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要求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指出具体问题和原文位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置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不同模型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的表现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可能有所差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在不同任务上的能力并不均衡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交叉检查可能发现遗漏，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也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可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能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重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复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相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同错误。多个模型意见一致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能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代替原始证据。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可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比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较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不同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反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馈的依据，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回到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文献、数据和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专业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知识判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断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是否采纳。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模型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检查不等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同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于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正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式同行评议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409556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本章实训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通过四项对照练习，比较背景信息、任务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约束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和评审标准如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何影响回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答，并核查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结果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是否适用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3.7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本章实训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四个对照演练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对照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练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习：背景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较少与要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求明确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提示词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00584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14891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演练一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8760" y="156061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头脑风暴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体能突破计划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075688"/>
            <a:ext cx="5212080" cy="58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1" dirty="0" err="1">
                <a:solidFill>
                  <a:srgbClr val="2E8B57"/>
                </a:solidFill>
                <a:latin typeface="Microsoft YaHei"/>
                <a:ea typeface="Microsoft YaHei"/>
              </a:rPr>
              <a:t>目标：观察具体背景对建议针对性与可行性的影响</a:t>
            </a:r>
            <a:r>
              <a:rPr b="0" i="1" dirty="0">
                <a:solidFill>
                  <a:srgbClr val="2E8B57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5212080" cy="54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对比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我想提高体能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 vs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注明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"20 岁 /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下月体测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无基础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每周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3 天 / 要 3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套方案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"，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再追问换跳绳迭代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41732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1417320"/>
            <a:ext cx="100584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514891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演练二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60" y="156061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头脑风暴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奖学金长期规划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63640" y="2075688"/>
            <a:ext cx="5212080" cy="58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1" dirty="0" err="1">
                <a:solidFill>
                  <a:srgbClr val="2E8B57"/>
                </a:solidFill>
                <a:latin typeface="Microsoft YaHei"/>
                <a:ea typeface="Microsoft YaHei"/>
              </a:rPr>
              <a:t>目标：用排除条件</a:t>
            </a:r>
            <a:r>
              <a:rPr b="0" i="1" dirty="0">
                <a:solidFill>
                  <a:srgbClr val="2E8B57"/>
                </a:solidFill>
                <a:latin typeface="Microsoft YaHei"/>
                <a:ea typeface="Microsoft YaHei"/>
              </a:rPr>
              <a:t> + </a:t>
            </a:r>
            <a:r>
              <a:rPr b="0" i="1" dirty="0" err="1">
                <a:solidFill>
                  <a:srgbClr val="2E8B57"/>
                </a:solidFill>
                <a:latin typeface="Microsoft YaHei"/>
                <a:ea typeface="Microsoft YaHei"/>
              </a:rPr>
              <a:t>时间预期防止</a:t>
            </a:r>
            <a:r>
              <a:rPr b="0" i="1" dirty="0">
                <a:solidFill>
                  <a:srgbClr val="2E8B57"/>
                </a:solidFill>
                <a:latin typeface="Microsoft YaHei"/>
                <a:ea typeface="Microsoft YaHei"/>
              </a:rPr>
              <a:t> AI </a:t>
            </a:r>
            <a:r>
              <a:rPr b="0" i="1" dirty="0" err="1">
                <a:solidFill>
                  <a:srgbClr val="2E8B57"/>
                </a:solidFill>
                <a:latin typeface="Microsoft YaHei"/>
                <a:ea typeface="Microsoft YaHei"/>
              </a:rPr>
              <a:t>给出不切实际的回答</a:t>
            </a:r>
            <a:r>
              <a:rPr b="0" i="1" dirty="0">
                <a:solidFill>
                  <a:srgbClr val="2E8B57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743200"/>
            <a:ext cx="5212080" cy="54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对比泛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问与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说明年级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、考研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计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划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、预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算和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风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险偏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好的提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问，检查建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议是否符合条件</a:t>
            </a:r>
            <a:r>
              <a:rPr sz="13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1005840" cy="50292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892331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演练三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08760" y="393805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交叉检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查：论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文评审练习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453128"/>
            <a:ext cx="5212080" cy="58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目标：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比较</a:t>
            </a: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笼统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评</a:t>
            </a: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价与按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标</a:t>
            </a: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准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反</a:t>
            </a: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馈的差异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5212080" cy="54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比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较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带有肯定暗示的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提问与附评分表的提问，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核对问题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定位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和评价依据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379476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80760" y="3794760"/>
            <a:ext cx="1005840" cy="50292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3892331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演练四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23760" y="393805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交叉审查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简历求职信打磨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4453128"/>
            <a:ext cx="5212080" cy="588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目标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：按</a:t>
            </a: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明确标准检查简历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和</a:t>
            </a: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求</a:t>
            </a:r>
            <a:r>
              <a:rPr b="0" i="1" dirty="0">
                <a:solidFill>
                  <a:srgbClr val="F58020"/>
                </a:solidFill>
                <a:latin typeface="Microsoft YaHei"/>
                <a:ea typeface="Microsoft YaHei"/>
              </a:rPr>
              <a:t>职</a:t>
            </a:r>
            <a:r>
              <a:rPr b="0" i="1" dirty="0" err="1">
                <a:solidFill>
                  <a:srgbClr val="F58020"/>
                </a:solidFill>
                <a:latin typeface="Microsoft YaHei"/>
                <a:ea typeface="Microsoft YaHei"/>
              </a:rPr>
              <a:t>信</a:t>
            </a:r>
            <a:r>
              <a:rPr sz="1400" b="0" i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151669"/>
            <a:ext cx="5212080" cy="54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结合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S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TAR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结构检查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经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历描述，删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去空泛形容词。补充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真实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成果，不能编造量化指标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>
                <a:solidFill>
                  <a:srgbClr val="0066CC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847" y="1188720"/>
            <a:ext cx="22860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3.1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609344"/>
            <a:ext cx="4343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激发创新性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2100441"/>
            <a:ext cx="4343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补充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研究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问题、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数据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与资源条件，通过反馈细化想法，再验证新颖性与可行性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3.2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22008" y="1609344"/>
            <a:ext cx="4343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上下文机制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36181" y="2075318"/>
            <a:ext cx="461210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组织相关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材料与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对话记录，纠正错误，必要时新建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对话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，减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少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无关背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景的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影响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3.3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2947705"/>
            <a:ext cx="4343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减少迎合倾向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319272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采用中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立提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问，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按相同标准比较选项，检查选择性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报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告和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证据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不足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3.4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2008" y="2953512"/>
            <a:ext cx="4343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深度推理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2008" y="3301387"/>
            <a:ext cx="45262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按任务选择模型与模式，提供相关材料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，拆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分步骤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，并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查分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析依据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42816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242816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3.5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242816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4297680"/>
            <a:ext cx="4343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本地化使用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5880" y="4667012"/>
            <a:ext cx="4343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在授权范围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内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面工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具，先规划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再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执行，保留备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份并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管理数据流向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4242816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1888" y="4242816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128" y="4242816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22008" y="4297680"/>
            <a:ext cx="4343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深度写作与审查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22008" y="4691979"/>
            <a:ext cx="4343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从大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纲逐段写作，按标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准检查表达与论证，可借助多模型反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馈，但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最终由作者判断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06440"/>
            <a:ext cx="11475720" cy="7132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7053" y="5981396"/>
            <a:ext cx="11643055" cy="66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本章重点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：AI参与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分析与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写作，研究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者掌握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任务要求、证据核验和最终判断</a:t>
            </a:r>
            <a:r>
              <a:rPr sz="19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744016"/>
            <a:ext cx="5613149" cy="2113984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Microsoft YaHei"/>
                <a:ea typeface="Microsoft YaHei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E6F2FC"/>
                </a:solidFill>
                <a:latin typeface="Microsoft YaHei"/>
                <a:ea typeface="Microsoft YaHei"/>
              </a:rPr>
              <a:t>扬州大学  ·  第 3 章  ·  大模型的推理与协同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2426</Words>
  <Application>Microsoft Office PowerPoint</Application>
  <PresentationFormat>宽屏</PresentationFormat>
  <Paragraphs>576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宋体</vt:lpstr>
      <vt:lpstr>Microsoft YaHei</vt:lpstr>
      <vt:lpstr>Arial</vt:lpstr>
      <vt:lpstr>Calibri</vt:lpstr>
      <vt:lpstr>Consolas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Windows 用户</cp:lastModifiedBy>
  <cp:revision>4</cp:revision>
  <dcterms:created xsi:type="dcterms:W3CDTF">2013-01-27T09:14:16Z</dcterms:created>
  <dcterms:modified xsi:type="dcterms:W3CDTF">2026-09-25T08:59:27Z</dcterms:modified>
  <cp:category/>
</cp:coreProperties>
</file>