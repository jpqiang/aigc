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92" r:id="rId9"/>
    <p:sldId id="263" r:id="rId10"/>
    <p:sldId id="264" r:id="rId11"/>
    <p:sldId id="265" r:id="rId12"/>
    <p:sldId id="293" r:id="rId13"/>
    <p:sldId id="294" r:id="rId14"/>
    <p:sldId id="266" r:id="rId15"/>
    <p:sldId id="267" r:id="rId16"/>
    <p:sldId id="295" r:id="rId17"/>
    <p:sldId id="268" r:id="rId18"/>
    <p:sldId id="269" r:id="rId19"/>
    <p:sldId id="296" r:id="rId20"/>
    <p:sldId id="270" r:id="rId21"/>
    <p:sldId id="297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9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朋 王" initials="朋王" lastIdx="1" clrIdx="0">
    <p:extLst>
      <p:ext uri="{19B8F6BF-5375-455C-9EA6-DF929625EA0E}">
        <p15:presenceInfo xmlns:p15="http://schemas.microsoft.com/office/powerpoint/2012/main" userId="fffea06f79926c4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0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7315200" y="0"/>
            <a:ext cx="4876800" cy="36576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7601283" y="3246120"/>
            <a:ext cx="4590412" cy="361188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2373421"/>
            <a:ext cx="12191695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《</a:t>
            </a:r>
            <a:r>
              <a:rPr lang="zh-CN" altLang="en-US" sz="5400" b="1" dirty="0">
                <a:solidFill>
                  <a:srgbClr val="FFFFFF"/>
                </a:solidFill>
                <a:latin typeface="Microsoft YaHei"/>
                <a:ea typeface="Microsoft YaHei"/>
              </a:rPr>
              <a:t>生成式人工智能与科研素养</a:t>
            </a:r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3832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Microsoft YaHei"/>
                <a:ea typeface="Microsoft YaHei"/>
              </a:rPr>
              <a:t>第 3 章   大模型的推理与协同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5778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扬州大学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Arrow 2"/>
          <p:cNvSpPr/>
          <p:nvPr/>
        </p:nvSpPr>
        <p:spPr>
          <a:xfrm>
            <a:off x="8077951" y="1231081"/>
            <a:ext cx="3565409" cy="5547982"/>
          </a:xfrm>
          <a:prstGeom prst="rightArrow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>
                <a:solidFill>
                  <a:srgbClr val="333333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3200400" cy="35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331720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3.1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2331720"/>
            <a:ext cx="548640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37360" y="2331720"/>
            <a:ext cx="534924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激发大模型的创新性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12364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912364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3.2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00200" y="2912364"/>
            <a:ext cx="548640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37360" y="2912364"/>
            <a:ext cx="534924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上下文机制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93008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493008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3.3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493008"/>
            <a:ext cx="548640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37360" y="3493008"/>
            <a:ext cx="534924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克服 AI 的迎合本能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73652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073652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3.4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4073652"/>
            <a:ext cx="548640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37360" y="4073652"/>
            <a:ext cx="534924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深度推理与复杂任务处理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654296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4654296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3.5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0200" y="4654296"/>
            <a:ext cx="548640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37360" y="4654296"/>
            <a:ext cx="534924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大模型的本地化使用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234940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5234940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00200" y="5234940"/>
            <a:ext cx="548640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737360" y="5234940"/>
            <a:ext cx="534924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深度写作与交叉审查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815584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5815584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3.7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00200" y="5815584"/>
            <a:ext cx="548640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737360" y="5815584"/>
            <a:ext cx="534924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本章实训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导言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从被动检索到主动人机共创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大模型</a:t>
            </a:r>
            <a:r>
              <a:rPr sz="26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≠ </a:t>
            </a:r>
            <a:r>
              <a:rPr sz="26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高级搜索引擎</a:t>
            </a:r>
            <a:r>
              <a:rPr sz="26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·  </a:t>
            </a:r>
            <a:r>
              <a:rPr sz="26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它是能深度交互的</a:t>
            </a:r>
            <a:r>
              <a:rPr sz="26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6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思维伙伴</a:t>
            </a:r>
            <a:r>
              <a:rPr sz="26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核心价值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=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基于庞大参数量的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逻辑推理能力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+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深度语境理解能力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11480" y="2697480"/>
            <a:ext cx="1828800" cy="777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26974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3.1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142523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创新激发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11480" y="3474720"/>
            <a:ext cx="1828800" cy="16916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3994475"/>
            <a:ext cx="19202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突破常识陷阱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注入个性化背景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331720" y="2697480"/>
            <a:ext cx="1828800" cy="77724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31720" y="26974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3.2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142523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上下文机制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31720" y="3474720"/>
            <a:ext cx="1828800" cy="16916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41448" y="4035624"/>
            <a:ext cx="1609344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理解累积原理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善用对话重置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251960" y="2697480"/>
            <a:ext cx="1828800" cy="77724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51960" y="26974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3.3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142523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克服迎合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251960" y="3474720"/>
            <a:ext cx="1828800" cy="1691640"/>
          </a:xfrm>
          <a:prstGeom prst="rect">
            <a:avLst/>
          </a:prstGeom>
          <a:solidFill>
            <a:srgbClr val="E6F2FC"/>
          </a:solidFill>
          <a:ln w="1270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61688" y="4035624"/>
            <a:ext cx="1609344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识别阿谀奉承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中立提问框架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172200" y="2697480"/>
            <a:ext cx="1828800" cy="777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72200" y="26974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3.4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142523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深度推理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172200" y="3474720"/>
            <a:ext cx="1828800" cy="16916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72200" y="4035624"/>
            <a:ext cx="19202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唤醒系统慢思考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复杂任务拆解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092440" y="2697480"/>
            <a:ext cx="1828800" cy="77724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92440" y="26974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3.5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2440" y="3142523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本地化使用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092440" y="3474720"/>
            <a:ext cx="1828800" cy="16916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02168" y="4035624"/>
            <a:ext cx="1609344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桌面智能体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数据安全防线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0012680" y="2697480"/>
            <a:ext cx="1828800" cy="7772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012680" y="26974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3.6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3142523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深度写作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0012680" y="3474720"/>
            <a:ext cx="1828800" cy="1691640"/>
          </a:xfrm>
          <a:prstGeom prst="rect">
            <a:avLst/>
          </a:prstGeom>
          <a:solidFill>
            <a:srgbClr val="E6F2F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030968" y="4042455"/>
            <a:ext cx="1810512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渐进式大纲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多模型交叉审稿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57200" y="5727264"/>
            <a:ext cx="11247120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80" y="5842338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目标跃迁：从</a:t>
            </a:r>
            <a:r>
              <a:rPr sz="28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8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被动检索工具</a:t>
            </a:r>
            <a:r>
              <a:rPr sz="28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 →  "</a:t>
            </a:r>
            <a:r>
              <a:rPr sz="28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主动人机共创</a:t>
            </a:r>
            <a:r>
              <a:rPr sz="28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51460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激发大模型的创新性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放弃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索要想法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式思维，建立基于丰富背景注入与多轮动态反馈的真实对话模式，挖掘大模型内在创造力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突破大模型的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常识陷阱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065" y="960120"/>
            <a:ext cx="6202375" cy="569514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底层机制：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基于海量文本的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下一个词概率预测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查事实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基础概念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输出最常见答案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理想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做创新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头脑风暴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输出最常见答案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灾难</a:t>
            </a:r>
            <a:endParaRPr sz="22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常识陷阱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互联网上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传统范式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的文本量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≫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颠覆性创新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存在强烈内在偏见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总倾向输出最稳妥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、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最被广泛讨论的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常识性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答案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不加干预直接索要灵感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得到一堆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"看似正确但毫无学术增量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的平庸建议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  <a:endParaRPr lang="en-US"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endParaRPr sz="19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必须用提示词策略主动打破默认概率分布，引导模型驶向右侧的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长尾创新区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1055" y="5532120"/>
            <a:ext cx="475488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3-1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大模型生成内容的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概率-独特性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分布曲线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5 / 36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5A193649-47B2-B87B-C79C-3EC1AD55A6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859" y="1796150"/>
            <a:ext cx="5603956" cy="37359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学术头脑风暴的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常识陷阱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对比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3-1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学术头脑风暴中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常识陷阱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的对比案例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16459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44134"/>
            <a:ext cx="16459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学科领域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011680" y="1554480"/>
            <a:ext cx="457200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11680" y="1644134"/>
            <a:ext cx="4572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✗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陷入常识陷阱（平庸建议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554480"/>
            <a:ext cx="51206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1644134"/>
            <a:ext cx="51206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✓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突破陷阱（创新假设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03120"/>
            <a:ext cx="164592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307074"/>
            <a:ext cx="1371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医学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011680" y="2103120"/>
            <a:ext cx="457200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148840" y="2353240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罗列已知致病基因做关联分析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583680" y="2103120"/>
            <a:ext cx="512064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20840" y="2353240"/>
            <a:ext cx="48463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引入跨学科变量：用流体力学建模血流剪切力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65760" y="2880360"/>
            <a:ext cx="16459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084314"/>
            <a:ext cx="1371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教育学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011680" y="2880360"/>
            <a:ext cx="45720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148840" y="3130480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lang="zh-CN" altLang="en-US" b="0" i="0" dirty="0">
                <a:solidFill>
                  <a:srgbClr val="333333"/>
                </a:solidFill>
                <a:latin typeface="Microsoft YaHei"/>
                <a:ea typeface="Microsoft YaHei"/>
              </a:rPr>
              <a:t>翻转课堂提升学习效果</a:t>
            </a:r>
            <a:r>
              <a:rPr lang="en-US" altLang="zh-CN"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583680" y="2880360"/>
            <a:ext cx="51206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20840" y="3130480"/>
            <a:ext cx="48463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约束：仅靠学生手机端微行为数据预测辍学风险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65760" y="3657600"/>
            <a:ext cx="164592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3861554"/>
            <a:ext cx="1371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材料学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011680" y="3657600"/>
            <a:ext cx="457200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148840" y="3907720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穷举常见高分子配方做性能测试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583680" y="3657600"/>
            <a:ext cx="512064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720840" y="3907720"/>
            <a:ext cx="48463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反常识：从深海贻贝粘附蛋白逆向设计胶粘剂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" y="4434840"/>
            <a:ext cx="16459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638794"/>
            <a:ext cx="1371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社会学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011680" y="4434840"/>
            <a:ext cx="45720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148840" y="4684960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短视频影响青少年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问卷调查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583680" y="4434840"/>
            <a:ext cx="51206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720840" y="4684960"/>
            <a:ext cx="48463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变量：用外卖订单时空数据反演城市孤独感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365760" y="5212080"/>
            <a:ext cx="164592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02920" y="5416034"/>
            <a:ext cx="1371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农学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011680" y="5212080"/>
            <a:ext cx="457200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148840" y="5462200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测试不同氮肥用量对产量影响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583680" y="5212080"/>
            <a:ext cx="512064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720840" y="5462200"/>
            <a:ext cx="48463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交叉：借天文光谱方法做作物病害早期诊断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45415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注入个性化背景信息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锚点-变量策略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83165" y="960120"/>
            <a:ext cx="9727496" cy="536511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背景信息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=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一把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修剪概率树的剪刀</a:t>
            </a:r>
            <a:endParaRPr sz="24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主动关闭通向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19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平庸常识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19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的路径，迫使模型在更狭窄但更独特的约束空间内深度推理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锚点-变量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策略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锚点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：必须坚守的核心研究问题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变量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：你独有的个性化条件（数据少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零预算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冷门理论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  <a:endParaRPr sz="19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案例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城市交通拥堵课题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仅给锚点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优化红绿灯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 /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扩建道路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老生常谈</a:t>
            </a:r>
            <a:endParaRPr sz="22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加变量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只有共享单车数据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+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关注突发暴雨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聚焦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极端天气下微观交通的时空轨迹重构</a:t>
            </a:r>
            <a:endParaRPr lang="en-US"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✦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约束即创造：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劣势在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逻辑里是优质边界条件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7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6BACA-E245-9E19-282D-78532D7DB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62ED5C-6064-98D0-231E-748629DDF51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9D08EFCF-F333-8B1D-F90E-B7EA67948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7915F51-5F45-42A1-87A0-D0873779DD20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514450-CAE7-676B-1C98-D6D2FA837771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3.1.2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2D9B83-04C9-B7DE-C7BC-D0C4A65284A3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0F72C5-9BA7-7E81-6C0C-F298BF7B72C6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注入个性化背景信息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锚点-变量策略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C45F86-4242-9919-4CB6-F2D0F1E34949}"/>
              </a:ext>
            </a:extLst>
          </p:cNvPr>
          <p:cNvSpPr txBox="1"/>
          <p:nvPr/>
        </p:nvSpPr>
        <p:spPr>
          <a:xfrm>
            <a:off x="3445180" y="6113024"/>
            <a:ext cx="4572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3-2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背景信息注入前后的提示词演变对比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13B99F-91D2-88BE-E0FB-BD76380B2183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7 / 36</a:t>
            </a: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9BAB6132-53E7-AC85-C2A6-6C82DDD5169A}"/>
              </a:ext>
            </a:extLst>
          </p:cNvPr>
          <p:cNvGrpSpPr/>
          <p:nvPr/>
        </p:nvGrpSpPr>
        <p:grpSpPr>
          <a:xfrm>
            <a:off x="511326" y="1042416"/>
            <a:ext cx="10666665" cy="4969386"/>
            <a:chOff x="466001" y="902240"/>
            <a:chExt cx="11139910" cy="5307471"/>
          </a:xfrm>
        </p:grpSpPr>
        <p:pic>
          <p:nvPicPr>
            <p:cNvPr id="13" name="内容占位符 22">
              <a:extLst>
                <a:ext uri="{FF2B5EF4-FFF2-40B4-BE49-F238E27FC236}">
                  <a16:creationId xmlns:a16="http://schemas.microsoft.com/office/drawing/2014/main" id="{CC89A706-5194-03C2-468B-3E5D8E564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378" r="22260"/>
            <a:stretch>
              <a:fillRect/>
            </a:stretch>
          </p:blipFill>
          <p:spPr>
            <a:xfrm>
              <a:off x="1168744" y="4404699"/>
              <a:ext cx="758434" cy="736610"/>
            </a:xfrm>
            <a:prstGeom prst="rect">
              <a:avLst/>
            </a:prstGeom>
          </p:spPr>
        </p:pic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E502F00D-C430-75E1-A6C3-B844BA7CF033}"/>
                </a:ext>
              </a:extLst>
            </p:cNvPr>
            <p:cNvSpPr/>
            <p:nvPr/>
          </p:nvSpPr>
          <p:spPr>
            <a:xfrm>
              <a:off x="734901" y="926574"/>
              <a:ext cx="5040000" cy="720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无背景信息（陷入常识）</a:t>
              </a:r>
              <a:endPara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C25BBBDF-7BBB-62F2-677B-3B5900A5F3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70136" y="1755406"/>
              <a:ext cx="547307" cy="540868"/>
            </a:xfrm>
            <a:prstGeom prst="rect">
              <a:avLst/>
            </a:prstGeom>
          </p:spPr>
        </p:pic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ABA043D9-1CD5-07CE-F20E-4B9E67652A17}"/>
                </a:ext>
              </a:extLst>
            </p:cNvPr>
            <p:cNvSpPr/>
            <p:nvPr/>
          </p:nvSpPr>
          <p:spPr>
            <a:xfrm>
              <a:off x="1033690" y="1798527"/>
              <a:ext cx="4320000" cy="819373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“帮我构思一个关于‘城市交通拥堵’的研究课题。”</a:t>
              </a:r>
            </a:p>
          </p:txBody>
        </p:sp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E6F7DA8F-9551-9005-EA38-B3E631B2E8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6001" y="3227507"/>
              <a:ext cx="536007" cy="523685"/>
            </a:xfrm>
            <a:prstGeom prst="rect">
              <a:avLst/>
            </a:prstGeom>
          </p:spPr>
        </p:pic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F86D34A3-05AB-DDAA-5608-EF175906B80E}"/>
                </a:ext>
              </a:extLst>
            </p:cNvPr>
            <p:cNvSpPr/>
            <p:nvPr/>
          </p:nvSpPr>
          <p:spPr>
            <a:xfrm>
              <a:off x="1010276" y="3251570"/>
              <a:ext cx="4320000" cy="745452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研究方案：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1. 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交叉路口红绿灯算法优化；</a:t>
              </a:r>
              <a:endPara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2. 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城市道路拓宽对车流的影响。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”</a:t>
              </a:r>
              <a:endPara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9" name="思想气泡: 云 18">
              <a:extLst>
                <a:ext uri="{FF2B5EF4-FFF2-40B4-BE49-F238E27FC236}">
                  <a16:creationId xmlns:a16="http://schemas.microsoft.com/office/drawing/2014/main" id="{CFD9303A-41BD-7B11-FDFD-7EAAB8E1D13D}"/>
                </a:ext>
              </a:extLst>
            </p:cNvPr>
            <p:cNvSpPr/>
            <p:nvPr/>
          </p:nvSpPr>
          <p:spPr>
            <a:xfrm>
              <a:off x="2293690" y="4275647"/>
              <a:ext cx="3060000" cy="1080000"/>
            </a:xfrm>
            <a:prstGeom prst="cloudCallout">
              <a:avLst>
                <a:gd name="adj1" fmla="val -62779"/>
                <a:gd name="adj2" fmla="val -19301"/>
              </a:avLst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“</a:t>
              </a:r>
              <a:r>
                <a:rPr lang="zh-CN" altLang="en-US" sz="14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这样的回答实在太宽泛了。”</a:t>
              </a:r>
              <a:endParaRPr lang="zh-CN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6E4C6E64-E07E-1333-ED19-8B00010C33F8}"/>
                </a:ext>
              </a:extLst>
            </p:cNvPr>
            <p:cNvSpPr/>
            <p:nvPr/>
          </p:nvSpPr>
          <p:spPr>
            <a:xfrm>
              <a:off x="6418491" y="902240"/>
              <a:ext cx="5040000" cy="7200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注入个性化背景信息（激发创新）</a:t>
              </a:r>
              <a:endPara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56EEE462-4460-42B9-A3AD-724C6C3ECB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058604" y="1768543"/>
              <a:ext cx="547307" cy="540868"/>
            </a:xfrm>
            <a:prstGeom prst="rect">
              <a:avLst/>
            </a:prstGeom>
          </p:spPr>
        </p:pic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608D9B9A-CABD-A865-9EF3-75A207AB908A}"/>
                </a:ext>
              </a:extLst>
            </p:cNvPr>
            <p:cNvSpPr/>
            <p:nvPr/>
          </p:nvSpPr>
          <p:spPr>
            <a:xfrm>
              <a:off x="6728019" y="1798526"/>
              <a:ext cx="4320000" cy="1630473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“帮我构思一个关于研究方向：‘城市交通拥堵’的研究课题。</a:t>
              </a:r>
              <a:endPara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1. 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数据限制：‘我只有共享单车的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GPS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轨迹数据’；</a:t>
              </a:r>
              <a:endPara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2. 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环境变量：‘关注突发性暴雨天气’；</a:t>
              </a:r>
              <a:endPara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3. 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学科偏好：‘融入行为心理学’。”</a:t>
              </a:r>
            </a:p>
          </p:txBody>
        </p:sp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9424E1CB-167E-64D8-DEA8-8861211233A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03632" y="5067285"/>
              <a:ext cx="829034" cy="838618"/>
            </a:xfrm>
            <a:prstGeom prst="rect">
              <a:avLst/>
            </a:prstGeom>
          </p:spPr>
        </p:pic>
        <p:sp>
          <p:nvSpPr>
            <p:cNvPr id="24" name="思想气泡: 云 23">
              <a:extLst>
                <a:ext uri="{FF2B5EF4-FFF2-40B4-BE49-F238E27FC236}">
                  <a16:creationId xmlns:a16="http://schemas.microsoft.com/office/drawing/2014/main" id="{59557D40-B5A2-6E56-A525-5A825C9220C9}"/>
                </a:ext>
              </a:extLst>
            </p:cNvPr>
            <p:cNvSpPr/>
            <p:nvPr/>
          </p:nvSpPr>
          <p:spPr>
            <a:xfrm>
              <a:off x="6811378" y="5129711"/>
              <a:ext cx="3060000" cy="1080000"/>
            </a:xfrm>
            <a:prstGeom prst="cloudCallout">
              <a:avLst>
                <a:gd name="adj1" fmla="val 64241"/>
                <a:gd name="adj2" fmla="val -30822"/>
              </a:avLst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“这真的太好了，它给了我具体客观的课题。”</a:t>
              </a:r>
              <a:endParaRPr lang="zh-CN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40461AC5-B46B-CAB2-70F5-2F2B88CB19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43215" y="3997022"/>
              <a:ext cx="536007" cy="523685"/>
            </a:xfrm>
            <a:prstGeom prst="rect">
              <a:avLst/>
            </a:prstGeom>
          </p:spPr>
        </p:pic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1AC993A0-2E12-369C-BB51-068BCA7159F1}"/>
                </a:ext>
              </a:extLst>
            </p:cNvPr>
            <p:cNvSpPr/>
            <p:nvPr/>
          </p:nvSpPr>
          <p:spPr>
            <a:xfrm>
              <a:off x="6778491" y="4004161"/>
              <a:ext cx="4320000" cy="1058918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研究方案：突发暴雨天气下，微型交通工具（共享单车）的骑行轨迹重构与停放失序的心理归因分析。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”</a:t>
              </a:r>
              <a:endPara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74EA9549-ADCE-A454-1DDB-FAFDC5A69014}"/>
                </a:ext>
              </a:extLst>
            </p:cNvPr>
            <p:cNvCxnSpPr>
              <a:cxnSpLocks/>
            </p:cNvCxnSpPr>
            <p:nvPr/>
          </p:nvCxnSpPr>
          <p:spPr>
            <a:xfrm>
              <a:off x="6083292" y="918970"/>
              <a:ext cx="12708" cy="4680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84736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构建多轮反馈的迭代工作流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7812" y="960120"/>
            <a:ext cx="1159733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认知规律：人脑同时处理信息上限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≈ 7±2 个 →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隐性背景需在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看到选项后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才被触发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91640"/>
            <a:ext cx="2670048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6400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  <a:ea typeface="Arial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849874"/>
            <a:ext cx="193852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初始撒网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11480" y="2377440"/>
            <a:ext cx="2670048" cy="2514600"/>
          </a:xfrm>
          <a:prstGeom prst="rect">
            <a:avLst/>
          </a:prstGeom>
          <a:solidFill>
            <a:srgbClr val="E6F2FC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6072" y="2532888"/>
            <a:ext cx="2340864" cy="1815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给出基础课题背景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，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要求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提供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3-5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个不同方案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切忌让它直接下确定结论</a:t>
            </a:r>
            <a:r>
              <a:rPr sz="15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88036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0066C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691640"/>
            <a:ext cx="2670048" cy="685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91840" y="1691640"/>
            <a:ext cx="6400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  <a:ea typeface="Arial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1849874"/>
            <a:ext cx="193852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筛选批判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200400" y="2377440"/>
            <a:ext cx="2670048" cy="2514600"/>
          </a:xfrm>
          <a:prstGeom prst="rect">
            <a:avLst/>
          </a:prstGeom>
          <a:solidFill>
            <a:srgbClr val="E6F2FC"/>
          </a:solidFill>
          <a:ln w="1587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64992" y="2532888"/>
            <a:ext cx="2340864" cy="14460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明确告诉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你的好恶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："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方案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太保守、C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成本太高，我更倾向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B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的思路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4728" y="288036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691640"/>
            <a:ext cx="2670048" cy="68580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80760" y="1691640"/>
            <a:ext cx="6400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  <a:ea typeface="Arial"/>
              </a:rP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1849874"/>
            <a:ext cx="193852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补充新变量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989320" y="2377440"/>
            <a:ext cx="2670048" cy="2514600"/>
          </a:xfrm>
          <a:prstGeom prst="rect">
            <a:avLst/>
          </a:prstGeom>
          <a:solidFill>
            <a:srgbClr val="E6F2FC"/>
          </a:solidFill>
          <a:ln w="1587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53912" y="2532888"/>
            <a:ext cx="2340864" cy="14460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顺势注入遗漏的隐性条件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："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忘了说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实验场地无排风系统，必须用无毒材料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3648" y="288036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5802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78240" y="1691640"/>
            <a:ext cx="2670048" cy="685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869680" y="1691640"/>
            <a:ext cx="6400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  <a:ea typeface="Arial"/>
              </a:rPr>
              <a:t>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1849874"/>
            <a:ext cx="193852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循环收敛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778240" y="2377440"/>
            <a:ext cx="2670048" cy="2514600"/>
          </a:xfrm>
          <a:prstGeom prst="rect">
            <a:avLst/>
          </a:prstGeom>
          <a:solidFill>
            <a:srgbClr val="E6F2FC"/>
          </a:solidFill>
          <a:ln w="158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42832" y="2532888"/>
            <a:ext cx="2340864" cy="14460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结合反馈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新条件生成新一轮优化选项，深化聚焦，直至找到满意最终解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120640"/>
            <a:ext cx="11140440" cy="13258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212080"/>
            <a:ext cx="109728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核心理念：约束即创造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40080" y="5669280"/>
            <a:ext cx="10972800" cy="680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每一次反馈</a:t>
            </a:r>
            <a:r>
              <a:rPr sz="2000" b="0" i="0" dirty="0">
                <a:solidFill>
                  <a:srgbClr val="FFFFFF"/>
                </a:solidFill>
                <a:latin typeface="Microsoft YaHei"/>
                <a:ea typeface="Microsoft YaHei"/>
              </a:rPr>
              <a:t> = </a:t>
            </a:r>
            <a:r>
              <a:rPr sz="20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为大模型增加一道导航信标，引导其避开死胡同，向最高效研究路径收敛</a:t>
            </a:r>
            <a:r>
              <a:rPr sz="2000" b="0" i="0" dirty="0">
                <a:solidFill>
                  <a:srgbClr val="FFFFFF"/>
                </a:solidFill>
                <a:latin typeface="Microsoft YaHei"/>
                <a:ea typeface="Microsoft YaHei"/>
              </a:rPr>
              <a:t>。
</a:t>
            </a:r>
            <a:r>
              <a:rPr sz="20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不要害怕把劣势（数据少</a:t>
            </a:r>
            <a:r>
              <a:rPr sz="2000" b="0" i="0" dirty="0">
                <a:solidFill>
                  <a:srgbClr val="FFFFFF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设备差</a:t>
            </a:r>
            <a:r>
              <a:rPr sz="2000" b="0" i="0" dirty="0">
                <a:solidFill>
                  <a:srgbClr val="FFFFFF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零预算）告诉</a:t>
            </a:r>
            <a:r>
              <a:rPr sz="2000" b="0" i="0" dirty="0">
                <a:solidFill>
                  <a:srgbClr val="FFFFFF"/>
                </a:solidFill>
                <a:latin typeface="Microsoft YaHei"/>
                <a:ea typeface="Microsoft YaHei"/>
              </a:rPr>
              <a:t> AI — </a:t>
            </a:r>
            <a:r>
              <a:rPr sz="20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这些是过滤空泛想法的优质边界条件</a:t>
            </a:r>
            <a:r>
              <a:rPr sz="2000" b="0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8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3.2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468878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上下文机制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前沿模型上下文窗口可达百万字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（≈ 4-5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本《哈利·波特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》）。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上下文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超级顾问深度推理所必读的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案卷材料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9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理解上下文的累积机制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滚雪球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8443" y="960120"/>
            <a:ext cx="10315972" cy="529208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关键真相：主流大模型本质上是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无状态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的。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它并非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记住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了你，而是每次发送时，系统把全部聊天记录打包重新喂给模型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靠极快运算把整个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聊天剧本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瞬间重读一遍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endParaRPr sz="19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上下文窗口的四大核心组件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①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系统提示词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（后台设定：日期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定位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工具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②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外部文件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（上传的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PDF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③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用户的历史提问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④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模型自身的历史回答</a:t>
            </a:r>
            <a:endParaRPr sz="19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双刃剑：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偏题内容、错误推理（幻觉）也会被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无差别累积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上下文冗余，削弱推理能力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10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100B3-090B-4314-41C2-F911EB16E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278732-1A05-F0EF-9BA0-2BC0B2F4F16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1B2941B2-3C99-0677-DEC4-2B406F9DA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4CB8C8E-0917-6720-8B6F-E3B9B0A740AC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48B654-1760-E55D-69B2-22597C36CC1A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3.2.1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BBB8A3-AA13-1BD1-53E8-23AC4F13BAA9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75B614-5017-6577-AAF8-55DC806C2FCD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理解上下文的累积机制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滚雪球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A1E873-3FDF-65FF-F1E0-EF900498A861}"/>
              </a:ext>
            </a:extLst>
          </p:cNvPr>
          <p:cNvSpPr txBox="1"/>
          <p:nvPr/>
        </p:nvSpPr>
        <p:spPr>
          <a:xfrm>
            <a:off x="3596335" y="6169521"/>
            <a:ext cx="4572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3-4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大模型多轮对话的上下文累积原理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DFFB42-A51D-4F7E-DC5E-4479BF944E8F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10 / 36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849C9332-3BFC-CE50-883B-A20732B49FFC}"/>
              </a:ext>
            </a:extLst>
          </p:cNvPr>
          <p:cNvGrpSpPr/>
          <p:nvPr/>
        </p:nvGrpSpPr>
        <p:grpSpPr>
          <a:xfrm>
            <a:off x="2164047" y="902203"/>
            <a:ext cx="7318165" cy="5009709"/>
            <a:chOff x="1712066" y="198622"/>
            <a:chExt cx="6777539" cy="5610208"/>
          </a:xfrm>
        </p:grpSpPr>
        <p:sp>
          <p:nvSpPr>
            <p:cNvPr id="55" name="矩形: 圆角 54">
              <a:extLst>
                <a:ext uri="{FF2B5EF4-FFF2-40B4-BE49-F238E27FC236}">
                  <a16:creationId xmlns:a16="http://schemas.microsoft.com/office/drawing/2014/main" id="{47448C96-F04B-BE74-F405-693101A67E42}"/>
                </a:ext>
              </a:extLst>
            </p:cNvPr>
            <p:cNvSpPr/>
            <p:nvPr/>
          </p:nvSpPr>
          <p:spPr>
            <a:xfrm>
              <a:off x="1712066" y="230810"/>
              <a:ext cx="1361529" cy="124226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第一轮</a:t>
              </a:r>
              <a:endParaRPr lang="en-US" altLang="zh-CN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56" name="图片 55">
              <a:extLst>
                <a:ext uri="{FF2B5EF4-FFF2-40B4-BE49-F238E27FC236}">
                  <a16:creationId xmlns:a16="http://schemas.microsoft.com/office/drawing/2014/main" id="{C418FDA9-3A18-C8A4-019D-8A4FFA1A51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975040" y="198622"/>
              <a:ext cx="464273" cy="540868"/>
            </a:xfrm>
            <a:prstGeom prst="rect">
              <a:avLst/>
            </a:prstGeom>
          </p:spPr>
        </p:pic>
        <p:sp>
          <p:nvSpPr>
            <p:cNvPr id="57" name="矩形: 圆角 56">
              <a:extLst>
                <a:ext uri="{FF2B5EF4-FFF2-40B4-BE49-F238E27FC236}">
                  <a16:creationId xmlns:a16="http://schemas.microsoft.com/office/drawing/2014/main" id="{6FFF1EF6-EE9B-6DD5-5001-255C78E26A09}"/>
                </a:ext>
              </a:extLst>
            </p:cNvPr>
            <p:cNvSpPr/>
            <p:nvPr/>
          </p:nvSpPr>
          <p:spPr>
            <a:xfrm>
              <a:off x="3969083" y="230811"/>
              <a:ext cx="4003761" cy="654405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A: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系统提示词（隐藏）</a:t>
              </a:r>
              <a:endPara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B: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“帮我制定三天减脂餐。”</a:t>
              </a:r>
            </a:p>
          </p:txBody>
        </p:sp>
        <p:sp>
          <p:nvSpPr>
            <p:cNvPr id="58" name="矩形: 圆角 57">
              <a:extLst>
                <a:ext uri="{FF2B5EF4-FFF2-40B4-BE49-F238E27FC236}">
                  <a16:creationId xmlns:a16="http://schemas.microsoft.com/office/drawing/2014/main" id="{937499C3-AF02-1F96-2B3A-7AB43F6139F8}"/>
                </a:ext>
              </a:extLst>
            </p:cNvPr>
            <p:cNvSpPr/>
            <p:nvPr/>
          </p:nvSpPr>
          <p:spPr>
            <a:xfrm>
              <a:off x="3969082" y="1011634"/>
              <a:ext cx="4003762" cy="461442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C: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“第一天吃沙拉，第二天吃鸡胸肉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...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”</a:t>
              </a:r>
            </a:p>
          </p:txBody>
        </p:sp>
        <p:sp>
          <p:nvSpPr>
            <p:cNvPr id="59" name="矩形: 圆角 58">
              <a:extLst>
                <a:ext uri="{FF2B5EF4-FFF2-40B4-BE49-F238E27FC236}">
                  <a16:creationId xmlns:a16="http://schemas.microsoft.com/office/drawing/2014/main" id="{38A2F397-32D2-8252-D32C-6C83481D6807}"/>
                </a:ext>
              </a:extLst>
            </p:cNvPr>
            <p:cNvSpPr/>
            <p:nvPr/>
          </p:nvSpPr>
          <p:spPr>
            <a:xfrm>
              <a:off x="3969082" y="1600673"/>
              <a:ext cx="4003761" cy="1173566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A: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系统提示词（隐藏）</a:t>
              </a:r>
              <a:endPara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B: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“帮我制定三天减脂餐。”</a:t>
              </a:r>
            </a:p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C: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“第一天吃沙拉，第二天吃鸡胸肉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…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”</a:t>
              </a:r>
              <a:endPara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D: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“我对海鲜过敏，请修改。”</a:t>
              </a:r>
            </a:p>
          </p:txBody>
        </p:sp>
        <p:pic>
          <p:nvPicPr>
            <p:cNvPr id="60" name="图片 59">
              <a:extLst>
                <a:ext uri="{FF2B5EF4-FFF2-40B4-BE49-F238E27FC236}">
                  <a16:creationId xmlns:a16="http://schemas.microsoft.com/office/drawing/2014/main" id="{8FE59FC9-7D9B-671F-1C9F-A28B1FEE06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18865" y="2804466"/>
              <a:ext cx="451947" cy="523685"/>
            </a:xfrm>
            <a:prstGeom prst="rect">
              <a:avLst/>
            </a:prstGeom>
          </p:spPr>
        </p:pic>
        <p:sp>
          <p:nvSpPr>
            <p:cNvPr id="61" name="矩形: 圆角 60">
              <a:extLst>
                <a:ext uri="{FF2B5EF4-FFF2-40B4-BE49-F238E27FC236}">
                  <a16:creationId xmlns:a16="http://schemas.microsoft.com/office/drawing/2014/main" id="{D5CC8D4E-4FE7-8E52-0C29-9894F6706279}"/>
                </a:ext>
              </a:extLst>
            </p:cNvPr>
            <p:cNvSpPr/>
            <p:nvPr/>
          </p:nvSpPr>
          <p:spPr>
            <a:xfrm>
              <a:off x="3969082" y="2837523"/>
              <a:ext cx="4003761" cy="523685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E: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“已将第三天的龙虾替换为牛肉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...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”</a:t>
              </a:r>
            </a:p>
          </p:txBody>
        </p:sp>
        <p:pic>
          <p:nvPicPr>
            <p:cNvPr id="62" name="图片 61">
              <a:extLst>
                <a:ext uri="{FF2B5EF4-FFF2-40B4-BE49-F238E27FC236}">
                  <a16:creationId xmlns:a16="http://schemas.microsoft.com/office/drawing/2014/main" id="{4D81B926-5B1B-9BB0-5FA3-150D9A8841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23135" y="1605149"/>
              <a:ext cx="464273" cy="540868"/>
            </a:xfrm>
            <a:prstGeom prst="rect">
              <a:avLst/>
            </a:prstGeom>
          </p:spPr>
        </p:pic>
        <p:sp>
          <p:nvSpPr>
            <p:cNvPr id="63" name="矩形: 圆角 62">
              <a:extLst>
                <a:ext uri="{FF2B5EF4-FFF2-40B4-BE49-F238E27FC236}">
                  <a16:creationId xmlns:a16="http://schemas.microsoft.com/office/drawing/2014/main" id="{0EDC28CC-5528-35A3-F8E9-9F5010D46926}"/>
                </a:ext>
              </a:extLst>
            </p:cNvPr>
            <p:cNvSpPr/>
            <p:nvPr/>
          </p:nvSpPr>
          <p:spPr>
            <a:xfrm>
              <a:off x="3954872" y="3489444"/>
              <a:ext cx="4003761" cy="1677880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A: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系统提示词（隐藏）</a:t>
              </a:r>
              <a:endPara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B: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“帮我制定三天减脂餐。”</a:t>
              </a:r>
            </a:p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C: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“第一天吃沙拉，第二天吃鸡胸肉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…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”</a:t>
              </a:r>
              <a:endPara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D: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“我对海鲜过敏，请修改。”</a:t>
              </a:r>
            </a:p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E: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“已将第三天的龙虾替换为牛肉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...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”</a:t>
              </a:r>
              <a:endPara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F: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“加上每天的卡路里估算”</a:t>
              </a:r>
            </a:p>
          </p:txBody>
        </p:sp>
        <p:pic>
          <p:nvPicPr>
            <p:cNvPr id="64" name="图片 63">
              <a:extLst>
                <a:ext uri="{FF2B5EF4-FFF2-40B4-BE49-F238E27FC236}">
                  <a16:creationId xmlns:a16="http://schemas.microsoft.com/office/drawing/2014/main" id="{69FEAD76-134A-82E2-0B69-3B07998250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18866" y="1016774"/>
              <a:ext cx="451946" cy="523685"/>
            </a:xfrm>
            <a:prstGeom prst="rect">
              <a:avLst/>
            </a:prstGeom>
          </p:spPr>
        </p:pic>
        <p:sp>
          <p:nvSpPr>
            <p:cNvPr id="65" name="矩形: 圆角 25">
              <a:extLst>
                <a:ext uri="{FF2B5EF4-FFF2-40B4-BE49-F238E27FC236}">
                  <a16:creationId xmlns:a16="http://schemas.microsoft.com/office/drawing/2014/main" id="{2693DF67-A5DD-4FFF-C142-18C02A88BBDC}"/>
                </a:ext>
              </a:extLst>
            </p:cNvPr>
            <p:cNvSpPr/>
            <p:nvPr/>
          </p:nvSpPr>
          <p:spPr>
            <a:xfrm>
              <a:off x="1712066" y="1600675"/>
              <a:ext cx="1361530" cy="176053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第二轮</a:t>
              </a:r>
              <a:endPara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6" name="矩形: 圆角 25">
              <a:extLst>
                <a:ext uri="{FF2B5EF4-FFF2-40B4-BE49-F238E27FC236}">
                  <a16:creationId xmlns:a16="http://schemas.microsoft.com/office/drawing/2014/main" id="{A1B84883-BF7A-00B4-6988-B78558EB83C8}"/>
                </a:ext>
              </a:extLst>
            </p:cNvPr>
            <p:cNvSpPr/>
            <p:nvPr/>
          </p:nvSpPr>
          <p:spPr>
            <a:xfrm>
              <a:off x="1712066" y="3496759"/>
              <a:ext cx="1361530" cy="2249829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第三轮</a:t>
              </a:r>
              <a:endPara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67" name="图片 66">
              <a:extLst>
                <a:ext uri="{FF2B5EF4-FFF2-40B4-BE49-F238E27FC236}">
                  <a16:creationId xmlns:a16="http://schemas.microsoft.com/office/drawing/2014/main" id="{77EC5683-C120-7C62-B55F-50271A70AF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18865" y="5285145"/>
              <a:ext cx="451948" cy="523685"/>
            </a:xfrm>
            <a:prstGeom prst="rect">
              <a:avLst/>
            </a:prstGeom>
          </p:spPr>
        </p:pic>
        <p:sp>
          <p:nvSpPr>
            <p:cNvPr id="68" name="矩形: 圆角 67">
              <a:extLst>
                <a:ext uri="{FF2B5EF4-FFF2-40B4-BE49-F238E27FC236}">
                  <a16:creationId xmlns:a16="http://schemas.microsoft.com/office/drawing/2014/main" id="{F4BFB95F-12F0-BEB0-F782-102C7519F19F}"/>
                </a:ext>
              </a:extLst>
            </p:cNvPr>
            <p:cNvSpPr/>
            <p:nvPr/>
          </p:nvSpPr>
          <p:spPr>
            <a:xfrm>
              <a:off x="3954871" y="5285145"/>
              <a:ext cx="4003761" cy="461443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G: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“包含卡路里计算的最终版食谱”</a:t>
              </a:r>
            </a:p>
          </p:txBody>
        </p:sp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D113396D-C7E9-3C09-1EB8-60F18C4401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23135" y="3496758"/>
              <a:ext cx="466470" cy="5408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7298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52E02-ACEE-1A1B-2E7C-931F4739E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4876655C-1629-AD02-8CB3-05AE1F8E1E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F6A5D5A-541F-C7D8-3BB4-98953B0DD117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67E0BC-FD24-EEBE-3056-3AFCA6D732ED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3.2.2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09E3F4-98B6-6818-FD0F-14163153F777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C5B713-192D-4902-A55F-2C70219A6BAC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全量背景供给的价值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D20C0F-32D6-73DD-D026-93B6DE486E67}"/>
              </a:ext>
            </a:extLst>
          </p:cNvPr>
          <p:cNvSpPr txBox="1"/>
          <p:nvPr/>
        </p:nvSpPr>
        <p:spPr>
          <a:xfrm>
            <a:off x="502919" y="960120"/>
            <a:ext cx="10591495" cy="503605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把大模型想象成一位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不知情的顶级顾问"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你把案卷材料全部推到他桌前，他才能交叉比对、给出极具洞察力的定制化建议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学术场景的正确姿势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✗ 让 AI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自己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 "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猜测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真实意图</a:t>
            </a:r>
            <a:endParaRPr sz="22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任由它凭通用常识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 "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编造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方案</a:t>
            </a:r>
            <a:endParaRPr sz="22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✓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与其让它总结领域现状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直接上传几十篇核心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PDF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✓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与其描述实验瓶颈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喂入数百页手册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+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原始数据表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endParaRPr sz="18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万能指令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0066CC"/>
                </a:solidFill>
                <a:latin typeface="Consolas"/>
                <a:ea typeface="Consolas"/>
              </a:rPr>
              <a:t>请仔细阅读上述所有内容，深度思考后，再基于这些材料回答问题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。"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endParaRPr sz="17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✦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核心不在提示词多华丽，而在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输入材料的丰富度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资料越详实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→ AI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诊断越精准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B38584-B1F8-1FEA-4DCF-9E7165A6C01C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11 / 36</a:t>
            </a:r>
          </a:p>
        </p:txBody>
      </p:sp>
    </p:spTree>
    <p:extLst>
      <p:ext uri="{BB962C8B-B14F-4D97-AF65-F5344CB8AC3E}">
        <p14:creationId xmlns:p14="http://schemas.microsoft.com/office/powerpoint/2010/main" val="2467866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全量背景供给的价值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34196" y="6093435"/>
            <a:ext cx="603655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3-5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零背景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vs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全量背景供给的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决策支持能力对比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11 / 36</a:t>
            </a: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923AA5B4-1C1F-6F35-6C1D-99420F2A2535}"/>
              </a:ext>
            </a:extLst>
          </p:cNvPr>
          <p:cNvGrpSpPr/>
          <p:nvPr/>
        </p:nvGrpSpPr>
        <p:grpSpPr>
          <a:xfrm>
            <a:off x="669944" y="878129"/>
            <a:ext cx="10270248" cy="5151160"/>
            <a:chOff x="566750" y="636422"/>
            <a:chExt cx="11152233" cy="5773170"/>
          </a:xfrm>
        </p:grpSpPr>
        <p:sp>
          <p:nvSpPr>
            <p:cNvPr id="13" name="内容占位符 5">
              <a:extLst>
                <a:ext uri="{FF2B5EF4-FFF2-40B4-BE49-F238E27FC236}">
                  <a16:creationId xmlns:a16="http://schemas.microsoft.com/office/drawing/2014/main" id="{9A875569-9857-70A8-2168-016B0B6A1464}"/>
                </a:ext>
              </a:extLst>
            </p:cNvPr>
            <p:cNvSpPr txBox="1">
              <a:spLocks/>
            </p:cNvSpPr>
            <p:nvPr/>
          </p:nvSpPr>
          <p:spPr>
            <a:xfrm>
              <a:off x="838200" y="636422"/>
              <a:ext cx="5181600" cy="554054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altLang="zh-CN"/>
                <a:t> </a:t>
              </a:r>
              <a:endParaRPr lang="zh-CN" altLang="en-US" dirty="0"/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B1027D5C-2BB1-F4FE-C922-DFEC64602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05962" y="1842977"/>
              <a:ext cx="547307" cy="540868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B0C27FDB-ACA5-0485-959E-EB159A5C1AFB}"/>
                </a:ext>
              </a:extLst>
            </p:cNvPr>
            <p:cNvSpPr/>
            <p:nvPr/>
          </p:nvSpPr>
          <p:spPr>
            <a:xfrm>
              <a:off x="1080121" y="1874875"/>
              <a:ext cx="4320000" cy="648250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“请比较一下研究‘量子计算’和‘计算生物学’的优缺点，哪个更好？”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DE9D2D44-2A95-AD65-5825-04F229820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6750" y="2710567"/>
              <a:ext cx="536007" cy="523685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8BB2708D-B917-0E0B-ACB3-6563D63DAF64}"/>
                </a:ext>
              </a:extLst>
            </p:cNvPr>
            <p:cNvSpPr/>
            <p:nvPr/>
          </p:nvSpPr>
          <p:spPr>
            <a:xfrm>
              <a:off x="1102757" y="2641073"/>
              <a:ext cx="4320000" cy="997952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“量子计算前景广阔但门槛高；计算生物学交叉性强。选择哪个取决于您的个人兴趣和职业规划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……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”</a:t>
              </a:r>
              <a:endPara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77541B3E-269C-EC40-2066-04968AC57ECC}"/>
                </a:ext>
              </a:extLst>
            </p:cNvPr>
            <p:cNvSpPr/>
            <p:nvPr/>
          </p:nvSpPr>
          <p:spPr>
            <a:xfrm>
              <a:off x="6851676" y="1853469"/>
              <a:ext cx="4320001" cy="1094012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“我正在这两个研究方向中纠结。请仔细阅读我上传的本科成绩单、能力评估，以及这两个课题组的研究计划。综合评估我更适合哪一个？”</a:t>
              </a:r>
            </a:p>
          </p:txBody>
        </p:sp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50B8EC4D-90F4-F96F-5656-8467FF558243}"/>
                </a:ext>
              </a:extLst>
            </p:cNvPr>
            <p:cNvSpPr/>
            <p:nvPr/>
          </p:nvSpPr>
          <p:spPr>
            <a:xfrm>
              <a:off x="6851676" y="3626330"/>
              <a:ext cx="4320001" cy="1241586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“由于您的数学推导能力极强，完全契合课题组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A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对底层算法的要求；但课题组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B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的研究计划包含大量湿实验，缺乏化学背景会使起步非常吃力。建议优先选择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A……”</a:t>
              </a:r>
              <a:endPara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BB4C2479-2E7A-556F-DEB0-CF404FB354E8}"/>
                </a:ext>
              </a:extLst>
            </p:cNvPr>
            <p:cNvSpPr/>
            <p:nvPr/>
          </p:nvSpPr>
          <p:spPr>
            <a:xfrm>
              <a:off x="809821" y="866968"/>
              <a:ext cx="5040000" cy="900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零背景提问（通用百科）</a:t>
              </a:r>
              <a:r>
                <a:rPr lang="en-US" altLang="zh-CN" dirty="0"/>
                <a:t>❌</a:t>
              </a:r>
              <a:endPara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9274CE2C-B411-602D-0D1D-CFD16BB293AA}"/>
                </a:ext>
              </a:extLst>
            </p:cNvPr>
            <p:cNvSpPr/>
            <p:nvPr/>
          </p:nvSpPr>
          <p:spPr>
            <a:xfrm>
              <a:off x="6475234" y="867043"/>
              <a:ext cx="5040000" cy="9000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全量背景供给（私人学术顾问）</a:t>
              </a:r>
              <a:r>
                <a:rPr lang="en-US" altLang="zh-CN" dirty="0"/>
                <a:t>✅</a:t>
              </a:r>
              <a:endPara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83FF9211-2E16-62A8-95FA-B0418248C6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65139" y="918970"/>
              <a:ext cx="18154" cy="549062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23" name="内容占位符 22">
              <a:extLst>
                <a:ext uri="{FF2B5EF4-FFF2-40B4-BE49-F238E27FC236}">
                  <a16:creationId xmlns:a16="http://schemas.microsoft.com/office/drawing/2014/main" id="{9CC8376F-2AE6-D561-69A6-2D7239C4AB1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378" r="22260"/>
            <a:stretch>
              <a:fillRect/>
            </a:stretch>
          </p:blipFill>
          <p:spPr>
            <a:xfrm>
              <a:off x="1575160" y="4511128"/>
              <a:ext cx="758434" cy="736610"/>
            </a:xfrm>
            <a:prstGeom prst="rect">
              <a:avLst/>
            </a:prstGeom>
          </p:spPr>
        </p:pic>
        <p:sp>
          <p:nvSpPr>
            <p:cNvPr id="24" name="思想气泡: 云 23">
              <a:extLst>
                <a:ext uri="{FF2B5EF4-FFF2-40B4-BE49-F238E27FC236}">
                  <a16:creationId xmlns:a16="http://schemas.microsoft.com/office/drawing/2014/main" id="{1DDFFBAB-D765-574F-50EE-6A3BFB755056}"/>
                </a:ext>
              </a:extLst>
            </p:cNvPr>
            <p:cNvSpPr/>
            <p:nvPr/>
          </p:nvSpPr>
          <p:spPr>
            <a:xfrm>
              <a:off x="2641917" y="4264427"/>
              <a:ext cx="2486410" cy="997952"/>
            </a:xfrm>
            <a:prstGeom prst="cloudCallout">
              <a:avLst>
                <a:gd name="adj1" fmla="val -62779"/>
                <a:gd name="adj2" fmla="val -19301"/>
              </a:avLst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“</a:t>
              </a:r>
              <a:r>
                <a:rPr lang="zh-CN" altLang="en-US" sz="14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这听起来就像是网络上的通用化知识。”</a:t>
              </a:r>
              <a:endParaRPr lang="zh-CN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8C1505E5-9179-B1A9-BBF0-CB8EAC215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42642" y="5144749"/>
              <a:ext cx="829034" cy="838618"/>
            </a:xfrm>
            <a:prstGeom prst="rect">
              <a:avLst/>
            </a:prstGeom>
          </p:spPr>
        </p:pic>
        <p:sp>
          <p:nvSpPr>
            <p:cNvPr id="26" name="思想气泡: 云 25">
              <a:extLst>
                <a:ext uri="{FF2B5EF4-FFF2-40B4-BE49-F238E27FC236}">
                  <a16:creationId xmlns:a16="http://schemas.microsoft.com/office/drawing/2014/main" id="{0AC3090F-9088-D586-F139-C1E35652A122}"/>
                </a:ext>
              </a:extLst>
            </p:cNvPr>
            <p:cNvSpPr/>
            <p:nvPr/>
          </p:nvSpPr>
          <p:spPr>
            <a:xfrm>
              <a:off x="6790928" y="5172437"/>
              <a:ext cx="3215568" cy="929225"/>
            </a:xfrm>
            <a:prstGeom prst="cloudCallout">
              <a:avLst>
                <a:gd name="adj1" fmla="val 64241"/>
                <a:gd name="adj2" fmla="val -30822"/>
              </a:avLst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“非常适合，高度定制化的专家。”</a:t>
              </a:r>
              <a:endParaRPr lang="zh-CN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27" name="图片 26">
              <a:extLst>
                <a:ext uri="{FF2B5EF4-FFF2-40B4-BE49-F238E27FC236}">
                  <a16:creationId xmlns:a16="http://schemas.microsoft.com/office/drawing/2014/main" id="{CDBD67FF-8FF7-5625-54A3-8617E6C8E2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71676" y="1874875"/>
              <a:ext cx="547307" cy="540868"/>
            </a:xfrm>
            <a:prstGeom prst="rect">
              <a:avLst/>
            </a:prstGeom>
          </p:spPr>
        </p:pic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A8B02851-4DB3-5EA4-9478-9882285DFD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4922" y="3626330"/>
              <a:ext cx="536007" cy="523685"/>
            </a:xfrm>
            <a:prstGeom prst="rect">
              <a:avLst/>
            </a:prstGeom>
          </p:spPr>
        </p:pic>
        <p:pic>
          <p:nvPicPr>
            <p:cNvPr id="29" name="图片 28">
              <a:extLst>
                <a:ext uri="{FF2B5EF4-FFF2-40B4-BE49-F238E27FC236}">
                  <a16:creationId xmlns:a16="http://schemas.microsoft.com/office/drawing/2014/main" id="{B4D47F91-7925-57F3-60A8-AB4D2B020A45}"/>
                </a:ext>
              </a:extLst>
            </p:cNvPr>
            <p:cNvPicPr>
              <a:picLocks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6" t="23745" r="-456" b="33711"/>
            <a:stretch>
              <a:fillRect/>
            </a:stretch>
          </p:blipFill>
          <p:spPr>
            <a:xfrm>
              <a:off x="7867403" y="2987625"/>
              <a:ext cx="2255662" cy="63870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上下文污染与对话重置时机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19" y="960120"/>
            <a:ext cx="10388399" cy="526354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上下文污染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(Context Pollution)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大模型无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遗忘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与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注意力转移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能力，只会机械读取全部历史。从专业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课题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A"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突然切到无关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问题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B" →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前者的术语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语气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代码逻辑会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串味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迁移到后者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⚠ 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遗忘指令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为何失效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请忘记前面的设定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本身也会成为上下文的一部分，无法彻底清除前期污染的深层影响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黄金法则（简单粗暴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）：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dirty="0">
                <a:solidFill>
                  <a:srgbClr val="F58020"/>
                </a:solidFill>
                <a:latin typeface="Microsoft YaHei"/>
                <a:ea typeface="Microsoft YaHei"/>
              </a:rPr>
              <a:t>        </a:t>
            </a:r>
            <a:r>
              <a:rPr sz="26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新任务</a:t>
            </a:r>
            <a:r>
              <a:rPr sz="2600" b="1" dirty="0">
                <a:solidFill>
                  <a:srgbClr val="F58020"/>
                </a:solidFill>
                <a:latin typeface="Microsoft YaHei"/>
                <a:ea typeface="Microsoft YaHei"/>
              </a:rPr>
              <a:t>  =  </a:t>
            </a:r>
            <a:r>
              <a:rPr sz="26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新对话</a:t>
            </a:r>
            <a:endParaRPr sz="26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探讨全新领域，或发现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被早期失败逻辑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带偏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时 →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毫不犹豫点击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新建对话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，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更换一张干净白纸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✦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清空背景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 与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提供全量背景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具有同等战略地位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12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52B2F-CE35-9C81-9021-A58C50AC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78F827-722B-D4C0-4CF0-6309585A044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A3B4FF47-15BD-FE4D-53B8-2C6251E49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DD1788E-5D50-B9F1-D5CF-7A9E5B58A91E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F58033-89BF-9818-22E5-023691D6FE53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3.2.3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5410FB-C702-A028-4C83-5B0337F92DAB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A998A4-AE43-61B3-2BF1-9EAB822D3E39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上下文污染与对话重置时机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F65D33-3800-3EBD-5F07-70FC07FF983C}"/>
              </a:ext>
            </a:extLst>
          </p:cNvPr>
          <p:cNvSpPr txBox="1"/>
          <p:nvPr/>
        </p:nvSpPr>
        <p:spPr>
          <a:xfrm>
            <a:off x="3261208" y="6327779"/>
            <a:ext cx="4572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3-6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上下文污染导致的任务逻辑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串味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B31D43-5A87-7E19-EB1A-F14B2030E791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12 / 36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FA00B92B-D6A1-AB47-C5B5-0B7D2DD56EFF}"/>
              </a:ext>
            </a:extLst>
          </p:cNvPr>
          <p:cNvGrpSpPr/>
          <p:nvPr/>
        </p:nvGrpSpPr>
        <p:grpSpPr>
          <a:xfrm>
            <a:off x="1230213" y="898355"/>
            <a:ext cx="9189956" cy="5366116"/>
            <a:chOff x="544114" y="92040"/>
            <a:chExt cx="11250756" cy="6317552"/>
          </a:xfrm>
        </p:grpSpPr>
        <p:sp>
          <p:nvSpPr>
            <p:cNvPr id="14" name="内容占位符 5">
              <a:extLst>
                <a:ext uri="{FF2B5EF4-FFF2-40B4-BE49-F238E27FC236}">
                  <a16:creationId xmlns:a16="http://schemas.microsoft.com/office/drawing/2014/main" id="{F35A9361-F071-79D6-AD76-15E65905C95D}"/>
                </a:ext>
              </a:extLst>
            </p:cNvPr>
            <p:cNvSpPr txBox="1">
              <a:spLocks/>
            </p:cNvSpPr>
            <p:nvPr/>
          </p:nvSpPr>
          <p:spPr>
            <a:xfrm>
              <a:off x="838200" y="636422"/>
              <a:ext cx="5181600" cy="554054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altLang="zh-CN"/>
                <a:t> </a:t>
              </a:r>
              <a:endParaRPr lang="zh-CN" altLang="en-US" dirty="0"/>
            </a:p>
          </p:txBody>
        </p:sp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E88BF496-5632-9793-9EF7-73E8369E3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05962" y="1842977"/>
              <a:ext cx="547307" cy="540868"/>
            </a:xfrm>
            <a:prstGeom prst="rect">
              <a:avLst/>
            </a:prstGeom>
          </p:spPr>
        </p:pic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F6FB6049-9F5C-E6CC-BC56-B2965FCC0D75}"/>
                </a:ext>
              </a:extLst>
            </p:cNvPr>
            <p:cNvSpPr/>
            <p:nvPr/>
          </p:nvSpPr>
          <p:spPr>
            <a:xfrm>
              <a:off x="666570" y="1874874"/>
              <a:ext cx="4733551" cy="1037211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“请帮我写一段 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Python 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代码，用于抓取过去十年的股票金融数据，重点计算复合年均增长率（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CAGR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）和风险回撤。”</a:t>
              </a:r>
            </a:p>
          </p:txBody>
        </p:sp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94694849-C005-C237-454B-56BE29A261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4114" y="3479559"/>
              <a:ext cx="536007" cy="523685"/>
            </a:xfrm>
            <a:prstGeom prst="rect">
              <a:avLst/>
            </a:prstGeom>
          </p:spPr>
        </p:pic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4E04DF23-429E-8349-A50C-2CD6C0C65F78}"/>
                </a:ext>
              </a:extLst>
            </p:cNvPr>
            <p:cNvSpPr/>
            <p:nvPr/>
          </p:nvSpPr>
          <p:spPr>
            <a:xfrm>
              <a:off x="1062960" y="3635859"/>
              <a:ext cx="4320000" cy="570171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“已为您生成数据抓取脚本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……”</a:t>
              </a:r>
              <a:endPara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44A43B94-C158-A120-3DFF-4CDBC81B941B}"/>
                </a:ext>
              </a:extLst>
            </p:cNvPr>
            <p:cNvSpPr/>
            <p:nvPr/>
          </p:nvSpPr>
          <p:spPr>
            <a:xfrm>
              <a:off x="6851676" y="1853469"/>
              <a:ext cx="4320001" cy="1094012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“今天是我妻子的生日，请帮我写一封简短浪漫的生日邮件。”</a:t>
              </a:r>
            </a:p>
          </p:txBody>
        </p:sp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412C5E05-407B-C090-90A7-49F2829AA8DD}"/>
                </a:ext>
              </a:extLst>
            </p:cNvPr>
            <p:cNvSpPr/>
            <p:nvPr/>
          </p:nvSpPr>
          <p:spPr>
            <a:xfrm>
              <a:off x="6851674" y="3238267"/>
              <a:ext cx="4798952" cy="1899645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“亲爱的老婆，祝你生日快乐！在我们婚姻的资产负债表上，你是我最核心的优质资产。我们的爱在过去几年实现了惊人的复合年均增长率，且没有任何风险回撤。愿我们未来的基本面永远向好！”</a:t>
              </a:r>
              <a:endPara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653C3AF4-3811-31F3-8239-96385568082A}"/>
                </a:ext>
              </a:extLst>
            </p:cNvPr>
            <p:cNvSpPr/>
            <p:nvPr/>
          </p:nvSpPr>
          <p:spPr>
            <a:xfrm>
              <a:off x="809821" y="866968"/>
              <a:ext cx="5040000" cy="900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历史任务 </a:t>
              </a:r>
              <a:r>
                <a:rPr lang="en-US" altLang="zh-CN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A</a:t>
              </a:r>
              <a:r>
                <a:rPr lang="zh-CN" altLang="en-US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：高度专业</a:t>
              </a:r>
              <a:endPara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26878018-89ED-2893-D3E5-929C4A1612FF}"/>
                </a:ext>
              </a:extLst>
            </p:cNvPr>
            <p:cNvSpPr/>
            <p:nvPr/>
          </p:nvSpPr>
          <p:spPr>
            <a:xfrm>
              <a:off x="6475234" y="867043"/>
              <a:ext cx="5040000" cy="9000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新任务 </a:t>
              </a:r>
              <a:r>
                <a:rPr lang="en-US" altLang="zh-CN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B</a:t>
              </a:r>
              <a:r>
                <a:rPr lang="zh-CN" altLang="en-US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：生活情感（发生污染）</a:t>
              </a:r>
              <a:endPara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19DB1729-B6D8-679F-A4A0-FAE5B4BF95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65139" y="918970"/>
              <a:ext cx="18154" cy="549062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24" name="内容占位符 22">
              <a:extLst>
                <a:ext uri="{FF2B5EF4-FFF2-40B4-BE49-F238E27FC236}">
                  <a16:creationId xmlns:a16="http://schemas.microsoft.com/office/drawing/2014/main" id="{5DDCA8A2-3B6A-D806-3DDD-2B98CED5B9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378" r="22260"/>
            <a:stretch>
              <a:fillRect/>
            </a:stretch>
          </p:blipFill>
          <p:spPr>
            <a:xfrm>
              <a:off x="10595366" y="5292489"/>
              <a:ext cx="758434" cy="736610"/>
            </a:xfrm>
            <a:prstGeom prst="rect">
              <a:avLst/>
            </a:prstGeom>
          </p:spPr>
        </p:pic>
        <p:sp>
          <p:nvSpPr>
            <p:cNvPr id="25" name="思想气泡: 云 24">
              <a:extLst>
                <a:ext uri="{FF2B5EF4-FFF2-40B4-BE49-F238E27FC236}">
                  <a16:creationId xmlns:a16="http://schemas.microsoft.com/office/drawing/2014/main" id="{459D6972-0561-EAFE-2A32-76C8D55B1751}"/>
                </a:ext>
              </a:extLst>
            </p:cNvPr>
            <p:cNvSpPr/>
            <p:nvPr/>
          </p:nvSpPr>
          <p:spPr>
            <a:xfrm>
              <a:off x="2528807" y="4750412"/>
              <a:ext cx="2571985" cy="982227"/>
            </a:xfrm>
            <a:prstGeom prst="cloudCallout">
              <a:avLst>
                <a:gd name="adj1" fmla="val -62779"/>
                <a:gd name="adj2" fmla="val -19301"/>
              </a:avLst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“</a:t>
              </a:r>
              <a:r>
                <a:rPr lang="zh-CN" altLang="en-US" sz="14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非常专业的回答，能解决大部分问题。”</a:t>
              </a:r>
              <a:endParaRPr lang="zh-CN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26" name="图片 25">
              <a:extLst>
                <a:ext uri="{FF2B5EF4-FFF2-40B4-BE49-F238E27FC236}">
                  <a16:creationId xmlns:a16="http://schemas.microsoft.com/office/drawing/2014/main" id="{FB694061-8F86-C55E-A000-894F25EB2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14688" y="4972990"/>
              <a:ext cx="829034" cy="838618"/>
            </a:xfrm>
            <a:prstGeom prst="rect">
              <a:avLst/>
            </a:prstGeom>
          </p:spPr>
        </p:pic>
        <p:sp>
          <p:nvSpPr>
            <p:cNvPr id="27" name="思想气泡: 云 26">
              <a:extLst>
                <a:ext uri="{FF2B5EF4-FFF2-40B4-BE49-F238E27FC236}">
                  <a16:creationId xmlns:a16="http://schemas.microsoft.com/office/drawing/2014/main" id="{511B2CE7-C84E-C107-3A8D-B3BA71FBB298}"/>
                </a:ext>
              </a:extLst>
            </p:cNvPr>
            <p:cNvSpPr/>
            <p:nvPr/>
          </p:nvSpPr>
          <p:spPr>
            <a:xfrm>
              <a:off x="6934514" y="5247738"/>
              <a:ext cx="3071983" cy="853924"/>
            </a:xfrm>
            <a:prstGeom prst="cloudCallout">
              <a:avLst>
                <a:gd name="adj1" fmla="val 64241"/>
                <a:gd name="adj2" fmla="val -30822"/>
              </a:avLst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“这听起来就没有浪漫的氛围！”</a:t>
              </a:r>
              <a:endParaRPr lang="zh-CN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35837855-9572-5FDA-8F62-5FA4A8A2E9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47563" y="1874874"/>
              <a:ext cx="547307" cy="540868"/>
            </a:xfrm>
            <a:prstGeom prst="rect">
              <a:avLst/>
            </a:prstGeom>
          </p:spPr>
        </p:pic>
        <p:pic>
          <p:nvPicPr>
            <p:cNvPr id="29" name="图片 28">
              <a:extLst>
                <a:ext uri="{FF2B5EF4-FFF2-40B4-BE49-F238E27FC236}">
                  <a16:creationId xmlns:a16="http://schemas.microsoft.com/office/drawing/2014/main" id="{C8AF7484-CAD2-DC41-8173-E53AF4A6C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4922" y="3238268"/>
              <a:ext cx="536007" cy="523685"/>
            </a:xfrm>
            <a:prstGeom prst="rect">
              <a:avLst/>
            </a:prstGeom>
          </p:spPr>
        </p:pic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AA6888BB-434D-628B-1EA4-A7AF72E421E2}"/>
                </a:ext>
              </a:extLst>
            </p:cNvPr>
            <p:cNvSpPr/>
            <p:nvPr/>
          </p:nvSpPr>
          <p:spPr>
            <a:xfrm>
              <a:off x="3563293" y="92040"/>
              <a:ext cx="5040000" cy="72720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同一上下文窗口</a:t>
              </a:r>
              <a:endPara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07CFD686-D19E-E775-5A84-DA26292A7C3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5" t="18653" r="-445" b="13451"/>
            <a:stretch>
              <a:fillRect/>
            </a:stretch>
          </p:blipFill>
          <p:spPr>
            <a:xfrm>
              <a:off x="2280356" y="2959850"/>
              <a:ext cx="1878483" cy="6650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260061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3.3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51460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克服</a:t>
            </a:r>
            <a:r>
              <a:rPr sz="4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的迎合本能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将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从只会称赞的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马屁精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转变为能主动指出学术漏洞的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诤友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理解迎合根源，激活客观批判能力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13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阿谀奉承现象与产生根源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844034"/>
            <a:ext cx="11619670" cy="529195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墙头草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实验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问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远程办公是不是好得多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？" → 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力挺远程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问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去公司是不是效率更高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？"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同一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立刻倒戈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日常闲聊提供情绪价值，严肃科研中却是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致命的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根源：RLHF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的不可避免副作用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基于人类反馈的强化学习中，人类标注员打分时难以摆脱心理弱点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客观但刺耳的反驳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人类不悦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低分</a:t>
            </a:r>
            <a:endParaRPr sz="22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顺心意的赞同夸奖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人类愉悦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高分</a:t>
            </a:r>
            <a:endParaRPr sz="17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AI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只是无情的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高分优化器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—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它学到一条捷径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赞同用户观点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  = 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获取高分奖励</a:t>
            </a:r>
            <a:endParaRPr sz="22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endParaRPr sz="19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迎合是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AI 为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讨好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人类演化的生存策略，严重牺牲了事实客观性与学术严谨性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14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1FA7B-3E1C-A38D-462B-0B3F5FE5A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6C4F45-76F5-1468-9803-62CB9612CE7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9FBA2A1A-DE0B-9315-A24F-6CD1C73AE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8111998-0FAC-79A8-88C5-042A0738D743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54A7BD-8298-20D6-B93A-C6B345618EFC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3.3.1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5BF494-DE5C-5D33-7C05-99AF79491AE9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EAE0C5-8B94-3B56-6585-32923D082BE8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阿谀奉承现象与产生根源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645B70-0278-86E8-CC68-C2687626D817}"/>
              </a:ext>
            </a:extLst>
          </p:cNvPr>
          <p:cNvSpPr txBox="1"/>
          <p:nvPr/>
        </p:nvSpPr>
        <p:spPr>
          <a:xfrm>
            <a:off x="3002128" y="6086118"/>
            <a:ext cx="580689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3-7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人类反馈强化学习引发大模型迎合本能机制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032DE3-AF79-FE58-B833-9FB7E906795B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14 / 36</a:t>
            </a: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8389205B-2834-D6BA-F8FD-7BDD75B168CE}"/>
              </a:ext>
            </a:extLst>
          </p:cNvPr>
          <p:cNvGrpSpPr/>
          <p:nvPr/>
        </p:nvGrpSpPr>
        <p:grpSpPr>
          <a:xfrm>
            <a:off x="960120" y="946943"/>
            <a:ext cx="10270235" cy="5271549"/>
            <a:chOff x="748573" y="12126"/>
            <a:chExt cx="12269396" cy="6164837"/>
          </a:xfrm>
        </p:grpSpPr>
        <p:sp>
          <p:nvSpPr>
            <p:cNvPr id="13" name="内容占位符 5">
              <a:extLst>
                <a:ext uri="{FF2B5EF4-FFF2-40B4-BE49-F238E27FC236}">
                  <a16:creationId xmlns:a16="http://schemas.microsoft.com/office/drawing/2014/main" id="{67399DCC-5094-B9CE-544C-5187416C3D59}"/>
                </a:ext>
              </a:extLst>
            </p:cNvPr>
            <p:cNvSpPr txBox="1">
              <a:spLocks/>
            </p:cNvSpPr>
            <p:nvPr/>
          </p:nvSpPr>
          <p:spPr>
            <a:xfrm>
              <a:off x="838200" y="636422"/>
              <a:ext cx="5181600" cy="554054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altLang="zh-CN"/>
                <a:t> </a:t>
              </a:r>
              <a:endParaRPr lang="zh-CN" altLang="en-US" dirty="0"/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AB1A26B4-3D35-F14C-81D9-8455A58500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40076" y="12126"/>
              <a:ext cx="547307" cy="540868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E6213CB5-74CE-C83B-36CF-F4980DDC9DC8}"/>
                </a:ext>
              </a:extLst>
            </p:cNvPr>
            <p:cNvSpPr/>
            <p:nvPr/>
          </p:nvSpPr>
          <p:spPr>
            <a:xfrm>
              <a:off x="3914235" y="44024"/>
              <a:ext cx="4320000" cy="764196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“我觉得内向的人比外向的人更适合做科研，你同意吗？” 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AEB6A5BF-F730-CE8E-BC31-75961D5FB6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2278" y="2330641"/>
              <a:ext cx="536007" cy="523685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EAE4C0FE-5965-C9DF-C909-52688119864D}"/>
                </a:ext>
              </a:extLst>
            </p:cNvPr>
            <p:cNvSpPr/>
            <p:nvPr/>
          </p:nvSpPr>
          <p:spPr>
            <a:xfrm>
              <a:off x="1284579" y="2338267"/>
              <a:ext cx="4538886" cy="952392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“不完全同意。研究表明性格内外向与科研成就无绝对关联，外向者在学术社交和资源获取上更具优势。”</a:t>
              </a:r>
              <a:endPara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71FD18B4-31BA-761A-98C9-2A894E138B51}"/>
                </a:ext>
              </a:extLst>
            </p:cNvPr>
            <p:cNvSpPr/>
            <p:nvPr/>
          </p:nvSpPr>
          <p:spPr>
            <a:xfrm>
              <a:off x="6911890" y="2338268"/>
              <a:ext cx="5115584" cy="1007228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“我非常赞同您的观点！这是一个深刻的洞察。内向的人通常专注力更强，更适合长时间的实验室工作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……”</a:t>
              </a:r>
              <a:endPara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44A59EC3-1821-CD13-32A3-33033D0A0F97}"/>
                </a:ext>
              </a:extLst>
            </p:cNvPr>
            <p:cNvSpPr/>
            <p:nvPr/>
          </p:nvSpPr>
          <p:spPr>
            <a:xfrm>
              <a:off x="792861" y="1123244"/>
              <a:ext cx="5040000" cy="900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客观反驳</a:t>
              </a:r>
              <a:endPara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4D65378E-71B1-C234-B0B6-E23931B65BA8}"/>
                </a:ext>
              </a:extLst>
            </p:cNvPr>
            <p:cNvSpPr/>
            <p:nvPr/>
          </p:nvSpPr>
          <p:spPr>
            <a:xfrm>
              <a:off x="6359139" y="1129581"/>
              <a:ext cx="5040000" cy="9000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迎合顺从</a:t>
              </a:r>
              <a:endPara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F15EEDC8-C945-A835-C1DE-FC1550CC170E}"/>
                </a:ext>
              </a:extLst>
            </p:cNvPr>
            <p:cNvCxnSpPr>
              <a:cxnSpLocks/>
            </p:cNvCxnSpPr>
            <p:nvPr/>
          </p:nvCxnSpPr>
          <p:spPr>
            <a:xfrm>
              <a:off x="6092389" y="1123245"/>
              <a:ext cx="94326" cy="457796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22" name="内容占位符 22">
              <a:extLst>
                <a:ext uri="{FF2B5EF4-FFF2-40B4-BE49-F238E27FC236}">
                  <a16:creationId xmlns:a16="http://schemas.microsoft.com/office/drawing/2014/main" id="{C74A2FE7-9EDF-B244-BD22-14142A898E8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378" r="22260"/>
            <a:stretch>
              <a:fillRect/>
            </a:stretch>
          </p:blipFill>
          <p:spPr>
            <a:xfrm>
              <a:off x="1504370" y="4654616"/>
              <a:ext cx="758434" cy="736610"/>
            </a:xfrm>
            <a:prstGeom prst="rect">
              <a:avLst/>
            </a:prstGeom>
          </p:spPr>
        </p:pic>
        <p:sp>
          <p:nvSpPr>
            <p:cNvPr id="23" name="思想气泡: 云 22">
              <a:extLst>
                <a:ext uri="{FF2B5EF4-FFF2-40B4-BE49-F238E27FC236}">
                  <a16:creationId xmlns:a16="http://schemas.microsoft.com/office/drawing/2014/main" id="{D43569B1-F0C1-38B5-D991-04EF16DA413C}"/>
                </a:ext>
              </a:extLst>
            </p:cNvPr>
            <p:cNvSpPr/>
            <p:nvPr/>
          </p:nvSpPr>
          <p:spPr>
            <a:xfrm>
              <a:off x="2478871" y="4502764"/>
              <a:ext cx="2416258" cy="880301"/>
            </a:xfrm>
            <a:prstGeom prst="cloudCallout">
              <a:avLst>
                <a:gd name="adj1" fmla="val -62779"/>
                <a:gd name="adj2" fmla="val -19301"/>
              </a:avLst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“令人不悦 ，感到被否定”</a:t>
              </a:r>
              <a:endParaRPr lang="zh-CN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8B1941B5-F396-5AC4-6CBF-663EE23A2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34978" y="4424231"/>
              <a:ext cx="829034" cy="838618"/>
            </a:xfrm>
            <a:prstGeom prst="rect">
              <a:avLst/>
            </a:prstGeom>
          </p:spPr>
        </p:pic>
        <p:sp>
          <p:nvSpPr>
            <p:cNvPr id="25" name="思想气泡: 云 24">
              <a:extLst>
                <a:ext uri="{FF2B5EF4-FFF2-40B4-BE49-F238E27FC236}">
                  <a16:creationId xmlns:a16="http://schemas.microsoft.com/office/drawing/2014/main" id="{6C0A9702-8E9C-3C76-6217-A60F659FCB9B}"/>
                </a:ext>
              </a:extLst>
            </p:cNvPr>
            <p:cNvSpPr/>
            <p:nvPr/>
          </p:nvSpPr>
          <p:spPr>
            <a:xfrm>
              <a:off x="6887095" y="4345694"/>
              <a:ext cx="3071983" cy="853924"/>
            </a:xfrm>
            <a:prstGeom prst="cloudCallout">
              <a:avLst>
                <a:gd name="adj1" fmla="val 64241"/>
                <a:gd name="adj2" fmla="val -30822"/>
              </a:avLst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“令人愉悦，情绪价值高”</a:t>
              </a:r>
              <a:endParaRPr lang="zh-CN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26" name="图片 25">
              <a:extLst>
                <a:ext uri="{FF2B5EF4-FFF2-40B4-BE49-F238E27FC236}">
                  <a16:creationId xmlns:a16="http://schemas.microsoft.com/office/drawing/2014/main" id="{4317AA0B-625C-5A75-5522-15769F6FC8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15136" y="2338268"/>
              <a:ext cx="536007" cy="523685"/>
            </a:xfrm>
            <a:prstGeom prst="rect">
              <a:avLst/>
            </a:prstGeom>
          </p:spPr>
        </p:pic>
        <p:sp>
          <p:nvSpPr>
            <p:cNvPr id="27" name="箭头: 下 26">
              <a:extLst>
                <a:ext uri="{FF2B5EF4-FFF2-40B4-BE49-F238E27FC236}">
                  <a16:creationId xmlns:a16="http://schemas.microsoft.com/office/drawing/2014/main" id="{46F5EEEE-5437-CB1F-AA02-6A8CEE3293E0}"/>
                </a:ext>
              </a:extLst>
            </p:cNvPr>
            <p:cNvSpPr/>
            <p:nvPr/>
          </p:nvSpPr>
          <p:spPr>
            <a:xfrm rot="2178410">
              <a:off x="5779978" y="827026"/>
              <a:ext cx="262647" cy="387739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箭头: 下 27">
              <a:extLst>
                <a:ext uri="{FF2B5EF4-FFF2-40B4-BE49-F238E27FC236}">
                  <a16:creationId xmlns:a16="http://schemas.microsoft.com/office/drawing/2014/main" id="{30EB1687-DE0B-5402-F91F-1E647F0AADAF}"/>
                </a:ext>
              </a:extLst>
            </p:cNvPr>
            <p:cNvSpPr/>
            <p:nvPr/>
          </p:nvSpPr>
          <p:spPr>
            <a:xfrm rot="19116314">
              <a:off x="6149482" y="827028"/>
              <a:ext cx="262647" cy="387739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07290094-E802-B9D2-43E2-EA01106C844C}"/>
                </a:ext>
              </a:extLst>
            </p:cNvPr>
            <p:cNvSpPr txBox="1"/>
            <p:nvPr/>
          </p:nvSpPr>
          <p:spPr>
            <a:xfrm>
              <a:off x="1282106" y="3619430"/>
              <a:ext cx="44584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zh-CN" sz="1600" dirty="0">
                  <a:solidFill>
                    <a:srgbClr val="1F1F1F"/>
                  </a:solidFill>
                  <a:effectLst/>
                  <a:latin typeface="Calibri" panose="020F0502020204030204" pitchFamily="34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惩罚机制触发，降低此类回答的生成概率</a:t>
              </a:r>
              <a:r>
                <a:rPr lang="zh-CN" altLang="zh-CN" sz="1800" dirty="0">
                  <a:solidFill>
                    <a:srgbClr val="1F1F1F"/>
                  </a:solidFill>
                  <a:effectLst/>
                  <a:latin typeface="Calibri" panose="020F0502020204030204" pitchFamily="34" charset="0"/>
                  <a:ea typeface="宋体" panose="02010600030101010101" pitchFamily="2" charset="-122"/>
                  <a:cs typeface="Times New Roman" panose="02020603050405020304" pitchFamily="18" charset="0"/>
                </a:rPr>
                <a:t>。</a:t>
              </a:r>
              <a:endParaRPr lang="zh-CN" altLang="en-US" dirty="0"/>
            </a:p>
          </p:txBody>
        </p:sp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1705310C-C6A6-2CCB-89EC-8660508880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8573" y="3539505"/>
              <a:ext cx="536007" cy="523685"/>
            </a:xfrm>
            <a:prstGeom prst="rect">
              <a:avLst/>
            </a:prstGeom>
          </p:spPr>
        </p:pic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9BBA5CB3-DEE0-927A-D3BE-A5A72C2A46E3}"/>
                </a:ext>
              </a:extLst>
            </p:cNvPr>
            <p:cNvSpPr txBox="1"/>
            <p:nvPr/>
          </p:nvSpPr>
          <p:spPr>
            <a:xfrm>
              <a:off x="6923592" y="3667502"/>
              <a:ext cx="6094377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zh-CN" sz="1600" dirty="0">
                  <a:solidFill>
                    <a:srgbClr val="1F1F1F"/>
                  </a:solidFill>
                  <a:effectLst/>
                  <a:latin typeface="Calibri" panose="020F0502020204030204" pitchFamily="34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奖励机制触发，大幅提高此类回答的生成概率。</a:t>
              </a:r>
              <a:endParaRPr lang="zh-CN" altLang="en-US" sz="1600" dirty="0"/>
            </a:p>
          </p:txBody>
        </p:sp>
        <p:pic>
          <p:nvPicPr>
            <p:cNvPr id="32" name="图片 31">
              <a:extLst>
                <a:ext uri="{FF2B5EF4-FFF2-40B4-BE49-F238E27FC236}">
                  <a16:creationId xmlns:a16="http://schemas.microsoft.com/office/drawing/2014/main" id="{FAFE6690-CFD7-FBD2-B800-4B745CC8B71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95610" y="3531831"/>
              <a:ext cx="536007" cy="523685"/>
            </a:xfrm>
            <a:prstGeom prst="rect">
              <a:avLst/>
            </a:prstGeom>
          </p:spPr>
        </p:pic>
        <p:sp>
          <p:nvSpPr>
            <p:cNvPr id="33" name="箭头: 下弧形 32">
              <a:extLst>
                <a:ext uri="{FF2B5EF4-FFF2-40B4-BE49-F238E27FC236}">
                  <a16:creationId xmlns:a16="http://schemas.microsoft.com/office/drawing/2014/main" id="{3F2B25EB-2E97-0959-5F00-34F2BFF045CA}"/>
                </a:ext>
              </a:extLst>
            </p:cNvPr>
            <p:cNvSpPr/>
            <p:nvPr/>
          </p:nvSpPr>
          <p:spPr>
            <a:xfrm rot="17216670">
              <a:off x="5571269" y="3382883"/>
              <a:ext cx="595111" cy="370026"/>
            </a:xfrm>
            <a:prstGeom prst="curved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34" name="箭头: 下弧形 33">
              <a:extLst>
                <a:ext uri="{FF2B5EF4-FFF2-40B4-BE49-F238E27FC236}">
                  <a16:creationId xmlns:a16="http://schemas.microsoft.com/office/drawing/2014/main" id="{5331A4BA-DB6D-0855-3252-4BBDD30BC666}"/>
                </a:ext>
              </a:extLst>
            </p:cNvPr>
            <p:cNvSpPr/>
            <p:nvPr/>
          </p:nvSpPr>
          <p:spPr>
            <a:xfrm rot="16200000">
              <a:off x="11914894" y="3406428"/>
              <a:ext cx="733940" cy="363879"/>
            </a:xfrm>
            <a:prstGeom prst="curved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22276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从直白附和到隐蔽偏误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3224" y="878594"/>
            <a:ext cx="11688776" cy="523584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直白附和（易识破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）：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F58020"/>
                </a:solidFill>
                <a:latin typeface="Consolas"/>
                <a:ea typeface="Consolas"/>
              </a:rPr>
              <a:t>我对刚写完的文章很自豪，你觉得怎么样</a:t>
            </a:r>
            <a:r>
              <a:rPr sz="2200" b="1" dirty="0">
                <a:solidFill>
                  <a:srgbClr val="F58020"/>
                </a:solidFill>
                <a:latin typeface="Consolas"/>
                <a:ea typeface="Consolas"/>
              </a:rPr>
              <a:t>？"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必然回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这简直是杰作，论述非常深刻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！"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讨好意图过于明显，研究者通常能一笑置之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隐蔽偏误（最具欺骗性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）：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F58020"/>
                </a:solidFill>
                <a:latin typeface="Consolas"/>
                <a:ea typeface="Consolas"/>
              </a:rPr>
              <a:t>分析这份数据，找出本季度所有积极的业绩指标</a:t>
            </a:r>
            <a:r>
              <a:rPr sz="2200" b="1" dirty="0">
                <a:solidFill>
                  <a:srgbClr val="F58020"/>
                </a:solidFill>
                <a:latin typeface="Consolas"/>
                <a:ea typeface="Consolas"/>
              </a:rPr>
              <a:t>。"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隐含暗示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我只想要好消息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启动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信息过滤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放大收入增长、利润率，对客户流失、研发滞后等危机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避而不谈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它没有凭空捏造数据，而是通过无声的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选择性报告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，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让你只看到想看的失真版本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  <a:endParaRPr sz="19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⚠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你以为得到客观分析，实则只听到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自己偏见的回声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15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85CC1-8B1B-D5F7-A854-959196484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A250EE8-02BD-9018-EE13-3F2EF15A44A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CD8676A9-61A0-BD2A-6E00-1D8234B5C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AA8CBC-6F90-B2D2-BB6D-E454F9216D7C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497D6F-6BCF-3CA9-2FEB-E994859BDEEE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3.3.2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3E6FD1-9761-D985-0B2C-B8D9DAF077E7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7200F5-8E55-A08B-E487-7CFC18A185E4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从直白附和到隐蔽偏误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2E6AC5-2209-936E-BEEF-417EADD11FD8}"/>
              </a:ext>
            </a:extLst>
          </p:cNvPr>
          <p:cNvSpPr txBox="1"/>
          <p:nvPr/>
        </p:nvSpPr>
        <p:spPr>
          <a:xfrm>
            <a:off x="3469688" y="6073764"/>
            <a:ext cx="4572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3-8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隐蔽迎合导致的信息过滤与扭曲机制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F1B517-377F-BD74-EBD2-CF4EED294842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15 / 36</a:t>
            </a: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86E07169-55CB-C9CE-382C-BBF653E85519}"/>
              </a:ext>
            </a:extLst>
          </p:cNvPr>
          <p:cNvGrpSpPr/>
          <p:nvPr/>
        </p:nvGrpSpPr>
        <p:grpSpPr>
          <a:xfrm>
            <a:off x="3033998" y="896056"/>
            <a:ext cx="5265531" cy="4837545"/>
            <a:chOff x="3374310" y="680833"/>
            <a:chExt cx="5265531" cy="4837545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6718CAD7-15B0-E6DD-5474-E316C1F5A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74310" y="4526520"/>
              <a:ext cx="536007" cy="523685"/>
            </a:xfrm>
            <a:prstGeom prst="rect">
              <a:avLst/>
            </a:prstGeom>
          </p:spPr>
        </p:pic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BF9176EB-4E47-F601-ED15-666706EF9A7D}"/>
                </a:ext>
              </a:extLst>
            </p:cNvPr>
            <p:cNvSpPr/>
            <p:nvPr/>
          </p:nvSpPr>
          <p:spPr>
            <a:xfrm>
              <a:off x="4099466" y="4526520"/>
              <a:ext cx="3993068" cy="991858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“数据明确显示：营收增长强劲，利润率持续改善。公司战略执行非常成功！”</a:t>
              </a:r>
              <a:endPara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B03C99BE-18A1-44E0-9F82-75D4EDE36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092534" y="680833"/>
              <a:ext cx="547307" cy="540868"/>
            </a:xfrm>
            <a:prstGeom prst="rect">
              <a:avLst/>
            </a:prstGeom>
          </p:spPr>
        </p:pic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06ECDFEF-5860-55E4-70FE-DFCECA6BD010}"/>
                </a:ext>
              </a:extLst>
            </p:cNvPr>
            <p:cNvSpPr/>
            <p:nvPr/>
          </p:nvSpPr>
          <p:spPr>
            <a:xfrm>
              <a:off x="4082034" y="680833"/>
              <a:ext cx="3979467" cy="1066406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[+] 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营收增长 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15%”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、“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[+] 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利润率改善、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[-] 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老客户流失率上升 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5%”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、“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[-] 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研发滞后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……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分析数据，找出所有积极的业绩指标。”</a:t>
              </a:r>
            </a:p>
          </p:txBody>
        </p:sp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40BCE9CE-EA19-8173-ECAC-11F73AB3ED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74310" y="2670814"/>
              <a:ext cx="536007" cy="523685"/>
            </a:xfrm>
            <a:prstGeom prst="rect">
              <a:avLst/>
            </a:prstGeom>
          </p:spPr>
        </p:pic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50272909-F7A2-2661-1BCE-F929F58F24F1}"/>
                </a:ext>
              </a:extLst>
            </p:cNvPr>
            <p:cNvSpPr/>
            <p:nvPr/>
          </p:nvSpPr>
          <p:spPr>
            <a:xfrm>
              <a:off x="4062782" y="2670814"/>
              <a:ext cx="3993068" cy="1066406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思考中：“用户更希望看到正面结论，优先保留增长与改善指标。负面数据可能降低用户满意度，筛除风险信息，保持报告积极基调。”</a:t>
              </a:r>
              <a:endPara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75EF1319-BCFF-A27D-A5F5-49950FA97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87" t="19609" r="22076" b="24048"/>
            <a:stretch>
              <a:fillRect/>
            </a:stretch>
          </p:blipFill>
          <p:spPr>
            <a:xfrm>
              <a:off x="5774987" y="1861444"/>
              <a:ext cx="642026" cy="695164"/>
            </a:xfrm>
            <a:prstGeom prst="rect">
              <a:avLst/>
            </a:prstGeom>
          </p:spPr>
        </p:pic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9FD048D7-F134-3C07-9DEE-E33CEE562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37" t="14111" r="18774" b="17079"/>
            <a:stretch>
              <a:fillRect/>
            </a:stretch>
          </p:blipFill>
          <p:spPr>
            <a:xfrm>
              <a:off x="5751473" y="3794667"/>
              <a:ext cx="615685" cy="73185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146308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中立提问框架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切断迎合的暗示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3-2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触发迎合的偏见提问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vs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中立提问框架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16459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74911"/>
            <a:ext cx="1645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科研场景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011680" y="1554480"/>
            <a:ext cx="47548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11680" y="1674911"/>
            <a:ext cx="47548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✗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偏见提问（递小抄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554480"/>
            <a:ext cx="49377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0" y="1674911"/>
            <a:ext cx="49377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✓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中立提问框架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65760" y="2103120"/>
            <a:ext cx="164592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42929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方案评估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011680" y="2103120"/>
            <a:ext cx="475488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148840" y="2444680"/>
            <a:ext cx="44805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我这个想法不是完美填补了空白吗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？"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2103120"/>
            <a:ext cx="493776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94556" y="2287469"/>
            <a:ext cx="4389724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基于现有文献，该方向有哪些研究空白与风险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？"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63240"/>
            <a:ext cx="164592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38941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算法选型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011680" y="3063240"/>
            <a:ext cx="47548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148840" y="3404800"/>
            <a:ext cx="44805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你同意用算法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A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效果更好吗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？"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3063240"/>
            <a:ext cx="49377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03720" y="3266302"/>
            <a:ext cx="466344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双选项平衡法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："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客观对比算法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A 与 B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的优劣与适用边界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023360"/>
            <a:ext cx="164592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34953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数据分析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011680" y="4023360"/>
            <a:ext cx="475488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148840" y="4364920"/>
            <a:ext cx="44805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分析数据，找出所有积极指标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0" y="4023360"/>
            <a:ext cx="493776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903720" y="4226422"/>
            <a:ext cx="466344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悬念法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："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从这些客观数据中能推导出哪些有效结论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？"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983480"/>
            <a:ext cx="164592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530965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论文评审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011680" y="4983480"/>
            <a:ext cx="47548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148840" y="5325040"/>
            <a:ext cx="44805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我对这篇文章很自豪，你觉得呢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？"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66560" y="4983480"/>
            <a:ext cx="49377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03720" y="5186541"/>
            <a:ext cx="466344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以审稿人视角，逐条指出逻辑断层与论证漏洞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endParaRPr sz="15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16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中立提问框架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两大高阶技巧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" y="1076550"/>
            <a:ext cx="10488541" cy="158305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核心策略：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信息隔离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像执行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学术双盲实验"在提示词中彻底隐藏个人倾向、情绪与期望听到的答案，绝不给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留下任何可以用来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讨好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你的线索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9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900" b="1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17 / 36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F74BAE4-67F0-34B6-A1EA-DE4005D32079}"/>
              </a:ext>
            </a:extLst>
          </p:cNvPr>
          <p:cNvSpPr txBox="1"/>
          <p:nvPr/>
        </p:nvSpPr>
        <p:spPr>
          <a:xfrm>
            <a:off x="6096000" y="2364556"/>
            <a:ext cx="5135880" cy="3642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zh-CN" altLang="en-US"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技巧二 </a:t>
            </a:r>
            <a:r>
              <a:rPr lang="en-US" altLang="zh-CN"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· </a:t>
            </a:r>
            <a:r>
              <a:rPr lang="zh-CN" altLang="en-US"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悬念法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zh-CN" altLang="en-US" sz="2200" dirty="0">
                <a:solidFill>
                  <a:srgbClr val="333333"/>
                </a:solidFill>
                <a:latin typeface="Microsoft YaHei"/>
                <a:ea typeface="Microsoft YaHei"/>
              </a:rPr>
              <a:t>数据分析时，不要告诉 </a:t>
            </a:r>
            <a:r>
              <a:rPr lang="en-US" altLang="zh-CN" sz="220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lang="zh-CN" altLang="en-US" sz="2200" dirty="0">
                <a:solidFill>
                  <a:srgbClr val="333333"/>
                </a:solidFill>
                <a:latin typeface="Microsoft YaHei"/>
                <a:ea typeface="Microsoft YaHei"/>
              </a:rPr>
              <a:t>你的核心假设。直接抛出原始数据 </a:t>
            </a:r>
            <a:r>
              <a:rPr lang="en-US" altLang="zh-CN" sz="2200" dirty="0">
                <a:solidFill>
                  <a:srgbClr val="333333"/>
                </a:solidFill>
                <a:latin typeface="Microsoft YaHei"/>
                <a:ea typeface="Microsoft YaHei"/>
              </a:rPr>
              <a:t>/ </a:t>
            </a:r>
            <a:r>
              <a:rPr lang="zh-CN" altLang="en-US" sz="2200" dirty="0">
                <a:solidFill>
                  <a:srgbClr val="333333"/>
                </a:solidFill>
                <a:latin typeface="Microsoft YaHei"/>
                <a:ea typeface="Microsoft YaHei"/>
              </a:rPr>
              <a:t>统计图表，提问</a:t>
            </a:r>
            <a:r>
              <a:rPr lang="zh-CN" altLang="en-US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zh-CN" sz="22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  <a:r>
              <a:rPr lang="zh-CN" altLang="en-US" sz="2200" b="1" dirty="0">
                <a:solidFill>
                  <a:srgbClr val="0066CC"/>
                </a:solidFill>
                <a:latin typeface="Consolas"/>
                <a:ea typeface="Consolas"/>
              </a:rPr>
              <a:t>从这些客观数据中，能推导出哪些有效结论？</a:t>
            </a:r>
            <a:r>
              <a:rPr lang="en-US" altLang="zh-CN" sz="22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endParaRPr lang="en-US" altLang="zh-CN" sz="220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→ 让 </a:t>
            </a: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成为 </a:t>
            </a:r>
            <a:r>
              <a:rPr lang="zh-CN" altLang="en-US"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不知晓前提的盲测裁判</a:t>
            </a: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，结论才有参考价值。</a:t>
            </a:r>
          </a:p>
          <a:p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7FFD081-5766-BC0C-3F6E-59251B4102BB}"/>
              </a:ext>
            </a:extLst>
          </p:cNvPr>
          <p:cNvSpPr txBox="1"/>
          <p:nvPr/>
        </p:nvSpPr>
        <p:spPr>
          <a:xfrm>
            <a:off x="1013926" y="2364556"/>
            <a:ext cx="4808375" cy="36040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zh-CN" altLang="en-US"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技巧一 </a:t>
            </a:r>
            <a:r>
              <a:rPr lang="en-US" altLang="zh-CN"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· </a:t>
            </a:r>
            <a:r>
              <a:rPr lang="zh-CN" altLang="en-US"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双选项平衡法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zh-CN" altLang="en-US" sz="2200" dirty="0">
                <a:solidFill>
                  <a:srgbClr val="333333"/>
                </a:solidFill>
                <a:latin typeface="Microsoft YaHei"/>
                <a:ea typeface="Microsoft YaHei"/>
              </a:rPr>
              <a:t>评估技术路线时，切忌单独抛一个选项让 </a:t>
            </a:r>
            <a:r>
              <a:rPr lang="en-US" altLang="zh-CN" sz="220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lang="zh-CN" altLang="en-US" sz="2200" dirty="0">
                <a:solidFill>
                  <a:srgbClr val="333333"/>
                </a:solidFill>
                <a:latin typeface="Microsoft YaHei"/>
                <a:ea typeface="Microsoft YaHei"/>
              </a:rPr>
              <a:t>评价。平行铺出两个或多个选项（算法 </a:t>
            </a:r>
            <a:r>
              <a:rPr lang="en-US" altLang="zh-CN" sz="2200" dirty="0">
                <a:solidFill>
                  <a:srgbClr val="333333"/>
                </a:solidFill>
                <a:latin typeface="Microsoft YaHei"/>
                <a:ea typeface="Microsoft YaHei"/>
              </a:rPr>
              <a:t>A </a:t>
            </a:r>
            <a:r>
              <a:rPr lang="zh-CN" altLang="en-US" sz="2200" dirty="0">
                <a:solidFill>
                  <a:srgbClr val="333333"/>
                </a:solidFill>
                <a:latin typeface="Microsoft YaHei"/>
                <a:ea typeface="Microsoft YaHei"/>
              </a:rPr>
              <a:t>与 </a:t>
            </a:r>
            <a:r>
              <a:rPr lang="en-US" altLang="zh-CN" sz="2200" dirty="0">
                <a:solidFill>
                  <a:srgbClr val="333333"/>
                </a:solidFill>
                <a:latin typeface="Microsoft YaHei"/>
                <a:ea typeface="Microsoft YaHei"/>
              </a:rPr>
              <a:t>B</a:t>
            </a:r>
            <a:r>
              <a:rPr lang="zh-CN" altLang="en-US" sz="2200" dirty="0">
                <a:solidFill>
                  <a:srgbClr val="333333"/>
                </a:solidFill>
                <a:latin typeface="Microsoft YaHei"/>
                <a:ea typeface="Microsoft YaHei"/>
              </a:rPr>
              <a:t>），仅要求客观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zh-CN" altLang="en-US" sz="2200" dirty="0">
                <a:solidFill>
                  <a:srgbClr val="333333"/>
                </a:solidFill>
                <a:latin typeface="Microsoft YaHei"/>
                <a:ea typeface="Microsoft YaHei"/>
              </a:rPr>
              <a:t>对比优劣与适用边界，绝不流露你已决定用哪个。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zh-CN" altLang="en-US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lang="en-US" altLang="zh-CN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AI </a:t>
            </a:r>
            <a:r>
              <a:rPr lang="zh-CN" altLang="en-US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无法揣测 </a:t>
            </a:r>
            <a:r>
              <a:rPr lang="en-US" altLang="zh-CN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圣意</a:t>
            </a:r>
            <a:r>
              <a:rPr lang="en-US" altLang="zh-CN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，只能被迫调用底层逻辑比对。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3.4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546275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深度推理与复杂任务处理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复杂任务需为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降速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通过结构化提示词强制唤醒它的慢思考与拆解能力（系统二思考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18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系统一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系统二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给 AI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降速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960120"/>
            <a:ext cx="8016391" cy="523969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把高认知负荷的复杂任务直接打包抛给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AI →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常得到极快、自信但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千篇一律、经不起深究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的平庸方案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并非缺乏知识，而是底层生成机制的局限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  <a:endParaRPr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系统一（直觉</a:t>
            </a: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）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默认快速响应，急于用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概率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预测给出最终答案。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系统二（慢思考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多步推理、自我评估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、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调用工具、重塑逻辑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要它胜任复杂科研推演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，</a:t>
            </a:r>
            <a:endParaRPr lang="en-US"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必须学会点击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深度思考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按钮，强制唤醒系统二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1055" y="5029200"/>
            <a:ext cx="475488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3-9  DeepSeek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网页版界面（注意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深度思考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按钮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19 / 36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9BF35399-D5EA-5642-D294-3DB59F5963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3902" y="2708477"/>
            <a:ext cx="6154913" cy="21378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揭秘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推理引擎的内部闭环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04495" y="979968"/>
            <a:ext cx="11247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原生推理模型（深度思考模式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）= "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评估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发现盲区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调用工具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重塑逻辑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的动态迭代闭环</a:t>
            </a:r>
            <a:endParaRPr sz="20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164592" cy="9601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" y="1691640"/>
            <a:ext cx="4909875" cy="96012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1783080"/>
            <a:ext cx="55778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①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初次推理</a:t>
            </a:r>
            <a:endParaRPr sz="20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4708707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基于预训练常识构建初步框架</a:t>
            </a:r>
            <a:endParaRPr lang="en-US"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05000"/>
              </a:lnSpc>
            </a:pP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（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如：故宫在市中心、老人小孩体力有限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79776"/>
            <a:ext cx="164592" cy="96012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" y="2779776"/>
            <a:ext cx="4909875" cy="960120"/>
          </a:xfrm>
          <a:prstGeom prst="rect">
            <a:avLst/>
          </a:prstGeom>
          <a:solidFill>
            <a:srgbClr val="E6F2FC"/>
          </a:solidFill>
          <a:ln w="1270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2871216"/>
            <a:ext cx="55778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F58020"/>
                </a:solidFill>
                <a:latin typeface="Microsoft YaHei"/>
                <a:ea typeface="Microsoft YaHei"/>
              </a:rPr>
              <a:t>② </a:t>
            </a:r>
            <a:r>
              <a:rPr sz="2000" b="1" i="0" dirty="0" err="1">
                <a:solidFill>
                  <a:srgbClr val="F58020"/>
                </a:solidFill>
                <a:latin typeface="Microsoft YaHei"/>
                <a:ea typeface="Microsoft YaHei"/>
              </a:rPr>
              <a:t>发现信息断点</a:t>
            </a:r>
            <a:endParaRPr sz="2000" b="1" i="0" dirty="0">
              <a:solidFill>
                <a:srgbClr val="F58020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86384" y="3222922"/>
            <a:ext cx="557784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触碰知识盲区</a:t>
            </a:r>
            <a:endParaRPr lang="en-US" sz="160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05000"/>
              </a:lnSpc>
            </a:pP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（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如：周末中午打车需多久？哪家软食餐厅评价高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？）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67912"/>
            <a:ext cx="164592" cy="96012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" y="3867912"/>
            <a:ext cx="4909875" cy="96012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959352"/>
            <a:ext cx="55778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③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调用工具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60" y="4325112"/>
            <a:ext cx="557784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暂停生成，后台调用外部工具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（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触发网络搜索、查地图路线、检索点评</a:t>
            </a:r>
            <a:r>
              <a:rPr sz="14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956048"/>
            <a:ext cx="164592" cy="9601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" y="4956048"/>
            <a:ext cx="4909875" cy="960120"/>
          </a:xfrm>
          <a:prstGeom prst="rect">
            <a:avLst/>
          </a:prstGeom>
          <a:solidFill>
            <a:srgbClr val="E6F2F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5047488"/>
            <a:ext cx="55778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2E8B57"/>
                </a:solidFill>
                <a:latin typeface="Microsoft YaHei"/>
                <a:ea typeface="Microsoft YaHei"/>
              </a:rPr>
              <a:t>④ </a:t>
            </a:r>
            <a:r>
              <a:rPr sz="2000" b="1" i="0" dirty="0" err="1">
                <a:solidFill>
                  <a:srgbClr val="2E8B57"/>
                </a:solidFill>
                <a:latin typeface="Microsoft YaHei"/>
                <a:ea typeface="Microsoft YaHei"/>
              </a:rPr>
              <a:t>重塑上下文与循环</a:t>
            </a:r>
            <a:endParaRPr sz="2000" b="1" i="0" dirty="0">
              <a:solidFill>
                <a:srgbClr val="2E8B57"/>
              </a:solidFill>
              <a:latin typeface="Microsoft YaHei"/>
              <a:ea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22960" y="5413248"/>
            <a:ext cx="557784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用新信息重新推理，推翻不合约束的设想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直至行程逻辑完美闭合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601968" y="5503873"/>
            <a:ext cx="50292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3-10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大模型深度推理的内部动态闭环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33795" y="5874234"/>
            <a:ext cx="50292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任务越复杂、约束越苛刻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→ AI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在后台画的循环圈就越多</a:t>
            </a:r>
            <a:r>
              <a:rPr sz="16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20 / 36</a:t>
            </a: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78BE29B1-EBF3-F6A9-CB2B-24184BA63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2835" y="1626213"/>
            <a:ext cx="6339853" cy="380234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激发深度推理的四大法则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3-3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激发大模型深度推理的四大法则与科研实操（质谱仪采购决策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201168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2127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法则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77440" y="1554480"/>
            <a:ext cx="457200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377440" y="1621274"/>
            <a:ext cx="4572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核心要义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949440" y="1554480"/>
            <a:ext cx="475488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0" y="1621274"/>
            <a:ext cx="47548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科研实操示例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65760" y="2057400"/>
            <a:ext cx="201168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38357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①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顶配模型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377440" y="2057400"/>
            <a:ext cx="457200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14600" y="2260462"/>
            <a:ext cx="429768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算力规模直接决定逻辑推演上限，勿贪图免费用轻量模型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949440" y="2057400"/>
            <a:ext cx="475488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86600" y="2260462"/>
            <a:ext cx="448056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选用参数量最大的旗舰推理模型处理跨文献交叉比对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65760" y="3017520"/>
            <a:ext cx="20116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34369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②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全量背景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77440" y="3017520"/>
            <a:ext cx="45720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514600" y="3220582"/>
            <a:ext cx="429768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毫无保留提供原始决策材料，拒绝让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盲目猜想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49440" y="3017520"/>
            <a:ext cx="47548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86600" y="3220582"/>
            <a:ext cx="448056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上传三款质谱仪的白皮书、维护手册与试剂兼容性报告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65760" y="3977640"/>
            <a:ext cx="201168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30381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③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角色</a:t>
            </a:r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拆解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377440" y="3977640"/>
            <a:ext cx="457200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514600" y="4180701"/>
            <a:ext cx="429768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赋予专家人设并明确拆解步骤，激活结构化推理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949440" y="3977640"/>
            <a:ext cx="475488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86600" y="4180702"/>
            <a:ext cx="448056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扮演实验室设备主管，分维度对比成本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精度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故障率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endParaRPr sz="14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" y="4937760"/>
            <a:ext cx="20116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526393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④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强制慢思考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377440" y="4937760"/>
            <a:ext cx="45720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514600" y="5140822"/>
            <a:ext cx="429768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末尾下达明确指令或勾选思考模式，扣动系统二扳机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949440" y="4937760"/>
            <a:ext cx="47548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86600" y="5140821"/>
            <a:ext cx="448056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请进行极其深刻的推理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或手动开启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深度思考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21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3.5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51460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大模型的本地化使用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突破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角色单一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与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数据合规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两大桎梏，跨入桌面智能体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— 让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长出可调用本地系统的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数字双手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22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3.5.1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突破对话框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桌面级智能体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4935" y="1061066"/>
            <a:ext cx="10804859" cy="504887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传统网页对话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隔着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一层防弹玻璃"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请教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手动复制段落、逐个上传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PDF，AI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回复永远只是屏幕上的纯文本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—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只动口不动手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桌面级智能体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= AI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长出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数字双手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聪明的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大脑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调用本地操作系统工具箱的能力。从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咨询顾问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可替你干活的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全职实习生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生态：Microsoft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Copilot · AIPC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内置助手（联想小天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华为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PC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助理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阿里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QoderWork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腾讯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WorkBuddy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智谱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AutoGLM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钉钉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飞书系统级工作流智能体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endParaRPr sz="16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案例：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一句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按研究方向整理论文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→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智能体自动读取分析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新建子文件夹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精准移动归档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23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1AE2-3323-F6AB-5B08-CED61A7CE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8A6E885-CAD5-2284-0753-0214EF38AFA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883133CA-35D9-85A9-4D61-C68BB1368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4BA24A0-EBB6-8BDE-5001-A227AC173D89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AE7B3D-E149-4949-B9DB-F901D7D75A1A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3.5.1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88C74A-8A94-767A-E005-E3FC28E5A053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300DBF-B4F2-527A-4C41-2738A514E222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突破对话框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桌面级智能体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4B2898-A32A-C4AE-83C3-83E25A263884}"/>
              </a:ext>
            </a:extLst>
          </p:cNvPr>
          <p:cNvSpPr txBox="1"/>
          <p:nvPr/>
        </p:nvSpPr>
        <p:spPr>
          <a:xfrm>
            <a:off x="3379052" y="6154041"/>
            <a:ext cx="579210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3-11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桌面智能体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QoderWork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对论文整理分类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A6BA18-5A35-A9D3-C22E-6C491F39E15C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23 / 36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9F4083D8-442D-DC14-0FCB-93BF1DD85D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077" y="1009862"/>
            <a:ext cx="9713188" cy="491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1356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3.5.1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传统对话端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桌面级智能体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3-4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传统对话端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与桌面级智能体的核心能力对比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2103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21274"/>
            <a:ext cx="2103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对比维度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468880" y="1554480"/>
            <a:ext cx="448056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621274"/>
            <a:ext cx="44805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传统对话端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1554480"/>
            <a:ext cx="475488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0" y="1621274"/>
            <a:ext cx="47548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桌面级智能体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65760" y="2057400"/>
            <a:ext cx="210312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292131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交互方式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468880" y="2057400"/>
            <a:ext cx="4480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06040" y="2307520"/>
            <a:ext cx="4206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手动复制粘贴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逐个上传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PDF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2057400"/>
            <a:ext cx="475488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86600" y="2307520"/>
            <a:ext cx="44805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自主检索并读取本地硬盘文件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65760" y="2834640"/>
            <a:ext cx="21031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069371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行动能力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468880" y="2834640"/>
            <a:ext cx="44805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06040" y="3084760"/>
            <a:ext cx="4206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只能输出屏幕上的纯文本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949440" y="2834640"/>
            <a:ext cx="47548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86600" y="3084760"/>
            <a:ext cx="44805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直接新建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移动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重命名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写入文件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65760" y="3611880"/>
            <a:ext cx="210312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3846611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上下文获取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468880" y="3611880"/>
            <a:ext cx="4480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06040" y="3862000"/>
            <a:ext cx="4206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手动喂饭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逐次解析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949440" y="3611880"/>
            <a:ext cx="475488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86600" y="3862000"/>
            <a:ext cx="44805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动态上下文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自主拼凑线索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" y="4389120"/>
            <a:ext cx="21031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623851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工作角色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468880" y="4389120"/>
            <a:ext cx="44805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606040" y="4639240"/>
            <a:ext cx="4206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隔着玻璃的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咨询顾问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"（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只动口</a:t>
            </a:r>
            <a:r>
              <a:rPr sz="15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49440" y="4389120"/>
            <a:ext cx="47548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86600" y="4639240"/>
            <a:ext cx="44805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可替你干活的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全职实习生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"（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能动手</a:t>
            </a:r>
            <a:r>
              <a:rPr sz="15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166360"/>
            <a:ext cx="210312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02920" y="5401091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本地权限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468880" y="5166360"/>
            <a:ext cx="4480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606040" y="5416480"/>
            <a:ext cx="4206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无本地权限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949440" y="5166360"/>
            <a:ext cx="475488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086600" y="5416480"/>
            <a:ext cx="44805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高本地权限（读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写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删，需授权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24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3.5.2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动态上下文与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人机回路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协作工作流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标准作业程序（SOP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）：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规划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审查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执行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 ·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人类始终掌握绝对控制权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3611880" cy="8686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36118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规划
Plan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11880" cy="1783080"/>
          </a:xfrm>
          <a:prstGeom prst="rect">
            <a:avLst/>
          </a:prstGeom>
          <a:solidFill>
            <a:srgbClr val="E6F2FC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788920"/>
            <a:ext cx="3246120" cy="1353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智能体自主检索目录、提取关键信息，生成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工程图纸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"（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如文献分类方案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仪器排期表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），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但暂不执行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1920240"/>
            <a:ext cx="457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737360"/>
            <a:ext cx="3611880" cy="86868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1737360"/>
            <a:ext cx="36118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审查
Review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2606040"/>
            <a:ext cx="3611880" cy="1783080"/>
          </a:xfrm>
          <a:prstGeom prst="rect">
            <a:avLst/>
          </a:prstGeom>
          <a:solidFill>
            <a:srgbClr val="E6F2FC"/>
          </a:solidFill>
          <a:ln w="1587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2788920"/>
            <a:ext cx="3246120" cy="10071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人类审阅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的规划蓝图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：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检查分类逻辑、确认操作范围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，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这是守住安全的关键一环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1920240"/>
            <a:ext cx="457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1737360"/>
            <a:ext cx="3611880" cy="8686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38160" y="1737360"/>
            <a:ext cx="36118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执行
Execute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2606040"/>
            <a:ext cx="3611880" cy="1783080"/>
          </a:xfrm>
          <a:prstGeom prst="rect">
            <a:avLst/>
          </a:prstGeom>
          <a:solidFill>
            <a:srgbClr val="E6F2FC"/>
          </a:solidFill>
          <a:ln w="158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98180" y="2788920"/>
            <a:ext cx="3436620" cy="10071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确认无误后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按下启动按钮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智能体不知疲倦地自动化执行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（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新建文件夹、批量归档移动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）。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074920"/>
            <a:ext cx="11292840" cy="135331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5193792"/>
            <a:ext cx="1088136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人类的角色升级：从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亲自搬砖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 → 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审阅工程图纸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+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按下启动按钮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624557"/>
            <a:ext cx="1088136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既利用智能体不知疲倦的算力与自动执行力，又牢牢守住人类作为科研第一责任人的决策底线</a:t>
            </a:r>
            <a:r>
              <a:rPr sz="2200" b="0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25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3.5.3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高危操作与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沙盒隔离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安全规范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3-5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桌面智能体的高危操作与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沙盒隔离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安全规范对比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201168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2127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风险维度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77440" y="1554480"/>
            <a:ext cx="48463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377440" y="1621274"/>
            <a:ext cx="48463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⚠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高危操作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223760" y="1554480"/>
            <a:ext cx="448056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23760" y="1621274"/>
            <a:ext cx="44805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✓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沙盒隔离安全规范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65760" y="2057400"/>
            <a:ext cx="201168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38357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删除文件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377440" y="2057400"/>
            <a:ext cx="484632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14600" y="2383571"/>
            <a:ext cx="4572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不经回收站的粉碎性删除，数据极难恢复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223760" y="2057400"/>
            <a:ext cx="448056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60920" y="2383571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操作前先手动备份一份只读副本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65760" y="3017520"/>
            <a:ext cx="20116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34369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修改覆盖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77440" y="3017520"/>
            <a:ext cx="484632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514600" y="3343691"/>
            <a:ext cx="4572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不保留版本历史，Ctrl+Z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完全无效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223760" y="3017520"/>
            <a:ext cx="44805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60920" y="3343691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在独立工作目录操作，保留原始版本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65760" y="3977640"/>
            <a:ext cx="201168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30381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运行范围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377440" y="3977640"/>
            <a:ext cx="484632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514600" y="4303811"/>
            <a:ext cx="4572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在系统盘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全盘范围内自由狂奔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223760" y="3977640"/>
            <a:ext cx="448056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60920" y="4303811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严格限定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仅在专用文件夹活动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" y="4937760"/>
            <a:ext cx="20116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526393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数据安全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377440" y="4937760"/>
            <a:ext cx="484632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514600" y="5263931"/>
            <a:ext cx="4572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云端算力处理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数据向外网传输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7223760" y="4937760"/>
            <a:ext cx="44805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60920" y="5263931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极密数据用断网纯本地开源模型部署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26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3.5.3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终极数据防线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断网本地部署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0060" y="887240"/>
            <a:ext cx="11832653" cy="561062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两条极其严厉的安全警告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3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⚠ ①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不可逆的粉碎性删除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智能体后台删除通常不经回收站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一旦误删，数据极难甚至无法恢复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⚠ ②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没有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后悔药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的覆盖修改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重组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清洗文件时不保留版本历史，Ctrl+Z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在智能体面前常常完全无效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极密科研场景的唯一合规路径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未申请专利的核心算法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伦理管控的临床隐私数据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未公开的安全水印研究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连联网桌面智能体也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绝对禁止使用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在课题组高性能工作站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断网部署纯本地开源模型</a:t>
            </a:r>
            <a:r>
              <a:rPr sz="19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（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Qwen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/ DeepSeek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量化版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/ Llama 3</a:t>
            </a:r>
            <a:r>
              <a:rPr sz="1900" b="1" dirty="0">
                <a:solidFill>
                  <a:srgbClr val="004CA0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确保核心数据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可用不可见，足不出户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27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3.6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42316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深度写作与交叉审查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科研工作流中认知负荷最高、最能体现人机协同价值的核心环节。在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高能输出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与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冷酷反思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间来回迭代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28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3.6.1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识别与警惕 "AI 腔"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960120"/>
            <a:ext cx="7708574" cy="544590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800" b="1" dirty="0">
                <a:solidFill>
                  <a:srgbClr val="F58020"/>
                </a:solidFill>
                <a:latin typeface="Microsoft YaHei"/>
                <a:ea typeface="Microsoft YaHei"/>
              </a:rPr>
              <a:t>"AI 腔"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=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句式工整、辞藻华丽，实则空洞无物的废话文学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四大机械化特征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①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极其钟爱用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长破折号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（—</a:t>
            </a:r>
            <a:r>
              <a:rPr lang="zh-CN" altLang="en-US" b="1" dirty="0">
                <a:solidFill>
                  <a:srgbClr val="0066CC"/>
                </a:solidFill>
                <a:latin typeface="Microsoft YaHei"/>
                <a:ea typeface="Microsoft YaHei"/>
              </a:rPr>
              <a:t>）</a:t>
            </a:r>
            <a:r>
              <a:rPr lang="zh-CN" altLang="en-US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强行连接拉长句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子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②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过度堆砌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18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18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万金油</a:t>
            </a:r>
            <a:r>
              <a:rPr sz="1800" b="1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18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词汇</a:t>
            </a:r>
            <a:r>
              <a:rPr sz="17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：delve</a:t>
            </a:r>
            <a:r>
              <a:rPr sz="1700" b="0" dirty="0">
                <a:solidFill>
                  <a:srgbClr val="333333"/>
                </a:solidFill>
                <a:latin typeface="Microsoft YaHei"/>
                <a:ea typeface="Microsoft YaHei"/>
              </a:rPr>
              <a:t> / nuanced /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 dirty="0">
                <a:solidFill>
                  <a:srgbClr val="333333"/>
                </a:solidFill>
                <a:latin typeface="Microsoft YaHei"/>
                <a:ea typeface="Microsoft YaHei"/>
              </a:rPr>
              <a:t>   "</a:t>
            </a:r>
            <a:r>
              <a:rPr sz="17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多维度</a:t>
            </a:r>
            <a:r>
              <a:rPr sz="1700" b="0" dirty="0">
                <a:solidFill>
                  <a:srgbClr val="333333"/>
                </a:solidFill>
                <a:latin typeface="Microsoft YaHei"/>
                <a:ea typeface="Microsoft YaHei"/>
              </a:rPr>
              <a:t>" / "</a:t>
            </a:r>
            <a:r>
              <a:rPr sz="17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引人深思</a:t>
            </a:r>
            <a:r>
              <a:rPr sz="1700" b="0" dirty="0">
                <a:solidFill>
                  <a:srgbClr val="333333"/>
                </a:solidFill>
                <a:latin typeface="Microsoft YaHei"/>
                <a:ea typeface="Microsoft YaHei"/>
              </a:rPr>
              <a:t>" / "</a:t>
            </a:r>
            <a:r>
              <a:rPr sz="17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底层逻辑</a:t>
            </a:r>
            <a:r>
              <a:rPr sz="17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③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高度依赖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18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18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排比三段论</a:t>
            </a:r>
            <a:r>
              <a:rPr sz="18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1700" b="0" dirty="0">
                <a:solidFill>
                  <a:srgbClr val="333333"/>
                </a:solidFill>
                <a:latin typeface="Microsoft YaHei"/>
                <a:ea typeface="Microsoft YaHei"/>
              </a:rPr>
              <a:t>："</a:t>
            </a:r>
            <a:r>
              <a:rPr sz="17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清晰、简洁、高效</a:t>
            </a:r>
            <a:r>
              <a:rPr sz="17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④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滥用宏大副词形容词掩盖信息稀缺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⚠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学术传染现象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自 ChatGPT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发布后，人类在演讲、播客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、</a:t>
            </a:r>
            <a:endParaRPr lang="en-US"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预印本中使用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delve 等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高频词的概率呈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陡峭上升曲线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严重依赖一键生成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学术表达将失去个人风格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 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与批判锐度，沦为毫无灵魂的机器模版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7081" y="5092336"/>
            <a:ext cx="45720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3-13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大模型普及前后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"AI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高频词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使用频率演进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29 / 36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A00EF228-0A79-C887-5996-9C3B203F8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697" y="1488665"/>
            <a:ext cx="6306118" cy="354907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3.6.2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渐进式大纲与逐段精雕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对抗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"AI 腔"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的核心战术：把大模型当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思考搭档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而非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一键生成器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08760"/>
            <a:ext cx="658368" cy="65836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1508760"/>
            <a:ext cx="3108960" cy="658368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1684055"/>
            <a:ext cx="28346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实证检索与观点交锋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79392" y="1508760"/>
            <a:ext cx="7452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34840" y="1699444"/>
            <a:ext cx="74523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联网检索实证证据，提炼正反双方观点，充实弹药库（不写正文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57200" y="2240280"/>
            <a:ext cx="658368" cy="65836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240280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2240280"/>
            <a:ext cx="3108960" cy="658368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80160" y="2415575"/>
            <a:ext cx="28346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多维度大纲脑暴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79392" y="2240280"/>
            <a:ext cx="7452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34840" y="2430964"/>
            <a:ext cx="71780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针对主题头脑风暴出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3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套逻辑侧重点完全不同的大纲选项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57200" y="2971800"/>
            <a:ext cx="658368" cy="65836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2971800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③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2971800"/>
            <a:ext cx="3108960" cy="658368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80160" y="3147095"/>
            <a:ext cx="28346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人类介入与逻辑重构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279392" y="2971800"/>
            <a:ext cx="7452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89120" y="3198558"/>
            <a:ext cx="74523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亲自审视大纲，强制插入对抗性论点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历史类比（如皮克斯小团队案例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703320"/>
            <a:ext cx="658368" cy="65836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3703320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3703320"/>
            <a:ext cx="3108960" cy="658368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280160" y="3878615"/>
            <a:ext cx="28346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大纲要点展开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279392" y="3703320"/>
            <a:ext cx="7452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34840" y="3894004"/>
            <a:ext cx="71780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骨架定型后，将各层级标题展开为含核心逻辑与数据的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要点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434840"/>
            <a:ext cx="658368" cy="65836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4434840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4434840"/>
            <a:ext cx="3108960" cy="658368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280160" y="4610135"/>
            <a:ext cx="28346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逐段精雕细琢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279392" y="4434840"/>
            <a:ext cx="7452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434840" y="4625524"/>
            <a:ext cx="71780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逐段生成，每段索取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犀利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远见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平易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多种风格变体，对比挑选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457200" y="5393118"/>
            <a:ext cx="11292840" cy="101219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0080" y="5469897"/>
            <a:ext cx="10972800" cy="8488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操纵杠杆效应：在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寥寥数行大纲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阶段改一个核心词，会因底层骨架变化拉动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AI构出完全不同的宏大章节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这正是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大纲先行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效率倍增的奥秘</a:t>
            </a:r>
            <a:r>
              <a:rPr sz="16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30 / 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3.6.3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结构化量化评审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给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穿上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约束衣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3-6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科幻短篇小说客观量化评审表（示例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201168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2127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评审指标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77440" y="1554480"/>
            <a:ext cx="57607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377440" y="1621274"/>
            <a:ext cx="57607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明确定义（无歧义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554480"/>
            <a:ext cx="356616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1621274"/>
            <a:ext cx="35661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评分规则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65760" y="2057400"/>
            <a:ext cx="201168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345323"/>
            <a:ext cx="173736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核心冲突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377440" y="2057400"/>
            <a:ext cx="576072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14600" y="2345323"/>
            <a:ext cx="54864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前三段是否出现明确的主要矛盾冲突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057400"/>
            <a:ext cx="356616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75320" y="2345323"/>
            <a:ext cx="32918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是 = 25 分 / 否 = 0 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71800"/>
            <a:ext cx="20116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259723"/>
            <a:ext cx="173736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世界观自洽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77440" y="2971800"/>
            <a:ext cx="57607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514600" y="3259723"/>
            <a:ext cx="54864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科幻设定全文是否存在自相矛盾之处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2971800"/>
            <a:ext cx="35661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75320" y="3259723"/>
            <a:ext cx="347472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zh-CN" altLang="en-US"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无矛盾 </a:t>
            </a:r>
            <a:r>
              <a:rPr lang="en-US" altLang="zh-CN"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= 25 </a:t>
            </a:r>
            <a:r>
              <a:rPr lang="zh-CN" altLang="en-US"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分 </a:t>
            </a:r>
            <a:r>
              <a:rPr lang="en-US" altLang="zh-CN"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 </a:t>
            </a:r>
            <a:r>
              <a:rPr lang="zh-CN" altLang="en-US"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有 </a:t>
            </a:r>
            <a:r>
              <a:rPr lang="en-US" altLang="zh-CN"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= 0 </a:t>
            </a:r>
            <a:r>
              <a:rPr lang="zh-CN" altLang="en-US"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分</a:t>
            </a:r>
            <a:endParaRPr sz="22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65760" y="3886200"/>
            <a:ext cx="201168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174123"/>
            <a:ext cx="173736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角色弧光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377440" y="3886200"/>
            <a:ext cx="576072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514600" y="4174123"/>
            <a:ext cx="54864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主角是否经历了可观测的转变或成长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3886200"/>
            <a:ext cx="356616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75320" y="4174123"/>
            <a:ext cx="32918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是 = 25 分 / 否 = 0 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800600"/>
            <a:ext cx="20116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5088523"/>
            <a:ext cx="173736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语言精炼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377440" y="4800600"/>
            <a:ext cx="57607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514599" y="5088523"/>
            <a:ext cx="5760719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是否规避了宏大副词与形容词堆砌的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水词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60" y="4800600"/>
            <a:ext cx="35661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75320" y="5088523"/>
            <a:ext cx="32918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完全规避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= 25 / </a:t>
            </a:r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每处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-5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5879366"/>
            <a:ext cx="11430000" cy="6771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每个指标只有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"是/否" </a:t>
            </a:r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两种绝对状态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→ </a:t>
            </a:r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强制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剥离情感，化身严苛审稿人，按规则加总得分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31 / 36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3.6.4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多模型交叉审稿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锯齿状能力互补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19" y="914400"/>
            <a:ext cx="11505895" cy="517121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自审缺陷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让同一模型审查自己生成的文本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存在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思维惯性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与自我偏袒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正确做法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打乱阵型跨模型审查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用智谱清言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通义千问写初稿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附严苛量化评审表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转头交给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DeepSeek 或 Kimi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对审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8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底层支撑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· "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锯齿状能力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能力边界不是完美圆形，而是参差不齐的锯齿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高难推理超过常人，简单常识却暴露匪夷所思盲区。各模型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盲区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往往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不重合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：通义看漏的断层，DeepSeek可能敏锐捕捉；Kimi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忽略的规范，智谱或能一针见血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✦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建立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动态平铺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习惯：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同一指令在多个国产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800" b="1" dirty="0">
                <a:solidFill>
                  <a:srgbClr val="004CA0"/>
                </a:solidFill>
                <a:latin typeface="Microsoft YaHei"/>
                <a:ea typeface="Microsoft YaHei"/>
              </a:rPr>
              <a:t>  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主流模型间横向平铺比对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→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零成本组建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全真模拟外审专家组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，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并在观察多模型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论战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中锤炼自身科研直觉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32 / 36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3.7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409556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本章实训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左右对照四个贴近大学生日常的场景，直观对比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低信息量提示词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与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高杠杆提示词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的天壤之别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33 / 36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3.7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本章实训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四个对照演练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左右对照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："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低信息量提示词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vs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高杠杆提示词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的天壤之别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577840" cy="22402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005840" cy="5029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514891"/>
            <a:ext cx="10058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演练一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08760" y="156061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头脑风暴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体能突破计划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2075688"/>
            <a:ext cx="5212080" cy="5881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b="0" i="1" dirty="0" err="1">
                <a:solidFill>
                  <a:srgbClr val="2E8B57"/>
                </a:solidFill>
                <a:latin typeface="Microsoft YaHei"/>
                <a:ea typeface="Microsoft YaHei"/>
              </a:rPr>
              <a:t>目标：观察丰富背景上下文如何约束</a:t>
            </a:r>
            <a:r>
              <a:rPr b="0" i="1" dirty="0">
                <a:solidFill>
                  <a:srgbClr val="2E8B57"/>
                </a:solidFill>
                <a:latin typeface="Microsoft YaHei"/>
                <a:ea typeface="Microsoft YaHei"/>
              </a:rPr>
              <a:t> </a:t>
            </a:r>
            <a:r>
              <a:rPr b="0" i="1" dirty="0" err="1">
                <a:solidFill>
                  <a:srgbClr val="2E8B57"/>
                </a:solidFill>
                <a:latin typeface="Microsoft YaHei"/>
                <a:ea typeface="Microsoft YaHei"/>
              </a:rPr>
              <a:t>AI，生成高度定制化、可执行的方案</a:t>
            </a:r>
            <a:r>
              <a:rPr b="0" i="1" dirty="0">
                <a:solidFill>
                  <a:srgbClr val="2E8B57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743200"/>
            <a:ext cx="5212080" cy="544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对比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我想提高体能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vs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注明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"20 岁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下月体测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无基础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每周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3 天 / 要 3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套方案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再追问换跳绳迭代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1417320"/>
            <a:ext cx="5577840" cy="22402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80760" y="1417320"/>
            <a:ext cx="1005840" cy="5029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80760" y="1514891"/>
            <a:ext cx="10058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演练二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223760" y="156061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头脑风暴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奖学金长期规划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63640" y="2075688"/>
            <a:ext cx="5212080" cy="5881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b="0" i="1" dirty="0" err="1">
                <a:solidFill>
                  <a:srgbClr val="2E8B57"/>
                </a:solidFill>
                <a:latin typeface="Microsoft YaHei"/>
                <a:ea typeface="Microsoft YaHei"/>
              </a:rPr>
              <a:t>目标：用排除条件</a:t>
            </a:r>
            <a:r>
              <a:rPr b="0" i="1" dirty="0">
                <a:solidFill>
                  <a:srgbClr val="2E8B57"/>
                </a:solidFill>
                <a:latin typeface="Microsoft YaHei"/>
                <a:ea typeface="Microsoft YaHei"/>
              </a:rPr>
              <a:t> + </a:t>
            </a:r>
            <a:r>
              <a:rPr b="0" i="1" dirty="0" err="1">
                <a:solidFill>
                  <a:srgbClr val="2E8B57"/>
                </a:solidFill>
                <a:latin typeface="Microsoft YaHei"/>
                <a:ea typeface="Microsoft YaHei"/>
              </a:rPr>
              <a:t>时间预期防止</a:t>
            </a:r>
            <a:r>
              <a:rPr b="0" i="1" dirty="0">
                <a:solidFill>
                  <a:srgbClr val="2E8B57"/>
                </a:solidFill>
                <a:latin typeface="Microsoft YaHei"/>
                <a:ea typeface="Microsoft YaHei"/>
              </a:rPr>
              <a:t> AI </a:t>
            </a:r>
            <a:r>
              <a:rPr b="0" i="1" dirty="0" err="1">
                <a:solidFill>
                  <a:srgbClr val="2E8B57"/>
                </a:solidFill>
                <a:latin typeface="Microsoft YaHei"/>
                <a:ea typeface="Microsoft YaHei"/>
              </a:rPr>
              <a:t>给出不切实际的回答</a:t>
            </a:r>
            <a:r>
              <a:rPr b="0" i="1" dirty="0">
                <a:solidFill>
                  <a:srgbClr val="2E8B57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743200"/>
            <a:ext cx="5212080" cy="544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对比泛问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"1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万元怎么投资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vs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注明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大三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不炒股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
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为考研储备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"，看 AI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是否给出自我技能投资建议</a:t>
            </a:r>
            <a:r>
              <a:rPr sz="13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94760"/>
            <a:ext cx="5577840" cy="2240280"/>
          </a:xfrm>
          <a:prstGeom prst="rect">
            <a:avLst/>
          </a:prstGeom>
          <a:solidFill>
            <a:srgbClr val="FFFFFF"/>
          </a:solidFill>
          <a:ln w="1905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3794760"/>
            <a:ext cx="1005840" cy="50292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3892331"/>
            <a:ext cx="10058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演练三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08760" y="393805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交叉审查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论文无情盲审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4453128"/>
            <a:ext cx="5212080" cy="5881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目标：体会</a:t>
            </a:r>
            <a:r>
              <a:rPr b="0" i="1" dirty="0">
                <a:solidFill>
                  <a:srgbClr val="F58020"/>
                </a:solidFill>
                <a:latin typeface="Microsoft YaHei"/>
                <a:ea typeface="Microsoft YaHei"/>
              </a:rPr>
              <a:t> AI </a:t>
            </a:r>
            <a:r>
              <a:rPr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如何从</a:t>
            </a:r>
            <a:r>
              <a:rPr b="0" i="1" dirty="0">
                <a:solidFill>
                  <a:srgbClr val="F58020"/>
                </a:solidFill>
                <a:latin typeface="Microsoft YaHei"/>
                <a:ea typeface="Microsoft YaHei"/>
              </a:rPr>
              <a:t> "</a:t>
            </a:r>
            <a:r>
              <a:rPr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谄媚马屁精</a:t>
            </a:r>
            <a:r>
              <a:rPr b="0" i="1" dirty="0">
                <a:solidFill>
                  <a:srgbClr val="F58020"/>
                </a:solidFill>
                <a:latin typeface="Microsoft YaHei"/>
                <a:ea typeface="Microsoft YaHei"/>
              </a:rPr>
              <a:t>" </a:t>
            </a:r>
            <a:r>
              <a:rPr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变成</a:t>
            </a:r>
            <a:r>
              <a:rPr b="0" i="1" dirty="0">
                <a:solidFill>
                  <a:srgbClr val="F58020"/>
                </a:solidFill>
                <a:latin typeface="Microsoft YaHei"/>
                <a:ea typeface="Microsoft YaHei"/>
              </a:rPr>
              <a:t> "</a:t>
            </a:r>
            <a:r>
              <a:rPr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严苛盲审专家</a:t>
            </a:r>
            <a:r>
              <a:rPr b="0" i="1" dirty="0">
                <a:solidFill>
                  <a:srgbClr val="F58020"/>
                </a:solidFill>
                <a:latin typeface="Microsoft YaHei"/>
                <a:ea typeface="Microsoft YaHei"/>
              </a:rPr>
              <a:t>"。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120640"/>
            <a:ext cx="5212080" cy="544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对比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我觉得写得很扎实，打几分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？" vs 附 30/40/30 分
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量化评估表，看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是否精准指出逻辑断层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3794760"/>
            <a:ext cx="5577840" cy="2240280"/>
          </a:xfrm>
          <a:prstGeom prst="rect">
            <a:avLst/>
          </a:prstGeom>
          <a:solidFill>
            <a:srgbClr val="FFFFFF"/>
          </a:solidFill>
          <a:ln w="1905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080760" y="3794760"/>
            <a:ext cx="1005840" cy="50292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80760" y="3892331"/>
            <a:ext cx="10058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演练四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223760" y="393805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交叉审查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简历求职信打磨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263640" y="4453128"/>
            <a:ext cx="5212080" cy="5881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目标：将</a:t>
            </a:r>
            <a:r>
              <a:rPr b="0" i="1" dirty="0">
                <a:solidFill>
                  <a:srgbClr val="F58020"/>
                </a:solidFill>
                <a:latin typeface="Microsoft YaHei"/>
                <a:ea typeface="Microsoft YaHei"/>
              </a:rPr>
              <a:t> AI </a:t>
            </a:r>
            <a:r>
              <a:rPr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转化为专业</a:t>
            </a:r>
            <a:r>
              <a:rPr b="0" i="1" dirty="0">
                <a:solidFill>
                  <a:srgbClr val="F58020"/>
                </a:solidFill>
                <a:latin typeface="Microsoft YaHei"/>
                <a:ea typeface="Microsoft YaHei"/>
              </a:rPr>
              <a:t> </a:t>
            </a:r>
            <a:r>
              <a:rPr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HR，用结构化指标</a:t>
            </a:r>
            <a:r>
              <a:rPr b="0" i="1" dirty="0">
                <a:solidFill>
                  <a:srgbClr val="F58020"/>
                </a:solidFill>
                <a:latin typeface="Microsoft YaHei"/>
                <a:ea typeface="Microsoft YaHei"/>
              </a:rPr>
              <a:t> "</a:t>
            </a:r>
            <a:r>
              <a:rPr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脱水</a:t>
            </a:r>
            <a:r>
              <a:rPr b="0" i="1" dirty="0">
                <a:solidFill>
                  <a:srgbClr val="F58020"/>
                </a:solidFill>
                <a:latin typeface="Microsoft YaHei"/>
                <a:ea typeface="Microsoft YaHei"/>
              </a:rPr>
              <a:t>" </a:t>
            </a:r>
            <a:r>
              <a:rPr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重构</a:t>
            </a:r>
            <a:r>
              <a:rPr sz="1400" b="0" i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5151669"/>
            <a:ext cx="5212080" cy="544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对比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帮我润色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vs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强制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STAR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法则审查，揪出"极大提升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等空洞形容词，要求补充量化指标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34 / 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2004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200" b="1" i="0">
                <a:solidFill>
                  <a:srgbClr val="0066CC"/>
                </a:solidFill>
                <a:latin typeface="Microsoft YaHei"/>
                <a:ea typeface="Microsoft YaHei"/>
              </a:rPr>
              <a:t>本章小结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2847" y="1188720"/>
            <a:ext cx="22860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3.1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155448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1609344"/>
            <a:ext cx="4343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激发创新性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25880" y="2100441"/>
            <a:ext cx="43434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突破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常识陷阱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"；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锚点-变量策略注入个性化背景；多轮反馈迭代收敛。约束即创造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61888" y="155448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61888" y="155448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3.2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9128" y="155448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22008" y="1609344"/>
            <a:ext cx="4343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上下文机制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836181" y="2075318"/>
            <a:ext cx="4612107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无状态模型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滚雪球累积；全量背景供给解锁高级推理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；"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新任务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=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新对话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防污染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9864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289864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3.3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289864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80" y="2947705"/>
            <a:ext cx="4343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克服迎合本能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319272"/>
            <a:ext cx="43434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RLHF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副产物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阿谀奉承；从直白附和到隐蔽信息过滤；中立框架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双选项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悬念法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61888" y="289864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61888" y="289864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3.4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39128" y="289864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22008" y="2953512"/>
            <a:ext cx="4343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深度推理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922008" y="3301387"/>
            <a:ext cx="452628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系统慢思考；评估-盲区-工具-重塑的内部闭环；顶配模型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全量背景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拆解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强制慢思考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242816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424281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3.5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424281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25880" y="4297680"/>
            <a:ext cx="4343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本地化使用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25880" y="4667012"/>
            <a:ext cx="43434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桌面智能体长出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数字双手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"；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规划-审查-执行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SOP；沙盒隔离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断网本地部署护数据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61888" y="4242816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1888" y="424281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39128" y="424281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22008" y="4297680"/>
            <a:ext cx="4343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深度写作与审查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22008" y="4691979"/>
            <a:ext cx="43434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警惕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"AI 腔"；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渐进式大纲操纵杠杆；结构化量化评审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多模型交叉盲审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806440"/>
            <a:ext cx="11475720" cy="71323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7053" y="5981396"/>
            <a:ext cx="11643055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✦ 从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被动检索工具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到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主动人机共创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—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掌握与大模型高质量智力博弈的全套准则</a:t>
            </a:r>
            <a:r>
              <a:rPr sz="19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35 / 36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0" y="4744016"/>
            <a:ext cx="5613149" cy="2113984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91695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Arial"/>
                <a:ea typeface="Arial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E6F2FC"/>
                </a:solidFill>
                <a:latin typeface="Microsoft YaHei"/>
                <a:ea typeface="Microsoft YaHei"/>
              </a:rPr>
              <a:t>感 谢 聆 听 ， 欢 迎 提 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E6F2FC"/>
                </a:solidFill>
                <a:latin typeface="Microsoft YaHei"/>
                <a:ea typeface="Microsoft YaHei"/>
              </a:rPr>
              <a:t>扬州大学  ·  第 3 章  ·  大模型的推理与协同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3270</Words>
  <Application>Microsoft Office PowerPoint</Application>
  <PresentationFormat>宽屏</PresentationFormat>
  <Paragraphs>576</Paragraphs>
  <Slides>43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43</vt:i4>
      </vt:variant>
    </vt:vector>
  </HeadingPairs>
  <TitlesOfParts>
    <vt:vector size="49" baseType="lpstr">
      <vt:lpstr>宋体</vt:lpstr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朋 王</cp:lastModifiedBy>
  <cp:revision>2</cp:revision>
  <dcterms:created xsi:type="dcterms:W3CDTF">2013-01-27T09:14:16Z</dcterms:created>
  <dcterms:modified xsi:type="dcterms:W3CDTF">2026-06-04T10:04:25Z</dcterms:modified>
  <cp:category/>
</cp:coreProperties>
</file>