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78"/>
  </p:notesMasterIdLst>
  <p:sldIdLst>
    <p:sldId id="256" r:id="rId2"/>
    <p:sldId id="257" r:id="rId3"/>
    <p:sldId id="258" r:id="rId4"/>
    <p:sldId id="259" r:id="rId5"/>
    <p:sldId id="260" r:id="rId6"/>
    <p:sldId id="261" r:id="rId7"/>
    <p:sldId id="295" r:id="rId8"/>
    <p:sldId id="262" r:id="rId9"/>
    <p:sldId id="263" r:id="rId10"/>
    <p:sldId id="264" r:id="rId11"/>
    <p:sldId id="265" r:id="rId12"/>
    <p:sldId id="296" r:id="rId13"/>
    <p:sldId id="266" r:id="rId14"/>
    <p:sldId id="267" r:id="rId15"/>
    <p:sldId id="268" r:id="rId16"/>
    <p:sldId id="269" r:id="rId17"/>
    <p:sldId id="270" r:id="rId18"/>
    <p:sldId id="297" r:id="rId19"/>
    <p:sldId id="271" r:id="rId20"/>
    <p:sldId id="272" r:id="rId21"/>
    <p:sldId id="298" r:id="rId22"/>
    <p:sldId id="313" r:id="rId23"/>
    <p:sldId id="314" r:id="rId24"/>
    <p:sldId id="315" r:id="rId25"/>
    <p:sldId id="323" r:id="rId26"/>
    <p:sldId id="316" r:id="rId27"/>
    <p:sldId id="324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300" r:id="rId40"/>
    <p:sldId id="301" r:id="rId41"/>
    <p:sldId id="284" r:id="rId42"/>
    <p:sldId id="302" r:id="rId43"/>
    <p:sldId id="303" r:id="rId44"/>
    <p:sldId id="304" r:id="rId45"/>
    <p:sldId id="305" r:id="rId46"/>
    <p:sldId id="306" r:id="rId47"/>
    <p:sldId id="285" r:id="rId48"/>
    <p:sldId id="286" r:id="rId49"/>
    <p:sldId id="287" r:id="rId50"/>
    <p:sldId id="288" r:id="rId51"/>
    <p:sldId id="307" r:id="rId52"/>
    <p:sldId id="308" r:id="rId53"/>
    <p:sldId id="309" r:id="rId54"/>
    <p:sldId id="289" r:id="rId55"/>
    <p:sldId id="310" r:id="rId56"/>
    <p:sldId id="311" r:id="rId57"/>
    <p:sldId id="299" r:id="rId58"/>
    <p:sldId id="312" r:id="rId59"/>
    <p:sldId id="317" r:id="rId60"/>
    <p:sldId id="318" r:id="rId61"/>
    <p:sldId id="325" r:id="rId62"/>
    <p:sldId id="319" r:id="rId63"/>
    <p:sldId id="326" r:id="rId64"/>
    <p:sldId id="327" r:id="rId65"/>
    <p:sldId id="320" r:id="rId66"/>
    <p:sldId id="328" r:id="rId67"/>
    <p:sldId id="329" r:id="rId68"/>
    <p:sldId id="321" r:id="rId69"/>
    <p:sldId id="330" r:id="rId70"/>
    <p:sldId id="331" r:id="rId71"/>
    <p:sldId id="322" r:id="rId72"/>
    <p:sldId id="332" r:id="rId73"/>
    <p:sldId id="291" r:id="rId74"/>
    <p:sldId id="292" r:id="rId75"/>
    <p:sldId id="293" r:id="rId76"/>
    <p:sldId id="294" r:id="rId7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604" autoAdjust="0"/>
    <p:restoredTop sz="94671"/>
  </p:normalViewPr>
  <p:slideViewPr>
    <p:cSldViewPr snapToGrid="0" snapToObjects="1" showGuides="1">
      <p:cViewPr varScale="1">
        <p:scale>
          <a:sx n="83" d="100"/>
          <a:sy n="83" d="100"/>
        </p:scale>
        <p:origin x="896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notesMaster" Target="notesMasters/notesMaster1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43F8C7-86F6-4BAA-8A1E-469D5A01FDF0}" type="datetimeFigureOut">
              <a:rPr lang="zh-CN" altLang="en-US" smtClean="0"/>
              <a:t>2026/7/5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3F4853-8495-4233-BC7C-E678941DCC9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F4853-8495-4233-BC7C-E678941DCC94}" type="slidenum">
              <a:rPr lang="zh-CN" altLang="en-US" smtClean="0"/>
              <a:t>38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F4853-8495-4233-BC7C-E678941DCC94}" type="slidenum">
              <a:rPr lang="zh-CN" altLang="en-US" smtClean="0"/>
              <a:t>39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F4853-8495-4233-BC7C-E678941DCC94}" type="slidenum">
              <a:rPr lang="zh-CN" altLang="en-US" smtClean="0"/>
              <a:t>40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F4853-8495-4233-BC7C-E678941DCC94}" type="slidenum">
              <a:rPr lang="zh-CN" altLang="en-US" smtClean="0"/>
              <a:t>74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7315200" y="0"/>
            <a:ext cx="4876495" cy="3657600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8014447" y="3567953"/>
            <a:ext cx="4177248" cy="3290047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2373421"/>
            <a:ext cx="12191695" cy="8309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《</a:t>
            </a:r>
            <a:r>
              <a:rPr sz="5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生成式人工智能</a:t>
            </a:r>
            <a:r>
              <a:rPr lang="zh-CN" altLang="en-US" sz="54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与科研素养</a:t>
            </a:r>
            <a:r>
              <a:rPr sz="5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38328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第 7 章   大模型智能体的原理与实践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57784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扬州大学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ight Arrow 2"/>
          <p:cNvSpPr/>
          <p:nvPr/>
        </p:nvSpPr>
        <p:spPr>
          <a:xfrm>
            <a:off x="7680960" y="1417320"/>
            <a:ext cx="3802828" cy="5190565"/>
          </a:xfrm>
          <a:prstGeom prst="rightArrow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3657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目录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200400" cy="35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240280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240280"/>
            <a:ext cx="9601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00200" y="2240280"/>
            <a:ext cx="557784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737360" y="2240280"/>
            <a:ext cx="54406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智能体的基础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20924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820924"/>
            <a:ext cx="9601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00200" y="2820924"/>
            <a:ext cx="557784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737360" y="2820924"/>
            <a:ext cx="54406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智能体之记忆：专业知识库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401568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401568"/>
            <a:ext cx="9601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3401568"/>
            <a:ext cx="557784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737360" y="3401568"/>
            <a:ext cx="54406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智能体之插件：MCP 协议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982212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3982212"/>
            <a:ext cx="9601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00200" y="3982212"/>
            <a:ext cx="557784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37360" y="3982212"/>
            <a:ext cx="54406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智能体之思维：工作流设计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562856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4562856"/>
            <a:ext cx="9601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00200" y="4562856"/>
            <a:ext cx="557784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737360" y="4562856"/>
            <a:ext cx="54406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多智能体协作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143500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8640" y="5143500"/>
            <a:ext cx="9601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00200" y="5143500"/>
            <a:ext cx="557784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737360" y="5143500"/>
            <a:ext cx="54406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智能体的构建（实战）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724144"/>
            <a:ext cx="960120" cy="51206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8640" y="5724144"/>
            <a:ext cx="9601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00200" y="5724144"/>
            <a:ext cx="557784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737360" y="5724144"/>
            <a:ext cx="544068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本章实训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2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导言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从 "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旁观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" 到 "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介入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的认知升级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179016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智能体</a:t>
            </a:r>
            <a:r>
              <a:rPr sz="28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= </a:t>
            </a:r>
            <a:r>
              <a:rPr sz="28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打破对话框玻璃墙的</a:t>
            </a:r>
            <a:r>
              <a:rPr sz="28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"知" 与 "行" </a:t>
            </a:r>
            <a:r>
              <a:rPr sz="28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合一</a:t>
            </a:r>
            <a:endParaRPr sz="28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1874519"/>
            <a:ext cx="1124712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从只动口的</a:t>
            </a:r>
            <a:r>
              <a:rPr sz="22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"</a:t>
            </a:r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咨询助理</a:t>
            </a:r>
            <a:r>
              <a:rPr sz="22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"  →  </a:t>
            </a:r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能干活的</a:t>
            </a:r>
            <a:r>
              <a:rPr sz="22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"</a:t>
            </a:r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个人助理</a:t>
            </a:r>
            <a:r>
              <a:rPr sz="22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"：</a:t>
            </a:r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调用工具</a:t>
            </a:r>
            <a:r>
              <a:rPr sz="22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操作软件</a:t>
            </a:r>
            <a:r>
              <a:rPr sz="22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编排流程</a:t>
            </a:r>
            <a:endParaRPr sz="22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11480" y="2697480"/>
            <a:ext cx="1828800" cy="74980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2697480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099816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基础架构</a:t>
            </a:r>
            <a:endParaRPr sz="15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11480" y="3447288"/>
            <a:ext cx="1828800" cy="1581912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1208" y="3687876"/>
            <a:ext cx="1609344" cy="1119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脑+手循环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感知规划行动记忆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2331720" y="2697480"/>
            <a:ext cx="1828800" cy="74980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31720" y="2697480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3099816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记忆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3447288"/>
            <a:ext cx="1828800" cy="1581912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331720" y="3847784"/>
            <a:ext cx="1810512" cy="734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RAG 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知识库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抑制大模型幻觉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251960" y="2697480"/>
            <a:ext cx="1828800" cy="74980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51960" y="2697480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099816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插件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60" y="3447288"/>
            <a:ext cx="1828800" cy="1581912"/>
          </a:xfrm>
          <a:prstGeom prst="rect">
            <a:avLst/>
          </a:prstGeom>
          <a:solidFill>
            <a:srgbClr val="E6F2FC"/>
          </a:solidFill>
          <a:ln w="12700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61688" y="3687876"/>
            <a:ext cx="1609344" cy="1119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MCP 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协议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统一调用外部工具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172200" y="2697480"/>
            <a:ext cx="1828800" cy="74980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172200" y="2697480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3099816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思维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3447288"/>
            <a:ext cx="1828800" cy="1581912"/>
          </a:xfrm>
          <a:prstGeom prst="rect">
            <a:avLst/>
          </a:prstGeom>
          <a:solidFill>
            <a:srgbClr val="E6F2FC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81928" y="3687876"/>
            <a:ext cx="1609344" cy="1119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工作流编排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节点+连接+分支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8092440" y="2697480"/>
            <a:ext cx="1828800" cy="74980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92440" y="2697480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92440" y="3099816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协作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92440" y="3447288"/>
            <a:ext cx="1828800" cy="1581912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110728" y="3829854"/>
            <a:ext cx="1810512" cy="734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多智能体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主从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对等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投票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10012680" y="2697480"/>
            <a:ext cx="1828800" cy="74980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012680" y="2697480"/>
            <a:ext cx="18288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12680" y="3099816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实战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12680" y="3447288"/>
            <a:ext cx="1828800" cy="1581912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067544" y="3834822"/>
            <a:ext cx="1719072" cy="734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搭建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客服+文献问答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502920" y="5491444"/>
            <a:ext cx="11247120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04495" y="5629581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核心跃迁：从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思考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建议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"  →  "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行动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执行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亲手构建属于自己的智能体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3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8567" y="246888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智能体的基础</a:t>
            </a:r>
            <a:endParaRPr sz="38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智能体是大模型从"内容生成工具"走向"任务执行系统"的重要形态，具备感知、规划、行动与记忆能力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4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什么是智能体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"脑" 与 "手"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6065" y="844459"/>
            <a:ext cx="6106453" cy="576208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智能体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= 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围绕特定目标，感知信息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理解任务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制定计划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采取行动的智能系统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🧠 </a:t>
            </a: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大模型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= "脑"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理解用户意图、分析任务目标、把复杂问题转化为清晰的执行思路；提供任务理解、知识推理与过程规划的基础能力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🛠 </a:t>
            </a: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工具系统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= "手"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连接外部环境：检索资料、处理数据、生成文档、调用业务接口，把推理结果落实为具体操作，并把结果回传给模型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6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🔄 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运行方式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= 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循环推进</a:t>
            </a:r>
            <a:endParaRPr sz="2400" b="1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理解任务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调用工具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获取反馈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判断是否完成或调整思路，在持续获得新信息中修正判断，使任务逐步向目标推进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2975" y="5303520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智能体的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"脑" 与 "手"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5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665" y="1906188"/>
            <a:ext cx="5516462" cy="32173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智能体的核心能力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任务闭环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感知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规划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行动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记忆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协同构成持续运行的任务闭环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5602071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感知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信息入口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276856"/>
            <a:ext cx="5236311" cy="122481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接收并理解外部输入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文本指令、结构化数据、图像多模态、工具执行反馈。决定智能体能理解任务的范围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8143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8143" y="1600200"/>
            <a:ext cx="5602071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5303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规划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任务组织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61023" y="2276856"/>
            <a:ext cx="5236311" cy="1263285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把复杂目标拆解为可执行步骤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思考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—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行动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—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观察"循环，按进展动态调整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区别于固定自动化脚本的关键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174236"/>
            <a:ext cx="5602071" cy="2272284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1480" y="4174236"/>
            <a:ext cx="5602071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4273034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行动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实际执行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4850892"/>
            <a:ext cx="5236311" cy="163261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借助工具"做"事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检索、代码执行、文件读写、接口调用、界面操作。</a:t>
            </a:r>
            <a:r>
              <a:rPr sz="2000" b="0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能力越强风险越高</a:t>
            </a:r>
            <a:r>
              <a:rPr sz="2000" b="0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需权限边界与确认</a:t>
            </a:r>
            <a:r>
              <a:rPr sz="2000" b="0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8143" y="4174236"/>
            <a:ext cx="5602071" cy="2272284"/>
          </a:xfrm>
          <a:prstGeom prst="rect">
            <a:avLst/>
          </a:prstGeom>
          <a:solidFill>
            <a:srgbClr val="FFFFFF"/>
          </a:solidFill>
          <a:ln w="222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8143" y="4174236"/>
            <a:ext cx="5602071" cy="5669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15303" y="4273034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记忆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持续支撑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61023" y="4850892"/>
            <a:ext cx="5236311" cy="1263285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保持长任务连续性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工作记忆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情节记忆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语义记忆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外部记忆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外部记忆突破上下文窗口限制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6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智能体的核心能力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任务闭环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7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6" name="图片 25"/>
          <p:cNvPicPr>
            <a:picLocks noChangeAspect="1"/>
          </p:cNvPicPr>
          <p:nvPr/>
        </p:nvPicPr>
        <p:blipFill>
          <a:blip r:embed="rId3"/>
          <a:srcRect t="5160"/>
          <a:stretch>
            <a:fillRect/>
          </a:stretch>
        </p:blipFill>
        <p:spPr>
          <a:xfrm>
            <a:off x="2670041" y="795528"/>
            <a:ext cx="5937213" cy="5630322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文本框 26"/>
          <p:cNvSpPr txBox="1"/>
          <p:nvPr/>
        </p:nvSpPr>
        <p:spPr>
          <a:xfrm>
            <a:off x="4069976" y="6283374"/>
            <a:ext cx="388171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dirty="0">
                <a:latin typeface="微软雅黑" panose="020B0503020204020204" charset="-122"/>
                <a:ea typeface="微软雅黑" panose="020B0503020204020204" charset="-122"/>
              </a:rPr>
              <a:t>图</a:t>
            </a:r>
            <a:r>
              <a:rPr lang="en-US" altLang="zh-CN" sz="2000" dirty="0">
                <a:latin typeface="微软雅黑" panose="020B0503020204020204" charset="-122"/>
                <a:ea typeface="微软雅黑" panose="020B0503020204020204" charset="-122"/>
              </a:rPr>
              <a:t>7-2  </a:t>
            </a:r>
            <a:r>
              <a:rPr lang="zh-CN" altLang="zh-CN" sz="2000" dirty="0">
                <a:latin typeface="微软雅黑" panose="020B0503020204020204" charset="-122"/>
                <a:ea typeface="微软雅黑" panose="020B0503020204020204" charset="-122"/>
              </a:rPr>
              <a:t>智能体核心能力协同机制</a:t>
            </a:r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7.1.3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智能体从对话能力到任务能力的演进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97282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4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智能体的核心变化：把大模型的"语言能力"转化为"执行任务的能力</a:t>
            </a:r>
            <a:r>
              <a:rPr sz="24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"——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理解意图、拆解步骤、调用工具、运用知识，并依据执行结果调整后续操作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706" y="6223381"/>
            <a:ext cx="11426109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普通大模型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工具增强型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规划执行型：从"对话程序"到"科研互助程序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8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 descr="c9c30df5-0e4a-4a4c-a844-c7703db90b7d"/>
          <p:cNvPicPr>
            <a:picLocks noChangeAspect="1"/>
          </p:cNvPicPr>
          <p:nvPr/>
        </p:nvPicPr>
        <p:blipFill>
          <a:blip r:embed="rId3"/>
          <a:srcRect t="11216" b="14639"/>
          <a:stretch>
            <a:fillRect/>
          </a:stretch>
        </p:blipFill>
        <p:spPr>
          <a:xfrm>
            <a:off x="2248730" y="1932941"/>
            <a:ext cx="7763950" cy="41639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7.1.3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智能体的主流分类范式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表 7-1  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主流智能体分类范式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5127" y="1554480"/>
            <a:ext cx="182880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5127" y="1644134"/>
            <a:ext cx="1828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类型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163927" y="1554480"/>
            <a:ext cx="32918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63927" y="1644134"/>
            <a:ext cx="329184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核心特征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455767" y="1554480"/>
            <a:ext cx="384048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55767" y="1644134"/>
            <a:ext cx="3840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适用场景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296247" y="1554480"/>
            <a:ext cx="256032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296247" y="1644134"/>
            <a:ext cx="25603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主要局限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35127" y="2103120"/>
            <a:ext cx="182880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2287" y="2383572"/>
            <a:ext cx="1554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问答型</a:t>
            </a:r>
            <a:endParaRPr sz="20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163927" y="2103120"/>
            <a:ext cx="329184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301087" y="2398960"/>
            <a:ext cx="30175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解释、回答、文本生成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455767" y="2103120"/>
            <a:ext cx="384048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592927" y="2398960"/>
            <a:ext cx="35661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概念学习、文字润色、思路启发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9296247" y="2103120"/>
            <a:ext cx="256032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33407" y="2260461"/>
            <a:ext cx="22860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缺乏长期记忆与复杂规划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35127" y="2971800"/>
            <a:ext cx="18288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72287" y="3252251"/>
            <a:ext cx="1554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知识增强型</a:t>
            </a:r>
            <a:endParaRPr sz="20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163927" y="2971800"/>
            <a:ext cx="32918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301087" y="3267640"/>
            <a:ext cx="30175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先检索知识库再回答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(RAG)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55767" y="2971800"/>
            <a:ext cx="3840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592927" y="3267640"/>
            <a:ext cx="35661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论文问答、资料查询、教材辅助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9296247" y="2971800"/>
            <a:ext cx="25603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433407" y="3267640"/>
            <a:ext cx="2286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高度依赖知识库质量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35127" y="3840480"/>
            <a:ext cx="182880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2287" y="4120931"/>
            <a:ext cx="1554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工具调用型</a:t>
            </a:r>
            <a:endParaRPr sz="20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163927" y="3840480"/>
            <a:ext cx="329184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301087" y="4136320"/>
            <a:ext cx="301752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连接并调用外部工具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5455767" y="3840480"/>
            <a:ext cx="384048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592927" y="4136320"/>
            <a:ext cx="35661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数据分析、代码调试、图表、检索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9296247" y="3840480"/>
            <a:ext cx="2560320" cy="86868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433407" y="4136320"/>
            <a:ext cx="2286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需配置与维护工具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35127" y="4709160"/>
            <a:ext cx="18288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72287" y="4989611"/>
            <a:ext cx="15544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规划执行型</a:t>
            </a:r>
            <a:endParaRPr sz="20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163927" y="4709160"/>
            <a:ext cx="32918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301087" y="4866501"/>
            <a:ext cx="301752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任务拆解、分步推进、动态调整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5455767" y="4709160"/>
            <a:ext cx="384048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592927" y="5005000"/>
            <a:ext cx="35661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开题报告、综述写作、实验设计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9296247" y="4709160"/>
            <a:ext cx="256032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433407" y="5005000"/>
            <a:ext cx="2286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复杂任务仍需人工审核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57200" y="5713250"/>
            <a:ext cx="1124712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✦ </a:t>
            </a:r>
            <a:r>
              <a:rPr sz="24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并非架构越复杂越好：按任务选型</a:t>
            </a:r>
            <a:r>
              <a:rPr sz="24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sz="24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解释概念用问答型，整理资料用知识增强型，处理数据用工具调用型，连续研究用规划执行型</a:t>
            </a:r>
            <a:r>
              <a:rPr sz="24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3091" y="6446520"/>
            <a:ext cx="535724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9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8567" y="241544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智能体之记忆</a:t>
            </a:r>
            <a:endParaRPr sz="38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借助外部专业知识库，让智能体"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带着资料作答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减少大模型幻觉，提升专业性与可追溯性</a:t>
            </a:r>
            <a:r>
              <a:rPr sz="18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10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为什么需要专业知识库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对抗幻觉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19" y="960120"/>
            <a:ext cx="9519622" cy="473891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大模型幻觉的根源</a:t>
            </a:r>
            <a:r>
              <a:rPr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它并非像数据库逐条存储事实，而是从海量文本中学习语言模式与知识规律。当信息稀疏、矛盾或属于训练截止后的新知识时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——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模型不会坦承"</a:t>
            </a: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我不知道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而是从概率空间</a:t>
            </a:r>
            <a:r>
              <a:rPr sz="22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拼凑出一个"看起来最像答案"的序列</a:t>
            </a:r>
            <a:r>
              <a:rPr sz="22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800" b="1" dirty="0">
              <a:solidFill>
                <a:srgbClr val="F5802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专业场景尤为危险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编造不存在的论文标题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作者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摘要；混淆小众术语概念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解决之道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专业知识库</a:t>
            </a:r>
            <a:r>
              <a:rPr lang="zh-CN" altLang="en-US"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endParaRPr sz="24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由论文、教材、文档、实验记录组成，提供</a:t>
            </a:r>
            <a:r>
              <a:rPr sz="22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可检索、可更新、可追溯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的知识来源。</a:t>
            </a: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先检索相关内容，再基于资料生成回答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为什么需要专业知识库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对抗幻觉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562269" y="5384164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大模型幻觉的两个例子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2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 descr="ChatGPT Image May 24, 2026, 10_13_52 PM"/>
          <p:cNvPicPr>
            <a:picLocks noChangeAspect="1"/>
          </p:cNvPicPr>
          <p:nvPr/>
        </p:nvPicPr>
        <p:blipFill rotWithShape="1">
          <a:blip r:embed="rId3"/>
          <a:srcRect b="14055"/>
          <a:stretch>
            <a:fillRect/>
          </a:stretch>
        </p:blipFill>
        <p:spPr bwMode="auto">
          <a:xfrm>
            <a:off x="960120" y="1572768"/>
            <a:ext cx="10543997" cy="3182037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检索增强生成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RAG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的完整流程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1695" y="844034"/>
            <a:ext cx="11247120" cy="93903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模型与知识库分工：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模型负责理解问题、整合信息、生成自然语言回答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；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知识库负责提供可靠、可持续更新的资料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它是智能体"外部记忆"的核心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365" y="6189036"/>
            <a:ext cx="1219169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RAG：把人能读的普通资料，转化为智能体可检索、可调用、可追溯的外部知识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 descr="2561660d-8d9a-40eb-9d1a-4c6a44ff2df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8215" y="1849276"/>
            <a:ext cx="7513997" cy="42735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7.2.2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知识入库与向量化检索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一份普通文档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智能体可检索调用的知识，需经过七步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1920240"/>
            <a:ext cx="1527439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920240"/>
            <a:ext cx="1527439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60320"/>
            <a:ext cx="1527439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0624" y="2790479"/>
            <a:ext cx="141771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文档解析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7200" y="3291840"/>
            <a:ext cx="1344559" cy="12495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提取文字，保留标题层级、段落、表格、图注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874911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02927" y="1920240"/>
            <a:ext cx="1527439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002927" y="1920240"/>
            <a:ext cx="1527439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02927" y="2560320"/>
            <a:ext cx="1527439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057791" y="2790480"/>
            <a:ext cx="141771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文本清洗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094367" y="3291840"/>
            <a:ext cx="1344559" cy="12495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去除页眉页脚、页码、乱码、断行等干扰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512079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40095" y="1920240"/>
            <a:ext cx="1527439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40095" y="1920240"/>
            <a:ext cx="1527439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40095" y="2560320"/>
            <a:ext cx="1527439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94959" y="2790479"/>
            <a:ext cx="141771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内容切片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731535" y="3291840"/>
            <a:ext cx="1344559" cy="12495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拆成完整语义单元，长度适中不丢上下文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149247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77263" y="1920240"/>
            <a:ext cx="1527439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77263" y="1920240"/>
            <a:ext cx="1527439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77263" y="2560320"/>
            <a:ext cx="1527439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332127" y="2790479"/>
            <a:ext cx="141771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向量化入库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368703" y="3291840"/>
            <a:ext cx="1344559" cy="12495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文本语义→数字向量，连同原文与元数据入库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786415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14431" y="1920240"/>
            <a:ext cx="1527439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14431" y="1920240"/>
            <a:ext cx="1527439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14431" y="2560320"/>
            <a:ext cx="1527439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969295" y="2790479"/>
            <a:ext cx="141771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问题检索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005871" y="3291840"/>
            <a:ext cx="1344559" cy="12495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问题转向量，按语义相似度召回相关片段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8423583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51599" y="1920240"/>
            <a:ext cx="1527439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51599" y="1920240"/>
            <a:ext cx="1527439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51599" y="2560320"/>
            <a:ext cx="1527439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606463" y="2790479"/>
            <a:ext cx="141771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上下文增强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643039" y="3291840"/>
            <a:ext cx="1344559" cy="12495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召回资料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用户问题一起提供给大模型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0060751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188767" y="1920240"/>
            <a:ext cx="1527439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188767" y="1920240"/>
            <a:ext cx="1527439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188767" y="2560320"/>
            <a:ext cx="1527439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243631" y="2790479"/>
            <a:ext cx="1417711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答案生成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0280207" y="3291840"/>
            <a:ext cx="1344559" cy="930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模型"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带着资料作答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可标注来源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365760" y="5349240"/>
            <a:ext cx="11475720" cy="9144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40080" y="5398188"/>
            <a:ext cx="10972800" cy="81650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向量化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=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把语义转成数字：意思相近的文本在向量空间中距离更近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按语义相似度检索，而非仅靠关键词匹配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7.2.3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让智能体检索得更准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四个关键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同样上传资料，回答质量差异往往不在模型，而在知识库质量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5602071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文档质量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276856"/>
            <a:ext cx="5236311" cy="115408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准确性的起点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内容清晰、格式规范、结构完整；扫描件关注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OCR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准确度，避免重复版本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8143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8143" y="1600200"/>
            <a:ext cx="5602071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5303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内容组织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61023" y="2276856"/>
            <a:ext cx="5236311" cy="115408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让重点更易被找到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明确标题、小节编号、知识点划分、问答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步骤格式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边界清晰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174236"/>
            <a:ext cx="5602071" cy="2199670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1480" y="4174236"/>
            <a:ext cx="5602071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4273034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③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检索测试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4850892"/>
            <a:ext cx="5236311" cy="115408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以问答反馈优化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设计典型问题测试召回是否准确、是否遗漏、是否与原文一致，再针对性调整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8143" y="4174236"/>
            <a:ext cx="5602071" cy="2199670"/>
          </a:xfrm>
          <a:prstGeom prst="rect">
            <a:avLst/>
          </a:prstGeom>
          <a:solidFill>
            <a:srgbClr val="FFFFFF"/>
          </a:solidFill>
          <a:ln w="222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8143" y="4174236"/>
            <a:ext cx="5602071" cy="5669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15303" y="4273034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④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持续维护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61023" y="4850892"/>
            <a:ext cx="5236311" cy="115408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让外部记忆保持可用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及时删除失效资料、补充新增、保留最新版本，避免新旧混杂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48788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智能体之插件</a:t>
            </a:r>
            <a:endParaRPr sz="38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智能体的优势在于"行动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"——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突破知识边界，主动调用外部数据、工具与服务。MCP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让工具接入统一、规范、可复用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6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7.3.1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智能体如何调用外部工具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837" y="943087"/>
            <a:ext cx="9546515" cy="554054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大模型的两点局限</a:t>
            </a:r>
            <a:r>
              <a:rPr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①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内部知识有时间边界，无法保证掌握最新信息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；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②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擅长语言推理，却不适合精确计算、文件操作、数据库查询与外部系统交互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8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工具调用机制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理解需求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判断是否需要外部能力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选择合适工具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传递参数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工具执行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结果回传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继续生成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推进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8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典型例子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问实时数据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调用搜索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数据接口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统计一批数据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调用计算工具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•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整理文档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调用文件处理工具读取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摘要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格式化</a:t>
            </a: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→ 大模型不再"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凭自身知识回答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而是主动借助外部能力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7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7.3.1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智能体如何调用外部工具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5375" y="5773648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智能体工具调用流程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8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 descr="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330" y="1042416"/>
            <a:ext cx="9414650" cy="466443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7.3.2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MCP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协议的基本思想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60257" y="4285849"/>
            <a:ext cx="9777437" cy="209376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三大核心能力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• </a:t>
            </a:r>
            <a:r>
              <a:rPr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资源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让智能体接触外部信息</a:t>
            </a:r>
            <a:endParaRPr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• </a:t>
            </a:r>
            <a:r>
              <a:rPr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工具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让智能体执行具体操作</a:t>
            </a:r>
            <a:endParaRPr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• </a:t>
            </a:r>
            <a:r>
              <a:rPr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提示模板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帮助智能体规范地组织任务</a:t>
            </a: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⚠ </a:t>
            </a:r>
            <a:r>
              <a:rPr sz="24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越开放越需权限控制：敏感操作应保留用户确认</a:t>
            </a:r>
            <a:r>
              <a:rPr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4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人工审核</a:t>
            </a:r>
            <a:r>
              <a:rPr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6057" y="4709230"/>
            <a:ext cx="5416618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7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从 "N×M" 到 "N+M"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的集成模式对比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433016" y="6446520"/>
            <a:ext cx="575799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1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9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 descr="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642" y="2007691"/>
            <a:ext cx="7243014" cy="2669226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399766" y="801651"/>
            <a:ext cx="10356148" cy="1634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lang="zh-CN" altLang="en-US"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问题：工具</a:t>
            </a:r>
            <a:r>
              <a:rPr lang="en-US" altLang="zh-CN"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lang="zh-CN" altLang="en-US"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各自为战</a:t>
            </a:r>
            <a:r>
              <a:rPr lang="en-US" altLang="zh-CN"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lang="zh-CN" altLang="en-US" sz="200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不同工具有不同的数据格式、认证方式、接口规范。若每个应用都为每个工具单独适配 → </a:t>
            </a:r>
            <a:r>
              <a:rPr lang="en-US" altLang="zh-CN" sz="20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N×M </a:t>
            </a:r>
            <a:r>
              <a:rPr lang="zh-CN" altLang="en-US" sz="20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的高成本。</a:t>
            </a:r>
          </a:p>
          <a:p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399766" y="2232023"/>
            <a:ext cx="4366035" cy="22152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lang="en-US" altLang="zh-CN"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MCP </a:t>
            </a:r>
            <a:r>
              <a:rPr lang="zh-CN" altLang="en-US"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的核心思想：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lang="zh-CN" altLang="en-US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为模型与工具建立统一交互规范，让工具以标准方式</a:t>
            </a:r>
            <a:r>
              <a:rPr lang="zh-CN" altLang="en-US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说明</a:t>
            </a:r>
            <a:r>
              <a:rPr lang="en-US" altLang="zh-CN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lang="zh-CN" altLang="en-US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我能做什么、需要什么输入、会返回什么</a:t>
            </a:r>
            <a:r>
              <a:rPr lang="en-US" altLang="zh-CN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lang="zh-CN" altLang="en-US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r>
              <a:rPr lang="zh-CN" altLang="en-US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→ 集成模式从 </a:t>
            </a:r>
            <a:r>
              <a:rPr lang="en-US" altLang="zh-CN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N×M </a:t>
            </a:r>
            <a:r>
              <a:rPr lang="zh-CN" altLang="en-US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降为 </a:t>
            </a:r>
            <a:r>
              <a:rPr lang="en-US" altLang="zh-CN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N+M</a:t>
            </a:r>
            <a:r>
              <a:rPr lang="zh-CN" altLang="en-US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，减少重复开发与适配。</a:t>
            </a:r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7.3.3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插件扩展智能体的应用场景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1405" y="1158240"/>
            <a:ext cx="10183010" cy="446332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知识库解决"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知道什么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插件解决"还能做什么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"。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2200" b="1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四类常见插件能力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8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① </a:t>
            </a:r>
            <a:r>
              <a:rPr sz="22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信息检索</a:t>
            </a:r>
            <a:r>
              <a:rPr sz="17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搜索工具、知识库接口、专业数据库，减少凭空生成</a:t>
            </a: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8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② </a:t>
            </a:r>
            <a:r>
              <a:rPr sz="22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计算与分析</a:t>
            </a:r>
            <a:r>
              <a:rPr sz="17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计算引擎处理数据，模型解释结果，保留过程可查</a:t>
            </a: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8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③ </a:t>
            </a:r>
            <a:r>
              <a:rPr sz="22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文件与内容处理</a:t>
            </a:r>
            <a:r>
              <a:rPr sz="17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—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读取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PDF/Word/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表格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网页，摘要、改写、结构化输出</a:t>
            </a: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8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④ </a:t>
            </a:r>
            <a:r>
              <a:rPr sz="22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外部服务与业务系统</a:t>
            </a:r>
            <a:r>
              <a:rPr sz="17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—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通过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API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接入数据平台、项目管理、客服系统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⚠ </a:t>
            </a:r>
            <a:r>
              <a:rPr sz="24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插件越多</a:t>
            </a:r>
            <a:r>
              <a:rPr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 ≠ </a:t>
            </a:r>
            <a:r>
              <a:rPr sz="24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越好：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过多插件会增加调用混乱、任务路径不清。</a:t>
            </a: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应按任务目标选择必要插件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配置应服务于任务本身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20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7.3.3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插件扩展智能体的应用场景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29112" y="6377269"/>
            <a:ext cx="5333469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8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科研工作台视角下的多渠道工具连接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21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9" name="图片 8" descr="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2166" y="910828"/>
            <a:ext cx="7791170" cy="51947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7.4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103120"/>
            <a:ext cx="66751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333333"/>
                </a:solidFill>
                <a:latin typeface="Microsoft YaHei"/>
                <a:ea typeface="Microsoft YaHei"/>
              </a:rPr>
              <a:t>智能体之思维：
Skills 与能力封装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402336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206240"/>
            <a:ext cx="67665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>
                <a:solidFill>
                  <a:srgbClr val="333333"/>
                </a:solidFill>
                <a:latin typeface="Microsoft YaHei"/>
                <a:ea typeface="Microsoft YaHei"/>
              </a:rPr>
              <a:t>把提示词、工作流、知识片段与脚本，打包成可组合、可移植的能力单元 —— 让智能体像人一样，沉淀经验、按需复用。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7.4.1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什么是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Skills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87552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任务内容不同，但执行模式相似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——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把重复模式沉淀为标准化能力单元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2223158"/>
            <a:ext cx="6621332" cy="3205421"/>
          </a:xfrm>
          <a:prstGeom prst="rect">
            <a:avLst/>
          </a:prstGeom>
          <a:noFill/>
        </p:spPr>
        <p:txBody>
          <a:bodyPr wrap="square" lIns="30000" tIns="30000" rIns="30000" bIns="3000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12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是什么：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封装任务能力的可复用模块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40000"/>
              </a:lnSpc>
              <a:spcAft>
                <a:spcPts val="12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　 （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提示词模板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步骤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知识片段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脚本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40000"/>
              </a:lnSpc>
              <a:spcAft>
                <a:spcPts val="12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可组合：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一个智能体加载多个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Skill，按需调用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40000"/>
              </a:lnSpc>
              <a:spcAft>
                <a:spcPts val="12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可移植：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不同智能体之间共享、复用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40000"/>
              </a:lnSpc>
              <a:spcAft>
                <a:spcPts val="12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价值：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搭建从「逐项配置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」→「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按需组装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737360"/>
            <a:ext cx="4023360" cy="1965960"/>
          </a:xfrm>
          <a:prstGeom prst="rect">
            <a:avLst/>
          </a:prstGeom>
          <a:solidFill>
            <a:srgbClr val="FFFFFF"/>
          </a:solidFill>
          <a:ln w="20320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680960" y="1737360"/>
            <a:ext cx="4023360" cy="54864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80960" y="1737360"/>
            <a:ext cx="4023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 Emoji"/>
                <a:ea typeface="Segoe UI Emoji"/>
              </a:rPr>
              <a:t>🔌 插件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59" y="2413988"/>
            <a:ext cx="3708699" cy="11613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提供单一外部能力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（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如搜索、代码执行、数据库查询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3886200"/>
            <a:ext cx="4023360" cy="2331720"/>
          </a:xfrm>
          <a:prstGeom prst="rect">
            <a:avLst/>
          </a:prstGeom>
          <a:solidFill>
            <a:srgbClr val="FFFFFF"/>
          </a:solidFill>
          <a:ln w="2032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680960" y="3886200"/>
            <a:ext cx="4023360" cy="54864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80960" y="3886200"/>
            <a:ext cx="4023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 Emoji"/>
                <a:ea typeface="Segoe UI Emoji"/>
              </a:rPr>
              <a:t>🧩 Skills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768568"/>
            <a:ext cx="3708698" cy="11613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多种能力的组合封装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协调提示词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工作流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知识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多个插件调用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7.4.2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Skills 的文件组成与三层加载结构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4313" y="1042416"/>
            <a:ext cx="9464040" cy="5241620"/>
          </a:xfrm>
          <a:prstGeom prst="rect">
            <a:avLst/>
          </a:prstGeom>
          <a:noFill/>
        </p:spPr>
        <p:txBody>
          <a:bodyPr wrap="square" lIns="30000" tIns="30000" rIns="30000" bIns="30000" anchor="ctr">
            <a:spAutoFit/>
          </a:bodyPr>
          <a:lstStyle/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文件结构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　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SKILL.md（必需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）+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资源文件（可选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）+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脚本文件（可选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● </a:t>
            </a:r>
            <a:r>
              <a:rPr sz="28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三层按需加载</a:t>
            </a:r>
            <a:r>
              <a:rPr sz="2800" b="1" dirty="0">
                <a:solidFill>
                  <a:srgbClr val="F58020"/>
                </a:solidFill>
                <a:latin typeface="Microsoft YaHei"/>
                <a:ea typeface="Microsoft YaHei"/>
              </a:rPr>
              <a:t>：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　①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元数据常驻：仅加载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name/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description，快速匹配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　②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指令加载：命中后读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SKILL.md，注入执行流程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　③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资源脚本调用：按需读模板、跑脚本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4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先发现</a:t>
            </a:r>
            <a:r>
              <a:rPr sz="2400" b="1" dirty="0">
                <a:solidFill>
                  <a:srgbClr val="2E8B57"/>
                </a:solidFill>
                <a:latin typeface="Microsoft YaHei"/>
                <a:ea typeface="Microsoft YaHei"/>
              </a:rPr>
              <a:t> → </a:t>
            </a:r>
            <a:r>
              <a:rPr sz="24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再触发</a:t>
            </a:r>
            <a:r>
              <a:rPr sz="2400" b="1" dirty="0">
                <a:solidFill>
                  <a:srgbClr val="2E8B57"/>
                </a:solidFill>
                <a:latin typeface="Microsoft YaHei"/>
                <a:ea typeface="Microsoft YaHei"/>
              </a:rPr>
              <a:t> → </a:t>
            </a:r>
            <a:r>
              <a:rPr sz="24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后加载</a:t>
            </a:r>
            <a:endParaRPr sz="2400" b="1" dirty="0">
              <a:solidFill>
                <a:srgbClr val="2E8B57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18158-3C5B-1FBA-0326-0E3F4D38C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3D5B88-D7F4-26F5-7103-C74789CC9EA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B9961EF1-6601-326D-1541-B7614A588E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D8A6599-ADAC-2FA5-704B-B216544FDC97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55D0E3-26FB-F321-9A00-4604FF0062D6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7.4.2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5847C8-BF98-F2D2-9980-9BA0EA5C15BE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E8A253-FF0E-D471-1502-03951A944CB2}"/>
              </a:ext>
            </a:extLst>
          </p:cNvPr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Skills 的文件组成与三层加载结构</a:t>
            </a:r>
          </a:p>
        </p:txBody>
      </p:sp>
      <p:pic>
        <p:nvPicPr>
          <p:cNvPr id="10" name="Picture 9" descr="image11.png">
            <a:extLst>
              <a:ext uri="{FF2B5EF4-FFF2-40B4-BE49-F238E27FC236}">
                <a16:creationId xmlns:a16="http://schemas.microsoft.com/office/drawing/2014/main" id="{D8013C32-489C-F757-DBAB-4AC3A0BDF2C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590"/>
          <a:stretch>
            <a:fillRect/>
          </a:stretch>
        </p:blipFill>
        <p:spPr>
          <a:xfrm>
            <a:off x="0" y="795528"/>
            <a:ext cx="11794346" cy="6062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8675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7.4.3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Skills 实例：周报生成能力包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2722" y="1056010"/>
            <a:ext cx="8411584" cy="5201096"/>
          </a:xfrm>
          <a:prstGeom prst="rect">
            <a:avLst/>
          </a:prstGeom>
          <a:noFill/>
        </p:spPr>
        <p:txBody>
          <a:bodyPr wrap="square" lIns="30000" tIns="30000" rIns="30000" bIns="30000" anchor="ctr">
            <a:spAutoFit/>
          </a:bodyPr>
          <a:lstStyle/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4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以「周报生成」为例：内容每次不同，但模式固定</a:t>
            </a:r>
            <a:endParaRPr lang="en-US" sz="24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endParaRPr sz="2400" b="1" dirty="0">
              <a:solidFill>
                <a:srgbClr val="004CA0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SKILL.md：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任务规范文档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　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触发词、分类规则、生成策略、保存与自动提交闭环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400" b="1" dirty="0">
                <a:solidFill>
                  <a:srgbClr val="F58020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资源文件：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输出模板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　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固定结构（本学期任务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本周进度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下周计划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400" b="1" dirty="0">
                <a:solidFill>
                  <a:srgbClr val="2E8B57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脚本文件：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自动化操作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　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命名保存、登录网站、HTTP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提交与更新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32000"/>
              </a:lnSpc>
              <a:spcAft>
                <a:spcPts val="900"/>
              </a:spcAft>
            </a:pPr>
            <a:r>
              <a:rPr sz="2400" b="1" dirty="0" err="1">
                <a:solidFill>
                  <a:srgbClr val="6A3D9A"/>
                </a:solidFill>
                <a:latin typeface="Microsoft YaHei"/>
                <a:ea typeface="Microsoft YaHei"/>
              </a:rPr>
              <a:t>模型负责理解生成，脚本负责保存提交</a:t>
            </a:r>
            <a:r>
              <a:rPr sz="2400" b="1" dirty="0">
                <a:solidFill>
                  <a:srgbClr val="6A3D9A"/>
                </a:solidFill>
                <a:latin typeface="Microsoft YaHei"/>
                <a:ea typeface="Microsoft YaHei"/>
              </a:rPr>
              <a:t> → </a:t>
            </a:r>
            <a:r>
              <a:rPr sz="2400" b="1" dirty="0" err="1">
                <a:solidFill>
                  <a:srgbClr val="6A3D9A"/>
                </a:solidFill>
                <a:latin typeface="Microsoft YaHei"/>
                <a:ea typeface="Microsoft YaHei"/>
              </a:rPr>
              <a:t>自动化闭环</a:t>
            </a:r>
            <a:endParaRPr sz="2400" b="1" dirty="0">
              <a:solidFill>
                <a:srgbClr val="6A3D9A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250B8-46D9-49FD-AF33-E2D356F46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E2D66EC-77C5-9101-B33F-85F816CA055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C41F7986-312C-8C88-7A29-75D29B6A3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9984DD2-04D0-B615-338B-C0CA9C1152FF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46E367-6B6E-2849-1DBE-CAC760CED6A4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7.4.3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8D5CB5-1144-083F-DF09-12287593C0E9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DB2903-6CF5-2E2A-F260-850069E4DA84}"/>
              </a:ext>
            </a:extLst>
          </p:cNvPr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Skills 实例：周报生成能力包</a:t>
            </a:r>
          </a:p>
        </p:txBody>
      </p:sp>
      <p:pic>
        <p:nvPicPr>
          <p:cNvPr id="10" name="Picture 9" descr="image12.png">
            <a:extLst>
              <a:ext uri="{FF2B5EF4-FFF2-40B4-BE49-F238E27FC236}">
                <a16:creationId xmlns:a16="http://schemas.microsoft.com/office/drawing/2014/main" id="{801C4418-906B-DA86-ACD8-BF2C8285E5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9720" y="822959"/>
            <a:ext cx="9052560" cy="6035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2936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 dirty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</a:t>
            </a:r>
            <a:r>
              <a:rPr lang="en-US" sz="15000" b="1" i="0" dirty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5</a:t>
            </a:r>
            <a:endParaRPr sz="15000" b="1" i="0" dirty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998567" y="246888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智能体之思维</a:t>
            </a:r>
            <a:endParaRPr sz="38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仅有知识与工具还不够，智能体还需要按清晰逻辑组织任务流程。工作流是智能体执行任务的"路线图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22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7.5.1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用工作流定义智能体的思考路径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44271" y="1060811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把杂乱的自由对话，拆解为目标明确、可检查、可复用的节点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1920240"/>
            <a:ext cx="2755315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920240"/>
            <a:ext cx="275531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60320"/>
            <a:ext cx="2755315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0624" y="2759702"/>
            <a:ext cx="264558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任务理解</a:t>
            </a:r>
            <a:endParaRPr sz="24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7200" y="3300427"/>
            <a:ext cx="2572435" cy="10343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把模糊需求转为清晰任务（主题、范围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lang="zh-CN" altLang="en-US"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年限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目标</a:t>
            </a:r>
            <a:r>
              <a:rPr sz="13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2787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30803" y="1920240"/>
            <a:ext cx="2755315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30803" y="1920240"/>
            <a:ext cx="275531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30803" y="2560320"/>
            <a:ext cx="2755315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85667" y="2759702"/>
            <a:ext cx="264558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资料检索</a:t>
            </a:r>
            <a:endParaRPr sz="24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322243" y="3291840"/>
            <a:ext cx="2572435" cy="10343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调用文献数据库获取证据按年份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期刊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主题聚类过滤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67831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5847" y="1920240"/>
            <a:ext cx="2755315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95847" y="1920240"/>
            <a:ext cx="275531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5847" y="2560320"/>
            <a:ext cx="2755315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50711" y="2759702"/>
            <a:ext cx="264558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分析计算</a:t>
            </a:r>
            <a:endParaRPr sz="24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187287" y="3328416"/>
            <a:ext cx="2572435" cy="680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调Python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/R/MATLAB
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做统计分析与模型运行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832875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0891" y="1920240"/>
            <a:ext cx="2755315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60891" y="1920240"/>
            <a:ext cx="275531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60891" y="2560320"/>
            <a:ext cx="2755315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015755" y="2759702"/>
            <a:ext cx="264558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结果生成</a:t>
            </a:r>
            <a:endParaRPr sz="24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052331" y="3291840"/>
            <a:ext cx="2572435" cy="10343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整理成摘要、报告、图表并检查后形成可交付成果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65760" y="5349240"/>
            <a:ext cx="11475720" cy="9144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398188"/>
            <a:ext cx="10972800" cy="81650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任务越清晰，后续节点越易执行、越易检查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工作流为大模型设计了一条可靠的"思考路径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"。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23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7.5.2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可视化逻辑编排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节点与连接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1723" y="1533870"/>
            <a:ext cx="5415336" cy="497212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输入主题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文献检索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论文筛选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精读摘要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整理证据矩阵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生成初稿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人工审阅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每个节点都有明确职责，可检查、可修改、可复用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连接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= "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如何协同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箭头不只代表"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下一步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还包含三层含义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①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执行顺序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前后依赖，不能随意跳步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②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数据传递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前节点输出成为后节点输入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③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控制关系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智能体逻辑判断与任务调度的依据</a:t>
            </a: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→ 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价值不在于把界面画复杂，而在于让任务变</a:t>
            </a:r>
            <a:r>
              <a:rPr sz="24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透明、可查、可改</a:t>
            </a:r>
            <a:r>
              <a:rPr sz="2400"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7775" y="5756871"/>
            <a:ext cx="4955659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11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智能体工作流中的节点与连接逻辑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2653" y="1766710"/>
            <a:ext cx="6196162" cy="3487262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608049" y="907910"/>
            <a:ext cx="10355785" cy="8564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66C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节点 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0066C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= "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66C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做什么</a:t>
            </a:r>
            <a:r>
              <a:rPr kumimoji="0" lang="en-US" altLang="zh-CN" sz="2400" b="1" i="0" u="none" strike="noStrike" kern="1200" cap="none" spc="0" normalizeH="0" baseline="0" noProof="0" dirty="0">
                <a:ln>
                  <a:noFill/>
                </a:ln>
                <a:solidFill>
                  <a:srgbClr val="0066C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“  </a:t>
            </a:r>
            <a:r>
              <a:rPr kumimoji="0" lang="zh-CN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把复杂科研任务拆成若干职责清晰的小步骤，例如文献综述：</a:t>
            </a:r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7.5.3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处理复杂科研任务的逻辑判断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表 7-2  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科研智能体中的条件分支与循环机制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18007" y="1554480"/>
            <a:ext cx="201168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8007" y="1613357"/>
            <a:ext cx="201168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机制</a:t>
            </a:r>
            <a:endParaRPr sz="28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29687" y="1554480"/>
            <a:ext cx="402336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29687" y="1613357"/>
            <a:ext cx="402336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作用</a:t>
            </a:r>
            <a:endParaRPr sz="28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553047" y="1554480"/>
            <a:ext cx="512064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53047" y="1613357"/>
            <a:ext cx="512064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科研示例</a:t>
            </a:r>
            <a:endParaRPr sz="28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18007" y="2103120"/>
            <a:ext cx="201168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5167" y="2421374"/>
            <a:ext cx="17373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条件分支</a:t>
            </a:r>
            <a:endParaRPr sz="24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529687" y="2103120"/>
            <a:ext cx="402336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66847" y="2298265"/>
            <a:ext cx="374904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满足条件进入下一步，否则切换到另一路径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553047" y="2103120"/>
            <a:ext cx="512064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90207" y="2298265"/>
            <a:ext cx="484632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综述内容能对应真实文献→润色；找不到证据→回到证据矩阵复查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18007" y="3108960"/>
            <a:ext cx="201168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5167" y="3427214"/>
            <a:ext cx="17373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循环机制</a:t>
            </a:r>
            <a:endParaRPr sz="24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529687" y="3108960"/>
            <a:ext cx="40233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66847" y="3304103"/>
            <a:ext cx="374904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结果不达标时返回前置节点反复修正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553047" y="3108960"/>
            <a:ext cx="51206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90207" y="3304105"/>
            <a:ext cx="484632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文献检索不足→重新检索，直到满足条件或达到停止上限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18007" y="4114800"/>
            <a:ext cx="201168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5167" y="4433054"/>
            <a:ext cx="17373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停止条件</a:t>
            </a:r>
            <a:endParaRPr sz="24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529687" y="4114800"/>
            <a:ext cx="402336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666847" y="4463831"/>
            <a:ext cx="37490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防止任务无限重复，保证可终止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553047" y="4114800"/>
            <a:ext cx="5120640" cy="1005840"/>
          </a:xfrm>
          <a:prstGeom prst="rect">
            <a:avLst/>
          </a:prstGeom>
          <a:solidFill>
            <a:srgbClr val="E6F2FC"/>
          </a:solidFill>
          <a:ln w="6350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90207" y="4309943"/>
            <a:ext cx="4846320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设定最大循环次数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收敛阈值，避免陷入死循环</a:t>
            </a:r>
            <a:endParaRPr sz="2000"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57200" y="5458182"/>
            <a:ext cx="1124712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✦ </a:t>
            </a:r>
            <a:r>
              <a:rPr sz="24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有条件的分支与循环，是智能体从"自动执行工具"走向"科研协作助手"的关键一步</a:t>
            </a:r>
            <a:r>
              <a:rPr sz="24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 dirty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</a:t>
            </a:r>
            <a:r>
              <a:rPr lang="en-US" sz="15000" b="1" i="0" dirty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6</a:t>
            </a:r>
            <a:endParaRPr sz="15000" b="1" i="0" dirty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0" y="2613386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多智能体协作</a:t>
            </a:r>
            <a:endParaRPr sz="38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当单智能体触及能力天花板，通过角色分工与任务分配，多个智能体协同形成合力，逼近更高阶智能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6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多智能体协作模式探索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1695" y="910943"/>
            <a:ext cx="11247120" cy="135965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主从式</a:t>
            </a:r>
            <a:r>
              <a:rPr sz="17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主智能体统筹拆解、从智能体执行，效率高但有"单点故障"风险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；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对等式</a:t>
            </a:r>
            <a:r>
              <a:rPr sz="17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平等辩论质询，打破信息茧房，但通信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算力成本高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；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投票机制</a:t>
            </a:r>
            <a:r>
              <a:rPr sz="17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多模型独立推断、少数服从多数，结果最稳但成本倍增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7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-71718" y="6085780"/>
            <a:ext cx="1219169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7-1</a:t>
            </a:r>
            <a:r>
              <a:rPr lang="en-US" sz="200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主从式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对等式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投票机制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——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为硅基团队设计科学的"协作拓扑结构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7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rcRect t="18269" b="17845"/>
          <a:stretch>
            <a:fillRect/>
          </a:stretch>
        </p:blipFill>
        <p:spPr>
          <a:xfrm>
            <a:off x="803705" y="2374930"/>
            <a:ext cx="10584284" cy="36925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冲突解决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多智能体的意见分歧处理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50214" y="952835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各智能体有独立"人格设定"与记忆库，面对同一问题可能给出相反答案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5602071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投票机制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276856"/>
            <a:ext cx="5236311" cy="1192561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少数服从多数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≥3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个智能体各自作答，系统采纳得票最多者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适合客观事实类，但可能忽视少数有效输出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8143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8143" y="1600200"/>
            <a:ext cx="5602071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5303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仲裁者模式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61023" y="2276856"/>
            <a:ext cx="5236311" cy="122481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指定专门裁决者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仲裁智能体不执行任务，只听取各方结果与推理，按预设规则或宏观目标做最终裁决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174236"/>
            <a:ext cx="5602071" cy="2272284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1480" y="4174236"/>
            <a:ext cx="5602071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4273034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③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元认知机制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59" y="4850892"/>
            <a:ext cx="5419191" cy="122481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用置信度分数表态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A 答"42"(90%)、B 答"43"(20%)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优先采用高置信度。需智能体能评估自身认知不确定性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8143" y="4174236"/>
            <a:ext cx="5602071" cy="2272284"/>
          </a:xfrm>
          <a:prstGeom prst="rect">
            <a:avLst/>
          </a:prstGeom>
          <a:solidFill>
            <a:srgbClr val="FFFFFF"/>
          </a:solidFill>
          <a:ln w="222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8143" y="4174236"/>
            <a:ext cx="5602071" cy="5669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15303" y="4273034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通信协议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61023" y="4850892"/>
            <a:ext cx="5236311" cy="1594145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2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统一多智能体的"语言</a:t>
            </a:r>
            <a:r>
              <a:rPr sz="22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"：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JSON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标准化消息格式，统一字段规范避免解析失败；黑板模式：共享存储空间，读写解耦、按需触发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8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 dirty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</a:t>
            </a:r>
            <a:r>
              <a:rPr lang="en-US" sz="15000" b="1" i="0" dirty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</a:t>
            </a:r>
            <a:endParaRPr sz="15000" b="1" i="0" dirty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998567" y="2594386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智能体的构建（实战</a:t>
            </a:r>
            <a:r>
              <a:rPr sz="3800" b="1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把记忆、插件、工作流、协作等理论能力，转化为具体操作：智能客服与科研文献问答两个案例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03509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2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9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智能客服智能体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构建要点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89991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以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平台为例：知识增强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流程控制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结果自评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5602071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角色与技能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276856"/>
            <a:ext cx="5236311" cy="126174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身份+职责+回复风格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电商平台智能客服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问题分类→优先检索知识库→基于召回回答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8143" y="1600200"/>
            <a:ext cx="5602071" cy="2409444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8143" y="1600200"/>
            <a:ext cx="5602071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5303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安全限制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61023" y="2276856"/>
            <a:ext cx="5236311" cy="126174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守住客服边界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不编造规则</a:t>
            </a:r>
            <a:r>
              <a:rPr sz="2000" b="0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订单状态；不索要密码、验证码、银行卡密码</a:t>
            </a:r>
            <a:r>
              <a:rPr sz="2000" b="0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174236"/>
            <a:ext cx="5602071" cy="2272284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1480" y="4174236"/>
            <a:ext cx="5602071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4273034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③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处理流程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1" y="4906742"/>
            <a:ext cx="5172302" cy="780076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用户输入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问题判断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→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知识库检索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答案生成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转人工提示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14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178143" y="4174236"/>
            <a:ext cx="5602071" cy="2272284"/>
          </a:xfrm>
          <a:prstGeom prst="rect">
            <a:avLst/>
          </a:prstGeom>
          <a:solidFill>
            <a:srgbClr val="FFFFFF"/>
          </a:solidFill>
          <a:ln w="222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8143" y="4174236"/>
            <a:ext cx="5602071" cy="5669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15303" y="4273034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④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格式+置信度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61023" y="4850892"/>
            <a:ext cx="5236311" cy="126174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结构化输出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问题类型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原因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建议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依据来源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证据充分性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置信度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；&lt;60%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建议转人工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30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撰写功能性提示词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80060" y="855253"/>
            <a:ext cx="6583680" cy="5592163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提示词四件套：角色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工作流程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限制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格式</a:t>
            </a:r>
            <a:endParaRPr sz="2400" b="1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2000" b="1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①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角色（身份+职责+风格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>
                <a:solidFill>
                  <a:srgbClr val="333333"/>
                </a:solidFill>
                <a:latin typeface="Consolas" panose="020B0609020204030204"/>
                <a:ea typeface="Consolas" panose="020B0609020204030204"/>
              </a:rPr>
              <a:t>"</a:t>
            </a:r>
            <a:r>
              <a:rPr sz="2000" b="0" dirty="0" err="1">
                <a:solidFill>
                  <a:srgbClr val="333333"/>
                </a:solidFill>
                <a:latin typeface="Consolas" panose="020B0609020204030204"/>
                <a:ea typeface="Consolas" panose="020B0609020204030204"/>
              </a:rPr>
              <a:t>你是电商平台智能客服助手，负责产品咨询、订单、退款售后</a:t>
            </a:r>
            <a:r>
              <a:rPr sz="2000" b="0" dirty="0">
                <a:solidFill>
                  <a:srgbClr val="333333"/>
                </a:solidFill>
                <a:latin typeface="Consolas" panose="020B0609020204030204"/>
                <a:ea typeface="Consolas" panose="020B0609020204030204"/>
              </a:rPr>
              <a:t>…</a:t>
            </a:r>
            <a:r>
              <a:rPr sz="2000" b="0" dirty="0" err="1">
                <a:solidFill>
                  <a:srgbClr val="333333"/>
                </a:solidFill>
                <a:latin typeface="Consolas" panose="020B0609020204030204"/>
                <a:ea typeface="Consolas" panose="020B0609020204030204"/>
              </a:rPr>
              <a:t>优先检索知识库，礼貌准确回答</a:t>
            </a:r>
            <a:r>
              <a:rPr sz="2000" b="0" dirty="0">
                <a:solidFill>
                  <a:srgbClr val="333333"/>
                </a:solidFill>
                <a:latin typeface="Consolas" panose="020B0609020204030204"/>
                <a:ea typeface="Consolas" panose="020B0609020204030204"/>
              </a:rPr>
              <a:t>。"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②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工作流程（问题分类→检索→依据回答→转人工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判断类型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优先检索知识库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有则据库回答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无则不编造、引导补充信息或转人工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③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限制（安全边界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0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不编造平台规则</a:t>
            </a:r>
            <a:r>
              <a:rPr sz="2000" b="0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订单状态；不索要密码、验证码、银行卡密码等敏感信息</a:t>
            </a:r>
            <a:r>
              <a:rPr sz="2000" b="0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④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格式</a:t>
            </a:r>
            <a:r>
              <a:rPr sz="20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置信度</a:t>
            </a:r>
            <a:endParaRPr sz="2000" b="1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问题类型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原因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建议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依据来源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证据充分性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置信度；置信度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&lt;60%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时必须建议补充信息或转人工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17462" y="6512284"/>
            <a:ext cx="402336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7-1</a:t>
            </a:r>
            <a:r>
              <a:rPr lang="en-US" sz="200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智能体提示词编排页面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31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8208" y="844034"/>
            <a:ext cx="4177082" cy="55879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创建智能体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登录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新建智能体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填写名称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功能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图标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编排提示词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054209" y="3429000"/>
            <a:ext cx="3604391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7-1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4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主页（左上角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"+"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创建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6016752"/>
            <a:ext cx="114757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6115550"/>
            <a:ext cx="111099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第一步：明确智能体身份与服务对象，让它围绕客服任务回答，避免答非所问</a:t>
            </a:r>
            <a:r>
              <a:rPr sz="15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32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1272" y="1365123"/>
            <a:ext cx="2871453" cy="46001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创建智能体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940479" y="3518986"/>
            <a:ext cx="4350265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7-1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5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创建智能体窗口页面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33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89837" y="894285"/>
            <a:ext cx="4553495" cy="58466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创建智能体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056189" y="3433093"/>
            <a:ext cx="562950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7-1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6</a:t>
            </a:r>
            <a:r>
              <a:rPr lang="en-US"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lang="zh-CN" altLang="en-US" sz="2000" b="0" i="0" dirty="0">
                <a:latin typeface="微软雅黑" panose="020B0503020204020204" charset="-122"/>
                <a:ea typeface="微软雅黑" panose="020B0503020204020204" charset="-122"/>
              </a:rPr>
              <a:t>编排提示词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页面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34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5961" y="849171"/>
            <a:ext cx="4459771" cy="59661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导入与配置插件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为智能体补充搜索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查询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计算等外部能力，并设置插件参数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139061" y="3079999"/>
            <a:ext cx="1869754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7-1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7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添加插件页面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65760" y="6126780"/>
            <a:ext cx="114757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7573" y="6225578"/>
            <a:ext cx="111099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插件按任务目标选择必要项即可，不必盲目堆叠；配置应服务于任务本身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35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0585" y="1370480"/>
            <a:ext cx="7931789" cy="46501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导入与配置插件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643112" y="3648692"/>
            <a:ext cx="3685946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7-1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8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插件参数编辑页面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36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016" y="937622"/>
            <a:ext cx="7264096" cy="49827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导入与配置插件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734867" y="5410491"/>
            <a:ext cx="3685946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7-1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9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编辑插件参数页面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37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695" y="959154"/>
            <a:ext cx="11640804" cy="39693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 · Coze 操作③：对话体验与发布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设置开场白、引导问题、语音音色，最后一键发布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3769" y="6377269"/>
            <a:ext cx="562950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20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智能体开场白页面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38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0755" y="1405693"/>
            <a:ext cx="7871449" cy="44921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 · Coze 操作③：对话体验与发布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设置开场白、引导问题、语音音色，最后一键发布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763088" y="6429791"/>
            <a:ext cx="562950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21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自定义提示词页面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3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9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43" y="1417320"/>
            <a:ext cx="10050913" cy="47161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 · Coze 操作③：对话体验与发布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设置开场白、引导问题、语音音色，最后一键发布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311728" y="6500380"/>
            <a:ext cx="562950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22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选择语言和音色页面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40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4" name="图片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5911" y="1417320"/>
            <a:ext cx="6855320" cy="50698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 · Coze 操作③：对话体验与发布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设置开场白、引导问题、语音音色，最后一键发布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902403" y="3886867"/>
            <a:ext cx="562950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i="0" dirty="0">
                <a:latin typeface="微软雅黑" panose="020B0503020204020204" charset="-122"/>
                <a:ea typeface="微软雅黑" panose="020B0503020204020204" charset="-122"/>
              </a:rPr>
              <a:t>23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智能体发布页面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41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5" name="图片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54" y="1299296"/>
            <a:ext cx="7477231" cy="54829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智能客服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知识库增强回答示例（RAG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935" y="934579"/>
            <a:ext cx="6583680" cy="5579532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示例问题</a:t>
            </a:r>
            <a:r>
              <a:rPr sz="2400" b="1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</a:t>
            </a:r>
            <a:r>
              <a:rPr sz="22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我已申请退款三天了，为什么还没到账</a:t>
            </a:r>
            <a:r>
              <a:rPr sz="22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？"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6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处理逻辑（先检索，后回答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）：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①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判断类型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=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退款售后</a:t>
            </a:r>
            <a:endParaRPr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②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检索：退款到账规则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审核流程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各支付方式</a:t>
            </a:r>
            <a:endParaRPr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③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基于召回内容生成结构化回答</a:t>
            </a:r>
            <a:endParaRPr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④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无法查具体订单</a:t>
            </a:r>
            <a:r>
              <a:rPr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提示订单号或转人工</a:t>
            </a:r>
            <a:endParaRPr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5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结构化输出（节选</a:t>
            </a:r>
            <a:r>
              <a:rPr sz="2400" b="1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）：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000" b="1" dirty="0" err="1">
                <a:solidFill>
                  <a:srgbClr val="0066CC"/>
                </a:solidFill>
                <a:latin typeface="Consolas" panose="020B0609020204030204"/>
                <a:ea typeface="Consolas" panose="020B0609020204030204"/>
              </a:rPr>
              <a:t>证据充分性：一般</a:t>
            </a:r>
            <a:r>
              <a:rPr sz="2000" b="1" dirty="0">
                <a:solidFill>
                  <a:srgbClr val="0066CC"/>
                </a:solidFill>
                <a:latin typeface="Consolas" panose="020B0609020204030204"/>
                <a:ea typeface="Consolas" panose="020B0609020204030204"/>
              </a:rPr>
              <a:t> | 置信度：70%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endParaRPr sz="1500" b="1" dirty="0">
              <a:solidFill>
                <a:srgbClr val="0066CC"/>
              </a:solidFill>
              <a:latin typeface="Consolas" panose="020B0609020204030204"/>
              <a:ea typeface="Consolas" panose="020B0609020204030204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✦ 置信度不是"</a:t>
            </a:r>
            <a:r>
              <a:rPr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真实正确率</a:t>
            </a:r>
            <a:r>
              <a:rPr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"，</a:t>
            </a:r>
            <a:r>
              <a:rPr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而是依据召回结果</a:t>
            </a:r>
            <a:r>
              <a:rPr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、</a:t>
            </a:r>
            <a:endParaRPr lang="en-US" b="1" dirty="0">
              <a:solidFill>
                <a:srgbClr val="F5802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证据充分性与用户信息完整度给出的可靠性提示</a:t>
            </a:r>
            <a:r>
              <a:rPr b="1" dirty="0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79615" y="5962889"/>
            <a:ext cx="45720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图 7-2</a:t>
            </a:r>
            <a:r>
              <a:rPr lang="en-US" sz="200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知识库增强客服回答效果示例</a:t>
            </a: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42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843148"/>
            <a:ext cx="5973775" cy="50547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科研文献问答智能体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搭建全流程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依托知识库减少幻觉，提高学术问答的准确性与可信度</a:t>
            </a:r>
            <a:endParaRPr sz="28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1920240"/>
            <a:ext cx="1800301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920240"/>
            <a:ext cx="180030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560320"/>
            <a:ext cx="1800301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0624" y="2775091"/>
            <a:ext cx="1690573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endParaRPr sz="22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7200" y="3291840"/>
            <a:ext cx="1617421" cy="930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上传论文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综述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笔记配置分段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(500-800字)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7773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75789" y="1920240"/>
            <a:ext cx="1800301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275789" y="1920240"/>
            <a:ext cx="180030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75789" y="2560320"/>
            <a:ext cx="1800301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330653" y="2775091"/>
            <a:ext cx="1690573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撰写提示词</a:t>
            </a:r>
            <a:endParaRPr sz="22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367229" y="3291840"/>
            <a:ext cx="1617421" cy="930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科研助手角色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检索+溯源+拒绝编造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057802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85818" y="1920240"/>
            <a:ext cx="1800301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85818" y="1920240"/>
            <a:ext cx="180030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85818" y="2560320"/>
            <a:ext cx="1800301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240682" y="2775091"/>
            <a:ext cx="1690573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创建智能体</a:t>
            </a:r>
            <a:endParaRPr sz="22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277258" y="3291840"/>
            <a:ext cx="1617421" cy="930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填写名称与功能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编辑人设与回复逻辑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967831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5847" y="1920240"/>
            <a:ext cx="1800301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95847" y="1920240"/>
            <a:ext cx="180030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5847" y="2560320"/>
            <a:ext cx="1800301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50711" y="2775091"/>
            <a:ext cx="1690573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挂载知识库</a:t>
            </a:r>
            <a:endParaRPr sz="22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187287" y="3291840"/>
            <a:ext cx="1617421" cy="930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绑定文献库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召回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5-8 条, 匹配度≥0.5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77860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05876" y="1920240"/>
            <a:ext cx="1800301" cy="64008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05876" y="1920240"/>
            <a:ext cx="180030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5876" y="2560320"/>
            <a:ext cx="1800301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060740" y="2775091"/>
            <a:ext cx="1690573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优化体验</a:t>
            </a:r>
            <a:endParaRPr sz="22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8097316" y="3291840"/>
            <a:ext cx="1617421" cy="6124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设置开场白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与引导问题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9787889" y="2560320"/>
            <a:ext cx="146304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915905" y="1920240"/>
            <a:ext cx="1800301" cy="64008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915905" y="1920240"/>
            <a:ext cx="180030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915905" y="2560320"/>
            <a:ext cx="1800301" cy="237744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970769" y="2775091"/>
            <a:ext cx="1690573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预览调试</a:t>
            </a:r>
            <a:endParaRPr sz="22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0007345" y="3291840"/>
            <a:ext cx="1617421" cy="930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测库内问题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库外问题</a:t>
            </a:r>
            <a:r>
              <a:rPr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确认拒绝编造</a:t>
            </a:r>
            <a:endParaRPr b="0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365760" y="5349240"/>
            <a:ext cx="11475720" cy="9144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40080" y="5398188"/>
            <a:ext cx="10972800" cy="81650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双测试法：库内问题→检查是否基于召回片段作答并标注来源；库外问题→检查是否拒绝编造、提示补充文献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43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资源库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上传文献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文档分段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数据处理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917285" y="3010151"/>
            <a:ext cx="2477259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7-2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5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选择本地文档导入知识库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65760" y="6016752"/>
            <a:ext cx="114757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6109" y="6167735"/>
            <a:ext cx="11399825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分段策略：格式规范论文用自动分段；结构复杂用自定义（500-800 </a:t>
            </a:r>
            <a:r>
              <a:rPr sz="20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字符，重叠</a:t>
            </a:r>
            <a:r>
              <a:rPr sz="20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50-100 </a:t>
            </a:r>
            <a:r>
              <a:rPr sz="20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字符</a:t>
            </a:r>
            <a:r>
              <a:rPr sz="20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44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6" name="图片 2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679" y="1397972"/>
            <a:ext cx="6494271" cy="4604484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资源库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上传文献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文档分段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数据处理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882521" y="6332219"/>
            <a:ext cx="562950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i="0" dirty="0">
                <a:latin typeface="微软雅黑" panose="020B0503020204020204" charset="-122"/>
                <a:ea typeface="微软雅黑" panose="020B0503020204020204" charset="-122"/>
              </a:rPr>
              <a:t>26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上传科研文献资料页面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45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3"/>
          <a:srcRect l="35771" t="5074" r="34631" b="70341"/>
          <a:stretch>
            <a:fillRect/>
          </a:stretch>
        </p:blipFill>
        <p:spPr>
          <a:xfrm>
            <a:off x="2062534" y="1946866"/>
            <a:ext cx="8837881" cy="3920236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资源库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上传文献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文档分段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数据处理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416216" y="3649227"/>
            <a:ext cx="2285463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i="0" dirty="0">
                <a:latin typeface="微软雅黑" panose="020B0503020204020204" charset="-122"/>
                <a:ea typeface="微软雅黑" panose="020B0503020204020204" charset="-122"/>
              </a:rPr>
              <a:t>27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知识库文档分段设置页面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46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8" name="图片 27"/>
          <p:cNvPicPr>
            <a:picLocks noChangeAspect="1"/>
          </p:cNvPicPr>
          <p:nvPr/>
        </p:nvPicPr>
        <p:blipFill>
          <a:blip r:embed="rId3"/>
          <a:srcRect t="38831" r="78118" b="26809"/>
          <a:stretch>
            <a:fillRect/>
          </a:stretch>
        </p:blipFill>
        <p:spPr>
          <a:xfrm>
            <a:off x="3180511" y="1512331"/>
            <a:ext cx="6235705" cy="5168087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①：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资源库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创建知识库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上传文献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文档分段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数据处理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037850" y="3444717"/>
            <a:ext cx="2970966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i="0" dirty="0">
                <a:latin typeface="微软雅黑" panose="020B0503020204020204" charset="-122"/>
                <a:ea typeface="微软雅黑" panose="020B0503020204020204" charset="-122"/>
              </a:rPr>
              <a:t>28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知识库数据处理完成页面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47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9" name="图片 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493139"/>
            <a:ext cx="7827798" cy="5364861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创建智能体并挂载知识库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创建"科研文献助手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"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填写提示词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添加并绑定知识库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设置召回参数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886261" y="3243108"/>
            <a:ext cx="4069958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b="0" i="0" dirty="0">
                <a:latin typeface="微软雅黑" panose="020B0503020204020204" charset="-122"/>
                <a:ea typeface="微软雅黑" panose="020B0503020204020204" charset="-122"/>
              </a:rPr>
              <a:t>29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创建科研文献问答智能体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65760" y="6016752"/>
            <a:ext cx="114757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9379" y="6146327"/>
            <a:ext cx="11643055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</a:t>
            </a:r>
            <a:r>
              <a:rPr sz="20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只有将知识库挂载到智能体，提示词中的"检索知识库"才真正生效（召回</a:t>
            </a:r>
            <a:r>
              <a:rPr sz="20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5-8 条，匹配度≥0.5）。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48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4" name="图片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6317" y="1430030"/>
            <a:ext cx="3504468" cy="44005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创建智能体并挂载知识库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08042"/>
            <a:ext cx="11247120" cy="368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zh-CN" altLang="en-US"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设定科研助手角色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altLang="en-US"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设定知识库检索技能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altLang="en-US"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设定回答限制</a:t>
            </a:r>
            <a:r>
              <a:rPr sz="2400" b="1" i="0" dirty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86927" y="2938617"/>
            <a:ext cx="2814752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30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智能体提示词编辑页面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49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5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4105" y="1277374"/>
            <a:ext cx="5220512" cy="56012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②：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创建智能体并挂载知识库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763088" y="2917357"/>
            <a:ext cx="562950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31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智能体添加知识库入口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763087" y="6461908"/>
            <a:ext cx="562950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32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选择并绑定科研文献知识库</a:t>
            </a:r>
            <a:endParaRPr sz="2000" b="0" i="0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50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7" name="图片 26"/>
          <p:cNvPicPr>
            <a:picLocks noChangeAspect="1"/>
          </p:cNvPicPr>
          <p:nvPr/>
        </p:nvPicPr>
        <p:blipFill>
          <a:blip r:embed="rId3"/>
          <a:srcRect r="1125" b="78359"/>
          <a:stretch>
            <a:fillRect/>
          </a:stretch>
        </p:blipFill>
        <p:spPr>
          <a:xfrm>
            <a:off x="360581" y="3728228"/>
            <a:ext cx="11389459" cy="2439289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</p:spPr>
      </p:pic>
      <p:pic>
        <p:nvPicPr>
          <p:cNvPr id="28" name="图片 27"/>
          <p:cNvPicPr>
            <a:picLocks noChangeAspect="1"/>
          </p:cNvPicPr>
          <p:nvPr/>
        </p:nvPicPr>
        <p:blipFill>
          <a:blip r:embed="rId4"/>
          <a:srcRect l="32127" t="27718" r="34989" b="64815"/>
          <a:stretch>
            <a:fillRect/>
          </a:stretch>
        </p:blipFill>
        <p:spPr>
          <a:xfrm>
            <a:off x="548535" y="1542905"/>
            <a:ext cx="11094623" cy="1265563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③：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预览调试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5577" y="1283302"/>
            <a:ext cx="3411548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同时测试库内问题</a:t>
            </a:r>
            <a:endParaRPr lang="en-US"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sz="24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与库外问题</a:t>
            </a:r>
            <a:endParaRPr sz="24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530589" y="3101807"/>
            <a:ext cx="2512026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7-3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3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调试对话（库内问题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962153"/>
            <a:ext cx="2843605" cy="1384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库内问题</a:t>
            </a:r>
            <a:r>
              <a:rPr lang="zh-CN" altLang="en-US" sz="2400" b="1" i="0" dirty="0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r>
              <a:rPr sz="2400" b="1" i="0" dirty="0" err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应基于召回片段作答并标注来源</a:t>
            </a:r>
            <a:endParaRPr lang="en-US" sz="2400" b="1" i="0" dirty="0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endParaRPr lang="en-US" b="1" dirty="0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51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5761" y="880483"/>
            <a:ext cx="5274828" cy="58880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7.7.2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56503"/>
            <a:ext cx="868680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科研文献问答</a:t>
            </a:r>
            <a:r>
              <a:rPr sz="22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2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22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2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操作</a:t>
            </a:r>
            <a:r>
              <a:rPr sz="22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③：</a:t>
            </a:r>
            <a:r>
              <a:rPr sz="22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预览调试</a:t>
            </a:r>
            <a:endParaRPr sz="22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044452" y="3583158"/>
            <a:ext cx="2074522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图 7-3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4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000" b="0" i="0" dirty="0" err="1">
                <a:latin typeface="微软雅黑" panose="020B0503020204020204" charset="-122"/>
                <a:ea typeface="微软雅黑" panose="020B0503020204020204" charset="-122"/>
              </a:rPr>
              <a:t>调试对话（库外问题</a:t>
            </a:r>
            <a:r>
              <a:rPr sz="2000" b="0" i="0" dirty="0">
                <a:latin typeface="微软雅黑" panose="020B0503020204020204" charset="-122"/>
                <a:ea typeface="微软雅黑" panose="020B0503020204020204" charset="-122"/>
              </a:rPr>
              <a:t>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" y="2218880"/>
            <a:ext cx="2920702" cy="1107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库外问题</a:t>
            </a:r>
            <a:r>
              <a:rPr lang="zh-CN" altLang="en-US" sz="2400" b="1" dirty="0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：</a:t>
            </a:r>
            <a:r>
              <a:rPr sz="2400" b="1" i="0" dirty="0" err="1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应拒绝编造，提示"暂无相关信息，建议补充文献</a:t>
            </a:r>
            <a:r>
              <a:rPr sz="2400" b="1" i="0" dirty="0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"。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52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5886" y="887407"/>
            <a:ext cx="5807902" cy="597059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技能包的配置与使用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494" y="1134856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技能包（Skill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）：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把预置能力打包、分享、安装、导入，快速扩展智能体功能边界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09446" y="1504188"/>
            <a:ext cx="10972800" cy="3200400"/>
          </a:xfrm>
          <a:prstGeom prst="rect">
            <a:avLst/>
          </a:prstGeom>
          <a:noFill/>
        </p:spPr>
        <p:txBody>
          <a:bodyPr wrap="square" lIns="30000" tIns="30000" rIns="30000" bIns="3000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14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1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是什么：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封装特定功能的可复用模块（提示词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工作流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知识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插件设置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），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来自官方市场、团队共享或自建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40000"/>
              </a:lnSpc>
              <a:spcAft>
                <a:spcPts val="1400"/>
              </a:spcAft>
            </a:pPr>
            <a:r>
              <a:rPr sz="2000" b="1" dirty="0">
                <a:solidFill>
                  <a:srgbClr val="F58020"/>
                </a:solidFill>
                <a:latin typeface="Microsoft YaHei"/>
                <a:ea typeface="Microsoft YaHei"/>
              </a:rPr>
              <a:t>● </a:t>
            </a:r>
            <a:r>
              <a:rPr sz="21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相比逐个配置：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无需从零编写提示词与调用链，一键安装即获全部逻辑，多智能体可复用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40000"/>
              </a:lnSpc>
              <a:spcAft>
                <a:spcPts val="1400"/>
              </a:spcAft>
            </a:pP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● </a:t>
            </a:r>
            <a:r>
              <a:rPr sz="21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典型应用：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数据分析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→「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代码解释器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」；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联网检索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→「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网页搜索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」；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生成图像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→「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文生图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6" y="4750308"/>
            <a:ext cx="109728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本任务以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Coze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为例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五步完成</a:t>
            </a:r>
            <a:r>
              <a:rPr sz="1800" b="1" i="0" dirty="0">
                <a:solidFill>
                  <a:srgbClr val="004CA0"/>
                </a:solidFill>
                <a:latin typeface="Microsoft YaHei"/>
                <a:ea typeface="Microsoft YaHei"/>
              </a:rPr>
              <a:t>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486400"/>
            <a:ext cx="2065263" cy="548640"/>
          </a:xfrm>
          <a:prstGeom prst="rect">
            <a:avLst/>
          </a:prstGeom>
          <a:solidFill>
            <a:srgbClr val="E6F2FC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576054"/>
            <a:ext cx="20652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浏览市场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705343" y="5486400"/>
            <a:ext cx="14630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8020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51647" y="5486400"/>
            <a:ext cx="2065263" cy="548640"/>
          </a:xfrm>
          <a:prstGeom prst="rect">
            <a:avLst/>
          </a:prstGeom>
          <a:solidFill>
            <a:srgbClr val="E6F2FC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851647" y="5576054"/>
            <a:ext cx="20652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004CA0"/>
                </a:solidFill>
                <a:latin typeface="Microsoft YaHei"/>
                <a:ea typeface="Microsoft YaHei"/>
              </a:rPr>
              <a:t>安装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16911" y="5486400"/>
            <a:ext cx="14630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8020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63215" y="5486400"/>
            <a:ext cx="2065263" cy="548640"/>
          </a:xfrm>
          <a:prstGeom prst="rect">
            <a:avLst/>
          </a:prstGeom>
          <a:solidFill>
            <a:srgbClr val="E6F2FC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63215" y="5576054"/>
            <a:ext cx="20652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004CA0"/>
                </a:solidFill>
                <a:latin typeface="Microsoft YaHei"/>
                <a:ea typeface="Microsoft YaHei"/>
              </a:rPr>
              <a:t>导入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8479" y="5486400"/>
            <a:ext cx="14630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8020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74783" y="5486400"/>
            <a:ext cx="2065263" cy="548640"/>
          </a:xfrm>
          <a:prstGeom prst="rect">
            <a:avLst/>
          </a:prstGeom>
          <a:solidFill>
            <a:srgbClr val="E6F2FC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74783" y="5576054"/>
            <a:ext cx="20652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004CA0"/>
                </a:solidFill>
                <a:latin typeface="Microsoft YaHei"/>
                <a:ea typeface="Microsoft YaHei"/>
              </a:rPr>
              <a:t>调用测试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0047" y="5486400"/>
            <a:ext cx="14630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58020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86351" y="5486400"/>
            <a:ext cx="2065263" cy="548640"/>
          </a:xfrm>
          <a:prstGeom prst="rect">
            <a:avLst/>
          </a:prstGeom>
          <a:solidFill>
            <a:srgbClr val="E6F2FC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86351" y="5576054"/>
            <a:ext cx="20652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004CA0"/>
                </a:solidFill>
                <a:latin typeface="Microsoft YaHei"/>
                <a:ea typeface="Microsoft YaHei"/>
              </a:rPr>
              <a:t>生命周期管理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① 浏览技能包市场（能力商城）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登录 Coze → 左侧「技能商店」→ 浏览分类 / 详情</a:t>
            </a:r>
          </a:p>
        </p:txBody>
      </p:sp>
      <p:pic>
        <p:nvPicPr>
          <p:cNvPr id="11" name="Picture 10" descr="image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178" y="1829370"/>
            <a:ext cx="4135222" cy="318737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1594" y="5355994"/>
            <a:ext cx="4564829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dirty="0"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35</a:t>
            </a:r>
            <a:r>
              <a:rPr sz="2000" dirty="0"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000" dirty="0" err="1">
                <a:latin typeface="微软雅黑" panose="020B0503020204020204" charset="-122"/>
                <a:ea typeface="微软雅黑" panose="020B0503020204020204" charset="-122"/>
              </a:rPr>
              <a:t>技能商店入口（Coze</a:t>
            </a:r>
            <a:r>
              <a:rPr sz="2000" dirty="0"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000" dirty="0" err="1">
                <a:latin typeface="微软雅黑" panose="020B0503020204020204" charset="-122"/>
                <a:ea typeface="微软雅黑" panose="020B0503020204020204" charset="-122"/>
              </a:rPr>
              <a:t>主页</a:t>
            </a:r>
            <a:r>
              <a:rPr sz="200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</a:p>
        </p:txBody>
      </p:sp>
      <p:pic>
        <p:nvPicPr>
          <p:cNvPr id="15" name="Picture 14" descr="image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8228" y="2028772"/>
            <a:ext cx="6384964" cy="29317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76301" y="5326284"/>
            <a:ext cx="479861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dirty="0">
                <a:latin typeface="微软雅黑" panose="020B0503020204020204" charset="-122"/>
                <a:ea typeface="微软雅黑" panose="020B0503020204020204" charset="-122"/>
              </a:rPr>
              <a:t>图 7-</a:t>
            </a:r>
            <a:r>
              <a:rPr lang="en-US" sz="2000" dirty="0">
                <a:latin typeface="微软雅黑" panose="020B0503020204020204" charset="-122"/>
                <a:ea typeface="微软雅黑" panose="020B0503020204020204" charset="-122"/>
              </a:rPr>
              <a:t>36</a:t>
            </a:r>
            <a:r>
              <a:rPr sz="2000" dirty="0"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2000" dirty="0" err="1">
                <a:latin typeface="微软雅黑" panose="020B0503020204020204" charset="-122"/>
                <a:ea typeface="微软雅黑" panose="020B0503020204020204" charset="-122"/>
              </a:rPr>
              <a:t>技能商店页面（按分类</a:t>
            </a:r>
            <a:r>
              <a:rPr sz="2000" dirty="0"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dirty="0" err="1">
                <a:latin typeface="微软雅黑" panose="020B0503020204020204" charset="-122"/>
                <a:ea typeface="微软雅黑" panose="020B0503020204020204" charset="-122"/>
              </a:rPr>
              <a:t>关键词</a:t>
            </a:r>
            <a:r>
              <a:rPr sz="2000" dirty="0">
                <a:latin typeface="微软雅黑" panose="020B0503020204020204" charset="-122"/>
                <a:ea typeface="微软雅黑" panose="020B0503020204020204" charset="-122"/>
              </a:rPr>
              <a:t>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943600"/>
            <a:ext cx="11457432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6064031"/>
            <a:ext cx="10972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关键：建立「需求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—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能力」匹配判断力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——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只浏览不分析，等于进了商城却不知道要买什么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BC08F-B4C8-DD7B-6FB8-FF53FC188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046491E-BC7A-6220-9E18-852F175F2E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746EF47C-5613-22BB-F114-8D575C1DE7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FE7306D-42CA-14A8-BF25-F023168CA222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9DFE14-153C-0848-254B-E29DD3DA0F8F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404370-031D-BCC0-D0A4-75F63D9FDBEC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A92DC3-192C-2892-D0B7-7DDBB8B7F9A4}"/>
              </a:ext>
            </a:extLst>
          </p:cNvPr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① 浏览技能包市场（能力商城）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463E80-B66B-274F-23B5-F269F31CE243}"/>
              </a:ext>
            </a:extLst>
          </p:cNvPr>
          <p:cNvSpPr txBox="1"/>
          <p:nvPr/>
        </p:nvSpPr>
        <p:spPr>
          <a:xfrm>
            <a:off x="205870" y="2813447"/>
            <a:ext cx="335280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登录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Coze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左侧「技能商店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」→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浏览分类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/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详情</a:t>
            </a:r>
            <a:endParaRPr sz="20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pic>
        <p:nvPicPr>
          <p:cNvPr id="19" name="Picture 18" descr="image44.png">
            <a:extLst>
              <a:ext uri="{FF2B5EF4-FFF2-40B4-BE49-F238E27FC236}">
                <a16:creationId xmlns:a16="http://schemas.microsoft.com/office/drawing/2014/main" id="{E2C89AB5-4AFF-02C3-EC85-FE322F629A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672" y="795528"/>
            <a:ext cx="4803668" cy="559761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269918F-6F95-B751-175D-4D1AE5139A97}"/>
              </a:ext>
            </a:extLst>
          </p:cNvPr>
          <p:cNvSpPr txBox="1"/>
          <p:nvPr/>
        </p:nvSpPr>
        <p:spPr>
          <a:xfrm>
            <a:off x="8524342" y="3374242"/>
            <a:ext cx="3667658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Microsoft YaHei"/>
                <a:ea typeface="Microsoft YaHei"/>
              </a:rPr>
              <a:t>图</a:t>
            </a:r>
            <a:r>
              <a:rPr lang="zh-CN" altLang="en-US" sz="2000" b="0" i="0" dirty="0">
                <a:latin typeface="Microsoft YaHei"/>
                <a:ea typeface="Microsoft YaHei"/>
              </a:rPr>
              <a:t> </a:t>
            </a:r>
            <a:r>
              <a:rPr lang="en-US" altLang="zh-CN" sz="2000" b="0" i="0" dirty="0">
                <a:latin typeface="Microsoft YaHei"/>
                <a:ea typeface="Microsoft YaHei"/>
              </a:rPr>
              <a:t>7-37 </a:t>
            </a:r>
            <a:r>
              <a:rPr sz="2000" b="0" i="0" dirty="0" err="1">
                <a:latin typeface="Microsoft YaHei"/>
                <a:ea typeface="Microsoft YaHei"/>
              </a:rPr>
              <a:t>技能包详情页面</a:t>
            </a:r>
            <a:endParaRPr sz="2000" b="0" i="0" dirty="0">
              <a:latin typeface="Microsoft YaHei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332660068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② 安装目标技能包（A股投资分析技能包）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120" y="1090717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技能包分类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选择技能包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查看子技能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一键添加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pic>
        <p:nvPicPr>
          <p:cNvPr id="11" name="Picture 10" descr="image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1" y="1877079"/>
            <a:ext cx="10022892" cy="296668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59219" y="5349240"/>
            <a:ext cx="4430358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Microsoft YaHei"/>
                <a:ea typeface="Microsoft YaHei"/>
              </a:rPr>
              <a:t>图 7-</a:t>
            </a:r>
            <a:r>
              <a:rPr lang="en-US" sz="2000" b="0" i="0" dirty="0">
                <a:latin typeface="Microsoft YaHei"/>
                <a:ea typeface="Microsoft YaHei"/>
              </a:rPr>
              <a:t>38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技能包筛选（官方严选</a:t>
            </a:r>
            <a:r>
              <a:rPr sz="2000" b="0" i="0" dirty="0"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943600"/>
            <a:ext cx="11457432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6048643"/>
            <a:ext cx="1097280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一键添加虽便捷，但需先确认功能描述与项目需求真实匹配，避免技能冗余与资源浪费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0F256-C279-A298-0638-B88CBFEA7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15DDB3B4-EE25-16CC-3771-0AB7707266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171C452-9941-E401-95C0-7FA3E65F01F5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7F289E-A634-65A0-42C4-5C80A6430FF5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26A890-383E-222B-5688-C669240A3DCB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FAB7D2-3D1B-5B75-E2AA-E6AF25422110}"/>
              </a:ext>
            </a:extLst>
          </p:cNvPr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② 安装目标技能包（A股投资分析技能包）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FEB92C-CDDE-8F9E-6C1C-C81B20D1731F}"/>
              </a:ext>
            </a:extLst>
          </p:cNvPr>
          <p:cNvSpPr txBox="1"/>
          <p:nvPr/>
        </p:nvSpPr>
        <p:spPr>
          <a:xfrm>
            <a:off x="502920" y="2813447"/>
            <a:ext cx="1818939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技能包分类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选择技能包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查看子技能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一键添加</a:t>
            </a:r>
            <a:endParaRPr sz="20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pic>
        <p:nvPicPr>
          <p:cNvPr id="15" name="Picture 14" descr="image46.png">
            <a:extLst>
              <a:ext uri="{FF2B5EF4-FFF2-40B4-BE49-F238E27FC236}">
                <a16:creationId xmlns:a16="http://schemas.microsoft.com/office/drawing/2014/main" id="{044C09F4-6AAF-CA81-288C-76321353BB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4067" y="905435"/>
            <a:ext cx="5208839" cy="552584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06BFC72-546E-5925-43CD-31F42DA0AA56}"/>
              </a:ext>
            </a:extLst>
          </p:cNvPr>
          <p:cNvSpPr txBox="1"/>
          <p:nvPr/>
        </p:nvSpPr>
        <p:spPr>
          <a:xfrm>
            <a:off x="8546755" y="3228800"/>
            <a:ext cx="3142325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Microsoft YaHei"/>
                <a:ea typeface="Microsoft YaHei"/>
              </a:rPr>
              <a:t>图 7-</a:t>
            </a:r>
            <a:r>
              <a:rPr lang="en-US" sz="2000" b="0" i="0" dirty="0">
                <a:latin typeface="Microsoft YaHei"/>
                <a:ea typeface="Microsoft YaHei"/>
              </a:rPr>
              <a:t>39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A股投资分析技能包详情</a:t>
            </a:r>
            <a:endParaRPr sz="2000" b="0" i="0" dirty="0">
              <a:latin typeface="Microsoft YaHei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302666945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3C387-7A8B-3305-DBD2-25430B49F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EC11DDF7-D957-BCA8-E207-C7F786E5B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246CB4B-C623-A8D2-7616-7594447D3458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38C269-3C24-03D9-CA33-14B7EFB115AB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FF24F1-63F8-4D8E-36AE-099CD86E96E6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E893D0-A940-5D7C-4800-5E11EE4493BA}"/>
              </a:ext>
            </a:extLst>
          </p:cNvPr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② 安装目标技能包（A股投资分析技能包）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1EFEFF-C09E-5D27-FBF9-EAE47173519E}"/>
              </a:ext>
            </a:extLst>
          </p:cNvPr>
          <p:cNvSpPr txBox="1"/>
          <p:nvPr/>
        </p:nvSpPr>
        <p:spPr>
          <a:xfrm>
            <a:off x="574638" y="2714056"/>
            <a:ext cx="1603786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技能包分类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选择技能包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查看子技能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一键添加</a:t>
            </a:r>
            <a:endParaRPr sz="20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pic>
        <p:nvPicPr>
          <p:cNvPr id="19" name="Picture 18" descr="image47.png">
            <a:extLst>
              <a:ext uri="{FF2B5EF4-FFF2-40B4-BE49-F238E27FC236}">
                <a16:creationId xmlns:a16="http://schemas.microsoft.com/office/drawing/2014/main" id="{BC9BBD19-7243-4A4F-4A45-862117EE5B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2642" y="795528"/>
            <a:ext cx="5534016" cy="592271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867401D-3D0F-25A6-257D-737F1C97B200}"/>
              </a:ext>
            </a:extLst>
          </p:cNvPr>
          <p:cNvSpPr txBox="1"/>
          <p:nvPr/>
        </p:nvSpPr>
        <p:spPr>
          <a:xfrm>
            <a:off x="8341463" y="3602997"/>
            <a:ext cx="3667658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Microsoft YaHei"/>
                <a:ea typeface="Microsoft YaHei"/>
              </a:rPr>
              <a:t>图 7-4</a:t>
            </a:r>
            <a:r>
              <a:rPr lang="en-US" sz="2000" b="0" i="0" dirty="0">
                <a:latin typeface="Microsoft YaHei"/>
                <a:ea typeface="Microsoft YaHei"/>
              </a:rPr>
              <a:t>0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点击「一键添加</a:t>
            </a:r>
            <a:r>
              <a:rPr sz="2000" b="0" i="0" dirty="0">
                <a:latin typeface="Microsoft YaHei"/>
                <a:ea typeface="Microsoft YaHei"/>
              </a:rPr>
              <a:t>」</a:t>
            </a:r>
          </a:p>
        </p:txBody>
      </p:sp>
    </p:spTree>
    <p:extLst>
      <p:ext uri="{BB962C8B-B14F-4D97-AF65-F5344CB8AC3E}">
        <p14:creationId xmlns:p14="http://schemas.microsoft.com/office/powerpoint/2010/main" val="313587306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③ 验证技能包安装（进入配置）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左侧「对话」进入交互界面 → 右上角「Agent 设置」</a:t>
            </a:r>
          </a:p>
        </p:txBody>
      </p:sp>
      <p:pic>
        <p:nvPicPr>
          <p:cNvPr id="11" name="Picture 10" descr="image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2067" y="1508760"/>
            <a:ext cx="5792992" cy="4129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04795" y="6080693"/>
            <a:ext cx="5470264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Microsoft YaHei"/>
                <a:ea typeface="Microsoft YaHei"/>
              </a:rPr>
              <a:t>图 7-4</a:t>
            </a:r>
            <a:r>
              <a:rPr lang="en-US" sz="2000" b="0" i="0" dirty="0">
                <a:latin typeface="Microsoft YaHei"/>
                <a:ea typeface="Microsoft YaHei"/>
              </a:rPr>
              <a:t>1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进入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Coze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对话页面</a:t>
            </a:r>
            <a:endParaRPr sz="2000" b="0" i="0" dirty="0"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1E1A0-761A-EF32-33F7-EFBC100EC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CF8F5B5F-3394-98B6-1246-3BA2C7C2CB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086942E-EEA3-C4C8-C84B-D7B48EFC2DEA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E63DDD-A440-D633-9D29-ACEF009A7B05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54A0D3-3B38-B6E1-743E-8F2537D29F01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A0B149-7D94-96FF-A54D-840FD1BC545B}"/>
              </a:ext>
            </a:extLst>
          </p:cNvPr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③ 验证技能包安装（进入配置）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764B59-8955-B2AC-B593-8FF9073A4DAC}"/>
              </a:ext>
            </a:extLst>
          </p:cNvPr>
          <p:cNvSpPr txBox="1"/>
          <p:nvPr/>
        </p:nvSpPr>
        <p:spPr>
          <a:xfrm>
            <a:off x="502920" y="91440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左侧「对话」进入交互界面 → 右上角「Agent 设置」</a:t>
            </a:r>
          </a:p>
        </p:txBody>
      </p:sp>
      <p:pic>
        <p:nvPicPr>
          <p:cNvPr id="15" name="Picture 14" descr="image49.png">
            <a:extLst>
              <a:ext uri="{FF2B5EF4-FFF2-40B4-BE49-F238E27FC236}">
                <a16:creationId xmlns:a16="http://schemas.microsoft.com/office/drawing/2014/main" id="{DE9ABD35-E79A-B73E-F1E5-60DAC6FECC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26013"/>
            <a:ext cx="11206383" cy="285733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1A24F92-44CD-0920-A1FC-C20DC33BFBF6}"/>
              </a:ext>
            </a:extLst>
          </p:cNvPr>
          <p:cNvSpPr txBox="1"/>
          <p:nvPr/>
        </p:nvSpPr>
        <p:spPr>
          <a:xfrm>
            <a:off x="4292651" y="5676289"/>
            <a:ext cx="3667658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Microsoft YaHei"/>
                <a:ea typeface="Microsoft YaHei"/>
              </a:rPr>
              <a:t>图 7-4</a:t>
            </a:r>
            <a:r>
              <a:rPr lang="en-US" sz="2000" b="0" i="0" dirty="0">
                <a:latin typeface="Microsoft YaHei"/>
                <a:ea typeface="Microsoft YaHei"/>
              </a:rPr>
              <a:t>2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Coze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对话页面</a:t>
            </a:r>
            <a:endParaRPr sz="2000" b="0" i="0" dirty="0">
              <a:latin typeface="Microsoft YaHei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14267677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460C9-4E10-BDAA-D7C2-4C537A119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C70C1E7D-478C-B4AC-FCC4-E562819FAF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12B4769-0CB8-2948-0928-B737A88316C2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0C33C5-C35C-9003-B04C-AE9C38107432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05F131D-7BC2-C225-F8D3-457575194564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AFDF6A-A96E-6FC2-41C6-47C1892292FF}"/>
              </a:ext>
            </a:extLst>
          </p:cNvPr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③ 验证技能包安装（进入配置）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2FC9A9-BC63-2573-EFC9-E97553AD8449}"/>
              </a:ext>
            </a:extLst>
          </p:cNvPr>
          <p:cNvSpPr txBox="1"/>
          <p:nvPr/>
        </p:nvSpPr>
        <p:spPr>
          <a:xfrm>
            <a:off x="502920" y="91440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左侧「对话」进入交互界面 → 右上角「Agent 设置」</a:t>
            </a:r>
          </a:p>
        </p:txBody>
      </p:sp>
      <p:pic>
        <p:nvPicPr>
          <p:cNvPr id="19" name="Picture 18" descr="image50.png">
            <a:extLst>
              <a:ext uri="{FF2B5EF4-FFF2-40B4-BE49-F238E27FC236}">
                <a16:creationId xmlns:a16="http://schemas.microsoft.com/office/drawing/2014/main" id="{81C04297-CADD-7965-5C4A-87BC012552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1945" y="1999130"/>
            <a:ext cx="7853173" cy="300491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21D656B-12FF-2BEB-7682-E8A4193FC44A}"/>
              </a:ext>
            </a:extLst>
          </p:cNvPr>
          <p:cNvSpPr txBox="1"/>
          <p:nvPr/>
        </p:nvSpPr>
        <p:spPr>
          <a:xfrm>
            <a:off x="4177946" y="5789711"/>
            <a:ext cx="4966536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Microsoft YaHei"/>
                <a:ea typeface="Microsoft YaHei"/>
              </a:rPr>
              <a:t>图 7-</a:t>
            </a:r>
            <a:r>
              <a:rPr lang="en-US" sz="2000" b="0" i="0" dirty="0">
                <a:latin typeface="Microsoft YaHei"/>
                <a:ea typeface="Microsoft YaHei"/>
              </a:rPr>
              <a:t>43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进入智能体配置（Agent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设置</a:t>
            </a:r>
            <a:r>
              <a:rPr sz="2000" b="0" i="0" dirty="0">
                <a:latin typeface="Microsoft YaHei"/>
                <a:ea typeface="Microsoft YaHei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425297287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③ 验证技能包安装（查看技能状态）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1440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配置详情 →「技能」选项卡 → 确认「已安装」且「已启用」</a:t>
            </a:r>
          </a:p>
        </p:txBody>
      </p:sp>
      <p:pic>
        <p:nvPicPr>
          <p:cNvPr id="11" name="Picture 10" descr="image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0172" y="1277711"/>
            <a:ext cx="6615335" cy="45845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14512" y="3416113"/>
            <a:ext cx="2535528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Microsoft YaHei"/>
                <a:ea typeface="Microsoft YaHei"/>
              </a:rPr>
              <a:t>图 7-</a:t>
            </a:r>
            <a:r>
              <a:rPr lang="en-US" sz="2000" b="0" i="0" dirty="0">
                <a:latin typeface="Microsoft YaHei"/>
                <a:ea typeface="Microsoft YaHei"/>
              </a:rPr>
              <a:t>44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智能体配置详情页面</a:t>
            </a:r>
            <a:endParaRPr sz="2000" b="0" i="0" dirty="0"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65760" y="5943600"/>
            <a:ext cx="11457432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6079420"/>
            <a:ext cx="109728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区分「已安装」与「已启用</a:t>
            </a:r>
            <a:r>
              <a:rPr b="1" i="0" dirty="0">
                <a:solidFill>
                  <a:srgbClr val="FFFFFF"/>
                </a:solidFill>
                <a:latin typeface="Microsoft YaHei"/>
                <a:ea typeface="Microsoft YaHei"/>
              </a:rPr>
              <a:t>」：</a:t>
            </a:r>
            <a:r>
              <a:rPr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部分子技能可能默认禁用，逐一检查启用状态才能确保能力库完整可用</a:t>
            </a:r>
            <a:r>
              <a:rPr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870AB-85DC-B0C0-7F33-96E99D209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8A024F52-D317-68EF-33AC-FDB878A69B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F471495-157E-7C61-515B-4F903FC4BFCC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97A7BE-DCA5-89F4-449B-4EBB1FE55D4C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2A5C08-BE9C-BA83-793C-F501A1F0950F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BCC6E8-C9E1-1596-C9ED-91DE144CDEC9}"/>
              </a:ext>
            </a:extLst>
          </p:cNvPr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③ 验证技能包安装（查看技能状态）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64DEE-B6E3-0CCE-FAE7-BE41366F8A41}"/>
              </a:ext>
            </a:extLst>
          </p:cNvPr>
          <p:cNvSpPr txBox="1"/>
          <p:nvPr/>
        </p:nvSpPr>
        <p:spPr>
          <a:xfrm>
            <a:off x="502920" y="91440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配置详情 →「技能」选项卡 → 确认「已安装」且「已启用」</a:t>
            </a:r>
          </a:p>
        </p:txBody>
      </p:sp>
      <p:pic>
        <p:nvPicPr>
          <p:cNvPr id="15" name="Picture 14" descr="image52.png">
            <a:extLst>
              <a:ext uri="{FF2B5EF4-FFF2-40B4-BE49-F238E27FC236}">
                <a16:creationId xmlns:a16="http://schemas.microsoft.com/office/drawing/2014/main" id="{90A5754F-B2EF-09B0-EBCD-66586D7BA0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139" y="1269387"/>
            <a:ext cx="7626275" cy="511258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ABF316D-3B6A-E75F-DD8A-CE2AC3D91F44}"/>
              </a:ext>
            </a:extLst>
          </p:cNvPr>
          <p:cNvSpPr txBox="1"/>
          <p:nvPr/>
        </p:nvSpPr>
        <p:spPr>
          <a:xfrm>
            <a:off x="9382264" y="3694517"/>
            <a:ext cx="2367776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Microsoft YaHei"/>
                <a:ea typeface="Microsoft YaHei"/>
              </a:rPr>
              <a:t>图 7-</a:t>
            </a:r>
            <a:r>
              <a:rPr lang="en-US" sz="2000" b="0" i="0" dirty="0">
                <a:latin typeface="Microsoft YaHei"/>
                <a:ea typeface="Microsoft YaHei"/>
              </a:rPr>
              <a:t>45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进入智能体技能配置页面</a:t>
            </a:r>
            <a:endParaRPr sz="2000" b="0" i="0" dirty="0">
              <a:latin typeface="Microsoft YaHei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74134590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6EE4A-1662-FB1F-34EE-5693405B7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8D4525D7-F3E5-DC2E-42CD-48F848DFCB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C6DD156-D20A-802D-39B1-E16AAC2F99E9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6FEA51-060D-5849-20CB-494E8F1E3687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3F8F37-4BFE-0174-0F33-EBB958EAE5C2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303546-691B-B795-1E20-EBBE10B1137B}"/>
              </a:ext>
            </a:extLst>
          </p:cNvPr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③ 验证技能包安装（查看技能状态）</a:t>
            </a:r>
          </a:p>
        </p:txBody>
      </p:sp>
      <p:pic>
        <p:nvPicPr>
          <p:cNvPr id="19" name="Picture 18" descr="image53.png">
            <a:extLst>
              <a:ext uri="{FF2B5EF4-FFF2-40B4-BE49-F238E27FC236}">
                <a16:creationId xmlns:a16="http://schemas.microsoft.com/office/drawing/2014/main" id="{12039739-2389-E64C-2A66-B323A8AD6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5118" y="961827"/>
            <a:ext cx="7260265" cy="538642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79A55D9-66B2-3D35-6F47-563B6842101B}"/>
              </a:ext>
            </a:extLst>
          </p:cNvPr>
          <p:cNvSpPr txBox="1"/>
          <p:nvPr/>
        </p:nvSpPr>
        <p:spPr>
          <a:xfrm>
            <a:off x="9138818" y="3716302"/>
            <a:ext cx="2357325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Microsoft YaHei"/>
                <a:ea typeface="Microsoft YaHei"/>
              </a:rPr>
              <a:t>图</a:t>
            </a:r>
            <a:r>
              <a:rPr lang="zh-CN" altLang="en-US" sz="2000" b="0" i="0" dirty="0">
                <a:latin typeface="Microsoft YaHei"/>
                <a:ea typeface="Microsoft YaHei"/>
              </a:rPr>
              <a:t> </a:t>
            </a:r>
            <a:r>
              <a:rPr lang="en-US" altLang="zh-CN" sz="2000" b="0" i="0" dirty="0">
                <a:latin typeface="Microsoft YaHei"/>
                <a:ea typeface="Microsoft YaHei"/>
              </a:rPr>
              <a:t>7-46 </a:t>
            </a:r>
            <a:r>
              <a:rPr sz="2000" b="0" i="0" dirty="0" err="1">
                <a:latin typeface="Microsoft YaHei"/>
                <a:ea typeface="Microsoft YaHei"/>
              </a:rPr>
              <a:t>技能启用</a:t>
            </a:r>
            <a:r>
              <a:rPr sz="2000" b="0" i="0" dirty="0">
                <a:latin typeface="Microsoft YaHei"/>
                <a:ea typeface="Microsoft YaHei"/>
              </a:rPr>
              <a:t> / </a:t>
            </a:r>
            <a:r>
              <a:rPr sz="2000" b="0" i="0" dirty="0" err="1">
                <a:latin typeface="Microsoft YaHei"/>
                <a:ea typeface="Microsoft YaHei"/>
              </a:rPr>
              <a:t>禁用页面</a:t>
            </a:r>
            <a:endParaRPr sz="2000" b="0" i="0" dirty="0">
              <a:latin typeface="Microsoft YaHei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416338443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④ 验证技能包调用效果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165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在对话中输入</a:t>
            </a:r>
            <a:r>
              <a:rPr sz="20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A </a:t>
            </a:r>
            <a:r>
              <a:rPr sz="20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股相关问题，观察是否调用实时行情与数据分析逻辑</a:t>
            </a:r>
            <a:endParaRPr sz="20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pic>
        <p:nvPicPr>
          <p:cNvPr id="11" name="Picture 10" descr="image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547" y="2286000"/>
            <a:ext cx="10716905" cy="20258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173653" y="5048946"/>
            <a:ext cx="5615787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Microsoft YaHei"/>
                <a:ea typeface="Microsoft YaHei"/>
              </a:rPr>
              <a:t>图 7-</a:t>
            </a:r>
            <a:r>
              <a:rPr lang="en-US" sz="2000" b="0" i="0" dirty="0">
                <a:latin typeface="Microsoft YaHei"/>
                <a:ea typeface="Microsoft YaHei"/>
              </a:rPr>
              <a:t>47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输入想要分析的问题</a:t>
            </a:r>
            <a:endParaRPr sz="2000" b="0" i="0" dirty="0"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65760" y="5943600"/>
            <a:ext cx="11457432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6064031"/>
            <a:ext cx="10972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测试要点：回答是否及时、准确，多个子技能是否按预期逐一触发；这是技能包真正落地的检验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43AA5-A4CF-9412-B507-1EC551384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68776429-EF1C-F5D1-5030-F1B9B69EFA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481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D37F138-72C8-C2E3-ADF8-7CCB1A583D24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1626F6-3A6D-0589-E667-CC717D985831}"/>
              </a:ext>
            </a:extLst>
          </p:cNvPr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7.</a:t>
            </a:r>
            <a:r>
              <a:rPr lang="en-US"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D74763-73D3-5C2A-0C7D-5A1A2424BC1D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9055CA-23C2-4FAD-F516-08EE6EB1CC21}"/>
              </a:ext>
            </a:extLst>
          </p:cNvPr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④ 验证技能包调用效果</a:t>
            </a:r>
          </a:p>
        </p:txBody>
      </p:sp>
      <p:pic>
        <p:nvPicPr>
          <p:cNvPr id="15" name="Picture 14" descr="image55.png">
            <a:extLst>
              <a:ext uri="{FF2B5EF4-FFF2-40B4-BE49-F238E27FC236}">
                <a16:creationId xmlns:a16="http://schemas.microsoft.com/office/drawing/2014/main" id="{7B5DDDCD-849B-8E01-507C-F394BA2198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351" y="839239"/>
            <a:ext cx="6915943" cy="557952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66601F7-C4EE-5BB1-A88E-0BF9375EF6B2}"/>
              </a:ext>
            </a:extLst>
          </p:cNvPr>
          <p:cNvSpPr txBox="1"/>
          <p:nvPr/>
        </p:nvSpPr>
        <p:spPr>
          <a:xfrm>
            <a:off x="8793078" y="3368761"/>
            <a:ext cx="2807894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latin typeface="Microsoft YaHei"/>
                <a:ea typeface="Microsoft YaHei"/>
              </a:rPr>
              <a:t>图 7-</a:t>
            </a:r>
            <a:r>
              <a:rPr lang="en-US" sz="2000" b="0" i="0" dirty="0">
                <a:latin typeface="Microsoft YaHei"/>
                <a:ea typeface="Microsoft YaHei"/>
              </a:rPr>
              <a:t>48</a:t>
            </a:r>
            <a:r>
              <a:rPr sz="2000" b="0" i="0" dirty="0">
                <a:latin typeface="Microsoft YaHei"/>
                <a:ea typeface="Microsoft YaHei"/>
              </a:rPr>
              <a:t> </a:t>
            </a:r>
            <a:r>
              <a:rPr sz="2000" b="0" i="0" dirty="0" err="1">
                <a:latin typeface="Microsoft YaHei"/>
                <a:ea typeface="Microsoft YaHei"/>
              </a:rPr>
              <a:t>智能体调用技能回答问题</a:t>
            </a:r>
            <a:endParaRPr sz="2000" b="0" i="0" dirty="0">
              <a:latin typeface="Microsoft YaHei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51867259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 dirty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7.</a:t>
            </a:r>
            <a:r>
              <a:rPr lang="en-US" sz="15000" b="1" i="0" dirty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8</a:t>
            </a:r>
            <a:endParaRPr sz="15000" b="1" i="0" dirty="0">
              <a:solidFill>
                <a:srgbClr val="FFFFFF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998567" y="265176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800" b="1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本章实训</a:t>
            </a:r>
            <a:endParaRPr sz="3800" b="1" i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从"理解原理"到"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动手实践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"：</a:t>
            </a:r>
            <a:r>
              <a:rPr sz="20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两个实训题目，亲手构建知识库助手与数据洞察助手</a:t>
            </a:r>
            <a:r>
              <a:rPr sz="20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53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7.8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实训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两个动手案例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围绕真实科研场景，完整走通智能体搭建与测试流程</a:t>
            </a:r>
            <a:endParaRPr sz="2800" b="1" i="0" dirty="0">
              <a:solidFill>
                <a:srgbClr val="0066C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5602071" cy="4846320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5602071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实训一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科研文献知识库助手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276856"/>
            <a:ext cx="5236311" cy="3888620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目标：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掌握从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PDF/Word/TXT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创建专业知识库，理解解析→清洗→切片→向量化流程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en-US"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任务：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收集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3-5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篇核心文献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建库并优化分段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编写"先检索后回答"提示词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挂载测试库内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库外问题，评价对减少幻觉、提升可追溯性的效果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en-US"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思考：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多篇观点不一致如何处理？跨文献归纳对比如何优化工作流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8143" y="1600200"/>
            <a:ext cx="5602071" cy="4846320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78143" y="1600200"/>
            <a:ext cx="5602071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15303" y="1698998"/>
            <a:ext cx="532775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实训二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数据洞察与可视化助手</a:t>
            </a:r>
            <a:endParaRPr sz="2400" b="1" i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361023" y="2276856"/>
            <a:ext cx="5236311" cy="3888620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F58020"/>
                </a:solidFill>
                <a:latin typeface="微软雅黑" panose="020B0503020204020204" charset="-122"/>
                <a:ea typeface="微软雅黑" panose="020B0503020204020204" charset="-122"/>
              </a:rPr>
              <a:t>目标：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理解通过插件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/MCP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调用外部计算与绘图工具的原理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en-US"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任务：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准备结构化科研数据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(CSV/Excel)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创建"数据洞察助手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" 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配置图表插件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→ 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设计"数据读取→分析计算→图表生成→结果解读"工作流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lang="en-US"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sz="2000" b="0" dirty="0">
              <a:solidFill>
                <a:srgbClr val="333333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1" dirty="0" err="1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收益：</a:t>
            </a:r>
            <a:r>
              <a:rPr sz="2000" b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体验从自然语言需求到数据报告输出的自动化过程</a:t>
            </a:r>
            <a:r>
              <a:rPr sz="2000" b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54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2004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200" b="1" i="0">
                <a:solidFill>
                  <a:srgbClr val="0066CC"/>
                </a:solidFill>
                <a:latin typeface="微软雅黑" panose="020B0503020204020204" charset="-122"/>
                <a:ea typeface="微软雅黑" panose="020B0503020204020204" charset="-122"/>
              </a:rPr>
              <a:t>本章小结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2847" y="1188720"/>
            <a:ext cx="22860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1554480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1609344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智能体基础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325880" y="1975104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LLM 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为脑、工具为手，以"感知-规划-行动-记忆"闭环推进；从对话能力演进到任务能力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61888" y="1554480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61888" y="1554480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39128" y="1554480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22008" y="1609344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记忆</a:t>
            </a:r>
            <a:r>
              <a:rPr sz="20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知识库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922008" y="1975104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RAG"先检索后回答"抑制幻觉；解析→清洗→切片→向量化→检索→增强→生成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98648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2898648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2898648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25880" y="2953512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插件</a:t>
            </a:r>
            <a:r>
              <a:rPr sz="20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· MCP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319272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工具调用打破知识边界；MCP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统一规范把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N×M 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适配降为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N+M；资源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工具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提示模板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61888" y="2898648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61888" y="2898648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39128" y="2898648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22008" y="2953512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思维</a:t>
            </a:r>
            <a:r>
              <a:rPr sz="2000" b="1" i="0" dirty="0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工作流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922008" y="3319272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节点+连接定义思考路径；条件分支与循环让智能体按可控逻辑判断、返回与修正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242816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4242816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4242816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325880" y="4297680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多智能体协作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325880" y="4663440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主从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对等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投票三种拓扑；冲突用投票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仲裁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元认知化解；JSON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与黑板模式统一通信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61888" y="4242816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1888" y="4242816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7.6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39128" y="4242816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22008" y="4297680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微软雅黑" panose="020B0503020204020204" charset="-122"/>
                <a:ea typeface="微软雅黑" panose="020B0503020204020204" charset="-122"/>
              </a:rPr>
              <a:t>构建与实训</a:t>
            </a:r>
            <a:endParaRPr sz="2000" b="1" i="0" dirty="0">
              <a:solidFill>
                <a:srgbClr val="004C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922008" y="4663440"/>
            <a:ext cx="4343400" cy="5012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Coze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搭建智能客服与科研文献问答；知识库+提示词+置信度，先检索后回答、拒绝编造</a:t>
            </a:r>
            <a:r>
              <a:rPr sz="1600" b="0" i="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806440"/>
            <a:ext cx="11475720" cy="71323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65760" y="5978390"/>
            <a:ext cx="114757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✦ 从 "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语言生成系统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" 到 "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任务执行系统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" — 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让大模型真正学会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动手</a:t>
            </a:r>
            <a:r>
              <a:rPr sz="2400" b="1" i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"。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94544" y="6446520"/>
            <a:ext cx="614271" cy="169277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55</a:t>
            </a:r>
            <a:r>
              <a:rPr sz="1100" dirty="0">
                <a:solidFill>
                  <a:srgbClr val="999999"/>
                </a:solidFill>
                <a:latin typeface="Arial" panose="020B0604020202020204"/>
              </a:rPr>
              <a:t> / </a:t>
            </a:r>
            <a:r>
              <a:rPr lang="en-US" sz="1100" dirty="0">
                <a:solidFill>
                  <a:srgbClr val="999999"/>
                </a:solidFill>
                <a:latin typeface="Arial" panose="020B0604020202020204"/>
              </a:rPr>
              <a:t>56</a:t>
            </a:r>
            <a:endParaRPr sz="1100" dirty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0" y="4114800"/>
            <a:ext cx="6858000" cy="2743200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0" y="2286000"/>
            <a:ext cx="12191695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0" b="1" i="0">
                <a:solidFill>
                  <a:srgbClr val="FFFFFF"/>
                </a:solidFill>
                <a:latin typeface="Arial" panose="020B0604020202020204"/>
                <a:ea typeface="Arial" panose="020B0604020202020204"/>
              </a:rPr>
              <a:t>THANKS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solidFill>
                  <a:srgbClr val="E6F2FC"/>
                </a:solidFill>
                <a:latin typeface="微软雅黑" panose="020B0503020204020204" charset="-122"/>
                <a:ea typeface="微软雅黑" panose="020B0503020204020204" charset="-122"/>
              </a:rPr>
              <a:t>感 谢 聆 听 ， 欢 迎 提 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 dirty="0" err="1">
                <a:solidFill>
                  <a:srgbClr val="E6F2FC"/>
                </a:solidFill>
                <a:latin typeface="微软雅黑" panose="020B0503020204020204" charset="-122"/>
                <a:ea typeface="微软雅黑" panose="020B0503020204020204" charset="-122"/>
              </a:rPr>
              <a:t>扬州大学</a:t>
            </a:r>
            <a:r>
              <a:rPr sz="1800" b="0" i="0" dirty="0">
                <a:solidFill>
                  <a:srgbClr val="E6F2FC"/>
                </a:solidFill>
                <a:latin typeface="微软雅黑" panose="020B0503020204020204" charset="-122"/>
                <a:ea typeface="微软雅黑" panose="020B0503020204020204" charset="-122"/>
              </a:rPr>
              <a:t>  ·  第 7 章  ·  </a:t>
            </a:r>
            <a:r>
              <a:rPr sz="1800" b="0" i="0" dirty="0" err="1">
                <a:solidFill>
                  <a:srgbClr val="E6F2FC"/>
                </a:solidFill>
                <a:latin typeface="微软雅黑" panose="020B0503020204020204" charset="-122"/>
                <a:ea typeface="微软雅黑" panose="020B0503020204020204" charset="-122"/>
              </a:rPr>
              <a:t>大模型智能体的原理与实践</a:t>
            </a:r>
            <a:endParaRPr sz="1800" b="0" i="0" dirty="0">
              <a:solidFill>
                <a:srgbClr val="E6F2F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1363</TotalTime>
  <Words>3113</Words>
  <Application>Microsoft Macintosh PowerPoint</Application>
  <PresentationFormat>宽屏</PresentationFormat>
  <Paragraphs>654</Paragraphs>
  <Slides>76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76</vt:i4>
      </vt:variant>
    </vt:vector>
  </HeadingPairs>
  <TitlesOfParts>
    <vt:vector size="84" baseType="lpstr">
      <vt:lpstr>等线</vt:lpstr>
      <vt:lpstr>Microsoft YaHei</vt:lpstr>
      <vt:lpstr>Microsoft YaHei</vt:lpstr>
      <vt:lpstr>Arial</vt:lpstr>
      <vt:lpstr>Calibri</vt:lpstr>
      <vt:lpstr>Consolas</vt:lpstr>
      <vt:lpstr>Segoe UI Emoji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Microsoft Office User</cp:lastModifiedBy>
  <cp:revision>16</cp:revision>
  <dcterms:created xsi:type="dcterms:W3CDTF">2013-01-27T09:14:00Z</dcterms:created>
  <dcterms:modified xsi:type="dcterms:W3CDTF">2026-07-05T14:13:34Z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19BD663B9B024109B1C090AE5BC67E4E_12</vt:lpwstr>
  </property>
</Properties>
</file>