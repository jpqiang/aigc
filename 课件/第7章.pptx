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95" r:id="rId8"/>
    <p:sldId id="262" r:id="rId9"/>
    <p:sldId id="263" r:id="rId10"/>
    <p:sldId id="264" r:id="rId11"/>
    <p:sldId id="265" r:id="rId12"/>
    <p:sldId id="296" r:id="rId13"/>
    <p:sldId id="266" r:id="rId14"/>
    <p:sldId id="267" r:id="rId15"/>
    <p:sldId id="268" r:id="rId16"/>
    <p:sldId id="269" r:id="rId17"/>
    <p:sldId id="270" r:id="rId18"/>
    <p:sldId id="297" r:id="rId19"/>
    <p:sldId id="271" r:id="rId20"/>
    <p:sldId id="272" r:id="rId21"/>
    <p:sldId id="298" r:id="rId22"/>
    <p:sldId id="313" r:id="rId23"/>
    <p:sldId id="314" r:id="rId24"/>
    <p:sldId id="315" r:id="rId25"/>
    <p:sldId id="323" r:id="rId26"/>
    <p:sldId id="316" r:id="rId27"/>
    <p:sldId id="324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300" r:id="rId40"/>
    <p:sldId id="301" r:id="rId41"/>
    <p:sldId id="284" r:id="rId42"/>
    <p:sldId id="302" r:id="rId43"/>
    <p:sldId id="303" r:id="rId44"/>
    <p:sldId id="304" r:id="rId45"/>
    <p:sldId id="305" r:id="rId46"/>
    <p:sldId id="306" r:id="rId47"/>
    <p:sldId id="285" r:id="rId48"/>
    <p:sldId id="286" r:id="rId49"/>
    <p:sldId id="287" r:id="rId50"/>
    <p:sldId id="288" r:id="rId51"/>
    <p:sldId id="307" r:id="rId52"/>
    <p:sldId id="308" r:id="rId53"/>
    <p:sldId id="309" r:id="rId54"/>
    <p:sldId id="289" r:id="rId55"/>
    <p:sldId id="310" r:id="rId56"/>
    <p:sldId id="311" r:id="rId57"/>
    <p:sldId id="299" r:id="rId58"/>
    <p:sldId id="312" r:id="rId59"/>
    <p:sldId id="317" r:id="rId60"/>
    <p:sldId id="318" r:id="rId61"/>
    <p:sldId id="325" r:id="rId62"/>
    <p:sldId id="319" r:id="rId63"/>
    <p:sldId id="326" r:id="rId64"/>
    <p:sldId id="327" r:id="rId65"/>
    <p:sldId id="320" r:id="rId66"/>
    <p:sldId id="328" r:id="rId67"/>
    <p:sldId id="329" r:id="rId68"/>
    <p:sldId id="321" r:id="rId69"/>
    <p:sldId id="330" r:id="rId70"/>
    <p:sldId id="331" r:id="rId71"/>
    <p:sldId id="322" r:id="rId72"/>
    <p:sldId id="332" r:id="rId73"/>
    <p:sldId id="291" r:id="rId74"/>
    <p:sldId id="292" r:id="rId75"/>
    <p:sldId id="293" r:id="rId76"/>
    <p:sldId id="294" r:id="rId7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04" autoAdjust="0"/>
    <p:restoredTop sz="94671"/>
  </p:normalViewPr>
  <p:slideViewPr>
    <p:cSldViewPr snapToGrid="0" snapToObjects="1" showGuides="1">
      <p:cViewPr varScale="1">
        <p:scale>
          <a:sx n="109" d="100"/>
          <a:sy n="109" d="100"/>
        </p:scale>
        <p:origin x="34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43F8C7-86F6-4BAA-8A1E-469D5A01FDF0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F4853-8495-4233-BC7C-E678941DCC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F4853-8495-4233-BC7C-E678941DCC94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F4853-8495-4233-BC7C-E678941DCC94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F4853-8495-4233-BC7C-E678941DCC94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F4853-8495-4233-BC7C-E678941DCC94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7315200" y="0"/>
            <a:ext cx="4876495" cy="3657600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8014447" y="3567953"/>
            <a:ext cx="4177248" cy="3290047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2373421"/>
            <a:ext cx="12191695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《</a:t>
            </a:r>
            <a:r>
              <a:rPr sz="5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生成式人工智能</a:t>
            </a:r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与科研素养</a:t>
            </a:r>
            <a:r>
              <a:rPr sz="5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38328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 7 章   大模型智能体的原理与实践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5778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扬州大学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Arrow 2"/>
          <p:cNvSpPr/>
          <p:nvPr/>
        </p:nvSpPr>
        <p:spPr>
          <a:xfrm>
            <a:off x="7680960" y="1417320"/>
            <a:ext cx="3802828" cy="5190565"/>
          </a:xfrm>
          <a:prstGeom prst="rightArrow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3200400" cy="35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2149269"/>
            <a:ext cx="960120" cy="5120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49269"/>
            <a:ext cx="960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149269"/>
            <a:ext cx="55778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37360" y="2149269"/>
            <a:ext cx="54406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认识AI智能体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29913"/>
            <a:ext cx="960120" cy="5120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729913"/>
            <a:ext cx="960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2729913"/>
            <a:ext cx="55778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37360" y="2832056"/>
            <a:ext cx="5440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建立专业</a:t>
            </a:r>
            <a:r>
              <a:rPr lang="zh-CN" altLang="en-US" sz="20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知识库</a:t>
            </a:r>
            <a:endParaRPr sz="20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3310557"/>
            <a:ext cx="960120" cy="5120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310557"/>
            <a:ext cx="960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3310557"/>
            <a:ext cx="55778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37360" y="3412700"/>
            <a:ext cx="5440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调用外部工具与</a:t>
            </a:r>
            <a:r>
              <a:rPr sz="20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MCP</a:t>
            </a:r>
            <a:endParaRPr sz="20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4467586"/>
            <a:ext cx="960120" cy="5120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569729"/>
            <a:ext cx="9601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</a:t>
            </a:r>
            <a:r>
              <a:rPr lang="en-US" sz="20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20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600200" y="4467586"/>
            <a:ext cx="55778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37360" y="4569729"/>
            <a:ext cx="5440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工作流设计</a:t>
            </a:r>
            <a:endParaRPr sz="20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5048230"/>
            <a:ext cx="960120" cy="5120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150373"/>
            <a:ext cx="9601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</a:t>
            </a:r>
            <a:r>
              <a:rPr lang="en-US" sz="20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20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600200" y="5048230"/>
            <a:ext cx="55778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37360" y="5048230"/>
            <a:ext cx="54406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多智能体协作</a:t>
            </a:r>
            <a:endParaRPr sz="20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628874"/>
            <a:ext cx="960120" cy="5120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731017"/>
            <a:ext cx="9601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</a:t>
            </a:r>
            <a:r>
              <a:rPr lang="en-US" sz="20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20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600200" y="5628874"/>
            <a:ext cx="55778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737360" y="5628874"/>
            <a:ext cx="54406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智能体构建实践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209518"/>
            <a:ext cx="960120" cy="5120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311661"/>
            <a:ext cx="9601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</a:t>
            </a:r>
            <a:r>
              <a:rPr lang="en-US" sz="20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20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00200" y="6209518"/>
            <a:ext cx="55778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737360" y="6209518"/>
            <a:ext cx="54406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本章实训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3091" y="6446520"/>
            <a:ext cx="535724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2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sp>
        <p:nvSpPr>
          <p:cNvPr id="37" name="Rectangle 15">
            <a:extLst>
              <a:ext uri="{FF2B5EF4-FFF2-40B4-BE49-F238E27FC236}">
                <a16:creationId xmlns:a16="http://schemas.microsoft.com/office/drawing/2014/main" id="{47167DBC-2936-4BC1-AC14-D0FDEE20FBA3}"/>
              </a:ext>
            </a:extLst>
          </p:cNvPr>
          <p:cNvSpPr/>
          <p:nvPr/>
        </p:nvSpPr>
        <p:spPr>
          <a:xfrm>
            <a:off x="548640" y="3913632"/>
            <a:ext cx="960120" cy="5120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16">
            <a:extLst>
              <a:ext uri="{FF2B5EF4-FFF2-40B4-BE49-F238E27FC236}">
                <a16:creationId xmlns:a16="http://schemas.microsoft.com/office/drawing/2014/main" id="{21861A14-D3D1-48EC-BA8B-4375C139D510}"/>
              </a:ext>
            </a:extLst>
          </p:cNvPr>
          <p:cNvSpPr txBox="1"/>
          <p:nvPr/>
        </p:nvSpPr>
        <p:spPr>
          <a:xfrm>
            <a:off x="548640" y="4015775"/>
            <a:ext cx="9601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</a:t>
            </a:r>
            <a:r>
              <a:rPr lang="en-US" sz="20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0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17">
            <a:extLst>
              <a:ext uri="{FF2B5EF4-FFF2-40B4-BE49-F238E27FC236}">
                <a16:creationId xmlns:a16="http://schemas.microsoft.com/office/drawing/2014/main" id="{D8FF01D9-1078-46E2-B0F1-4EE8E6201EFE}"/>
              </a:ext>
            </a:extLst>
          </p:cNvPr>
          <p:cNvSpPr/>
          <p:nvPr/>
        </p:nvSpPr>
        <p:spPr>
          <a:xfrm>
            <a:off x="1600200" y="3913632"/>
            <a:ext cx="557784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C6E08EFC-A952-4BFB-B269-BA1810082991}"/>
              </a:ext>
            </a:extLst>
          </p:cNvPr>
          <p:cNvSpPr txBox="1"/>
          <p:nvPr/>
        </p:nvSpPr>
        <p:spPr>
          <a:xfrm>
            <a:off x="1737360" y="4015775"/>
            <a:ext cx="5440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altLang="zh-CN" sz="20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Skills </a:t>
            </a:r>
            <a:r>
              <a:rPr lang="zh-CN" altLang="en-US" sz="20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与能力封装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导言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体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的任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务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行能力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79016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</a:t>
            </a:r>
            <a:r>
              <a:rPr sz="28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体结合</a:t>
            </a:r>
            <a:r>
              <a:rPr sz="28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模型、知识与工</a:t>
            </a:r>
            <a:r>
              <a:rPr sz="28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具，分步骤完成任</a:t>
            </a:r>
            <a:r>
              <a:rPr sz="28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务。</a:t>
            </a:r>
            <a:endParaRPr sz="28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1124712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模型辅</a:t>
            </a:r>
            <a:r>
              <a:rPr sz="2200" b="1" i="0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助理</a:t>
            </a:r>
            <a:r>
              <a:rPr sz="22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解与</a:t>
            </a:r>
            <a:r>
              <a:rPr sz="2200" b="1" i="0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规划，工具</a:t>
            </a:r>
            <a:r>
              <a:rPr sz="22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r>
              <a:rPr sz="2200" b="1" i="0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具体</a:t>
            </a:r>
            <a:r>
              <a:rPr sz="22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sz="2200" b="1" i="0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，系</a:t>
            </a:r>
            <a:r>
              <a:rPr sz="22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统根</a:t>
            </a:r>
            <a:r>
              <a:rPr sz="2200" b="1" i="0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据反馈</a:t>
            </a:r>
            <a:r>
              <a:rPr sz="22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调整</a:t>
            </a:r>
            <a:r>
              <a:rPr sz="2200" b="1" i="0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后续</a:t>
            </a:r>
            <a:r>
              <a:rPr sz="22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步骤。</a:t>
            </a:r>
            <a:endParaRPr sz="22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1480" y="2697480"/>
            <a:ext cx="1828800" cy="74980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697480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7.1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9981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基础架构</a:t>
            </a:r>
            <a:endParaRPr sz="15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1480" y="3447288"/>
            <a:ext cx="1828800" cy="1581912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" y="3687876"/>
            <a:ext cx="1609344" cy="1119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感知与规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划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
行动与记忆</a:t>
            </a:r>
            <a:endParaRPr sz="2000"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331720" y="2697480"/>
            <a:ext cx="1828800" cy="749808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31720" y="2697480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7.2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09981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知识库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3447288"/>
            <a:ext cx="1828800" cy="1581912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31720" y="3847784"/>
            <a:ext cx="1810512" cy="734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检索相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关资料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核查回答依据</a:t>
            </a:r>
            <a:endParaRPr sz="2000"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251960" y="2697480"/>
            <a:ext cx="1828800" cy="749808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51960" y="2697480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7.3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09981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3447288"/>
            <a:ext cx="1828800" cy="1581912"/>
          </a:xfrm>
          <a:prstGeom prst="rect">
            <a:avLst/>
          </a:prstGeom>
          <a:solidFill>
            <a:srgbClr val="E6F2FC"/>
          </a:solidFill>
          <a:ln w="12700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61688" y="3687876"/>
            <a:ext cx="1609344" cy="1119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MCP 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协议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统一调用外部工具</a:t>
            </a:r>
            <a:endParaRPr sz="2000"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72200" y="2697480"/>
            <a:ext cx="1828800" cy="7498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2697480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7.5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09981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工作流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447288"/>
            <a:ext cx="1828800" cy="1581912"/>
          </a:xfrm>
          <a:prstGeom prst="rect">
            <a:avLst/>
          </a:prstGeom>
          <a:solidFill>
            <a:srgbClr val="E6F2F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81928" y="3687876"/>
            <a:ext cx="1609344" cy="1119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任务流程编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排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
节点、连接与分支</a:t>
            </a:r>
            <a:endParaRPr sz="2000"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92440" y="2697480"/>
            <a:ext cx="1828800" cy="74980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2697480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7.6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09981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协作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92440" y="3447288"/>
            <a:ext cx="1828800" cy="1581912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10728" y="3829854"/>
            <a:ext cx="1810512" cy="734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多智能体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主从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对等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投票</a:t>
            </a:r>
            <a:endParaRPr sz="2000"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0012680" y="2697480"/>
            <a:ext cx="1828800" cy="749808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12680" y="2697480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7.7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309981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构建实践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12680" y="3447288"/>
            <a:ext cx="1828800" cy="1581912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67544" y="3834822"/>
            <a:ext cx="1719072" cy="734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客服与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文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献问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答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
技能包配置</a:t>
            </a:r>
            <a:endParaRPr sz="2000"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02920" y="5491444"/>
            <a:ext cx="11247120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4495" y="5629581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本章还介绍S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ki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s能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力封装（7.4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），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并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实训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检查智能体的执行效果。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473091" y="6446520"/>
            <a:ext cx="535724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3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7.1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8567" y="246888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认识AI智能体</a:t>
            </a:r>
            <a:endParaRPr sz="3800" b="1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02336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大模型智能体可结合任务规划、工具调用与结果反馈完成部分操作，具体能力取决于系统配置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73091" y="6446520"/>
            <a:ext cx="535724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4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智能体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中的模型与工具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065" y="844459"/>
            <a:ext cx="6106453" cy="5762081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智能</a:t>
            </a:r>
            <a:r>
              <a:rPr sz="22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体围</a:t>
            </a:r>
            <a:r>
              <a:rPr sz="22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绕目标获取信</a:t>
            </a:r>
            <a:r>
              <a:rPr sz="22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息、</a:t>
            </a:r>
            <a:r>
              <a:rPr sz="22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理解任</a:t>
            </a:r>
            <a:r>
              <a:rPr sz="22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务、</a:t>
            </a:r>
            <a:r>
              <a:rPr sz="22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制定</a:t>
            </a:r>
            <a:r>
              <a:rPr sz="22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计划</a:t>
            </a:r>
            <a:r>
              <a:rPr sz="22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并采取行动</a:t>
            </a:r>
            <a:r>
              <a:rPr sz="22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大模</a:t>
            </a:r>
            <a:r>
              <a:rPr sz="24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型：</a:t>
            </a:r>
            <a:r>
              <a:rPr sz="24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理解与规划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理解用户意图、分析任务目标、把复杂问题转化为清晰的执行思路；提供任务理解、知识推理与过程规划的基础能力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r>
              <a:rPr sz="24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系统</a:t>
            </a:r>
            <a:r>
              <a:rPr sz="24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：执行操作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连接外部环境：检索资料、处理数据、生成文档、调用业务接口，把推理结果落实为具体操作，并把结果回传给模型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6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运行</a:t>
            </a: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方式：</a:t>
            </a:r>
            <a:r>
              <a:rPr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根据反</a:t>
            </a: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馈调整</a:t>
            </a:r>
            <a:endParaRPr sz="2400" b="1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模型调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用工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具并读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取结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果，判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断任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务是否完成或需要调整。应设置停止条件，并检查最终结果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2975" y="5303520"/>
            <a:ext cx="4480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图 7-</a:t>
            </a:r>
            <a:r>
              <a:rPr lang="en-US"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智能体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中的模型与工具分工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3091" y="6446520"/>
            <a:ext cx="535724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5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665" y="1906188"/>
            <a:ext cx="5516462" cy="3217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智能体的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能力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感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知、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规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划、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行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动与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记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忆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共同支持任务执行</a:t>
            </a:r>
            <a:endParaRPr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5602071" cy="2409444"/>
          </a:xfrm>
          <a:prstGeom prst="rect">
            <a:avLst/>
          </a:prstGeom>
          <a:solidFill>
            <a:srgbClr val="FFFFFF"/>
          </a:solidFill>
          <a:ln w="222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600200"/>
            <a:ext cx="5602071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98998"/>
            <a:ext cx="532775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感知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信息入口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276856"/>
            <a:ext cx="5236311" cy="1224813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接收并理解外部输入</a:t>
            </a:r>
            <a:r>
              <a:rPr sz="22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文本指令、结构化数据、图像多模态、工具执行反馈。决定智能体能理解任务的范围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600200"/>
            <a:ext cx="5602071" cy="2409444"/>
          </a:xfrm>
          <a:prstGeom prst="rect">
            <a:avLst/>
          </a:prstGeom>
          <a:solidFill>
            <a:srgbClr val="FFFFFF"/>
          </a:solidFill>
          <a:ln w="2222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8143" y="1600200"/>
            <a:ext cx="5602071" cy="566928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15303" y="1698998"/>
            <a:ext cx="532775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规划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任务组织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61023" y="2276856"/>
            <a:ext cx="5236311" cy="1263285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把复杂目标拆解为可执行步骤</a:t>
            </a:r>
            <a:r>
              <a:rPr sz="22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思考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行动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观察"循环，按进展动态调整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规划方式与自主程度因系统而异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174236"/>
            <a:ext cx="5602071" cy="2272284"/>
          </a:xfrm>
          <a:prstGeom prst="rect">
            <a:avLst/>
          </a:prstGeom>
          <a:solidFill>
            <a:srgbClr val="FFFFFF"/>
          </a:solidFill>
          <a:ln w="22225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4174236"/>
            <a:ext cx="5602071" cy="566928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273034"/>
            <a:ext cx="532775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行动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实际执行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4850892"/>
            <a:ext cx="5236311" cy="1256104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借助工具"做"事</a:t>
            </a:r>
            <a:r>
              <a:rPr sz="22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检索、代码执行、文件读写与接口调用。</a:t>
            </a:r>
            <a:r>
              <a:rPr sz="200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应按任务设置权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限，并</a:t>
            </a:r>
            <a:r>
              <a:rPr sz="200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审查关键操作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8143" y="4174236"/>
            <a:ext cx="5602071" cy="2272284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8143" y="4174236"/>
            <a:ext cx="5602071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15303" y="4273034"/>
            <a:ext cx="532775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记忆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持续支撑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61023" y="4850892"/>
            <a:ext cx="5236311" cy="1263285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保持长任务连续性</a:t>
            </a:r>
            <a:r>
              <a:rPr sz="22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工作记忆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情节记忆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语义记忆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外部记忆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外部记忆可保存资料，仍需按上下文容量选取内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3091" y="6446520"/>
            <a:ext cx="535724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6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智能体的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能力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473091" y="6446520"/>
            <a:ext cx="535724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rcRect t="5160"/>
          <a:stretch>
            <a:fillRect/>
          </a:stretch>
        </p:blipFill>
        <p:spPr>
          <a:xfrm>
            <a:off x="2670041" y="795528"/>
            <a:ext cx="5937213" cy="5630322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文本框 26"/>
          <p:cNvSpPr txBox="1"/>
          <p:nvPr/>
        </p:nvSpPr>
        <p:spPr>
          <a:xfrm>
            <a:off x="4069976" y="6283374"/>
            <a:ext cx="388171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latin typeface="微软雅黑" panose="020B0503020204020204" charset="-122"/>
                <a:ea typeface="微软雅黑" panose="020B0503020204020204" charset="-122"/>
              </a:rPr>
              <a:t>图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7-2  </a:t>
            </a:r>
            <a:r>
              <a:rPr lang="zh-CN" altLang="zh-CN" sz="2000" dirty="0">
                <a:latin typeface="微软雅黑" panose="020B0503020204020204" charset="-122"/>
                <a:ea typeface="微软雅黑" panose="020B0503020204020204" charset="-122"/>
              </a:rPr>
              <a:t>智能体核心能力协同机制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7.1.3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智能体的能力演进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972821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借助规划与工具，模型可以参与任务执</a:t>
            </a:r>
            <a:r>
              <a:rPr sz="24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行：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理解意图、拆解步骤、调用工具、运用知识，并依据执行结果调整后续操作</a:t>
            </a:r>
            <a:r>
              <a:rPr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706" y="6223381"/>
            <a:ext cx="1142610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图 </a:t>
            </a:r>
            <a:r>
              <a:rPr lang="en-US"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对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话、工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具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调用与规划执行的能力比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3091" y="6446520"/>
            <a:ext cx="535724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8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12" name="图片 11" descr="c9c30df5-0e4a-4a4c-a844-c7703db90b7d"/>
          <p:cNvPicPr>
            <a:picLocks noChangeAspect="1"/>
          </p:cNvPicPr>
          <p:nvPr/>
        </p:nvPicPr>
        <p:blipFill>
          <a:blip r:embed="rId3"/>
          <a:srcRect t="11216" b="14639"/>
          <a:stretch>
            <a:fillRect/>
          </a:stretch>
        </p:blipFill>
        <p:spPr>
          <a:xfrm>
            <a:off x="2248730" y="1932941"/>
            <a:ext cx="7763950" cy="41639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7.1.3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智能体的常见类型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表 7-1   按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主要能力划分的类型示例</a:t>
            </a:r>
            <a:endParaRPr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5127" y="1554480"/>
            <a:ext cx="182880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127" y="1644134"/>
            <a:ext cx="1828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类型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63927" y="1554480"/>
            <a:ext cx="329184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63927" y="1644134"/>
            <a:ext cx="32918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核心特征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55767" y="1554480"/>
            <a:ext cx="384048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55767" y="1644134"/>
            <a:ext cx="38404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适用场景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296247" y="1554480"/>
            <a:ext cx="256032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96247" y="1644134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主要局限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35127" y="2103120"/>
            <a:ext cx="182880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2287" y="2383572"/>
            <a:ext cx="1554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问答型</a:t>
            </a:r>
            <a:endParaRPr sz="2000" b="1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163927" y="2103120"/>
            <a:ext cx="329184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01087" y="2398960"/>
            <a:ext cx="301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解释、回答、文本生成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55767" y="2103120"/>
            <a:ext cx="384048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92927" y="2398960"/>
            <a:ext cx="35661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概念学习、文字润色、思路启发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296247" y="2103120"/>
            <a:ext cx="256032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33407" y="2260461"/>
            <a:ext cx="22860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通常缺少复杂任务执行能力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35127" y="2971800"/>
            <a:ext cx="1828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2287" y="3252251"/>
            <a:ext cx="1554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知识增强型</a:t>
            </a:r>
            <a:endParaRPr sz="2000" b="1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163927" y="2971800"/>
            <a:ext cx="3291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01087" y="3267640"/>
            <a:ext cx="301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先检索知识库再回答</a:t>
            </a:r>
            <a:r>
              <a:rPr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(RAG)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55767" y="2971800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92927" y="3267640"/>
            <a:ext cx="35661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论文问答、资料查询、教材辅助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296247" y="2971800"/>
            <a:ext cx="25603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33407" y="3267640"/>
            <a:ext cx="2286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高度依赖知识库质量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35127" y="3840480"/>
            <a:ext cx="182880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2287" y="4120931"/>
            <a:ext cx="1554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工具调用型</a:t>
            </a:r>
            <a:endParaRPr sz="2000" b="1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163927" y="3840480"/>
            <a:ext cx="329184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01087" y="4136320"/>
            <a:ext cx="301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连接并调用外部工具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55767" y="3840480"/>
            <a:ext cx="384048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92927" y="4136320"/>
            <a:ext cx="35661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数据分析、代码调试、图表、检索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296247" y="3840480"/>
            <a:ext cx="256032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33407" y="4136320"/>
            <a:ext cx="2286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需配置与维护工具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35127" y="4709160"/>
            <a:ext cx="1828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2287" y="4989611"/>
            <a:ext cx="1554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规划执行型</a:t>
            </a:r>
            <a:endParaRPr sz="2000" b="1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163927" y="4709160"/>
            <a:ext cx="3291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301087" y="4866501"/>
            <a:ext cx="301752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任务拆解、分步推进、动态调整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455767" y="4709160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92927" y="5005000"/>
            <a:ext cx="35661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开题报告、综述写作、实验设计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296247" y="4709160"/>
            <a:ext cx="25603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33407" y="5005000"/>
            <a:ext cx="2286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复杂任务仍需人工审核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57200" y="5713250"/>
            <a:ext cx="1124712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sz="24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任务选择架构：解释概念</a:t>
            </a:r>
            <a:r>
              <a:rPr sz="2400" b="1" i="0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、查询</a:t>
            </a:r>
            <a:r>
              <a:rPr sz="24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资料、处理数据和连续任务，对知识、工具与规划的要求各不相同</a:t>
            </a:r>
            <a:r>
              <a:rPr sz="2400" b="1" i="0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3091" y="6446520"/>
            <a:ext cx="535724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9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7.2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8567" y="2415440"/>
            <a:ext cx="66751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40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建立专业知识库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02336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知识库为回答提供可检索的资料。检索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增强有助于减少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无依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据的回答，但资料质量和引用对应关系仍需核查</a:t>
            </a:r>
            <a:r>
              <a:rPr sz="18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10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专业知识库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作用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19" y="960120"/>
            <a:ext cx="9519622" cy="4372150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模型回答可能缺少可靠依据</a:t>
            </a:r>
            <a:r>
              <a:rPr sz="2400" b="1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模型从训练材料中学习模式与知识关联。资料不足、存在矛盾或涉及</a:t>
            </a:r>
            <a:r>
              <a:rPr sz="22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新</a:t>
            </a:r>
            <a:r>
              <a:rPr sz="22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信息时，</a:t>
            </a:r>
            <a:r>
              <a:rPr sz="22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可能</a:t>
            </a:r>
            <a:r>
              <a:rPr sz="22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生</a:t>
            </a:r>
            <a:r>
              <a:rPr sz="22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成看似合理但没有依据的回答</a:t>
            </a:r>
            <a:r>
              <a:rPr sz="22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800" b="1" dirty="0">
              <a:solidFill>
                <a:srgbClr val="F5802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专业任务中的常见问题</a:t>
            </a:r>
            <a:r>
              <a:rPr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编造不存在的论文标题</a:t>
            </a:r>
            <a:r>
              <a:rPr sz="22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22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作者</a:t>
            </a:r>
            <a:r>
              <a:rPr sz="22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22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摘要；混淆小众术语概念</a:t>
            </a:r>
            <a:r>
              <a:rPr sz="22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7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知识库</a:t>
            </a:r>
            <a:r>
              <a:rPr sz="24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提供</a:t>
            </a:r>
            <a:r>
              <a:rPr sz="24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外部资料</a:t>
            </a:r>
            <a:r>
              <a:rPr lang="zh-CN" altLang="en-US" sz="24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sz="2400" b="1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由论文、教材、文档、实验记录组成，提供</a:t>
            </a:r>
            <a:r>
              <a:rPr sz="22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可检索、可更新、可追溯</a:t>
            </a:r>
            <a:r>
              <a:rPr sz="22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的知识来源。</a:t>
            </a:r>
            <a:r>
              <a:rPr sz="22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先检索相关内容，再基于资料生成回答</a:t>
            </a:r>
            <a:r>
              <a:rPr sz="22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1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1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专业知识库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作用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62269" y="5384164"/>
            <a:ext cx="4480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图 7-</a:t>
            </a:r>
            <a:r>
              <a:rPr lang="en-US"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大模型幻觉的两个例子</a:t>
            </a:r>
            <a:endParaRPr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1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2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12" name="图片 11" descr="ChatGPT Image May 24, 2026, 10_13_52 PM"/>
          <p:cNvPicPr>
            <a:picLocks noChangeAspect="1"/>
          </p:cNvPicPr>
          <p:nvPr/>
        </p:nvPicPr>
        <p:blipFill rotWithShape="1">
          <a:blip r:embed="rId3"/>
          <a:srcRect b="14055"/>
          <a:stretch>
            <a:fillRect/>
          </a:stretch>
        </p:blipFill>
        <p:spPr bwMode="auto">
          <a:xfrm>
            <a:off x="960120" y="1572768"/>
            <a:ext cx="10543997" cy="3182037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检索增强生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成（RAG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）的流程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" y="844034"/>
            <a:ext cx="11247120" cy="939031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模型与知识库分工：</a:t>
            </a:r>
            <a:r>
              <a:rPr sz="22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模型负责理解问题、整合信息、生成自然语言回答</a:t>
            </a:r>
            <a:r>
              <a:rPr sz="22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知识库提供可检索、可更新的外部资</a:t>
            </a:r>
            <a:r>
              <a:rPr sz="22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料，资料</a:t>
            </a:r>
            <a:r>
              <a:rPr sz="22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的准确性与适用性需要维护</a:t>
            </a:r>
            <a:r>
              <a:rPr sz="22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365" y="6189036"/>
            <a:ext cx="1219169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图 7-</a:t>
            </a:r>
            <a:r>
              <a:rPr lang="en-US"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RAG：把人能读的普通资料，转化为智能体可检索、可调用、可追溯的外部知识</a:t>
            </a:r>
            <a:endParaRPr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1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3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12" name="图片 11" descr="2561660d-8d9a-40eb-9d1a-4c6a44ff2df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215" y="1849276"/>
            <a:ext cx="7513997" cy="42735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7.2.2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知识入库与向量化检索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文档入库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、检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索与回答生成的常见流程</a:t>
            </a:r>
            <a:endParaRPr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1527439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920240"/>
            <a:ext cx="152743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1527439" cy="23774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" y="2790479"/>
            <a:ext cx="141771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文档解析</a:t>
            </a:r>
            <a:endParaRPr sz="20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1344559" cy="1249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提取文字，保留标题层级、段落、表格、图注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74911" y="2560320"/>
            <a:ext cx="146304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02927" y="1920240"/>
            <a:ext cx="1527439" cy="64008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02927" y="1920240"/>
            <a:ext cx="152743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02927" y="2560320"/>
            <a:ext cx="1527439" cy="23774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57791" y="2790480"/>
            <a:ext cx="141771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文本清洗</a:t>
            </a:r>
            <a:endParaRPr sz="20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94367" y="3291840"/>
            <a:ext cx="1344559" cy="1249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去除页眉页脚、页码、乱码、断行等干扰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12079" y="2560320"/>
            <a:ext cx="146304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40095" y="1920240"/>
            <a:ext cx="1527439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40095" y="1920240"/>
            <a:ext cx="152743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40095" y="2560320"/>
            <a:ext cx="1527439" cy="23774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94959" y="2790479"/>
            <a:ext cx="141771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内容切片</a:t>
            </a:r>
            <a:endParaRPr sz="20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31535" y="3291840"/>
            <a:ext cx="1344559" cy="1249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拆成完整语义单元，长度适中不丢上下文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49247" y="2560320"/>
            <a:ext cx="146304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77263" y="1920240"/>
            <a:ext cx="1527439" cy="64008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77263" y="1920240"/>
            <a:ext cx="152743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77263" y="2560320"/>
            <a:ext cx="1527439" cy="23774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32127" y="2790479"/>
            <a:ext cx="141771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向量化入库</a:t>
            </a:r>
            <a:endParaRPr sz="20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68703" y="3291840"/>
            <a:ext cx="1344559" cy="1249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文本语义→数字向量，连同原文与元数据入库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86415" y="2560320"/>
            <a:ext cx="146304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14431" y="1920240"/>
            <a:ext cx="1527439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14431" y="1920240"/>
            <a:ext cx="152743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14431" y="2560320"/>
            <a:ext cx="1527439" cy="23774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69295" y="2790479"/>
            <a:ext cx="141771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问题检索</a:t>
            </a:r>
            <a:endParaRPr sz="20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05871" y="3291840"/>
            <a:ext cx="1344559" cy="1249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问题转向量，按语义相似度召回相关片段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423583" y="2560320"/>
            <a:ext cx="146304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51599" y="1920240"/>
            <a:ext cx="1527439" cy="64008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51599" y="1920240"/>
            <a:ext cx="152743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51599" y="2560320"/>
            <a:ext cx="1527439" cy="23774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06463" y="2790479"/>
            <a:ext cx="141771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上下文增强</a:t>
            </a:r>
            <a:endParaRPr sz="20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643039" y="3291840"/>
            <a:ext cx="1344559" cy="1249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召回资料</a:t>
            </a:r>
            <a:r>
              <a:rPr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用户问题一起提供给大模型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60751" y="2560320"/>
            <a:ext cx="146304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88767" y="1920240"/>
            <a:ext cx="1527439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88767" y="1920240"/>
            <a:ext cx="152743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88767" y="2560320"/>
            <a:ext cx="1527439" cy="23774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243631" y="2790479"/>
            <a:ext cx="141771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答案生成</a:t>
            </a:r>
            <a:endParaRPr sz="20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280207" y="3291840"/>
            <a:ext cx="1344559" cy="930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模型"</a:t>
            </a: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带着资料作答</a:t>
            </a:r>
            <a:r>
              <a:rPr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"，</a:t>
            </a: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可标注来源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65760" y="5349240"/>
            <a:ext cx="11475720" cy="9144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5398188"/>
            <a:ext cx="10972800" cy="8165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向量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表示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可用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于检索语义相关的文本。相似度高不等于内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容正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确，还需核对原文与问题的关系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1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4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7.2.3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知识库检索的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改进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文档质量、分段方式、检索设置和模型能力都会影响回答。</a:t>
            </a:r>
            <a:endParaRPr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5602071" cy="2409444"/>
          </a:xfrm>
          <a:prstGeom prst="rect">
            <a:avLst/>
          </a:prstGeom>
          <a:solidFill>
            <a:srgbClr val="FFFFFF"/>
          </a:solidFill>
          <a:ln w="222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600200"/>
            <a:ext cx="5602071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98998"/>
            <a:ext cx="532775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 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文档质量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276856"/>
            <a:ext cx="5236311" cy="115408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准确性的起点</a:t>
            </a:r>
            <a:r>
              <a:rPr sz="22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内容清晰、格式规范、结构完整；扫描件关注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OCR 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准确度，避免重复版本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600200"/>
            <a:ext cx="5602071" cy="2409444"/>
          </a:xfrm>
          <a:prstGeom prst="rect">
            <a:avLst/>
          </a:prstGeom>
          <a:solidFill>
            <a:srgbClr val="FFFFFF"/>
          </a:solidFill>
          <a:ln w="2222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8143" y="1600200"/>
            <a:ext cx="5602071" cy="566928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15303" y="1698998"/>
            <a:ext cx="532775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 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内容组织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61023" y="2276856"/>
            <a:ext cx="5236311" cy="115408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让重点更易被找到</a:t>
            </a:r>
            <a:r>
              <a:rPr sz="22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明确标题、小节编号、知识点划分、问答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步骤格式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边界清晰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174236"/>
            <a:ext cx="5602071" cy="2199670"/>
          </a:xfrm>
          <a:prstGeom prst="rect">
            <a:avLst/>
          </a:prstGeom>
          <a:solidFill>
            <a:srgbClr val="FFFFFF"/>
          </a:solidFill>
          <a:ln w="22225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4174236"/>
            <a:ext cx="5602071" cy="566928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273034"/>
            <a:ext cx="532775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 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检索测试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4850892"/>
            <a:ext cx="5236311" cy="115408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以问答反馈优化</a:t>
            </a:r>
            <a:r>
              <a:rPr sz="22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设计典型问题测试召回是否准确、是否遗漏、是否与原文一致，再针对性调整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8143" y="4174236"/>
            <a:ext cx="5602071" cy="2199670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8143" y="4174236"/>
            <a:ext cx="5602071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15303" y="4273034"/>
            <a:ext cx="532775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④ 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持续维护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61023" y="4850892"/>
            <a:ext cx="5236311" cy="115408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让外部记忆保持可用</a:t>
            </a:r>
            <a:r>
              <a:rPr sz="22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及时删除失效资料、补充新增、保留最新版本，避免新旧混杂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1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5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7.3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487880"/>
            <a:ext cx="66751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40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调用外部工具与</a:t>
            </a:r>
            <a:r>
              <a:rPr lang="zh-CN" altLang="en-US" sz="40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MCP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02336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外部工具可提供检索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、计算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和文件处理等能力。MCP通过统一交互规范，减少工具接入中的重复适配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1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6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7.3.1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智能体如何调用外部工具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837" y="943087"/>
            <a:ext cx="9546515" cy="5540547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大模型的两点局限</a:t>
            </a:r>
            <a:r>
              <a:rPr sz="2400" b="1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内部知识有时间边界，无法保证掌握最新信息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擅长语言推理，却不适合精确计算、文件操作、数据库查询与外部系统交互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8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工具调用机制</a:t>
            </a:r>
            <a:r>
              <a:rPr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理解需求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判断是否需要外部能力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选择合适工具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传递参数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工具执行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结果回传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继续生成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推进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800" b="1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典型例子</a:t>
            </a:r>
            <a:r>
              <a:rPr sz="24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问实时数据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调用搜索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数据接口</a:t>
            </a:r>
            <a:endParaRPr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统计一批数据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调用计算工具</a:t>
            </a:r>
            <a:endParaRPr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整理文档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调用文件处理工具读取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摘要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格式化</a:t>
            </a:r>
            <a:endParaRPr sz="17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模型利用工具返回</a:t>
            </a: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的信息继续处</a:t>
            </a:r>
            <a:r>
              <a:rPr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理任</a:t>
            </a: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务，工具结果也需检查</a:t>
            </a:r>
            <a:r>
              <a:rPr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1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7.3.1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智能体如何调用外部工具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5375" y="5773648"/>
            <a:ext cx="4480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图 7-</a:t>
            </a:r>
            <a:r>
              <a:rPr lang="en-US"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智能体工具调用流程</a:t>
            </a:r>
            <a:endParaRPr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1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8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12" name="图片 11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330" y="1042416"/>
            <a:ext cx="9414650" cy="466443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7.3.2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MCP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协议的基本思想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0257" y="4285849"/>
            <a:ext cx="9777437" cy="209376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三大核心能力</a:t>
            </a:r>
            <a:r>
              <a:rPr sz="24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资源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— 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让智能体接触外部信息</a:t>
            </a:r>
            <a:endParaRPr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— 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让智能体执行具体操作</a:t>
            </a:r>
            <a:endParaRPr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提示模板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— 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帮助智能体规范地组织任务</a:t>
            </a:r>
            <a:endParaRPr sz="17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⚠ </a:t>
            </a:r>
            <a:r>
              <a:rPr sz="2400" b="1" dirty="0" err="1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越开放越需权限控制：敏感操作应保留用户确认</a:t>
            </a:r>
            <a:r>
              <a:rPr sz="2400" b="1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2400" b="1" dirty="0" err="1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人工审核</a:t>
            </a:r>
            <a:r>
              <a:rPr sz="2400" b="1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6057" y="4709230"/>
            <a:ext cx="541661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图 7</a:t>
            </a:r>
            <a:r>
              <a:rPr lang="en-US"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7  逐项适配与统一接口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的概念比较</a:t>
            </a:r>
            <a:endParaRPr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3016" y="6446520"/>
            <a:ext cx="575799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1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9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12" name="图片 11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642" y="2007691"/>
            <a:ext cx="7243014" cy="2669226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99766" y="801651"/>
            <a:ext cx="10356148" cy="1634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lang="zh-CN" altLang="en-US" sz="2400" b="1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问题：工具</a:t>
            </a:r>
            <a:r>
              <a:rPr lang="en-US" altLang="zh-CN" sz="2400" b="1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接入</a:t>
            </a:r>
            <a:r>
              <a:rPr lang="zh-CN" altLang="en-US" sz="2400" b="1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方式不一</a:t>
            </a:r>
            <a:r>
              <a:rPr lang="en-US" altLang="zh-CN" sz="2400" b="1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致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lang="zh-CN" altLang="en-US"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工具的数据格式、认证方式和接口规范可能不同。应用逐一适配工具，</a:t>
            </a:r>
            <a:r>
              <a:rPr lang="zh-CN" altLang="en-US"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会增加</a:t>
            </a:r>
            <a:r>
              <a:rPr lang="en-US" altLang="zh-CN"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开发与维</a:t>
            </a:r>
            <a:r>
              <a:rPr lang="zh-CN" altLang="en-US"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护工作。</a:t>
            </a:r>
          </a:p>
          <a:p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399766" y="2232023"/>
            <a:ext cx="4366035" cy="2215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lang="en-US" altLang="zh-CN"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MCP </a:t>
            </a:r>
            <a:r>
              <a:rPr lang="zh-CN" altLang="en-US"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的核心思想：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lang="zh-CN" altLang="en-US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MCP提供统一交互规范，使应用与工</a:t>
            </a:r>
            <a:r>
              <a:rPr lang="zh-CN" altLang="en-US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具</a:t>
            </a:r>
            <a:r>
              <a:rPr lang="en-US" altLang="zh-CN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可</a:t>
            </a:r>
            <a:r>
              <a:rPr lang="zh-CN" altLang="en-US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按共同协议连接。N×M与N</a:t>
            </a:r>
            <a:r>
              <a:rPr lang="en-US" altLang="zh-CN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是集成关系的</a:t>
            </a:r>
            <a:r>
              <a:rPr lang="en-US" altLang="zh-CN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简化示</a:t>
            </a:r>
            <a:r>
              <a:rPr lang="zh-CN" altLang="en-US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意，</a:t>
            </a:r>
            <a:r>
              <a:rPr lang="en-US" altLang="zh-CN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实际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仍需配置与维护。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7.3.3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插件扩展智能体的应用场景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1405" y="1158240"/>
            <a:ext cx="10183010" cy="446332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知识库提供资</a:t>
            </a: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料，插件</a:t>
            </a:r>
            <a:r>
              <a:rPr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连接</a:t>
            </a: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检索、计算等外部能</a:t>
            </a:r>
            <a:r>
              <a:rPr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力。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2200" b="1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四类常见插件能力</a:t>
            </a:r>
            <a:r>
              <a:rPr sz="24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sz="22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信息检索</a:t>
            </a:r>
            <a:r>
              <a:rPr sz="17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—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搜索工具、知识库接口、专业数据库，减少凭空生成</a:t>
            </a:r>
            <a:endParaRPr sz="17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sz="22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计算与分析</a:t>
            </a:r>
            <a:r>
              <a:rPr sz="17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—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计算引擎处理数据，模型解释结果，保留过程可查</a:t>
            </a:r>
            <a:endParaRPr sz="17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sz="22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文件与内容处理</a:t>
            </a:r>
            <a:r>
              <a:rPr sz="17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—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读取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PDF/Word/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表格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网页，摘要、改写、结构化输出</a:t>
            </a:r>
            <a:endParaRPr sz="17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④ </a:t>
            </a:r>
            <a:r>
              <a:rPr sz="22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外部服务与业务系统</a:t>
            </a:r>
            <a:r>
              <a:rPr sz="17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—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API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接入数据平台、项目管理、客服系统</a:t>
            </a:r>
            <a:endParaRPr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7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sz="2400" b="1" dirty="0" err="1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任务选</a:t>
            </a:r>
            <a:r>
              <a:rPr sz="2400" b="1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择</a:t>
            </a:r>
            <a:r>
              <a:rPr sz="2400" b="1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必</a:t>
            </a:r>
            <a:r>
              <a:rPr sz="2400" b="1" dirty="0" err="1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要插件</a:t>
            </a:r>
            <a:r>
              <a:rPr sz="22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，检查功能、参数与权限。</a:t>
            </a:r>
            <a:r>
              <a:rPr sz="22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插件过多可能增加</a:t>
            </a:r>
            <a:r>
              <a:rPr sz="22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选择和</a:t>
            </a:r>
            <a:r>
              <a:rPr sz="22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维护的复杂度</a:t>
            </a:r>
            <a:r>
              <a:rPr sz="22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20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7.3.3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插件扩展智能体的应用场景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29112" y="6377269"/>
            <a:ext cx="533346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图 7-</a:t>
            </a:r>
            <a:r>
              <a:rPr lang="en-US"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科研工作台视角下的多渠道工具连接</a:t>
            </a:r>
            <a:endParaRPr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21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9" name="图片 8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166" y="910828"/>
            <a:ext cx="7791170" cy="51947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7.4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07280" y="2488815"/>
            <a:ext cx="6675120" cy="598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 dirty="0">
                <a:solidFill>
                  <a:srgbClr val="333333"/>
                </a:solidFill>
                <a:latin typeface="Microsoft YaHei"/>
                <a:ea typeface="Microsoft YaHei"/>
              </a:rPr>
              <a:t>Skills </a:t>
            </a:r>
            <a:r>
              <a:rPr sz="38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与能力封装</a:t>
            </a:r>
            <a:endParaRPr sz="38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402336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206240"/>
            <a:ext cx="67665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000" b="0" i="0">
                <a:solidFill>
                  <a:srgbClr val="333333"/>
                </a:solidFill>
                <a:latin typeface="Microsoft YaHei"/>
                <a:ea typeface="Microsoft YaHei"/>
              </a:rPr>
              <a:t>Skills将常用任务的指令、步骤、参考资料和脚本组织为可复用模块，减少重复配置。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7.4.1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什么是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87552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将相似任务的执行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步骤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整理为可复用模块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223158"/>
            <a:ext cx="6621332" cy="3205421"/>
          </a:xfrm>
          <a:prstGeom prst="rect">
            <a:avLst/>
          </a:prstGeom>
          <a:noFill/>
        </p:spPr>
        <p:txBody>
          <a:bodyPr wrap="square" lIns="30000" tIns="30000" rIns="30000" bIns="3000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是什么：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封装任务能力的可复用模块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　 （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提示词模板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步骤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知识片段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脚本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）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可组合：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一个智能体加载多个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Skill，按需调用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可共享：在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兼容环境中复用，必要时调整依赖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价值：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减少重复配置，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便于维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护任务规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范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737360"/>
            <a:ext cx="4023360" cy="1965960"/>
          </a:xfrm>
          <a:prstGeom prst="rect">
            <a:avLst/>
          </a:prstGeom>
          <a:solidFill>
            <a:srgbClr val="FFFFFF"/>
          </a:solidFill>
          <a:ln w="20320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80960" y="1737360"/>
            <a:ext cx="4023360" cy="548640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0" y="173736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 Emoji"/>
                <a:ea typeface="Segoe UI Emoji"/>
              </a:rPr>
              <a:t>🔌 插件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59" y="2413988"/>
            <a:ext cx="3708699" cy="1161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连接外部功能
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如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搜索、代码执行或数据库查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3886200"/>
            <a:ext cx="4023360" cy="2331720"/>
          </a:xfrm>
          <a:prstGeom prst="rect">
            <a:avLst/>
          </a:prstGeom>
          <a:solidFill>
            <a:srgbClr val="FFFFFF"/>
          </a:solidFill>
          <a:ln w="2032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3886200"/>
            <a:ext cx="4023360" cy="5486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0" y="388620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 Emoji"/>
                <a:ea typeface="Segoe UI Emoji"/>
              </a:rPr>
              <a:t>🧩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768568"/>
            <a:ext cx="3708698" cy="1161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组织任务指令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与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配套资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源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可结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合工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具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完成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多个步骤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7.4.2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Skills的文件组成与按需加载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313" y="1042416"/>
            <a:ext cx="9464040" cy="5241620"/>
          </a:xfrm>
          <a:prstGeom prst="rect">
            <a:avLst/>
          </a:prstGeom>
          <a:noFill/>
        </p:spPr>
        <p:txBody>
          <a:bodyPr wrap="square" lIns="30000" tIns="30000" rIns="30000" bIns="30000" anchor="ctr">
            <a:spAutoFit/>
          </a:bodyPr>
          <a:lstStyle/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文件结构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　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SKILL.md（必需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）+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资源文件（可选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）+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脚本文件（可选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）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● 一</a:t>
            </a:r>
            <a:r>
              <a:rPr sz="28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种常见的分层加载方</a:t>
            </a:r>
            <a:r>
              <a:rPr sz="2800" b="1" dirty="0">
                <a:solidFill>
                  <a:srgbClr val="F58020"/>
                </a:solidFill>
                <a:latin typeface="Microsoft YaHei"/>
                <a:ea typeface="Microsoft YaHei"/>
              </a:rPr>
              <a:t>式：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　①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 发现：读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取名称与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描述，判断是否适用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　②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 加载：读取S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K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ILL.md中的任务说明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　③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执行：按需读取资源或运行脚本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24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具体加</a:t>
            </a:r>
            <a:r>
              <a:rPr sz="2400" b="1" dirty="0">
                <a:solidFill>
                  <a:srgbClr val="2E8B57"/>
                </a:solidFill>
                <a:latin typeface="Microsoft YaHei"/>
                <a:ea typeface="Microsoft YaHei"/>
              </a:rPr>
              <a:t>载方</a:t>
            </a:r>
            <a:r>
              <a:rPr sz="24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式取决</a:t>
            </a:r>
            <a:r>
              <a:rPr sz="2400" b="1" dirty="0">
                <a:solidFill>
                  <a:srgbClr val="2E8B57"/>
                </a:solidFill>
                <a:latin typeface="Microsoft YaHei"/>
                <a:ea typeface="Microsoft YaHei"/>
              </a:rPr>
              <a:t>于平</a:t>
            </a:r>
            <a:r>
              <a:rPr sz="24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台实现</a:t>
            </a:r>
            <a:endParaRPr sz="2400" b="1" dirty="0">
              <a:solidFill>
                <a:srgbClr val="2E8B57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18158-3C5B-1FBA-0326-0E3F4D38C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3D5B88-D7F4-26F5-7103-C74789CC9E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B9961EF1-6601-326D-1541-B7614A588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D8A6599-ADAC-2FA5-704B-B216544FDC97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55D0E3-26FB-F321-9A00-4604FF0062D6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7.4.2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5847C8-BF98-F2D2-9980-9BA0EA5C15BE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E8A253-FF0E-D471-1502-03951A944CB2}"/>
              </a:ext>
            </a:extLst>
          </p:cNvPr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Skills的文件组成与按需加载</a:t>
            </a:r>
          </a:p>
        </p:txBody>
      </p:sp>
      <p:pic>
        <p:nvPicPr>
          <p:cNvPr id="10" name="Picture 9" descr="image11.png">
            <a:extLst>
              <a:ext uri="{FF2B5EF4-FFF2-40B4-BE49-F238E27FC236}">
                <a16:creationId xmlns:a16="http://schemas.microsoft.com/office/drawing/2014/main" id="{D8013C32-489C-F757-DBAB-4AC3A0BDF2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90"/>
          <a:stretch>
            <a:fillRect/>
          </a:stretch>
        </p:blipFill>
        <p:spPr>
          <a:xfrm>
            <a:off x="0" y="795528"/>
            <a:ext cx="11794346" cy="606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867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7.4.3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Skills 实例：周报生成能力包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722" y="1056010"/>
            <a:ext cx="8411584" cy="5201096"/>
          </a:xfrm>
          <a:prstGeom prst="rect">
            <a:avLst/>
          </a:prstGeom>
          <a:noFill/>
        </p:spPr>
        <p:txBody>
          <a:bodyPr wrap="square" lIns="30000" tIns="30000" rIns="30000" bIns="30000" anchor="ctr">
            <a:spAutoFit/>
          </a:bodyPr>
          <a:lstStyle/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以「周报生成」为例：内容每次不同，但模式固定</a:t>
            </a:r>
            <a:endParaRPr lang="en-US" sz="24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endParaRPr sz="24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SKILL.md：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任务规范文档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　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适用场景、分类规则、内容要求与保存步骤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●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资源文件：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输出模板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　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固定结构（本学期任务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本周进度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下周计划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）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2400" b="1" dirty="0">
                <a:solidFill>
                  <a:srgbClr val="2E8B57"/>
                </a:solidFill>
                <a:latin typeface="Microsoft YaHei"/>
                <a:ea typeface="Microsoft YaHei"/>
              </a:rPr>
              <a:t>● </a:t>
            </a:r>
            <a:r>
              <a:rPr sz="24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脚本文件：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自动化操作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　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按配置命名保存，获授权后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提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交或更新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2400" b="1" dirty="0" err="1">
                <a:solidFill>
                  <a:srgbClr val="6A3D9A"/>
                </a:solidFill>
                <a:latin typeface="Microsoft YaHei"/>
                <a:ea typeface="Microsoft YaHei"/>
              </a:rPr>
              <a:t>模型组织内容，脚本执行操作；提交前检</a:t>
            </a:r>
            <a:r>
              <a:rPr sz="2400" b="1" dirty="0">
                <a:solidFill>
                  <a:srgbClr val="6A3D9A"/>
                </a:solidFill>
                <a:latin typeface="Microsoft YaHei"/>
                <a:ea typeface="Microsoft YaHei"/>
              </a:rPr>
              <a:t>查内容与</a:t>
            </a:r>
            <a:r>
              <a:rPr sz="2400" b="1" dirty="0" err="1">
                <a:solidFill>
                  <a:srgbClr val="6A3D9A"/>
                </a:solidFill>
                <a:latin typeface="Microsoft YaHei"/>
                <a:ea typeface="Microsoft YaHei"/>
              </a:rPr>
              <a:t>授权范围。</a:t>
            </a:r>
            <a:endParaRPr sz="2400" b="1" dirty="0">
              <a:solidFill>
                <a:srgbClr val="6A3D9A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250B8-46D9-49FD-AF33-E2D356F46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2D66EC-77C5-9101-B33F-85F816CA05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C41F7986-312C-8C88-7A29-75D29B6A3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9984DD2-04D0-B615-338B-C0CA9C1152FF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46E367-6B6E-2849-1DBE-CAC760CED6A4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7.4.3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8D5CB5-1144-083F-DF09-12287593C0E9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DB2903-6CF5-2E2A-F260-850069E4DA84}"/>
              </a:ext>
            </a:extLst>
          </p:cNvPr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Skills 实例：周报生成能力包</a:t>
            </a:r>
          </a:p>
        </p:txBody>
      </p:sp>
      <p:pic>
        <p:nvPicPr>
          <p:cNvPr id="10" name="Picture 9" descr="image12.png">
            <a:extLst>
              <a:ext uri="{FF2B5EF4-FFF2-40B4-BE49-F238E27FC236}">
                <a16:creationId xmlns:a16="http://schemas.microsoft.com/office/drawing/2014/main" id="{801C4418-906B-DA86-ACD8-BF2C8285E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720" y="822959"/>
            <a:ext cx="9052560" cy="603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293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 dirty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7.</a:t>
            </a:r>
            <a:r>
              <a:rPr lang="en-US" sz="15000" b="1" i="0" dirty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5</a:t>
            </a:r>
            <a:endParaRPr sz="15000" b="1" i="0" dirty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98567" y="2468880"/>
            <a:ext cx="66751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40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工作流设计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02336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工作流规定任务步骤、输入输出与分支条件，便于检查执行过程并定位问题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28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7.5.1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用工作流组织任务步骤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4271" y="1060811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将任务拆为目标清楚、输入输出明确的节点</a:t>
            </a:r>
            <a:endParaRPr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2755315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920240"/>
            <a:ext cx="275531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2755315" cy="23774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" y="2759702"/>
            <a:ext cx="2645587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任务理解</a:t>
            </a:r>
            <a:endParaRPr sz="24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3300427"/>
            <a:ext cx="2572435" cy="1034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把模糊需求转为清晰任务（主题、范围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年限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目标</a:t>
            </a:r>
            <a:r>
              <a:rPr sz="13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2787" y="2560320"/>
            <a:ext cx="146304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0803" y="1920240"/>
            <a:ext cx="2755315" cy="64008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30803" y="1920240"/>
            <a:ext cx="275531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0803" y="2560320"/>
            <a:ext cx="2755315" cy="23774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85667" y="2759702"/>
            <a:ext cx="2645587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资料检索</a:t>
            </a:r>
            <a:endParaRPr sz="24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22243" y="3291840"/>
            <a:ext cx="2572435" cy="1034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调用文献数据库获取证据按年份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期刊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主题聚类过滤</a:t>
            </a:r>
            <a:endParaRPr sz="2000"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67831" y="2560320"/>
            <a:ext cx="146304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5847" y="1920240"/>
            <a:ext cx="2755315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5847" y="1920240"/>
            <a:ext cx="275531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2560320"/>
            <a:ext cx="2755315" cy="23774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50711" y="2759702"/>
            <a:ext cx="2645587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分析计算</a:t>
            </a:r>
            <a:endParaRPr sz="24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87287" y="3328416"/>
            <a:ext cx="2572435" cy="680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调Python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/R/MATLAB
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做统计分析与模型运行</a:t>
            </a:r>
            <a:endParaRPr sz="2000"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32875" y="2560320"/>
            <a:ext cx="146304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0891" y="1920240"/>
            <a:ext cx="2755315" cy="64008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0891" y="1920240"/>
            <a:ext cx="275531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0891" y="2560320"/>
            <a:ext cx="2755315" cy="23774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15755" y="2759702"/>
            <a:ext cx="2645587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结果生成</a:t>
            </a:r>
            <a:endParaRPr sz="24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052331" y="3291840"/>
            <a:ext cx="2572435" cy="1034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整理成摘要、报告、图表并检查后形成可交付成果</a:t>
            </a:r>
            <a:endParaRPr sz="2000"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11475720" cy="9144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398188"/>
            <a:ext cx="10972800" cy="8165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作流描述可检查的执行步骤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，不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等同于模型内部的思考过程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29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7.5.2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可视化编排中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的节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点与连接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723" y="1533870"/>
            <a:ext cx="5415336" cy="4972121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输入主题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文献检索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论文筛选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精读摘要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 →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整理证据矩阵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生成初稿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人工审阅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每个节点都有明确职责，可检查、可修改、可复用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7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连接</a:t>
            </a:r>
            <a:r>
              <a:rPr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= "</a:t>
            </a: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如何协同</a:t>
            </a:r>
            <a:r>
              <a:rPr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箭头不只代表"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下一步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"，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还包含三层含义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执行顺序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—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前后依赖，不能随意跳步</a:t>
            </a:r>
            <a:endParaRPr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数据传递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—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前节点输出成为后节点输入</a:t>
            </a:r>
            <a:endParaRPr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控制关系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—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智能体逻辑判断与任务调度的依据</a:t>
            </a:r>
            <a:endParaRPr sz="17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清晰</a:t>
            </a: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的节点与连接便于检查数据传递、</a:t>
            </a: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定位错误和调整流程</a:t>
            </a:r>
            <a:r>
              <a:rPr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7775" y="5756871"/>
            <a:ext cx="495565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图 7-</a:t>
            </a:r>
            <a:r>
              <a:rPr lang="en-US"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智能体工作流中的节点与连接逻辑</a:t>
            </a:r>
            <a:endParaRPr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3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0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653" y="1766710"/>
            <a:ext cx="6196162" cy="3487262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08049" y="907910"/>
            <a:ext cx="10355785" cy="856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点规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各步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骤的职责。以文献综述为例：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7.5.3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处理复杂科研任务的逻辑判断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表 7-2  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科研智能体中的条件分支与循环机制</a:t>
            </a:r>
            <a:endParaRPr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8007" y="1554480"/>
            <a:ext cx="201168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8007" y="1613357"/>
            <a:ext cx="20116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机制</a:t>
            </a:r>
            <a:endParaRPr sz="28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29687" y="1554480"/>
            <a:ext cx="402336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29687" y="1613357"/>
            <a:ext cx="402336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作用</a:t>
            </a:r>
            <a:endParaRPr sz="28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53047" y="1554480"/>
            <a:ext cx="512064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3047" y="1613357"/>
            <a:ext cx="51206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科研示例</a:t>
            </a:r>
            <a:endParaRPr sz="28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8007" y="2103120"/>
            <a:ext cx="2011680" cy="10058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167" y="2421374"/>
            <a:ext cx="17373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条件分支</a:t>
            </a:r>
            <a:endParaRPr sz="2400" b="1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29687" y="2103120"/>
            <a:ext cx="4023360" cy="10058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66847" y="2298265"/>
            <a:ext cx="37490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满足条件进入下一步，否则切换到另一路径</a:t>
            </a:r>
            <a:endParaRPr sz="2000"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53047" y="2103120"/>
            <a:ext cx="5120640" cy="10058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90207" y="2298265"/>
            <a:ext cx="48463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综述内容能对应真实文献→润色；找不到证据→回到证据矩阵复查</a:t>
            </a:r>
            <a:endParaRPr sz="2000"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8007" y="310896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167" y="3427214"/>
            <a:ext cx="17373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循环机制</a:t>
            </a:r>
            <a:endParaRPr sz="2400" b="1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529687" y="310896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66847" y="3304103"/>
            <a:ext cx="37490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结果不达标时返回前置节点反复修正</a:t>
            </a:r>
            <a:endParaRPr sz="2000"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53047" y="3108960"/>
            <a:ext cx="5120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90207" y="3304105"/>
            <a:ext cx="48463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文献检索不足→重新检索，直到满足条件或达到停止上限</a:t>
            </a:r>
            <a:endParaRPr sz="2000"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18007" y="4114800"/>
            <a:ext cx="2011680" cy="10058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5167" y="4433054"/>
            <a:ext cx="17373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停止条件</a:t>
            </a:r>
            <a:endParaRPr sz="2400" b="1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529687" y="4114800"/>
            <a:ext cx="4023360" cy="10058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66847" y="4463831"/>
            <a:ext cx="37490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防止任务无限重复，保证可终止</a:t>
            </a:r>
            <a:endParaRPr sz="2000"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553047" y="4114800"/>
            <a:ext cx="5120640" cy="10058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90207" y="4309943"/>
            <a:ext cx="48463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设定最大循环次数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收敛阈值，避免陷入死循环</a:t>
            </a:r>
            <a:endParaRPr sz="2000"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" y="5458182"/>
            <a:ext cx="1124712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sz="24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支与循环用于处理不同结果，并应设置停止条件，避免无效重复</a:t>
            </a:r>
            <a:r>
              <a:rPr sz="2400" b="1" i="0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3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1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 dirty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7.</a:t>
            </a:r>
            <a:r>
              <a:rPr lang="en-US" sz="15000" b="1" i="0" dirty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6</a:t>
            </a:r>
            <a:endParaRPr sz="15000" b="1" i="0" dirty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0" y="2613386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多智能体协作</a:t>
            </a:r>
            <a:endParaRPr sz="3800" b="1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02336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多个智能体可按角色分工处理复杂任务。协作效果取决于任务划分、信息传递和结果核查，也会增加成本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3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2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7.6.1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多智能体的协作模式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" y="910943"/>
            <a:ext cx="11247120" cy="135965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主从式</a:t>
            </a:r>
            <a:r>
              <a:rPr sz="17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主智能体分配任务并汇总结果，需关注调度错误对整体的影响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对等式</a:t>
            </a:r>
            <a:r>
              <a:rPr sz="17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各智能体交换意见并相互检查，需控制通信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成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本与重复讨论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投票机制</a:t>
            </a:r>
            <a:r>
              <a:rPr sz="17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汇总多个独立回答，但多数一致仍可能重复同一错误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7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71718" y="6085780"/>
            <a:ext cx="1219169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图 </a:t>
            </a:r>
            <a:r>
              <a:rPr lang="en-US"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-1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主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式、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对等式与投票机制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3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3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18269" b="17845"/>
          <a:stretch>
            <a:fillRect/>
          </a:stretch>
        </p:blipFill>
        <p:spPr>
          <a:xfrm>
            <a:off x="803705" y="2374930"/>
            <a:ext cx="10584284" cy="3692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7.6.2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多智能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体的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意见分歧与通信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214" y="952835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角色设置、输入资料或生成差异，都可能导致不同答案。</a:t>
            </a:r>
            <a:endParaRPr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5602071" cy="2409444"/>
          </a:xfrm>
          <a:prstGeom prst="rect">
            <a:avLst/>
          </a:prstGeom>
          <a:solidFill>
            <a:srgbClr val="FFFFFF"/>
          </a:solidFill>
          <a:ln w="222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600200"/>
            <a:ext cx="5602071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98998"/>
            <a:ext cx="532775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 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投票机制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276856"/>
            <a:ext cx="5236311" cy="1192561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少数服从多数</a:t>
            </a:r>
            <a:r>
              <a:rPr sz="22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≥3 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个智能体各自作答，系统采纳得票最多者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需核对证据，避免忽略有依据的少数意见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600200"/>
            <a:ext cx="5602071" cy="2409444"/>
          </a:xfrm>
          <a:prstGeom prst="rect">
            <a:avLst/>
          </a:prstGeom>
          <a:solidFill>
            <a:srgbClr val="FFFFFF"/>
          </a:solidFill>
          <a:ln w="2222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8143" y="1600200"/>
            <a:ext cx="5602071" cy="566928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15303" y="1698998"/>
            <a:ext cx="532775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 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仲裁者模式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61023" y="2276856"/>
            <a:ext cx="5236311" cy="1224813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指定专门裁决者</a:t>
            </a:r>
            <a:r>
              <a:rPr sz="22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由指定智能体按规则比较各方依据并提出结论，重要分歧仍需人工核查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174236"/>
            <a:ext cx="5602071" cy="2272284"/>
          </a:xfrm>
          <a:prstGeom prst="rect">
            <a:avLst/>
          </a:prstGeom>
          <a:solidFill>
            <a:srgbClr val="FFFFFF"/>
          </a:solidFill>
          <a:ln w="22225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4174236"/>
            <a:ext cx="5602071" cy="566928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273034"/>
            <a:ext cx="532775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 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不确定性评估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59" y="4850892"/>
            <a:ext cx="5419191" cy="1224813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说明依据与待确认事项</a:t>
            </a:r>
            <a:r>
              <a:rPr sz="22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模型自报的置信度未必经过校准，不能仅凭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分数选答案。应结合证据和测试判断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8143" y="4174236"/>
            <a:ext cx="5602071" cy="2272284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8143" y="4174236"/>
            <a:ext cx="5602071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15303" y="4273034"/>
            <a:ext cx="532775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✦ 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通信协议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61023" y="4850892"/>
            <a:ext cx="5236311" cy="1594145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统一多智能体的"语言</a:t>
            </a:r>
            <a:r>
              <a:rPr sz="22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"：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JSON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标准化消息格式，统一字段规范避免解析失败；黑板模式：共享存储空间，读写解耦、按需触发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3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4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 dirty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7.</a:t>
            </a:r>
            <a:r>
              <a:rPr lang="en-US" sz="15000" b="1" i="0" dirty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7</a:t>
            </a:r>
            <a:endParaRPr sz="15000" b="1" i="0" dirty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98567" y="2594386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智能体构建实</a:t>
            </a:r>
            <a:r>
              <a:rPr sz="3800" b="1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践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02336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通过智能客服、科研文献问答和技能包配置三个案例，练习知识库、工具与任务流程的组合使用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03509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3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5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智能客服智能体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构建要点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9991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以教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材中的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oze界面为例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，结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合知识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库与处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理流程</a:t>
            </a:r>
            <a:endParaRPr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5602071" cy="2409444"/>
          </a:xfrm>
          <a:prstGeom prst="rect">
            <a:avLst/>
          </a:prstGeom>
          <a:solidFill>
            <a:srgbClr val="FFFFFF"/>
          </a:solidFill>
          <a:ln w="222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600200"/>
            <a:ext cx="5602071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98998"/>
            <a:ext cx="532775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 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角色与技能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276856"/>
            <a:ext cx="5236311" cy="1261747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身份+职责+回复风格</a:t>
            </a:r>
            <a:r>
              <a:rPr sz="24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电商平台智能客服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"，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问题分类→优先检索知识库→基于召回回答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600200"/>
            <a:ext cx="5602071" cy="2409444"/>
          </a:xfrm>
          <a:prstGeom prst="rect">
            <a:avLst/>
          </a:prstGeom>
          <a:solidFill>
            <a:srgbClr val="FFFFFF"/>
          </a:solidFill>
          <a:ln w="2222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8143" y="1600200"/>
            <a:ext cx="5602071" cy="566928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15303" y="1698998"/>
            <a:ext cx="532775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 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安全限制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61023" y="2276856"/>
            <a:ext cx="5236311" cy="1261747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守住客服边界</a:t>
            </a:r>
            <a:r>
              <a:rPr sz="24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不编造规则</a:t>
            </a:r>
            <a:r>
              <a:rPr sz="2000" b="0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2000" b="0" dirty="0" err="1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订单状态；不索要密码、验证码、银行卡密码</a:t>
            </a:r>
            <a:r>
              <a:rPr sz="2000" b="0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174236"/>
            <a:ext cx="5602071" cy="2272284"/>
          </a:xfrm>
          <a:prstGeom prst="rect">
            <a:avLst/>
          </a:prstGeom>
          <a:solidFill>
            <a:srgbClr val="FFFFFF"/>
          </a:solidFill>
          <a:ln w="22225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4174236"/>
            <a:ext cx="5602071" cy="566928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273034"/>
            <a:ext cx="532775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 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处理流程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1" y="4906742"/>
            <a:ext cx="5172302" cy="78007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用户输入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问题判断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 →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知识库检索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答案生成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转人工提示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4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78143" y="4174236"/>
            <a:ext cx="5602071" cy="2272284"/>
          </a:xfrm>
          <a:prstGeom prst="rect">
            <a:avLst/>
          </a:prstGeom>
          <a:solidFill>
            <a:srgbClr val="FFFFFF"/>
          </a:solidFill>
          <a:ln w="222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8143" y="4174236"/>
            <a:ext cx="5602071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15303" y="4273034"/>
            <a:ext cx="532775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④ 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输出格式与依据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61023" y="4850892"/>
            <a:ext cx="5236311" cy="1261747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结构化输出</a:t>
            </a:r>
            <a:r>
              <a:rPr sz="24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问题类型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原因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建议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依据与待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确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认事项；证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据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不足或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需处理具体订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单时转人工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36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智能客服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撰写功能性提示词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0060" y="855253"/>
            <a:ext cx="6583680" cy="5592163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提示词内容：角</a:t>
            </a:r>
            <a:r>
              <a:rPr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色、</a:t>
            </a: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流程、</a:t>
            </a:r>
            <a:r>
              <a:rPr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限制</a:t>
            </a: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输出格</a:t>
            </a: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式</a:t>
            </a:r>
            <a:endParaRPr sz="2400" b="1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2000" b="1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角色（身份+职责+风格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Consolas" panose="020B0609020204030204"/>
                <a:ea typeface="Consolas" panose="020B0609020204030204"/>
              </a:rPr>
              <a:t>"</a:t>
            </a:r>
            <a:r>
              <a:rPr sz="2000" b="0" dirty="0" err="1">
                <a:solidFill>
                  <a:srgbClr val="333333"/>
                </a:solidFill>
                <a:latin typeface="Consolas" panose="020B0609020204030204"/>
                <a:ea typeface="Consolas" panose="020B0609020204030204"/>
              </a:rPr>
              <a:t>你是电商平台智能客服助手，负责产品咨询、订单、退款售后</a:t>
            </a:r>
            <a:r>
              <a:rPr sz="2000" b="0" dirty="0">
                <a:solidFill>
                  <a:srgbClr val="333333"/>
                </a:solidFill>
                <a:latin typeface="Consolas" panose="020B0609020204030204"/>
                <a:ea typeface="Consolas" panose="020B0609020204030204"/>
              </a:rPr>
              <a:t>…</a:t>
            </a:r>
            <a:r>
              <a:rPr sz="2000" b="0" dirty="0" err="1">
                <a:solidFill>
                  <a:srgbClr val="333333"/>
                </a:solidFill>
                <a:latin typeface="Consolas" panose="020B0609020204030204"/>
                <a:ea typeface="Consolas" panose="020B0609020204030204"/>
              </a:rPr>
              <a:t>优先检索知识库，礼貌准确回答</a:t>
            </a:r>
            <a:r>
              <a:rPr sz="2000" b="0" dirty="0">
                <a:solidFill>
                  <a:srgbClr val="333333"/>
                </a:solidFill>
                <a:latin typeface="Consolas" panose="020B0609020204030204"/>
                <a:ea typeface="Consolas" panose="020B0609020204030204"/>
              </a:rPr>
              <a:t>。"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工作流程（问题分类→检索→依据回答→转人工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判断类型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优先检索知识库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有则据库回答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→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无则不编造、引导补充信息或转人工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限制（安全边界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 err="1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不编造平台规则</a:t>
            </a:r>
            <a:r>
              <a:rPr sz="2000" b="0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2000" b="0" dirty="0" err="1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订单状态；不索要密码、验证码、银行卡密码等敏感信息</a:t>
            </a:r>
            <a:r>
              <a:rPr sz="2000" b="0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④ 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输出</a:t>
            </a:r>
            <a:r>
              <a:rPr sz="20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格式</a:t>
            </a: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与依据</a:t>
            </a:r>
            <a:endParaRPr sz="2000" b="1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列出问题类型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建议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来源和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待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确认事项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证据不足时补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充信息或转人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工，不依赖自评分数判断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7462" y="6512284"/>
            <a:ext cx="4023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图 7-1</a:t>
            </a:r>
            <a:r>
              <a:rPr lang="en-US"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智能体提示词编排页面</a:t>
            </a:r>
            <a:endParaRPr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37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208" y="844034"/>
            <a:ext cx="4177082" cy="55879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智能客服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Coze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①：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创建智能体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登录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Coze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新建智能体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填写名称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功能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图标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编排提示词</a:t>
            </a:r>
            <a:endParaRPr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54209" y="3429000"/>
            <a:ext cx="3604391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7-1</a:t>
            </a:r>
            <a:r>
              <a:rPr lang="en-US" sz="20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Coze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主页（左上角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"+"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创建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016752"/>
            <a:ext cx="11475720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115550"/>
            <a:ext cx="111099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先明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确身份与服务对象，再测试典型问题。以下为教材界面示例，实际入口可能变化</a:t>
            </a:r>
            <a:r>
              <a:rPr sz="15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38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272" y="1365123"/>
            <a:ext cx="2871453" cy="4600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智能客服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Coze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①：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创建智能体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40479" y="3518986"/>
            <a:ext cx="435026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7-1</a:t>
            </a:r>
            <a:r>
              <a:rPr lang="en-US" sz="2000" dirty="0"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创建智能体窗口页面</a:t>
            </a:r>
            <a:endParaRPr sz="200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39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9837" y="894285"/>
            <a:ext cx="4553495" cy="58466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智能客服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Coze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①：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创建智能体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56189" y="3433093"/>
            <a:ext cx="562950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7-1</a:t>
            </a:r>
            <a:r>
              <a:rPr lang="en-US" sz="2000" dirty="0"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en-US"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2000" b="0" i="0" dirty="0">
                <a:latin typeface="微软雅黑" panose="020B0503020204020204" charset="-122"/>
                <a:ea typeface="微软雅黑" panose="020B0503020204020204" charset="-122"/>
              </a:rPr>
              <a:t>编排提示词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页面</a:t>
            </a:r>
            <a:endParaRPr sz="200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40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961" y="849171"/>
            <a:ext cx="4459771" cy="59661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智能客服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Coze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②：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导入与配置插件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为智能体补充搜索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查询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计算等外部能力，并设置插件参数</a:t>
            </a:r>
            <a:endParaRPr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139061" y="3079999"/>
            <a:ext cx="1869754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7-1</a:t>
            </a:r>
            <a:r>
              <a:rPr lang="en-US" sz="2000" dirty="0"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添加插件页面</a:t>
            </a:r>
            <a:endParaRPr sz="200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5760" y="6126780"/>
            <a:ext cx="11475720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7573" y="6225578"/>
            <a:ext cx="111099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✦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插件按任务目标选择必要项即可，不必盲目堆叠；配置应服务于任务本身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41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585" y="1370480"/>
            <a:ext cx="7931789" cy="46501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智能客服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Coze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②：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导入与配置插件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43112" y="3648692"/>
            <a:ext cx="3685946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7-1</a:t>
            </a:r>
            <a:r>
              <a:rPr lang="en-US" sz="2000" dirty="0"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插件参数编辑页面</a:t>
            </a:r>
            <a:endParaRPr sz="200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42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016" y="937622"/>
            <a:ext cx="7264096" cy="49827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智能客服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Coze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②：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导入与配置插件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34867" y="5410491"/>
            <a:ext cx="3685946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7-1</a:t>
            </a:r>
            <a:r>
              <a:rPr lang="en-US" sz="2000" dirty="0"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编辑插件参数页面</a:t>
            </a:r>
            <a:endParaRPr sz="200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43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95" y="959154"/>
            <a:ext cx="11640804" cy="39693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2743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智能客服 · Coze 操作③：对话体验与发布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设置开场白、引导问题和音色，测试后再发布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3769" y="6377269"/>
            <a:ext cx="562950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</a:t>
            </a:r>
            <a:r>
              <a:rPr lang="en-US" sz="2000" dirty="0"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智能体开场白页面</a:t>
            </a:r>
            <a:endParaRPr sz="200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44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5" y="1405693"/>
            <a:ext cx="7871449" cy="4492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2743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智能客服 · Coze 操作③：对话体验与发布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设置开场白、引导问题和音色，测试后再发布</a:t>
            </a:r>
            <a:endParaRPr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63088" y="6429791"/>
            <a:ext cx="562950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</a:t>
            </a:r>
            <a:r>
              <a:rPr lang="en-US" sz="2000" dirty="0">
                <a:latin typeface="微软雅黑" panose="020B0503020204020204" charset="-122"/>
                <a:ea typeface="微软雅黑" panose="020B0503020204020204" charset="-122"/>
              </a:rPr>
              <a:t>21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自定义提示词页面</a:t>
            </a:r>
            <a:endParaRPr sz="200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4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5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43" y="1417320"/>
            <a:ext cx="10050913" cy="47161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2743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智能客服 · Coze 操作③：对话体验与发布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设置开场白、引导问题和音色，测试后再发布</a:t>
            </a:r>
            <a:endParaRPr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11728" y="6500380"/>
            <a:ext cx="562950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</a:t>
            </a:r>
            <a:r>
              <a:rPr lang="en-US" sz="2000" dirty="0">
                <a:latin typeface="微软雅黑" panose="020B0503020204020204" charset="-122"/>
                <a:ea typeface="微软雅黑" panose="020B0503020204020204" charset="-122"/>
              </a:rPr>
              <a:t>22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选择语言和音色页面</a:t>
            </a:r>
            <a:endParaRPr sz="200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46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911" y="1417320"/>
            <a:ext cx="6855320" cy="50698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2743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智能客服 · Coze 操作③：对话体验与发布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设置开场白、引导问题和音色，测试后再发布</a:t>
            </a:r>
            <a:endParaRPr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02403" y="3886867"/>
            <a:ext cx="562950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</a:t>
            </a:r>
            <a:r>
              <a:rPr lang="en-US" sz="2000" b="0" i="0" dirty="0">
                <a:latin typeface="微软雅黑" panose="020B0503020204020204" charset="-122"/>
                <a:ea typeface="微软雅黑" panose="020B0503020204020204" charset="-122"/>
              </a:rPr>
              <a:t>23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智能体发布页面</a:t>
            </a:r>
            <a:endParaRPr sz="200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47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54" y="1299296"/>
            <a:ext cx="7477231" cy="54829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智能客服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知识库增强回答示例（RAG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" y="934579"/>
            <a:ext cx="6583680" cy="5579532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示例问题</a:t>
            </a:r>
            <a:r>
              <a:rPr sz="2400" b="1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sz="22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我已申请退款三天了，为什么还没到账</a:t>
            </a:r>
            <a:r>
              <a:rPr sz="22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？"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6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处理逻辑（先检索，后回答</a:t>
            </a:r>
            <a:r>
              <a:rPr sz="24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）：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判断类型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退款售后</a:t>
            </a:r>
            <a:endParaRPr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检索：退款到账规则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审核流程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各支付方式</a:t>
            </a:r>
            <a:endParaRPr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基于召回内容生成结构化回答</a:t>
            </a:r>
            <a:endParaRPr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④ 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无法查具体订单</a:t>
            </a:r>
            <a:r>
              <a:rPr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提示订单号或转人工</a:t>
            </a:r>
            <a:endParaRPr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5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结构化输出（节选</a:t>
            </a:r>
            <a:r>
              <a:rPr sz="2400" b="1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）：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dirty="0" err="1">
                <a:solidFill>
                  <a:srgbClr val="0066CC"/>
                </a:solidFill>
                <a:latin typeface="Consolas" panose="020B0609020204030204"/>
                <a:ea typeface="Consolas" panose="020B0609020204030204"/>
              </a:rPr>
              <a:t>证据充分性：一般</a:t>
            </a:r>
            <a:r>
              <a:rPr sz="2000" b="1" dirty="0">
                <a:solidFill>
                  <a:srgbClr val="0066CC"/>
                </a:solidFill>
                <a:latin typeface="Consolas" panose="020B0609020204030204"/>
                <a:ea typeface="Consolas" panose="020B0609020204030204"/>
              </a:rPr>
              <a:t>；具体订单状态尚待查询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500" b="1" dirty="0">
              <a:solidFill>
                <a:srgbClr val="0066CC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b="1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模型自评仅供参</a:t>
            </a:r>
            <a:r>
              <a:rPr b="1" dirty="0" err="1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考，不能</a:t>
            </a:r>
            <a:r>
              <a:rPr b="1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直</a:t>
            </a:r>
            <a:r>
              <a:rPr b="1" dirty="0" err="1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接当作正确概率</a:t>
            </a:r>
            <a:r>
              <a:rPr b="1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b="1" dirty="0">
              <a:solidFill>
                <a:srgbClr val="F5802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b="1" dirty="0" err="1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应检查资料是否支持结论，以及是否需要转人工</a:t>
            </a:r>
            <a:r>
              <a:rPr b="1" dirty="0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9615" y="5962889"/>
            <a:ext cx="4572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图 7-2</a:t>
            </a:r>
            <a:r>
              <a:rPr lang="en-US"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知识库增强客服回答效果示例</a:t>
            </a:r>
            <a:endParaRPr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48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843148"/>
            <a:ext cx="5973775" cy="5054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科研文献问答智能体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搭建全流程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基于文献回答并标注来源，再核查回答与原文是否一致</a:t>
            </a:r>
            <a:endParaRPr sz="28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1800301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920240"/>
            <a:ext cx="1800301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1800301" cy="23774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" y="2775091"/>
            <a:ext cx="1690573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创建知识库</a:t>
            </a:r>
            <a:endParaRPr sz="22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1617421" cy="930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上传文</a:t>
            </a:r>
            <a:r>
              <a:rPr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献</a:t>
            </a: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笔</a:t>
            </a: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记
按结</a:t>
            </a:r>
            <a:r>
              <a:rPr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构测试分段长度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7773" y="2560320"/>
            <a:ext cx="146304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75789" y="1920240"/>
            <a:ext cx="1800301" cy="64008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75789" y="1920240"/>
            <a:ext cx="1800301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75789" y="2560320"/>
            <a:ext cx="1800301" cy="23774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30653" y="2775091"/>
            <a:ext cx="1690573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撰写提示词</a:t>
            </a:r>
            <a:endParaRPr sz="22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67229" y="3291840"/>
            <a:ext cx="1617421" cy="930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科研助手角色</a:t>
            </a:r>
            <a:r>
              <a:rPr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
</a:t>
            </a: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检索+溯源+拒绝编造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57802" y="2560320"/>
            <a:ext cx="146304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85818" y="1920240"/>
            <a:ext cx="1800301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85818" y="1920240"/>
            <a:ext cx="1800301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85818" y="2560320"/>
            <a:ext cx="1800301" cy="23774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40682" y="2775091"/>
            <a:ext cx="1690573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创建智能体</a:t>
            </a:r>
            <a:endParaRPr sz="22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77258" y="3291840"/>
            <a:ext cx="1617421" cy="930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填写名称与功能</a:t>
            </a:r>
            <a:r>
              <a:rPr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
</a:t>
            </a: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编辑人设与回复逻辑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67831" y="2560320"/>
            <a:ext cx="146304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5847" y="1920240"/>
            <a:ext cx="1800301" cy="64008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95847" y="1920240"/>
            <a:ext cx="1800301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5847" y="2560320"/>
            <a:ext cx="1800301" cy="23774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50711" y="2775091"/>
            <a:ext cx="1690573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挂载知识库</a:t>
            </a:r>
            <a:endParaRPr sz="22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87287" y="3291840"/>
            <a:ext cx="1617421" cy="930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绑定文</a:t>
            </a:r>
            <a:r>
              <a:rPr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献</a:t>
            </a: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库</a:t>
            </a:r>
            <a:r>
              <a:rPr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
测试召回数量与阈值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77860" y="2560320"/>
            <a:ext cx="146304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5876" y="1920240"/>
            <a:ext cx="1800301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05876" y="1920240"/>
            <a:ext cx="1800301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5876" y="2560320"/>
            <a:ext cx="1800301" cy="23774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60740" y="2775091"/>
            <a:ext cx="1690573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优化体验</a:t>
            </a:r>
            <a:endParaRPr sz="22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97316" y="3291840"/>
            <a:ext cx="1617421" cy="612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设置开场白</a:t>
            </a:r>
            <a:r>
              <a:rPr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
</a:t>
            </a: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与引导问题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787889" y="2560320"/>
            <a:ext cx="146304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15905" y="1920240"/>
            <a:ext cx="1800301" cy="64008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915905" y="1920240"/>
            <a:ext cx="1800301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15905" y="2560320"/>
            <a:ext cx="1800301" cy="237744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970769" y="2775091"/>
            <a:ext cx="1690573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预览调试</a:t>
            </a:r>
            <a:endParaRPr sz="22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007345" y="3291840"/>
            <a:ext cx="1617421" cy="930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测库内问题</a:t>
            </a:r>
            <a:r>
              <a:rPr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库外问题</a:t>
            </a:r>
            <a:r>
              <a:rPr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
</a:t>
            </a:r>
            <a:r>
              <a:rPr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确认拒绝编造</a:t>
            </a:r>
            <a:endParaRPr b="0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65760" y="5349240"/>
            <a:ext cx="11475720" cy="9144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5398188"/>
            <a:ext cx="10972800" cy="8165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✦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双测试法：库内问题→检查是否基于召回片段作答并标注来源；库外问题→检查是否拒绝编造、提示补充文献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49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科研文献问答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Coze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①：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创建知识库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资源库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创建知识库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上传文献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文档分段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数据处理</a:t>
            </a:r>
            <a:endParaRPr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17285" y="3010151"/>
            <a:ext cx="2477259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7-2</a:t>
            </a:r>
            <a:r>
              <a:rPr lang="en-US" sz="2000" dirty="0"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选择本地文档导入知识库</a:t>
            </a:r>
            <a:endParaRPr sz="200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5760" y="6016752"/>
            <a:ext cx="11475720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6109" y="6167735"/>
            <a:ext cx="1139982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分段参数可先尝试500—800字符、重叠50—100字符，再</a:t>
            </a:r>
            <a:r>
              <a:rPr sz="20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根据文档</a:t>
            </a:r>
            <a:r>
              <a:rPr sz="20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结构和检索测试</a:t>
            </a:r>
            <a:r>
              <a:rPr sz="20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调</a:t>
            </a:r>
            <a:r>
              <a:rPr sz="20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整。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50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679" y="1397972"/>
            <a:ext cx="6494271" cy="460448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科研文献问答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Coze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①：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创建知识库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资源库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创建知识库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上传文献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文档分段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数据处理</a:t>
            </a:r>
            <a:endParaRPr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82521" y="6332219"/>
            <a:ext cx="562950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</a:t>
            </a:r>
            <a:r>
              <a:rPr lang="en-US" sz="2000" b="0" i="0" dirty="0">
                <a:latin typeface="微软雅黑" panose="020B0503020204020204" charset="-122"/>
                <a:ea typeface="微软雅黑" panose="020B0503020204020204" charset="-122"/>
              </a:rPr>
              <a:t>26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上传科研文献资料页面</a:t>
            </a:r>
            <a:endParaRPr sz="200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51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l="35771" t="5074" r="34631" b="70341"/>
          <a:stretch>
            <a:fillRect/>
          </a:stretch>
        </p:blipFill>
        <p:spPr>
          <a:xfrm>
            <a:off x="2062534" y="1946866"/>
            <a:ext cx="8837881" cy="3920236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科研文献问答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Coze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①：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创建知识库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资源库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创建知识库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上传文献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文档分段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数据处理</a:t>
            </a:r>
            <a:endParaRPr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416216" y="3649227"/>
            <a:ext cx="2285463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</a:t>
            </a:r>
            <a:r>
              <a:rPr lang="en-US" sz="2000" b="0" i="0" dirty="0">
                <a:latin typeface="微软雅黑" panose="020B0503020204020204" charset="-122"/>
                <a:ea typeface="微软雅黑" panose="020B0503020204020204" charset="-122"/>
              </a:rPr>
              <a:t>27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知识库文档分段设置页面</a:t>
            </a:r>
            <a:endParaRPr sz="200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52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38831" r="78118" b="26809"/>
          <a:stretch>
            <a:fillRect/>
          </a:stretch>
        </p:blipFill>
        <p:spPr>
          <a:xfrm>
            <a:off x="3180511" y="1512331"/>
            <a:ext cx="6235705" cy="5168087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科研文献问答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Coze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①：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创建知识库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资源库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创建知识库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上传文献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文档分段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数据处理</a:t>
            </a:r>
            <a:endParaRPr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37850" y="3444717"/>
            <a:ext cx="2970966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</a:t>
            </a:r>
            <a:r>
              <a:rPr lang="en-US" sz="2000" b="0" i="0" dirty="0">
                <a:latin typeface="微软雅黑" panose="020B0503020204020204" charset="-122"/>
                <a:ea typeface="微软雅黑" panose="020B0503020204020204" charset="-122"/>
              </a:rPr>
              <a:t>28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知识库数据处理完成页面</a:t>
            </a:r>
            <a:endParaRPr sz="200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53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493139"/>
            <a:ext cx="7827798" cy="536486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科研文献问答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Coze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②：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创建智能体并挂载知识库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创建"科研文献助手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"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填写提示词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添加并绑定知识库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设置召回参数</a:t>
            </a:r>
            <a:endParaRPr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86261" y="3243108"/>
            <a:ext cx="406995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</a:t>
            </a:r>
            <a:r>
              <a:rPr lang="en-US" sz="2000" b="0" i="0" dirty="0">
                <a:latin typeface="微软雅黑" panose="020B0503020204020204" charset="-122"/>
                <a:ea typeface="微软雅黑" panose="020B0503020204020204" charset="-122"/>
              </a:rPr>
              <a:t>29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创建科研文献问答智能体</a:t>
            </a:r>
            <a:endParaRPr sz="200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5760" y="6016752"/>
            <a:ext cx="11475720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379" y="6146327"/>
            <a:ext cx="1164305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绑定</a:t>
            </a:r>
            <a:r>
              <a:rPr sz="20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知识库后，检查检索是否实际生效。召回数量与匹配阈值</a:t>
            </a:r>
            <a:r>
              <a:rPr sz="20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应通过典型问题测试调整。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54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317" y="1430030"/>
            <a:ext cx="3504468" cy="44005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科研文献问答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Coze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②：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创建智能体并挂载知识库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08042"/>
            <a:ext cx="1124712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altLang="en-US"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设定科研助手角色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altLang="en-US"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设定知识库检索技能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altLang="en-US"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设定回答限制</a:t>
            </a:r>
            <a:r>
              <a:rPr sz="2400" b="1" i="0" dirty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6927" y="2938617"/>
            <a:ext cx="2814752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</a:t>
            </a:r>
            <a:r>
              <a:rPr lang="en-US" sz="2000" dirty="0">
                <a:latin typeface="微软雅黑" panose="020B0503020204020204" charset="-122"/>
                <a:ea typeface="微软雅黑" panose="020B0503020204020204" charset="-122"/>
              </a:rPr>
              <a:t>30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智能体提示词编辑页面</a:t>
            </a:r>
            <a:endParaRPr sz="200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55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25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105" y="1277374"/>
            <a:ext cx="5220512" cy="56012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科研文献问答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Coze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②：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创建智能体并挂载知识库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63088" y="2917357"/>
            <a:ext cx="562950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</a:t>
            </a:r>
            <a:r>
              <a:rPr lang="en-US" sz="2000" dirty="0">
                <a:latin typeface="微软雅黑" panose="020B0503020204020204" charset="-122"/>
                <a:ea typeface="微软雅黑" panose="020B0503020204020204" charset="-122"/>
              </a:rPr>
              <a:t>31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智能体添加知识库入口</a:t>
            </a:r>
            <a:endParaRPr sz="200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63087" y="6461908"/>
            <a:ext cx="562950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</a:t>
            </a:r>
            <a:r>
              <a:rPr lang="en-US" sz="2000" dirty="0">
                <a:latin typeface="微软雅黑" panose="020B0503020204020204" charset="-122"/>
                <a:ea typeface="微软雅黑" panose="020B0503020204020204" charset="-122"/>
              </a:rPr>
              <a:t>32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选择并绑定科研文献知识库</a:t>
            </a:r>
            <a:endParaRPr sz="2000" b="0" i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56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r="1125" b="78359"/>
          <a:stretch>
            <a:fillRect/>
          </a:stretch>
        </p:blipFill>
        <p:spPr>
          <a:xfrm>
            <a:off x="360581" y="3728228"/>
            <a:ext cx="11389459" cy="2439289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rcRect l="32127" t="27718" r="34989" b="64815"/>
          <a:stretch>
            <a:fillRect/>
          </a:stretch>
        </p:blipFill>
        <p:spPr>
          <a:xfrm>
            <a:off x="548535" y="1542905"/>
            <a:ext cx="11094623" cy="1265563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科研文献问答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Coze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③：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预览调试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5577" y="1283302"/>
            <a:ext cx="3411548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同时测试库内问题</a:t>
            </a:r>
            <a:endParaRPr lang="en-US"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24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与库外问题</a:t>
            </a:r>
            <a:endParaRPr sz="24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30589" y="3101807"/>
            <a:ext cx="2512026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7-3</a:t>
            </a:r>
            <a:r>
              <a:rPr lang="en-US" sz="20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调试对话（库内问题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962153"/>
            <a:ext cx="2843605" cy="1384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库内问题</a:t>
            </a:r>
            <a:r>
              <a:rPr lang="zh-CN" altLang="en-US" sz="2400" b="1" i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sz="2400" b="1" i="0" dirty="0" err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应基于召回片段作答并标注来源</a:t>
            </a:r>
            <a:endParaRPr lang="en-US" sz="2400" b="1" i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en-US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57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761" y="880483"/>
            <a:ext cx="5274828" cy="58880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2743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56503"/>
            <a:ext cx="86868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科研文献问答</a:t>
            </a:r>
            <a:r>
              <a:rPr sz="22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2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Coze</a:t>
            </a:r>
            <a:r>
              <a:rPr sz="22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sz="22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③：</a:t>
            </a:r>
            <a:r>
              <a:rPr sz="22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预览调试</a:t>
            </a:r>
            <a:endParaRPr sz="22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44452" y="3583158"/>
            <a:ext cx="2074522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图 7-3</a:t>
            </a:r>
            <a:r>
              <a:rPr lang="en-US" sz="20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000" b="0" i="0" dirty="0" err="1">
                <a:latin typeface="微软雅黑" panose="020B0503020204020204" charset="-122"/>
                <a:ea typeface="微软雅黑" panose="020B0503020204020204" charset="-122"/>
              </a:rPr>
              <a:t>调试对话（库外问题</a:t>
            </a:r>
            <a:r>
              <a:rPr sz="2000" b="0" i="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" y="2218880"/>
            <a:ext cx="2920702" cy="1107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库外问题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sz="2400" b="1" i="0" dirty="0" err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应拒绝编造，提示"暂无相关信息，建议补充文献</a:t>
            </a:r>
            <a:r>
              <a:rPr sz="2400" b="1" i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58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886" y="887407"/>
            <a:ext cx="5807902" cy="59705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7.</a:t>
            </a:r>
            <a:r>
              <a:rPr lang="en-US"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技能包的配置与使用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494" y="1134856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复用已有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能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力配置，减少重复搭建与维护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446" y="1504188"/>
            <a:ext cx="10972800" cy="3200400"/>
          </a:xfrm>
          <a:prstGeom prst="rect">
            <a:avLst/>
          </a:prstGeom>
          <a:noFill/>
        </p:spPr>
        <p:txBody>
          <a:bodyPr wrap="square" lIns="30000" tIns="30000" rIns="30000" bIns="3000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1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平台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技能包可包含提示词、工作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流或工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具配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置，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具体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形式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与文件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型S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kills可能不同。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2000" b="1" dirty="0">
                <a:solidFill>
                  <a:srgbClr val="F58020"/>
                </a:solidFill>
                <a:latin typeface="Microsoft YaHei"/>
                <a:ea typeface="Microsoft YaHei"/>
              </a:rPr>
              <a:t>●</a:t>
            </a:r>
            <a:r>
              <a:rPr sz="21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 导入后仍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需检查权限、依赖与参数，并用实际任务测试。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2000" b="1" dirty="0">
                <a:solidFill>
                  <a:srgbClr val="2E8B57"/>
                </a:solidFill>
                <a:latin typeface="Microsoft YaHei"/>
                <a:ea typeface="Microsoft YaHei"/>
              </a:rPr>
              <a:t>● </a:t>
            </a:r>
            <a:r>
              <a:rPr sz="21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典型应用：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数据分析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→「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代码解释器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」；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联网检索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→「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网页搜索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」；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生成图像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→「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文生图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6" y="4750308"/>
            <a:ext cx="10972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以下按教材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中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的Coze界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面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演示，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入口可能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随版本变化</a:t>
            </a:r>
            <a:r>
              <a:rPr sz="1800" b="1" i="0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486400"/>
            <a:ext cx="2065263" cy="548640"/>
          </a:xfrm>
          <a:prstGeom prst="rect">
            <a:avLst/>
          </a:prstGeom>
          <a:solidFill>
            <a:srgbClr val="E6F2FC"/>
          </a:solidFill>
          <a:ln w="1587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576054"/>
            <a:ext cx="206526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浏览市场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05343" y="5486400"/>
            <a:ext cx="14630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802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1647" y="5486400"/>
            <a:ext cx="2065263" cy="548640"/>
          </a:xfrm>
          <a:prstGeom prst="rect">
            <a:avLst/>
          </a:prstGeom>
          <a:solidFill>
            <a:srgbClr val="E6F2FC"/>
          </a:solidFill>
          <a:ln w="1587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51647" y="5576054"/>
            <a:ext cx="206526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004CA0"/>
                </a:solidFill>
                <a:latin typeface="Microsoft YaHei"/>
                <a:ea typeface="Microsoft YaHei"/>
              </a:rPr>
              <a:t>安装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6911" y="5486400"/>
            <a:ext cx="14630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802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63215" y="5486400"/>
            <a:ext cx="2065263" cy="548640"/>
          </a:xfrm>
          <a:prstGeom prst="rect">
            <a:avLst/>
          </a:prstGeom>
          <a:solidFill>
            <a:srgbClr val="E6F2FC"/>
          </a:solidFill>
          <a:ln w="1587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63215" y="5576054"/>
            <a:ext cx="206526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004CA0"/>
                </a:solidFill>
                <a:latin typeface="Microsoft YaHei"/>
                <a:ea typeface="Microsoft YaHei"/>
              </a:rPr>
              <a:t>导入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8479" y="5486400"/>
            <a:ext cx="14630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802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74783" y="5486400"/>
            <a:ext cx="2065263" cy="548640"/>
          </a:xfrm>
          <a:prstGeom prst="rect">
            <a:avLst/>
          </a:prstGeom>
          <a:solidFill>
            <a:srgbClr val="E6F2FC"/>
          </a:solidFill>
          <a:ln w="1587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74783" y="5576054"/>
            <a:ext cx="206526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004CA0"/>
                </a:solidFill>
                <a:latin typeface="Microsoft YaHei"/>
                <a:ea typeface="Microsoft YaHei"/>
              </a:rPr>
              <a:t>调用测试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0047" y="5486400"/>
            <a:ext cx="14630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802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86351" y="5486400"/>
            <a:ext cx="2065263" cy="548640"/>
          </a:xfrm>
          <a:prstGeom prst="rect">
            <a:avLst/>
          </a:prstGeom>
          <a:solidFill>
            <a:srgbClr val="E6F2FC"/>
          </a:solidFill>
          <a:ln w="1587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86351" y="5576054"/>
            <a:ext cx="206526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004CA0"/>
                </a:solidFill>
                <a:latin typeface="Microsoft YaHei"/>
                <a:ea typeface="Microsoft YaHei"/>
              </a:rPr>
              <a:t>生命周期管理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7.</a:t>
            </a:r>
            <a:r>
              <a:rPr lang="en-US"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① 浏览技能包市场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066CC"/>
                </a:solidFill>
                <a:latin typeface="Microsoft YaHei"/>
                <a:ea typeface="Microsoft YaHei"/>
              </a:rPr>
              <a:t>登录 Coze → 左侧「技能商店」→ 浏览分类 / 详情</a:t>
            </a:r>
          </a:p>
        </p:txBody>
      </p:sp>
      <p:pic>
        <p:nvPicPr>
          <p:cNvPr id="11" name="Picture 10" descr="image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78" y="1829370"/>
            <a:ext cx="4135222" cy="31873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1594" y="5355994"/>
            <a:ext cx="4564829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dirty="0">
                <a:latin typeface="微软雅黑" panose="020B0503020204020204" charset="-122"/>
                <a:ea typeface="微软雅黑" panose="020B0503020204020204" charset="-122"/>
              </a:rPr>
              <a:t>图 7-</a:t>
            </a:r>
            <a:r>
              <a:rPr lang="en-US" sz="2000" dirty="0">
                <a:latin typeface="微软雅黑" panose="020B0503020204020204" charset="-122"/>
                <a:ea typeface="微软雅黑" panose="020B0503020204020204" charset="-122"/>
              </a:rPr>
              <a:t>35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</a:rPr>
              <a:t>技能商店入口（Coze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</a:rPr>
              <a:t>主页</a:t>
            </a:r>
            <a:r>
              <a:rPr sz="2000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</p:txBody>
      </p:sp>
      <p:pic>
        <p:nvPicPr>
          <p:cNvPr id="15" name="Picture 14" descr="image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228" y="2028772"/>
            <a:ext cx="6384964" cy="2931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76301" y="5326284"/>
            <a:ext cx="479861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dirty="0">
                <a:latin typeface="微软雅黑" panose="020B0503020204020204" charset="-122"/>
                <a:ea typeface="微软雅黑" panose="020B0503020204020204" charset="-122"/>
              </a:rPr>
              <a:t>图 7-</a:t>
            </a:r>
            <a:r>
              <a:rPr lang="en-US" sz="2000" dirty="0">
                <a:latin typeface="微软雅黑" panose="020B0503020204020204" charset="-122"/>
                <a:ea typeface="微软雅黑" panose="020B0503020204020204" charset="-122"/>
              </a:rPr>
              <a:t>36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</a:rPr>
              <a:t>技能商店页面（按分类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</a:rPr>
              <a:t>关键词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943600"/>
            <a:ext cx="11457432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064031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根据任务查看功能说明、输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入输出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和所需权限，判断技能包是否适用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BC08F-B4C8-DD7B-6FB8-FF53FC188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46491E-BC7A-6220-9E18-852F175F2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746EF47C-5613-22BB-F114-8D575C1DE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FE7306D-42CA-14A8-BF25-F023168CA222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9DFE14-153C-0848-254B-E29DD3DA0F8F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7.</a:t>
            </a:r>
            <a:r>
              <a:rPr lang="en-US"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404370-031D-BCC0-D0A4-75F63D9FDBEC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92DC3-192C-2892-D0B7-7DDBB8B7F9A4}"/>
              </a:ext>
            </a:extLst>
          </p:cNvPr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① 浏览技能包市场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463E80-B66B-274F-23B5-F269F31CE243}"/>
              </a:ext>
            </a:extLst>
          </p:cNvPr>
          <p:cNvSpPr txBox="1"/>
          <p:nvPr/>
        </p:nvSpPr>
        <p:spPr>
          <a:xfrm>
            <a:off x="205870" y="2813447"/>
            <a:ext cx="33528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登录</a:t>
            </a:r>
            <a:r>
              <a:rPr sz="20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Coze</a:t>
            </a:r>
            <a:r>
              <a:rPr sz="20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→ </a:t>
            </a:r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左侧「技能商店</a:t>
            </a:r>
            <a:r>
              <a:rPr sz="2000" b="1" i="0" dirty="0">
                <a:solidFill>
                  <a:srgbClr val="0066CC"/>
                </a:solidFill>
                <a:latin typeface="Microsoft YaHei"/>
                <a:ea typeface="Microsoft YaHei"/>
              </a:rPr>
              <a:t>」→ </a:t>
            </a:r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浏览分类</a:t>
            </a:r>
            <a:r>
              <a:rPr sz="20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/ </a:t>
            </a:r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详情</a:t>
            </a:r>
            <a:endParaRPr sz="20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pic>
        <p:nvPicPr>
          <p:cNvPr id="19" name="Picture 18" descr="image44.png">
            <a:extLst>
              <a:ext uri="{FF2B5EF4-FFF2-40B4-BE49-F238E27FC236}">
                <a16:creationId xmlns:a16="http://schemas.microsoft.com/office/drawing/2014/main" id="{E2C89AB5-4AFF-02C3-EC85-FE322F629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672" y="795528"/>
            <a:ext cx="4803668" cy="559761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269918F-6F95-B751-175D-4D1AE5139A97}"/>
              </a:ext>
            </a:extLst>
          </p:cNvPr>
          <p:cNvSpPr txBox="1"/>
          <p:nvPr/>
        </p:nvSpPr>
        <p:spPr>
          <a:xfrm>
            <a:off x="8524342" y="3374242"/>
            <a:ext cx="366765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Microsoft YaHei"/>
                <a:ea typeface="Microsoft YaHei"/>
              </a:rPr>
              <a:t>图</a:t>
            </a:r>
            <a:r>
              <a:rPr lang="zh-CN" altLang="en-US" sz="2000" b="0" i="0" dirty="0">
                <a:latin typeface="Microsoft YaHei"/>
                <a:ea typeface="Microsoft YaHei"/>
              </a:rPr>
              <a:t> </a:t>
            </a:r>
            <a:r>
              <a:rPr lang="en-US" altLang="zh-CN" sz="2000" b="0" i="0" dirty="0">
                <a:latin typeface="Microsoft YaHei"/>
                <a:ea typeface="Microsoft YaHei"/>
              </a:rPr>
              <a:t>7-37 </a:t>
            </a:r>
            <a:r>
              <a:rPr sz="2000" b="0" i="0" dirty="0" err="1">
                <a:latin typeface="Microsoft YaHei"/>
                <a:ea typeface="Microsoft YaHei"/>
              </a:rPr>
              <a:t>技能包详情页面</a:t>
            </a:r>
            <a:endParaRPr sz="2000" b="0" i="0" dirty="0"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3266006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7.</a:t>
            </a:r>
            <a:r>
              <a:rPr lang="en-US"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② 安装目标技能包（界面操作示例）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" y="1090717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技能包分类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选择技能包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查看子技能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→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一键添加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pic>
        <p:nvPicPr>
          <p:cNvPr id="11" name="Picture 10" descr="image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1" y="1877079"/>
            <a:ext cx="10022892" cy="296668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59219" y="5349240"/>
            <a:ext cx="443035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Microsoft YaHei"/>
                <a:ea typeface="Microsoft YaHei"/>
              </a:rPr>
              <a:t>图 7-</a:t>
            </a:r>
            <a:r>
              <a:rPr lang="en-US" sz="2000" b="0" i="0" dirty="0">
                <a:latin typeface="Microsoft YaHei"/>
                <a:ea typeface="Microsoft YaHei"/>
              </a:rPr>
              <a:t>38</a:t>
            </a:r>
            <a:r>
              <a:rPr sz="2000" b="0" i="0" dirty="0">
                <a:latin typeface="Microsoft YaHei"/>
                <a:ea typeface="Microsoft YaHei"/>
              </a:rPr>
              <a:t> </a:t>
            </a:r>
            <a:r>
              <a:rPr sz="2000" b="0" i="0" dirty="0" err="1">
                <a:latin typeface="Microsoft YaHei"/>
                <a:ea typeface="Microsoft YaHei"/>
              </a:rPr>
              <a:t>技能包筛选（官方严选</a:t>
            </a:r>
            <a:r>
              <a:rPr sz="2000" b="0" i="0" dirty="0"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943600"/>
            <a:ext cx="11457432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048643"/>
            <a:ext cx="109728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一键添加虽便捷，但需先确认功能描述与项目需求真实匹配，避免技能冗余与资源浪费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0F256-C279-A298-0638-B88CBFEA7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15DDB3B4-EE25-16CC-3771-0AB770726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171C452-9941-E401-95C0-7FA3E65F01F5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7F289E-A634-65A0-42C4-5C80A6430FF5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7.</a:t>
            </a:r>
            <a:r>
              <a:rPr lang="en-US"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26A890-383E-222B-5688-C669240A3DCB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AB7D2-3D1B-5B75-E2AA-E6AF25422110}"/>
              </a:ext>
            </a:extLst>
          </p:cNvPr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② 安装目标技能包（界面操作示例）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FEB92C-CDDE-8F9E-6C1C-C81B20D1731F}"/>
              </a:ext>
            </a:extLst>
          </p:cNvPr>
          <p:cNvSpPr txBox="1"/>
          <p:nvPr/>
        </p:nvSpPr>
        <p:spPr>
          <a:xfrm>
            <a:off x="502920" y="2813447"/>
            <a:ext cx="1818939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技能包分类</a:t>
            </a:r>
            <a:r>
              <a:rPr sz="20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→ </a:t>
            </a:r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选择技能包</a:t>
            </a:r>
            <a:r>
              <a:rPr sz="20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→ </a:t>
            </a:r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查看子技能</a:t>
            </a:r>
            <a:r>
              <a:rPr sz="20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→ </a:t>
            </a:r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一键添加</a:t>
            </a:r>
            <a:endParaRPr sz="20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pic>
        <p:nvPicPr>
          <p:cNvPr id="15" name="Picture 14" descr="image46.png">
            <a:extLst>
              <a:ext uri="{FF2B5EF4-FFF2-40B4-BE49-F238E27FC236}">
                <a16:creationId xmlns:a16="http://schemas.microsoft.com/office/drawing/2014/main" id="{044C09F4-6AAF-CA81-288C-76321353B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067" y="905435"/>
            <a:ext cx="5208839" cy="55258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06BFC72-546E-5925-43CD-31F42DA0AA56}"/>
              </a:ext>
            </a:extLst>
          </p:cNvPr>
          <p:cNvSpPr txBox="1"/>
          <p:nvPr/>
        </p:nvSpPr>
        <p:spPr>
          <a:xfrm>
            <a:off x="8546755" y="3228800"/>
            <a:ext cx="3142325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Microsoft YaHei"/>
                <a:ea typeface="Microsoft YaHei"/>
              </a:rPr>
              <a:t>图 7-</a:t>
            </a:r>
            <a:r>
              <a:rPr lang="en-US" sz="2000" b="0" i="0" dirty="0">
                <a:latin typeface="Microsoft YaHei"/>
                <a:ea typeface="Microsoft YaHei"/>
              </a:rPr>
              <a:t>39</a:t>
            </a:r>
            <a:r>
              <a:rPr sz="2000" b="0" i="0" dirty="0">
                <a:latin typeface="Microsoft YaHei"/>
                <a:ea typeface="Microsoft YaHei"/>
              </a:rPr>
              <a:t> </a:t>
            </a:r>
            <a:r>
              <a:rPr sz="2000" b="0" i="0" dirty="0" err="1">
                <a:latin typeface="Microsoft YaHei"/>
                <a:ea typeface="Microsoft YaHei"/>
              </a:rPr>
              <a:t>A股投资分析技能包详情</a:t>
            </a:r>
            <a:endParaRPr sz="2000" b="0" i="0" dirty="0"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02666945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3C387-7A8B-3305-DBD2-25430B49F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EC11DDF7-D957-BCA8-E207-C7F786E5B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246CB4B-C623-A8D2-7616-7594447D3458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38C269-3C24-03D9-CA33-14B7EFB115AB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7.</a:t>
            </a:r>
            <a:r>
              <a:rPr lang="en-US"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FF24F1-63F8-4D8E-36AE-099CD86E96E6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E893D0-A940-5D7C-4800-5E11EE4493BA}"/>
              </a:ext>
            </a:extLst>
          </p:cNvPr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② 安装目标技能包（界面操作示例）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EFEFF-C09E-5D27-FBF9-EAE47173519E}"/>
              </a:ext>
            </a:extLst>
          </p:cNvPr>
          <p:cNvSpPr txBox="1"/>
          <p:nvPr/>
        </p:nvSpPr>
        <p:spPr>
          <a:xfrm>
            <a:off x="574638" y="2714056"/>
            <a:ext cx="1603786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技能包分类</a:t>
            </a:r>
            <a:r>
              <a:rPr sz="20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→ </a:t>
            </a:r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选择技能包</a:t>
            </a:r>
            <a:r>
              <a:rPr sz="20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→ </a:t>
            </a:r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查看子技能</a:t>
            </a:r>
            <a:r>
              <a:rPr sz="20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→ </a:t>
            </a:r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一键添加</a:t>
            </a:r>
            <a:endParaRPr sz="20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pic>
        <p:nvPicPr>
          <p:cNvPr id="19" name="Picture 18" descr="image47.png">
            <a:extLst>
              <a:ext uri="{FF2B5EF4-FFF2-40B4-BE49-F238E27FC236}">
                <a16:creationId xmlns:a16="http://schemas.microsoft.com/office/drawing/2014/main" id="{BC9BBD19-7243-4A4F-4A45-862117EE5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642" y="795528"/>
            <a:ext cx="5534016" cy="592271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867401D-3D0F-25A6-257D-737F1C97B200}"/>
              </a:ext>
            </a:extLst>
          </p:cNvPr>
          <p:cNvSpPr txBox="1"/>
          <p:nvPr/>
        </p:nvSpPr>
        <p:spPr>
          <a:xfrm>
            <a:off x="8341463" y="3602997"/>
            <a:ext cx="366765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Microsoft YaHei"/>
                <a:ea typeface="Microsoft YaHei"/>
              </a:rPr>
              <a:t>图 7-4</a:t>
            </a:r>
            <a:r>
              <a:rPr lang="en-US" sz="2000" b="0" i="0" dirty="0">
                <a:latin typeface="Microsoft YaHei"/>
                <a:ea typeface="Microsoft YaHei"/>
              </a:rPr>
              <a:t>0</a:t>
            </a:r>
            <a:r>
              <a:rPr sz="2000" b="0" i="0" dirty="0">
                <a:latin typeface="Microsoft YaHei"/>
                <a:ea typeface="Microsoft YaHei"/>
              </a:rPr>
              <a:t> </a:t>
            </a:r>
            <a:r>
              <a:rPr sz="2000" b="0" i="0" dirty="0" err="1">
                <a:latin typeface="Microsoft YaHei"/>
                <a:ea typeface="Microsoft YaHei"/>
              </a:rPr>
              <a:t>点击「一键添加</a:t>
            </a:r>
            <a:r>
              <a:rPr sz="2000" b="0" i="0" dirty="0">
                <a:latin typeface="Microsoft YaHei"/>
                <a:ea typeface="Microsoft YaHei"/>
              </a:rPr>
              <a:t>」</a:t>
            </a:r>
          </a:p>
        </p:txBody>
      </p:sp>
    </p:spTree>
    <p:extLst>
      <p:ext uri="{BB962C8B-B14F-4D97-AF65-F5344CB8AC3E}">
        <p14:creationId xmlns:p14="http://schemas.microsoft.com/office/powerpoint/2010/main" val="31358730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7.</a:t>
            </a:r>
            <a:r>
              <a:rPr lang="en-US"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③ 验证技能包安装（进入配置）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066CC"/>
                </a:solidFill>
                <a:latin typeface="Microsoft YaHei"/>
                <a:ea typeface="Microsoft YaHei"/>
              </a:rPr>
              <a:t>左侧「对话」进入交互界面 → 右上角「Agent 设置」</a:t>
            </a:r>
          </a:p>
        </p:txBody>
      </p:sp>
      <p:pic>
        <p:nvPicPr>
          <p:cNvPr id="11" name="Picture 10" descr="imag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067" y="1508760"/>
            <a:ext cx="5792992" cy="4129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04795" y="6080693"/>
            <a:ext cx="5470264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Microsoft YaHei"/>
                <a:ea typeface="Microsoft YaHei"/>
              </a:rPr>
              <a:t>图 7-4</a:t>
            </a:r>
            <a:r>
              <a:rPr lang="en-US" sz="2000" b="0" i="0" dirty="0">
                <a:latin typeface="Microsoft YaHei"/>
                <a:ea typeface="Microsoft YaHei"/>
              </a:rPr>
              <a:t>1</a:t>
            </a:r>
            <a:r>
              <a:rPr sz="2000" b="0" i="0" dirty="0">
                <a:latin typeface="Microsoft YaHei"/>
                <a:ea typeface="Microsoft YaHei"/>
              </a:rPr>
              <a:t> </a:t>
            </a:r>
            <a:r>
              <a:rPr sz="2000" b="0" i="0" dirty="0" err="1">
                <a:latin typeface="Microsoft YaHei"/>
                <a:ea typeface="Microsoft YaHei"/>
              </a:rPr>
              <a:t>进入</a:t>
            </a:r>
            <a:r>
              <a:rPr sz="2000" b="0" i="0" dirty="0">
                <a:latin typeface="Microsoft YaHei"/>
                <a:ea typeface="Microsoft YaHei"/>
              </a:rPr>
              <a:t> </a:t>
            </a:r>
            <a:r>
              <a:rPr sz="2000" b="0" i="0" dirty="0" err="1">
                <a:latin typeface="Microsoft YaHei"/>
                <a:ea typeface="Microsoft YaHei"/>
              </a:rPr>
              <a:t>Coze</a:t>
            </a:r>
            <a:r>
              <a:rPr sz="2000" b="0" i="0" dirty="0">
                <a:latin typeface="Microsoft YaHei"/>
                <a:ea typeface="Microsoft YaHei"/>
              </a:rPr>
              <a:t> </a:t>
            </a:r>
            <a:r>
              <a:rPr sz="2000" b="0" i="0" dirty="0" err="1">
                <a:latin typeface="Microsoft YaHei"/>
                <a:ea typeface="Microsoft YaHei"/>
              </a:rPr>
              <a:t>对话页面</a:t>
            </a:r>
            <a:endParaRPr sz="2000" b="0" i="0" dirty="0"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1E1A0-761A-EF32-33F7-EFBC100EC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CF8F5B5F-3394-98B6-1246-3BA2C7C2C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086942E-EEA3-C4C8-C84B-D7B48EFC2DEA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E63DDD-A440-D633-9D29-ACEF009A7B05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7.</a:t>
            </a:r>
            <a:r>
              <a:rPr lang="en-US"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54A0D3-3B38-B6E1-743E-8F2537D29F01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0B149-7D94-96FF-A54D-840FD1BC545B}"/>
              </a:ext>
            </a:extLst>
          </p:cNvPr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③ 验证技能包安装（进入配置）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764B59-8955-B2AC-B593-8FF9073A4DAC}"/>
              </a:ext>
            </a:extLst>
          </p:cNvPr>
          <p:cNvSpPr txBox="1"/>
          <p:nvPr/>
        </p:nvSpPr>
        <p:spPr>
          <a:xfrm>
            <a:off x="50292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066CC"/>
                </a:solidFill>
                <a:latin typeface="Microsoft YaHei"/>
                <a:ea typeface="Microsoft YaHei"/>
              </a:rPr>
              <a:t>左侧「对话」进入交互界面 → 右上角「Agent 设置」</a:t>
            </a:r>
          </a:p>
        </p:txBody>
      </p:sp>
      <p:pic>
        <p:nvPicPr>
          <p:cNvPr id="15" name="Picture 14" descr="image49.png">
            <a:extLst>
              <a:ext uri="{FF2B5EF4-FFF2-40B4-BE49-F238E27FC236}">
                <a16:creationId xmlns:a16="http://schemas.microsoft.com/office/drawing/2014/main" id="{DE9ABD35-E79A-B73E-F1E5-60DAC6FEC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26013"/>
            <a:ext cx="11206383" cy="28573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A24F92-44CD-0920-A1FC-C20DC33BFBF6}"/>
              </a:ext>
            </a:extLst>
          </p:cNvPr>
          <p:cNvSpPr txBox="1"/>
          <p:nvPr/>
        </p:nvSpPr>
        <p:spPr>
          <a:xfrm>
            <a:off x="4292651" y="5676289"/>
            <a:ext cx="366765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Microsoft YaHei"/>
                <a:ea typeface="Microsoft YaHei"/>
              </a:rPr>
              <a:t>图 7-4</a:t>
            </a:r>
            <a:r>
              <a:rPr lang="en-US" sz="2000" b="0" i="0" dirty="0">
                <a:latin typeface="Microsoft YaHei"/>
                <a:ea typeface="Microsoft YaHei"/>
              </a:rPr>
              <a:t>2</a:t>
            </a:r>
            <a:r>
              <a:rPr sz="2000" b="0" i="0" dirty="0">
                <a:latin typeface="Microsoft YaHei"/>
                <a:ea typeface="Microsoft YaHei"/>
              </a:rPr>
              <a:t> </a:t>
            </a:r>
            <a:r>
              <a:rPr sz="2000" b="0" i="0" dirty="0" err="1">
                <a:latin typeface="Microsoft YaHei"/>
                <a:ea typeface="Microsoft YaHei"/>
              </a:rPr>
              <a:t>Coze</a:t>
            </a:r>
            <a:r>
              <a:rPr sz="2000" b="0" i="0" dirty="0">
                <a:latin typeface="Microsoft YaHei"/>
                <a:ea typeface="Microsoft YaHei"/>
              </a:rPr>
              <a:t> </a:t>
            </a:r>
            <a:r>
              <a:rPr sz="2000" b="0" i="0" dirty="0" err="1">
                <a:latin typeface="Microsoft YaHei"/>
                <a:ea typeface="Microsoft YaHei"/>
              </a:rPr>
              <a:t>对话页面</a:t>
            </a:r>
            <a:endParaRPr sz="2000" b="0" i="0" dirty="0"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1426767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460C9-4E10-BDAA-D7C2-4C537A119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C70C1E7D-478C-B4AC-FCC4-E562819FA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2B4769-0CB8-2948-0928-B737A88316C2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0C33C5-C35C-9003-B04C-AE9C38107432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7.</a:t>
            </a:r>
            <a:r>
              <a:rPr lang="en-US"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5F131D-7BC2-C225-F8D3-457575194564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AFDF6A-A96E-6FC2-41C6-47C1892292FF}"/>
              </a:ext>
            </a:extLst>
          </p:cNvPr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③ 验证技能包安装（进入配置）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2FC9A9-BC63-2573-EFC9-E97553AD8449}"/>
              </a:ext>
            </a:extLst>
          </p:cNvPr>
          <p:cNvSpPr txBox="1"/>
          <p:nvPr/>
        </p:nvSpPr>
        <p:spPr>
          <a:xfrm>
            <a:off x="50292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066CC"/>
                </a:solidFill>
                <a:latin typeface="Microsoft YaHei"/>
                <a:ea typeface="Microsoft YaHei"/>
              </a:rPr>
              <a:t>左侧「对话」进入交互界面 → 右上角「Agent 设置」</a:t>
            </a:r>
          </a:p>
        </p:txBody>
      </p:sp>
      <p:pic>
        <p:nvPicPr>
          <p:cNvPr id="19" name="Picture 18" descr="image50.png">
            <a:extLst>
              <a:ext uri="{FF2B5EF4-FFF2-40B4-BE49-F238E27FC236}">
                <a16:creationId xmlns:a16="http://schemas.microsoft.com/office/drawing/2014/main" id="{81C04297-CADD-7965-5C4A-87BC01255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945" y="1999130"/>
            <a:ext cx="7853173" cy="300491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21D656B-12FF-2BEB-7682-E8A4193FC44A}"/>
              </a:ext>
            </a:extLst>
          </p:cNvPr>
          <p:cNvSpPr txBox="1"/>
          <p:nvPr/>
        </p:nvSpPr>
        <p:spPr>
          <a:xfrm>
            <a:off x="4177946" y="5789711"/>
            <a:ext cx="4966536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Microsoft YaHei"/>
                <a:ea typeface="Microsoft YaHei"/>
              </a:rPr>
              <a:t>图 7-</a:t>
            </a:r>
            <a:r>
              <a:rPr lang="en-US" sz="2000" b="0" i="0" dirty="0">
                <a:latin typeface="Microsoft YaHei"/>
                <a:ea typeface="Microsoft YaHei"/>
              </a:rPr>
              <a:t>43</a:t>
            </a:r>
            <a:r>
              <a:rPr sz="2000" b="0" i="0" dirty="0">
                <a:latin typeface="Microsoft YaHei"/>
                <a:ea typeface="Microsoft YaHei"/>
              </a:rPr>
              <a:t> </a:t>
            </a:r>
            <a:r>
              <a:rPr sz="2000" b="0" i="0" dirty="0" err="1">
                <a:latin typeface="Microsoft YaHei"/>
                <a:ea typeface="Microsoft YaHei"/>
              </a:rPr>
              <a:t>进入智能体配置（Agent</a:t>
            </a:r>
            <a:r>
              <a:rPr sz="2000" b="0" i="0" dirty="0">
                <a:latin typeface="Microsoft YaHei"/>
                <a:ea typeface="Microsoft YaHei"/>
              </a:rPr>
              <a:t> </a:t>
            </a:r>
            <a:r>
              <a:rPr sz="2000" b="0" i="0" dirty="0" err="1">
                <a:latin typeface="Microsoft YaHei"/>
                <a:ea typeface="Microsoft YaHei"/>
              </a:rPr>
              <a:t>设置</a:t>
            </a:r>
            <a:r>
              <a:rPr sz="2000" b="0" i="0" dirty="0">
                <a:latin typeface="Microsoft YaHei"/>
                <a:ea typeface="Microsoft YaHei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2529728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7.</a:t>
            </a:r>
            <a:r>
              <a:rPr lang="en-US"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③ 验证技能包安装（查看技能状态）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066CC"/>
                </a:solidFill>
                <a:latin typeface="Microsoft YaHei"/>
                <a:ea typeface="Microsoft YaHei"/>
              </a:rPr>
              <a:t>配置详情 →「技能」选项卡 → 确认「已安装」且「已启用」</a:t>
            </a:r>
          </a:p>
        </p:txBody>
      </p:sp>
      <p:pic>
        <p:nvPicPr>
          <p:cNvPr id="11" name="Picture 10" descr="image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172" y="1277711"/>
            <a:ext cx="6615335" cy="45845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14512" y="3416113"/>
            <a:ext cx="2535528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Microsoft YaHei"/>
                <a:ea typeface="Microsoft YaHei"/>
              </a:rPr>
              <a:t>图 7-</a:t>
            </a:r>
            <a:r>
              <a:rPr lang="en-US" sz="2000" b="0" i="0" dirty="0">
                <a:latin typeface="Microsoft YaHei"/>
                <a:ea typeface="Microsoft YaHei"/>
              </a:rPr>
              <a:t>44</a:t>
            </a:r>
            <a:r>
              <a:rPr sz="2000" b="0" i="0" dirty="0">
                <a:latin typeface="Microsoft YaHei"/>
                <a:ea typeface="Microsoft YaHei"/>
              </a:rPr>
              <a:t> </a:t>
            </a:r>
            <a:r>
              <a:rPr sz="2000" b="0" i="0" dirty="0" err="1">
                <a:latin typeface="Microsoft YaHei"/>
                <a:ea typeface="Microsoft YaHei"/>
              </a:rPr>
              <a:t>智能体配置详情页面</a:t>
            </a:r>
            <a:endParaRPr sz="2000" b="0" i="0" dirty="0"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5760" y="5943600"/>
            <a:ext cx="11457432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079420"/>
            <a:ext cx="109728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检查安装与启用状态</a:t>
            </a:r>
            <a:r>
              <a:rPr b="1" i="0" dirty="0">
                <a:solidFill>
                  <a:srgbClr val="FFFFFF"/>
                </a:solidFill>
                <a:latin typeface="Microsoft YaHei"/>
                <a:ea typeface="Microsoft YaHei"/>
              </a:rPr>
              <a:t>，并</a:t>
            </a:r>
            <a:r>
              <a:rPr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按任务启用必要子技能。安装成功后仍需测试调用效果</a:t>
            </a:r>
            <a:r>
              <a:rPr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870AB-85DC-B0C0-7F33-96E99D209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8A024F52-D317-68EF-33AC-FDB878A69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471495-157E-7C61-515B-4F903FC4BFCC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7A7BE-DCA5-89F4-449B-4EBB1FE55D4C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7.</a:t>
            </a:r>
            <a:r>
              <a:rPr lang="en-US"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2A5C08-BE9C-BA83-793C-F501A1F0950F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BCC6E8-C9E1-1596-C9ED-91DE144CDEC9}"/>
              </a:ext>
            </a:extLst>
          </p:cNvPr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③ 验证技能包安装（查看技能状态）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C64DEE-B6E3-0CCE-FAE7-BE41366F8A41}"/>
              </a:ext>
            </a:extLst>
          </p:cNvPr>
          <p:cNvSpPr txBox="1"/>
          <p:nvPr/>
        </p:nvSpPr>
        <p:spPr>
          <a:xfrm>
            <a:off x="50292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066CC"/>
                </a:solidFill>
                <a:latin typeface="Microsoft YaHei"/>
                <a:ea typeface="Microsoft YaHei"/>
              </a:rPr>
              <a:t>配置详情 →「技能」选项卡 → 确认「已安装」且「已启用」</a:t>
            </a:r>
          </a:p>
        </p:txBody>
      </p:sp>
      <p:pic>
        <p:nvPicPr>
          <p:cNvPr id="15" name="Picture 14" descr="image52.png">
            <a:extLst>
              <a:ext uri="{FF2B5EF4-FFF2-40B4-BE49-F238E27FC236}">
                <a16:creationId xmlns:a16="http://schemas.microsoft.com/office/drawing/2014/main" id="{90A5754F-B2EF-09B0-EBCD-66586D7BA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139" y="1269387"/>
            <a:ext cx="7626275" cy="511258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ABF316D-3B6A-E75F-DD8A-CE2AC3D91F44}"/>
              </a:ext>
            </a:extLst>
          </p:cNvPr>
          <p:cNvSpPr txBox="1"/>
          <p:nvPr/>
        </p:nvSpPr>
        <p:spPr>
          <a:xfrm>
            <a:off x="9382264" y="3694517"/>
            <a:ext cx="2367776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Microsoft YaHei"/>
                <a:ea typeface="Microsoft YaHei"/>
              </a:rPr>
              <a:t>图 7-</a:t>
            </a:r>
            <a:r>
              <a:rPr lang="en-US" sz="2000" b="0" i="0" dirty="0">
                <a:latin typeface="Microsoft YaHei"/>
                <a:ea typeface="Microsoft YaHei"/>
              </a:rPr>
              <a:t>45</a:t>
            </a:r>
            <a:r>
              <a:rPr sz="2000" b="0" i="0" dirty="0">
                <a:latin typeface="Microsoft YaHei"/>
                <a:ea typeface="Microsoft YaHei"/>
              </a:rPr>
              <a:t> </a:t>
            </a:r>
            <a:r>
              <a:rPr sz="2000" b="0" i="0" dirty="0" err="1">
                <a:latin typeface="Microsoft YaHei"/>
                <a:ea typeface="Microsoft YaHei"/>
              </a:rPr>
              <a:t>进入智能体技能配置页面</a:t>
            </a:r>
            <a:endParaRPr sz="2000" b="0" i="0" dirty="0"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413459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6EE4A-1662-FB1F-34EE-5693405B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8D4525D7-F3E5-DC2E-42CD-48F848DFC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6DD156-D20A-802D-39B1-E16AAC2F99E9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6FEA51-060D-5849-20CB-494E8F1E3687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7.</a:t>
            </a:r>
            <a:r>
              <a:rPr lang="en-US"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3F8F37-4BFE-0174-0F33-EBB958EAE5C2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303546-691B-B795-1E20-EBBE10B1137B}"/>
              </a:ext>
            </a:extLst>
          </p:cNvPr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③ 验证技能包安装（查看技能状态）</a:t>
            </a:r>
          </a:p>
        </p:txBody>
      </p:sp>
      <p:pic>
        <p:nvPicPr>
          <p:cNvPr id="19" name="Picture 18" descr="image53.png">
            <a:extLst>
              <a:ext uri="{FF2B5EF4-FFF2-40B4-BE49-F238E27FC236}">
                <a16:creationId xmlns:a16="http://schemas.microsoft.com/office/drawing/2014/main" id="{12039739-2389-E64C-2A66-B323A8AD6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118" y="961827"/>
            <a:ext cx="7260265" cy="53864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79A55D9-66B2-3D35-6F47-563B6842101B}"/>
              </a:ext>
            </a:extLst>
          </p:cNvPr>
          <p:cNvSpPr txBox="1"/>
          <p:nvPr/>
        </p:nvSpPr>
        <p:spPr>
          <a:xfrm>
            <a:off x="9138818" y="3716302"/>
            <a:ext cx="2357325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Microsoft YaHei"/>
                <a:ea typeface="Microsoft YaHei"/>
              </a:rPr>
              <a:t>图</a:t>
            </a:r>
            <a:r>
              <a:rPr lang="zh-CN" altLang="en-US" sz="2000" b="0" i="0" dirty="0">
                <a:latin typeface="Microsoft YaHei"/>
                <a:ea typeface="Microsoft YaHei"/>
              </a:rPr>
              <a:t> </a:t>
            </a:r>
            <a:r>
              <a:rPr lang="en-US" altLang="zh-CN" sz="2000" b="0" i="0" dirty="0">
                <a:latin typeface="Microsoft YaHei"/>
                <a:ea typeface="Microsoft YaHei"/>
              </a:rPr>
              <a:t>7-46 </a:t>
            </a:r>
            <a:r>
              <a:rPr sz="2000" b="0" i="0" dirty="0" err="1">
                <a:latin typeface="Microsoft YaHei"/>
                <a:ea typeface="Microsoft YaHei"/>
              </a:rPr>
              <a:t>技能启用</a:t>
            </a:r>
            <a:r>
              <a:rPr sz="2000" b="0" i="0" dirty="0">
                <a:latin typeface="Microsoft YaHei"/>
                <a:ea typeface="Microsoft YaHei"/>
              </a:rPr>
              <a:t> / </a:t>
            </a:r>
            <a:r>
              <a:rPr sz="2000" b="0" i="0" dirty="0" err="1">
                <a:latin typeface="Microsoft YaHei"/>
                <a:ea typeface="Microsoft YaHei"/>
              </a:rPr>
              <a:t>禁用页面</a:t>
            </a:r>
            <a:endParaRPr sz="2000" b="0" i="0" dirty="0"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1633844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7.</a:t>
            </a:r>
            <a:r>
              <a:rPr lang="en-US"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④ 验证技能包调用效果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165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输入示例问</a:t>
            </a:r>
            <a:r>
              <a:rPr sz="2000" b="1" i="0" dirty="0">
                <a:solidFill>
                  <a:srgbClr val="0066CC"/>
                </a:solidFill>
                <a:latin typeface="Microsoft YaHei"/>
                <a:ea typeface="Microsoft YaHei"/>
              </a:rPr>
              <a:t>题，检</a:t>
            </a:r>
            <a:r>
              <a:rPr sz="20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查工具是否被调用，并核对数据来源与时间。</a:t>
            </a:r>
            <a:endParaRPr sz="20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pic>
        <p:nvPicPr>
          <p:cNvPr id="11" name="Picture 10" descr="image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47" y="2286000"/>
            <a:ext cx="10716905" cy="20258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173653" y="5048946"/>
            <a:ext cx="561578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Microsoft YaHei"/>
                <a:ea typeface="Microsoft YaHei"/>
              </a:rPr>
              <a:t>图 7-</a:t>
            </a:r>
            <a:r>
              <a:rPr lang="en-US" sz="2000" b="0" i="0" dirty="0">
                <a:latin typeface="Microsoft YaHei"/>
                <a:ea typeface="Microsoft YaHei"/>
              </a:rPr>
              <a:t>47</a:t>
            </a:r>
            <a:r>
              <a:rPr sz="2000" b="0" i="0" dirty="0">
                <a:latin typeface="Microsoft YaHei"/>
                <a:ea typeface="Microsoft YaHei"/>
              </a:rPr>
              <a:t> </a:t>
            </a:r>
            <a:r>
              <a:rPr sz="2000" b="0" i="0" dirty="0" err="1">
                <a:latin typeface="Microsoft YaHei"/>
                <a:ea typeface="Microsoft YaHei"/>
              </a:rPr>
              <a:t>输入想要分析的问题</a:t>
            </a:r>
            <a:endParaRPr sz="2000" b="0" i="0" dirty="0"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5760" y="5943600"/>
            <a:ext cx="11457432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6064031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测试要点：是否调用必要技能，输入输出是否正确，回答能否对应工具结果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43AA5-A4CF-9412-B507-1EC551384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68776429-EF1C-F5D1-5030-F1B9B69EF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1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D37F138-72C8-C2E3-ADF8-7CCB1A583D24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1626F6-3A6D-0589-E667-CC717D985831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7.</a:t>
            </a:r>
            <a:r>
              <a:rPr lang="en-US"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D74763-73D3-5C2A-0C7D-5A1A2424BC1D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9055CA-23C2-4FAD-F516-08EE6EB1CC21}"/>
              </a:ext>
            </a:extLst>
          </p:cNvPr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④ 验证技能包调用效果</a:t>
            </a:r>
          </a:p>
        </p:txBody>
      </p:sp>
      <p:pic>
        <p:nvPicPr>
          <p:cNvPr id="15" name="Picture 14" descr="image55.png">
            <a:extLst>
              <a:ext uri="{FF2B5EF4-FFF2-40B4-BE49-F238E27FC236}">
                <a16:creationId xmlns:a16="http://schemas.microsoft.com/office/drawing/2014/main" id="{7B5DDDCD-849B-8E01-507C-F394BA219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351" y="839239"/>
            <a:ext cx="6915943" cy="55795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66601F7-C4EE-5BB1-A88E-0BF9375EF6B2}"/>
              </a:ext>
            </a:extLst>
          </p:cNvPr>
          <p:cNvSpPr txBox="1"/>
          <p:nvPr/>
        </p:nvSpPr>
        <p:spPr>
          <a:xfrm>
            <a:off x="8793078" y="3368761"/>
            <a:ext cx="2807894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latin typeface="Microsoft YaHei"/>
                <a:ea typeface="Microsoft YaHei"/>
              </a:rPr>
              <a:t>图 7-</a:t>
            </a:r>
            <a:r>
              <a:rPr lang="en-US" sz="2000" b="0" i="0" dirty="0">
                <a:latin typeface="Microsoft YaHei"/>
                <a:ea typeface="Microsoft YaHei"/>
              </a:rPr>
              <a:t>48</a:t>
            </a:r>
            <a:r>
              <a:rPr sz="2000" b="0" i="0" dirty="0">
                <a:latin typeface="Microsoft YaHei"/>
                <a:ea typeface="Microsoft YaHei"/>
              </a:rPr>
              <a:t> </a:t>
            </a:r>
            <a:r>
              <a:rPr sz="2000" b="0" i="0" dirty="0" err="1">
                <a:latin typeface="Microsoft YaHei"/>
                <a:ea typeface="Microsoft YaHei"/>
              </a:rPr>
              <a:t>智能体调用技能回答问题</a:t>
            </a:r>
            <a:endParaRPr sz="2000" b="0" i="0" dirty="0"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5186725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 dirty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7.</a:t>
            </a:r>
            <a:r>
              <a:rPr lang="en-US" sz="15000" b="1" i="0" dirty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8</a:t>
            </a:r>
            <a:endParaRPr sz="15000" b="1" i="0" dirty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98567" y="265176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本章实训</a:t>
            </a:r>
            <a:endParaRPr sz="3800" b="1" i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02336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通过知识库助手与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数据分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析助</a:t>
            </a:r>
            <a:r>
              <a:rPr sz="20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手两个实训，练习搭建、测试和改进智能体</a:t>
            </a:r>
            <a:r>
              <a:rPr sz="20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73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7.8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实训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两个动手案例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围绕真实科研场景，完整走通智能体搭建与测试流程</a:t>
            </a:r>
            <a:endParaRPr sz="2800" b="1" i="0" dirty="0">
              <a:solidFill>
                <a:srgbClr val="006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5602071" cy="48463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600200"/>
            <a:ext cx="5602071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98998"/>
            <a:ext cx="532775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实训一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科研文献知识库助手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276856"/>
            <a:ext cx="5236311" cy="3888620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 err="1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目标：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掌握从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PDF/Word/TXT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创建专业知识库，理解解析→清洗→切片→向量化流程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任务：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收集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3-5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篇核心文献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建库并优化分段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编写"先检索后回答"提示词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挂载测试库内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库外问题，评价对减少幻觉、提升可追溯性的效果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思考：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多篇观点不一致如何处理？跨文献归纳对比如何优化工作流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600200"/>
            <a:ext cx="5602071" cy="48463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8143" y="1600200"/>
            <a:ext cx="5602071" cy="566928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15303" y="1698998"/>
            <a:ext cx="532775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实训二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数据洞察与可视化助手</a:t>
            </a:r>
            <a:endParaRPr sz="2400" b="1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61023" y="2276856"/>
            <a:ext cx="5236311" cy="3888620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 err="1">
                <a:solidFill>
                  <a:srgbClr val="F58020"/>
                </a:solidFill>
                <a:latin typeface="微软雅黑" panose="020B0503020204020204" charset="-122"/>
                <a:ea typeface="微软雅黑" panose="020B0503020204020204" charset="-122"/>
              </a:rPr>
              <a:t>目标：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理解通过插件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/MCP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调用外部计算与绘图工具的原理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任务：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准备结构化科研数据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(CSV/Excel) →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创建"数据洞察助手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" →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配置图表插件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设计"数据读取→分析计算→图表生成→结果解读"工作流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sz="200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000" b="1" dirty="0" err="1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检查数据</a:t>
            </a:r>
            <a:r>
              <a:rPr sz="200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读取、计算和图表输出，保存过程，并记录仍需人工处理的问题</a:t>
            </a:r>
            <a:r>
              <a:rPr sz="200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74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>
                <a:solidFill>
                  <a:srgbClr val="0066CC"/>
                </a:solidFill>
                <a:latin typeface="微软雅黑" panose="020B0503020204020204" charset="-122"/>
                <a:ea typeface="微软雅黑" panose="020B0503020204020204" charset="-122"/>
              </a:rPr>
              <a:t>本章小结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2847" y="1188720"/>
            <a:ext cx="22860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554480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609344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智能体基础</a:t>
            </a:r>
            <a:endParaRPr sz="20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25880" y="1975104"/>
            <a:ext cx="434340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模型负</a:t>
            </a:r>
            <a:r>
              <a:rPr sz="16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责理解与规划，工具执行操作，并根据反馈调整任务步骤</a:t>
            </a:r>
            <a:r>
              <a:rPr sz="16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1888" y="1554480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61888" y="1554480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39128" y="1554480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22008" y="1609344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记忆</a:t>
            </a:r>
            <a:r>
              <a:rPr sz="2000" b="1" i="0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sz="20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知识库</a:t>
            </a:r>
            <a:endParaRPr sz="20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22008" y="1975104"/>
            <a:ext cx="434340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知识库提供外部资料，RAG结合检索结果生成回答，仍需核对来源与内容</a:t>
            </a:r>
            <a:r>
              <a:rPr sz="16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98648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898648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2898648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25880" y="2953512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插件</a:t>
            </a:r>
            <a:r>
              <a:rPr sz="2000" b="1" i="0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 · 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319272"/>
            <a:ext cx="434340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插件连接外部能力，MC</a:t>
            </a:r>
            <a:r>
              <a:rPr sz="16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sz="16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规范交互</a:t>
            </a:r>
            <a:r>
              <a:rPr sz="16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方式。接</a:t>
            </a:r>
            <a:r>
              <a:rPr sz="16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入后需</a:t>
            </a:r>
            <a:r>
              <a:rPr sz="16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检</a:t>
            </a:r>
            <a:r>
              <a:rPr sz="16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查参数、权</a:t>
            </a:r>
            <a:r>
              <a:rPr sz="16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限</a:t>
            </a:r>
            <a:r>
              <a:rPr sz="16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sz="16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返</a:t>
            </a:r>
            <a:r>
              <a:rPr sz="16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回结果</a:t>
            </a:r>
            <a:r>
              <a:rPr sz="16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61888" y="2898648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61888" y="2898648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39128" y="2898648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22008" y="2953512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工</a:t>
            </a:r>
            <a:r>
              <a:rPr sz="2000" b="1" i="0" dirty="0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作流</a:t>
            </a:r>
            <a:r>
              <a:rPr sz="20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设计</a:t>
            </a:r>
            <a:endParaRPr sz="20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22008" y="3319272"/>
            <a:ext cx="434340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节点与连接规定执行步骤，分支、循环和停止条件帮助控制任务过程</a:t>
            </a:r>
            <a:r>
              <a:rPr sz="16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242816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242816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4242816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25880" y="4297680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多智能体协作</a:t>
            </a:r>
            <a:endParaRPr sz="20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25880" y="4663440"/>
            <a:ext cx="434340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sz="16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任</a:t>
            </a:r>
            <a:r>
              <a:rPr sz="16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务选择协作模式，比较不</a:t>
            </a:r>
            <a:r>
              <a:rPr sz="16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同</a:t>
            </a:r>
            <a:r>
              <a:rPr sz="16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意见的依据，规范通信</a:t>
            </a:r>
            <a:r>
              <a:rPr sz="16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并</a:t>
            </a:r>
            <a:r>
              <a:rPr sz="16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检查汇总结果</a:t>
            </a:r>
            <a:r>
              <a:rPr sz="16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61888" y="4242816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61888" y="4242816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39128" y="4242816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22008" y="4297680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微软雅黑" panose="020B0503020204020204" charset="-122"/>
                <a:ea typeface="微软雅黑" panose="020B0503020204020204" charset="-122"/>
              </a:rPr>
              <a:t>构建实践</a:t>
            </a:r>
            <a:endParaRPr sz="2000" b="1" i="0" dirty="0">
              <a:solidFill>
                <a:srgbClr val="004C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22008" y="4663440"/>
            <a:ext cx="434340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练习客</a:t>
            </a:r>
            <a:r>
              <a:rPr sz="16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服</a:t>
            </a:r>
            <a:r>
              <a:rPr sz="1600" b="0" i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、文献问答和技能包配置，用典型问题检查检索、工具调用与回答依据</a:t>
            </a:r>
            <a:r>
              <a:rPr sz="1600" b="0" i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806440"/>
            <a:ext cx="11475720" cy="71323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5978390"/>
            <a:ext cx="114757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Skill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s（7.4）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用于复用任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务规范与资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源；智能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体的执行结果仍需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研究</a:t>
            </a:r>
            <a:r>
              <a:rPr sz="2400" b="1" i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者核</a:t>
            </a:r>
            <a:r>
              <a:rPr sz="2400" b="1" i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查。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94544" y="6446520"/>
            <a:ext cx="614271" cy="1692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75</a:t>
            </a:r>
            <a:r>
              <a:rPr sz="1100" dirty="0">
                <a:solidFill>
                  <a:srgbClr val="999999"/>
                </a:solidFill>
                <a:latin typeface="Arial" panose="020B0604020202020204"/>
              </a:rPr>
              <a:t> / </a:t>
            </a:r>
            <a:r>
              <a:rPr lang="en-US" sz="1100" dirty="0">
                <a:solidFill>
                  <a:srgbClr val="999999"/>
                </a:solidFill>
                <a:latin typeface="Arial" panose="020B0604020202020204"/>
              </a:rPr>
              <a:t>76</a:t>
            </a:r>
            <a:endParaRPr sz="1100" dirty="0">
              <a:solidFill>
                <a:srgbClr val="99999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0" y="4114800"/>
            <a:ext cx="6858000" cy="2743200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THANKS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solidFill>
                  <a:srgbClr val="E6F2FC"/>
                </a:solidFill>
                <a:latin typeface="微软雅黑" panose="020B0503020204020204" charset="-122"/>
                <a:ea typeface="微软雅黑" panose="020B0503020204020204" charset="-122"/>
              </a:rPr>
              <a:t>感 谢 聆 听 ， 欢 迎 提 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 dirty="0" err="1">
                <a:solidFill>
                  <a:srgbClr val="E6F2FC"/>
                </a:solidFill>
                <a:latin typeface="微软雅黑" panose="020B0503020204020204" charset="-122"/>
                <a:ea typeface="微软雅黑" panose="020B0503020204020204" charset="-122"/>
              </a:rPr>
              <a:t>扬州大学</a:t>
            </a:r>
            <a:r>
              <a:rPr sz="1800" b="0" i="0" dirty="0">
                <a:solidFill>
                  <a:srgbClr val="E6F2FC"/>
                </a:solidFill>
                <a:latin typeface="微软雅黑" panose="020B0503020204020204" charset="-122"/>
                <a:ea typeface="微软雅黑" panose="020B0503020204020204" charset="-122"/>
              </a:rPr>
              <a:t>  ·  第 7 章  ·  </a:t>
            </a:r>
            <a:r>
              <a:rPr sz="1800" b="0" i="0" dirty="0" err="1">
                <a:solidFill>
                  <a:srgbClr val="E6F2FC"/>
                </a:solidFill>
                <a:latin typeface="微软雅黑" panose="020B0503020204020204" charset="-122"/>
                <a:ea typeface="微软雅黑" panose="020B0503020204020204" charset="-122"/>
              </a:rPr>
              <a:t>大模型智能体的原理与实践</a:t>
            </a:r>
            <a:endParaRPr sz="1800" b="0" i="0" dirty="0">
              <a:solidFill>
                <a:srgbClr val="E6F2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2489</Words>
  <Application>Microsoft Office PowerPoint</Application>
  <PresentationFormat>宽屏</PresentationFormat>
  <Paragraphs>656</Paragraphs>
  <Slides>76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85" baseType="lpstr">
      <vt:lpstr>等线</vt:lpstr>
      <vt:lpstr>宋体</vt:lpstr>
      <vt:lpstr>Microsoft YaHei</vt:lpstr>
      <vt:lpstr>Microsoft YaHei</vt:lpstr>
      <vt:lpstr>Arial</vt:lpstr>
      <vt:lpstr>Calibri</vt:lpstr>
      <vt:lpstr>Consolas</vt:lpstr>
      <vt:lpstr>Segoe UI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dc:description>generated using python-pptx</dc:description>
  <cp:lastModifiedBy>Windows 用户</cp:lastModifiedBy>
  <cp:revision>21</cp:revision>
  <dcterms:created xsi:type="dcterms:W3CDTF">2013-01-27T09:14:00Z</dcterms:created>
  <dcterms:modified xsi:type="dcterms:W3CDTF">2026-09-25T09:11:47Z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19BD663B9B024109B1C090AE5BC67E4E_12</vt:lpwstr>
  </property>
</Properties>
</file>