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5"/>
  </p:notesMasterIdLst>
  <p:sldIdLst>
    <p:sldId id="256" r:id="rId3"/>
    <p:sldId id="257" r:id="rId4"/>
    <p:sldId id="258" r:id="rId5"/>
    <p:sldId id="259" r:id="rId6"/>
    <p:sldId id="260" r:id="rId7"/>
    <p:sldId id="261" r:id="rId8"/>
    <p:sldId id="295" r:id="rId9"/>
    <p:sldId id="262" r:id="rId10"/>
    <p:sldId id="263" r:id="rId11"/>
    <p:sldId id="264" r:id="rId12"/>
    <p:sldId id="265" r:id="rId13"/>
    <p:sldId id="296" r:id="rId14"/>
    <p:sldId id="266" r:id="rId15"/>
    <p:sldId id="267" r:id="rId16"/>
    <p:sldId id="268" r:id="rId17"/>
    <p:sldId id="269" r:id="rId18"/>
    <p:sldId id="270" r:id="rId19"/>
    <p:sldId id="297" r:id="rId20"/>
    <p:sldId id="271" r:id="rId21"/>
    <p:sldId id="272" r:id="rId22"/>
    <p:sldId id="298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300" r:id="rId36"/>
    <p:sldId id="301" r:id="rId37"/>
    <p:sldId id="284" r:id="rId38"/>
    <p:sldId id="302" r:id="rId39"/>
    <p:sldId id="303" r:id="rId40"/>
    <p:sldId id="304" r:id="rId41"/>
    <p:sldId id="305" r:id="rId42"/>
    <p:sldId id="306" r:id="rId43"/>
    <p:sldId id="285" r:id="rId44"/>
    <p:sldId id="286" r:id="rId45"/>
    <p:sldId id="287" r:id="rId46"/>
    <p:sldId id="288" r:id="rId47"/>
    <p:sldId id="307" r:id="rId48"/>
    <p:sldId id="308" r:id="rId49"/>
    <p:sldId id="309" r:id="rId50"/>
    <p:sldId id="289" r:id="rId51"/>
    <p:sldId id="310" r:id="rId52"/>
    <p:sldId id="311" r:id="rId53"/>
    <p:sldId id="299" r:id="rId54"/>
    <p:sldId id="312" r:id="rId55"/>
    <p:sldId id="291" r:id="rId56"/>
    <p:sldId id="292" r:id="rId57"/>
    <p:sldId id="293" r:id="rId58"/>
    <p:sldId id="294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04" autoAdjust="0"/>
    <p:restoredTop sz="94671"/>
  </p:normalViewPr>
  <p:slideViewPr>
    <p:cSldViewPr snapToGrid="0" snapToObjects="1" showGuides="1">
      <p:cViewPr varScale="1">
        <p:scale>
          <a:sx n="82" d="100"/>
          <a:sy n="82" d="100"/>
        </p:scale>
        <p:origin x="9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2" Type="http://schemas.openxmlformats.org/officeDocument/2006/relationships/tableStyles" Target="tableStyles.xml"/><Relationship Id="rId61" Type="http://schemas.openxmlformats.org/officeDocument/2006/relationships/viewProps" Target="viewProps.xml"/><Relationship Id="rId60" Type="http://schemas.openxmlformats.org/officeDocument/2006/relationships/presProps" Target="presProps.xml"/><Relationship Id="rId6" Type="http://schemas.openxmlformats.org/officeDocument/2006/relationships/slide" Target="slides/slide4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43F8C7-86F6-4BAA-8A1E-469D5A01FDF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F4853-8495-4233-BC7C-E678941DCC9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1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1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1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1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1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1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1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1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1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1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1" Type="http://schemas.openxmlformats.org/officeDocument/2006/relationships/image" Target="../media/image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1" Type="http://schemas.openxmlformats.org/officeDocument/2006/relationships/image" Target="../media/image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49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8014447" y="3567953"/>
            <a:ext cx="4177248" cy="3290047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》</a:t>
            </a:r>
            <a:endParaRPr sz="5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 7 章   大模型智能体的原理与实践</a:t>
            </a:r>
            <a:endParaRPr sz="4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扬州大学</a:t>
            </a:r>
            <a:endParaRPr sz="2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Arrow 2"/>
          <p:cNvSpPr/>
          <p:nvPr/>
        </p:nvSpPr>
        <p:spPr>
          <a:xfrm>
            <a:off x="7680960" y="1417320"/>
            <a:ext cx="3802828" cy="5190565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sz="5400" b="1" i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24028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600200" y="2240280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2240280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智能体的基础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282092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20924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600200" y="2820924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2820924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智能体之记忆：专业知识库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3401568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600200" y="3401568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3401568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智能体之插件：MCP 协议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3982212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982212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600200" y="3982212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982212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智能体之思维：工作流设计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48640" y="4562856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62856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600200" y="4562856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4562856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48640" y="514350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143500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600200" y="5143500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0" y="5143500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智能体的构建（实战）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48640" y="572414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724144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600200" y="5724144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37360" y="5724144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本章实训</a:t>
            </a:r>
            <a:endParaRPr sz="20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导言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旁观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介入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的认知升级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901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r>
              <a:rPr sz="28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打破对话框玻璃墙的</a:t>
            </a:r>
            <a:r>
              <a:rPr sz="28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"知" 与 "行" </a:t>
            </a:r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合一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从只动口的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咨询助理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  → 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能干活的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个人助理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调用工具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操作软件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编排流程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1480" y="2697480"/>
            <a:ext cx="182880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7.1</a:t>
            </a:r>
            <a:endParaRPr sz="22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148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基础架构</a:t>
            </a:r>
            <a:endParaRPr sz="15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脑+手循环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感知规划行动记忆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331720" y="2697480"/>
            <a:ext cx="182880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7.2</a:t>
            </a:r>
            <a:endParaRPr sz="22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3172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3172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847784"/>
            <a:ext cx="181051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抑制大模型幻觉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51960" y="2697480"/>
            <a:ext cx="1828800" cy="7498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7.3</a:t>
            </a:r>
            <a:endParaRPr sz="22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5196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5196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协议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统一调用外部工具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172200" y="2697480"/>
            <a:ext cx="1828800" cy="7498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7.4</a:t>
            </a:r>
            <a:endParaRPr sz="22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17220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思维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7220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工作流编排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节点+连接+分支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92440" y="2697480"/>
            <a:ext cx="182880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7.5</a:t>
            </a:r>
            <a:endParaRPr sz="22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9244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协作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09244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0728" y="3829854"/>
            <a:ext cx="181051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多智能体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0012680" y="2697480"/>
            <a:ext cx="182880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268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7.6</a:t>
            </a:r>
            <a:endParaRPr sz="22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01268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实战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001268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67544" y="3834822"/>
            <a:ext cx="171907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搭建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客服+文献问答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02920" y="5491444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4495" y="5629581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核心跃迁：从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 → 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亲手构建属于自己的智能体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3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7.1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468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智能体的基础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智能体是大模型从"内容生成工具"走向"任务执行系统"的重要形态，具备感知、规划、行动与记忆能力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4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什么是智能体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"脑" 与 "手"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844459"/>
            <a:ext cx="6106453" cy="57620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=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围绕特定目标，感知信息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理解任务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制定计划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采取行动的智能系统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2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🧠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大模型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= "脑"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理解用户意图、分析任务目标、把复杂问题转化为清晰的执行思路；提供任务理解、知识推理与过程规划的基础能力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🛠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工具系统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= "手"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连接外部环境：检索资料、处理数据、生成文档、调用业务接口，把推理结果落实为具体操作，并把结果回传给模型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🔄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运行方式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循环推进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理解任务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调用工具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获取反馈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判断是否完成或调整思路，在持续获得新信息中修正判断，使任务逐步向目标推进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192975" y="5303520"/>
            <a:ext cx="4480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"脑" 与 "手"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5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665" y="1906188"/>
            <a:ext cx="5516462" cy="3217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智能体的核心能力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任务闭环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协同构成持续运行的任务闭环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信息入口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接收并理解外部输入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文本指令、结构化数据、图像多模态、工具执行反馈。决定智能体能理解任务的范围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任务组织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6328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把复杂目标拆解为可执行步骤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观察"循环，按进展动态调整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区别于固定自动化脚本的关键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实际执行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6326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借助工具"做"事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检索、代码执行、文件读写、接口调用、界面操作。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能力越强风险越高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需权限边界与确认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持续支撑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26328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保持长任务连续性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工作记忆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情节记忆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语义记忆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外部记忆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外部记忆突破上下文窗口限制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6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智能体的核心能力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任务闭环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2"/>
          <a:srcRect t="5160"/>
          <a:stretch>
            <a:fillRect/>
          </a:stretch>
        </p:blipFill>
        <p:spPr>
          <a:xfrm>
            <a:off x="2670041" y="795528"/>
            <a:ext cx="5937213" cy="563032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文本框 26"/>
          <p:cNvSpPr txBox="1"/>
          <p:nvPr/>
        </p:nvSpPr>
        <p:spPr>
          <a:xfrm>
            <a:off x="4069976" y="6283374"/>
            <a:ext cx="30973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600" dirty="0">
                <a:latin typeface="微软雅黑" panose="020B0503020204020204" charset="-122"/>
                <a:ea typeface="微软雅黑" panose="020B0503020204020204" charset="-122"/>
              </a:rPr>
              <a:t>图</a:t>
            </a:r>
            <a:r>
              <a:rPr lang="en-US" altLang="zh-CN" sz="1600" dirty="0">
                <a:latin typeface="微软雅黑" panose="020B0503020204020204" charset="-122"/>
                <a:ea typeface="微软雅黑" panose="020B0503020204020204" charset="-122"/>
              </a:rPr>
              <a:t>7-2  </a:t>
            </a:r>
            <a:r>
              <a:rPr lang="zh-CN" altLang="zh-CN" sz="1600" dirty="0">
                <a:latin typeface="微软雅黑" panose="020B0503020204020204" charset="-122"/>
                <a:ea typeface="微软雅黑" panose="020B0503020204020204" charset="-122"/>
              </a:rPr>
              <a:t>智能体核心能力协同机制</a:t>
            </a:r>
            <a:endParaRPr lang="zh-CN" altLang="zh-CN" sz="1600" dirty="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7.1.3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智能体从对话能力到任务能力的演进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智能体的核心变化：把大模型的"语言能力"转化为"执行任务的能力</a:t>
            </a:r>
            <a:r>
              <a:rPr sz="24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"——</a:t>
            </a:r>
            <a:endParaRPr sz="24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理解意图、拆解步骤、调用工具、运用知识，并依据执行结果调整后续操作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-1" y="6182011"/>
            <a:ext cx="1219169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普通大模型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工具增强型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规划执行型：从"对话程序"到"科研互助程序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c9c30df5-0e4a-4a4c-a844-c7703db90b7d"/>
          <p:cNvPicPr>
            <a:picLocks noChangeAspect="1"/>
          </p:cNvPicPr>
          <p:nvPr/>
        </p:nvPicPr>
        <p:blipFill>
          <a:blip r:embed="rId2"/>
          <a:srcRect t="11216" b="14639"/>
          <a:stretch>
            <a:fillRect/>
          </a:stretch>
        </p:blipFill>
        <p:spPr>
          <a:xfrm>
            <a:off x="2248730" y="1932941"/>
            <a:ext cx="7763950" cy="41639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7.1.3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智能体的主流分类范式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表 7-1  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主流智能体分类范式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1828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1828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32918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核心特征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55767" y="1554480"/>
            <a:ext cx="38404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5767" y="1644134"/>
            <a:ext cx="3840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适用场景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296247" y="1554480"/>
            <a:ext cx="25603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6247" y="1644134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主要局限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35127" y="2103120"/>
            <a:ext cx="182880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287" y="2383572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问答型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163927" y="2103120"/>
            <a:ext cx="32918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1087" y="239896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解释、回答、文本生成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55767" y="2103120"/>
            <a:ext cx="384048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2927" y="239896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概念学习、文字润色、思路启发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296247" y="2103120"/>
            <a:ext cx="2560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3407" y="2260461"/>
            <a:ext cx="22860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缺乏长期记忆与复杂规划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35127" y="297180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287" y="325225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知识增强型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163927" y="2971800"/>
            <a:ext cx="3291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01087" y="326764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先检索知识库再回答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(RAG)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455767" y="297180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2927" y="326764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论文问答、资料查询、教材辅助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296247" y="2971800"/>
            <a:ext cx="2560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3407" y="326764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高度依赖知识库质量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35127" y="3840480"/>
            <a:ext cx="182880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2287" y="41209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工具调用型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163927" y="3840480"/>
            <a:ext cx="32918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01087" y="413632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连接并调用外部工具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455767" y="3840480"/>
            <a:ext cx="384048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2927" y="413632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数据分析、代码调试、图表、检索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296247" y="3840480"/>
            <a:ext cx="2560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33407" y="413632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需配置与维护工具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35127" y="470916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2287" y="498961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规划执行型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163927" y="4709160"/>
            <a:ext cx="3291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01087" y="4866501"/>
            <a:ext cx="301752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任务拆解、分步推进、动态调整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455767" y="470916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92927" y="500500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开题报告、综述写作、实验设计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296247" y="4709160"/>
            <a:ext cx="2560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33407" y="500500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复杂任务仍需人工审核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7200" y="5713250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并非架构越复杂越好：按任务选型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解释概念用问答型，整理资料用知识增强型，处理数据用工具调用型，连续研究用规划执行型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7.2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41544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智能体之记忆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借助外部专业知识库，让智能体"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带着资料作答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减少大模型幻觉，提升专业性与可追溯性</a:t>
            </a:r>
            <a:r>
              <a:rPr sz="18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8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10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为什么需要专业知识库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对抗幻觉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960120"/>
            <a:ext cx="9519622" cy="47389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大模型幻觉的根源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它并非像数据库逐条存储事实，而是从海量文本中学习语言模式与知识规律。当信息稀疏、矛盾或属于训练截止后的新知识时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模型不会坦承"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我不知道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而是从概率空间</a:t>
            </a:r>
            <a:r>
              <a:rPr sz="22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拼凑出一个"看起来最像答案"的序列</a:t>
            </a:r>
            <a:r>
              <a:rPr sz="22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2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专业场景尤为危险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编造不存在的论文标题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作者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摘要；混淆小众术语概念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2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解决之道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专业知识库</a:t>
            </a:r>
            <a:r>
              <a:rPr lang="zh-CN" altLang="en-US"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由论文、教材、文档、实验记录组成，提供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可检索、可更新、可追溯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的知识来源。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先检索相关内容，再基于资料生成回答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为什么需要专业知识库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对抗幻觉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62269" y="5384164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大模型幻觉的两个例子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ChatGPT Image May 24, 2026, 10_13_52 PM"/>
          <p:cNvPicPr>
            <a:picLocks noChangeAspect="1"/>
          </p:cNvPicPr>
          <p:nvPr/>
        </p:nvPicPr>
        <p:blipFill rotWithShape="1">
          <a:blip r:embed="rId2"/>
          <a:srcRect b="14055"/>
          <a:stretch>
            <a:fillRect/>
          </a:stretch>
        </p:blipFill>
        <p:spPr bwMode="auto">
          <a:xfrm>
            <a:off x="960120" y="1572768"/>
            <a:ext cx="10543997" cy="3182037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检索增强生成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RAG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的完整流程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44034"/>
            <a:ext cx="11247120" cy="93903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模型与知识库分工：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模型负责理解问题、整合信息、生成自然语言回答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  <a:endParaRPr sz="22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知识库负责提供可靠、可持续更新的资料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它是智能体"外部记忆"的核心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2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1365" y="6189036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RAG：把人能读的普通资料，转化为智能体可检索、可调用、可追溯的外部知识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2561660d-8d9a-40eb-9d1a-4c6a44ff2df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215" y="1849276"/>
            <a:ext cx="7513997" cy="42735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知识入库与向量化检索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一份普通文档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智能体可检索调用的知识，需经过七步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文档解析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提取文字，保留标题层级、段落、表格、图注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7491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02927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02927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02927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791" y="2790480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文本清洗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094367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去除页眉页脚、页码、乱码、断行等干扰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512079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40095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0095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0095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4959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内容切片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31535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拆成完整语义单元，长度适中不丢上下文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49247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277263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7263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77263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2127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向量化入库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68703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文本语义→数字向量，连同原文与元数据入库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786415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914431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14431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914431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69295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问题检索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05871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问题转向量，按语义相似度召回相关片段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23583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551599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51599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551599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6463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上下文增强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643039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召回资料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用户问题一起提供给大模型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06075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0188767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88767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0188767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3631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答案生成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0280207" y="3291840"/>
            <a:ext cx="1344559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模型"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带着资料作答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可标注来源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向量化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把语义转成数字：意思相近的文本在向量空间中距离更近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按语义相似度检索，而非仅靠关键词匹配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7.2.3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让智能体检索得更准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四个关键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同样上传资料，回答质量差异往往不在模型，而在知识库质量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文档质量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准确性的起点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内容清晰、格式规范、结构完整；扫描件关注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OCR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准确度，避免重复版本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内容组织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让重点更易被找到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明确标题、小节编号、知识点划分、问答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步骤格式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边界清晰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19967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检索测试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以问答反馈优化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设计典型问题测试召回是否准确、是否遗漏、是否与原文一致，再针对性调整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199670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持续维护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让外部记忆保持可用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及时删除失效资料、补充新增、保留最新版本，避免新旧混杂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7.3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0" y="2487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智能体之插件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智能体的优势在于"行动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"——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突破知识边界，主动调用外部数据、工具与服务。MCP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让工具接入统一、规范、可复用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智能体如何调用外部工具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31837" y="943087"/>
            <a:ext cx="9546515" cy="55405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大模型的两点局限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内部知识有时间边界，无法保证掌握最新信息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擅长语言推理，却不适合精确计算、文件操作、数据库查询与外部系统交互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工具调用机制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理解需求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判断是否需要外部能力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选择合适工具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传递参数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工具执行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结果回传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继续生成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推进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典型例子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问实时数据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调用搜索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数据接口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统计一批数据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调用计算工具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整理文档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调用文件处理工具读取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摘要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格式化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→ 大模型不再"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凭自身知识回答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而是主动借助外部能力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智能体如何调用外部工具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35375" y="5773648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智能体工具调用流程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330" y="1042416"/>
            <a:ext cx="9414650" cy="46644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协议的基本思想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0257" y="4285849"/>
            <a:ext cx="9777437" cy="209376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三大核心能力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让智能体接触外部信息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让智能体执行具体操作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提示模板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帮助智能体规范地组织任务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越开放越需权限控制：敏感操作应保留用户确认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人工审核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56057" y="4709230"/>
            <a:ext cx="541661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从 "N×M" 到 "N+M"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的集成模式对比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33016" y="6446520"/>
            <a:ext cx="575799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642" y="2007691"/>
            <a:ext cx="7243014" cy="2669226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399766" y="801651"/>
            <a:ext cx="10356148" cy="1634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问题：工具</a:t>
            </a:r>
            <a:r>
              <a:rPr lang="en-US" altLang="zh-CN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各自为战</a:t>
            </a:r>
            <a:r>
              <a:rPr lang="en-US" altLang="zh-CN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lang="en-US" altLang="zh-CN" sz="24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不同工具有不同的数据格式、认证方式、接口规范。若每个应用都为每个工具单独适配 → </a:t>
            </a:r>
            <a:r>
              <a:rPr lang="en-US" altLang="zh-CN" sz="20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N×M </a:t>
            </a:r>
            <a:r>
              <a:rPr lang="zh-CN" altLang="en-US" sz="20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的高成本。</a:t>
            </a:r>
            <a:endParaRPr lang="zh-CN" altLang="en-US" sz="20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399766" y="2232023"/>
            <a:ext cx="4366035" cy="22152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en-US" altLang="zh-CN"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altLang="en-US"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的核心思想：</a:t>
            </a:r>
            <a:endParaRPr lang="zh-CN" altLang="en-US"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为模型与工具建立统一交互规范，让工具以标准方式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说明</a:t>
            </a:r>
            <a:r>
              <a:rPr lang="en-US" altLang="zh-CN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我能做什么、需要什么输入、会返回什么</a:t>
            </a:r>
            <a:r>
              <a:rPr lang="en-US" altLang="zh-CN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→ 集成模式从 </a:t>
            </a:r>
            <a:r>
              <a:rPr lang="en-US" altLang="zh-CN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N×M </a:t>
            </a:r>
            <a:r>
              <a:rPr lang="zh-CN" altLang="en-US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降为 </a:t>
            </a:r>
            <a:r>
              <a:rPr lang="en-US" altLang="zh-CN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N+M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，减少重复开发与适配。</a:t>
            </a:r>
            <a:endParaRPr lang="zh-CN" altLang="en-US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7.3.3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插件扩展智能体的应用场景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1405" y="1158240"/>
            <a:ext cx="10183010" cy="446332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知识库解决"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知道什么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插件解决"还能做什么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22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四类常见插件能力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信息检索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搜索工具、知识库接口、专业数据库，减少凭空生成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计算与分析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计算引擎处理数据，模型解释结果，保留过程可查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文件与内容处理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读取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PDF/Word/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表格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网页，摘要、改写、结构化输出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外部服务与业务系统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通过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API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接入数据平台、项目管理、客服系统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插件越多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 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越好：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过多插件会增加调用混乱、任务路径不清。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应按任务目标选择必要插件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配置应服务于任务本身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7.3.3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插件扩展智能体的应用场景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29112" y="6377269"/>
            <a:ext cx="533346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科研工作台视角下的多渠道工具连接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9" name="图片 8" descr="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166" y="910828"/>
            <a:ext cx="7791170" cy="51947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7.4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468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智能体之思维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仅有知识与工具还不够，智能体还需要按清晰逻辑组织任务流程。工作流是智能体执行任务的"路线图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用工作流定义智能体的思考路径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4271" y="1060811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把杂乱的自由对话，拆解为目标明确、可检查、可复用的节点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2755315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任务理解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300427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把模糊需求转为清晰任务（主题、范围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zh-CN" altLang="en-US"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年限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目标</a:t>
            </a:r>
            <a:r>
              <a:rPr sz="13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13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02787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230803" y="1920240"/>
            <a:ext cx="2755315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0803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30803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5667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资料检索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22243" y="3291840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调用文献数据库获取证据按年份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期刊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主题聚类过滤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6783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95847" y="1920240"/>
            <a:ext cx="2755315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5847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095847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0711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分析计算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87287" y="3328416"/>
            <a:ext cx="2572435" cy="680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调Python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/R/MATLAB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做统计分析与模型运行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832875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960891" y="1920240"/>
            <a:ext cx="2755315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0891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960891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755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结果生成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052331" y="3291840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整理成摘要、报告、图表并检查后形成可交付成果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任务越清晰，后续节点越易执行、越易检查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工作流为大模型设计了一条可靠的"思考路径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可视化逻辑编排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节点与连接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723" y="1533870"/>
            <a:ext cx="5415336" cy="49721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输入主题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文献检索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论文筛选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精读摘要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整理证据矩阵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生成初稿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人工审阅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每个节点都有明确职责，可检查、可修改、可复用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连接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= 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如何协同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箭头不只代表"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下一步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还包含三层含义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执行顺序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前后依赖，不能随意跳步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数据传递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前节点输出成为后节点输入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控制关系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智能体逻辑判断与任务调度的依据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价值不在于把界面画复杂，而在于让任务变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透明、可查、可改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17776" y="5756871"/>
            <a:ext cx="477676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智能体工作流中的节点与连接逻辑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2653" y="1766710"/>
            <a:ext cx="6196162" cy="3487262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08049" y="907910"/>
            <a:ext cx="10355785" cy="8564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节点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= "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做什么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“  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把复杂科研任务拆成若干职责清晰的小步骤，例如文献综述：</a:t>
            </a:r>
            <a:endParaRPr kumimoji="0" lang="zh-CN" altLang="en-US" sz="22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7.4.3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处理复杂科研任务的逻辑判断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表 7-2  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科研智能体中的条件分支与循环机制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007" y="1613357"/>
            <a:ext cx="2011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机制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9687" y="1613357"/>
            <a:ext cx="4023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作用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55304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1613357"/>
            <a:ext cx="51206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科研示例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167" y="242137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条件分支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66847" y="2298265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满足条件进入下一步，否则切换到另一路径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53047" y="210312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2298265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综述内容能对应真实文献→润色；找不到证据→回到证据矩阵复查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10896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167" y="342721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循环机制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108960"/>
            <a:ext cx="40233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66847" y="330410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结果不达标时返回前置节点反复修正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53047" y="3108960"/>
            <a:ext cx="51206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0207" y="3304105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文献检索不足→重新检索，直到满足条件或达到停止上限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411480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167" y="443305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停止条件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411480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66847" y="44638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防止任务无限重复，保证可终止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53047" y="411480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4309943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设定最大循环次数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收敛阈值，避免陷入死循环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458182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有条件的分支与循环，是智能体从"自动执行工具"走向"科研协作助手"的关键一步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7.5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0" y="261338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当单智能体触及能力天花板，通过角色分工与任务分配，多个智能体协同形成合力，逼近更高阶智能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多智能体协作模式探索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910943"/>
            <a:ext cx="11247120" cy="135965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主从式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主智能体统筹拆解、从智能体执行，效率高但有"单点故障"风险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对等式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平等辩论质询，打破信息茧房，但通信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算力成本高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多模型独立推断、少数服从多数，结果最稳但成本倍增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-71718" y="6085780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为硅基团队设计科学的"协作拓扑结构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rcRect t="18269" b="17845"/>
          <a:stretch>
            <a:fillRect/>
          </a:stretch>
        </p:blipFill>
        <p:spPr>
          <a:xfrm>
            <a:off x="803705" y="2374930"/>
            <a:ext cx="10584284" cy="3692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冲突解决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多智能体的意见分歧处理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0214" y="952835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各智能体有独立"人格设定"与记忆库，面对同一问题可能给出相反答案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19256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少数服从多数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≥3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个智能体各自作答，系统采纳得票最多者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适合客观事实类，但可能忽视少数有效输出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仲裁者模式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指定专门裁决者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仲裁智能体不执行任务，只听取各方结果与推理，按预设规则或宏观目标做最终裁决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元认知机制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59" y="4850892"/>
            <a:ext cx="541919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用置信度分数表态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A 答"42"(90%)、B 答"43"(20%)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优先采用高置信度。需智能体能评估自身认知不确定性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通信协议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59414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统一多智能体的"语言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endParaRPr sz="22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JSON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标准化消息格式，统一字段规范避免解析失败；黑板模式：共享存储空间，读写解耦、按需触发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7.6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59438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智能体的构建（实战</a:t>
            </a:r>
            <a:r>
              <a:rPr sz="3800" b="1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把记忆、插件、工作流、协作等理论能力，转化为具体操作：智能客服与科研文献问答两个案例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03509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构建要点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9991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以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平台为例：知识增强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流程控制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结果自评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角色与技能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身份+职责+回复风格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电商平台智能客服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问题分类→优先检索知识库→基于召回回答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安全限制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守住客服边界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不编造规则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订单状态；不索要密码、验证码、银行卡密码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处理流程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1" y="4906742"/>
            <a:ext cx="5172302" cy="78007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用户输入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问题判断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知识库检索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答案生成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转人工提示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4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格式+置信度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结构化输出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问题类型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依据来源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置信度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；&lt;60%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建议转人工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撰写功能性提示词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55253"/>
            <a:ext cx="6583680" cy="55921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提示词四件套：角色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工作流程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限制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格式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20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角色（身份+职责+风格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你是电商平台智能客服助手，负责产品咨询、订单、退款售后</a:t>
            </a: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…</a:t>
            </a:r>
            <a:r>
              <a:rPr sz="2000" b="0" dirty="0" err="1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优先检索知识库，礼貌准确回答</a:t>
            </a: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。"</a:t>
            </a:r>
            <a:endParaRPr sz="2000" b="0" dirty="0">
              <a:solidFill>
                <a:srgbClr val="333333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工作流程（问题分类→检索→依据回答→转人工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判断类型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优先检索知识库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有则据库回答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无则不编造、引导补充信息或转人工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限制（安全边界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不编造平台规则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订单状态；不索要密码、验证码、银行卡密码等敏感信息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格式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置信度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问题类型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依据来源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置信度；置信度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&lt;60%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时必须建议补充信息或转人工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217462" y="6512284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智能体提示词编排页面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208" y="844034"/>
            <a:ext cx="4177082" cy="5587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登录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新建智能体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填写名称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功能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图标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编排提示词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4209" y="3429000"/>
            <a:ext cx="3604391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主页（左上角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"+"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115550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第一步：明确智能体身份与服务对象，让它围绕客服任务回答，避免答非所问</a:t>
            </a:r>
            <a:r>
              <a:rPr sz="15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5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272" y="1365123"/>
            <a:ext cx="2871453" cy="46001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502423" y="3428999"/>
            <a:ext cx="5629503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16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16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16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创建智能体窗口页面</a:t>
            </a:r>
            <a:endParaRPr sz="16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59" y="859158"/>
            <a:ext cx="4553495" cy="58466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56189" y="3433093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3  </a:t>
            </a:r>
            <a:r>
              <a:rPr lang="zh-CN" alt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编排提示词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961" y="849171"/>
            <a:ext cx="4459771" cy="59661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为智能体补充搜索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查询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计算等外部能力，并设置插件参数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39061" y="3079999"/>
            <a:ext cx="186975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添加插件页面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780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573" y="6225578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插件按任务目标选择必要项即可，不必盲目堆叠；配置应服务于任务本身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585" y="1370480"/>
            <a:ext cx="7931789" cy="46501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43112" y="3648692"/>
            <a:ext cx="368594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插件参数编辑页面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016" y="937622"/>
            <a:ext cx="7264096" cy="49827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734867" y="5410491"/>
            <a:ext cx="368594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编辑插件参数页面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95" y="959154"/>
            <a:ext cx="11640804" cy="39693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18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33769" y="6377269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17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智能体开场白页面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5" y="1405693"/>
            <a:ext cx="7871449" cy="44921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1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63088" y="6429791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18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自定义提示词页面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43" y="1417320"/>
            <a:ext cx="10050913" cy="47161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18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11728" y="6500380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选择语言和音色页面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911" y="1417320"/>
            <a:ext cx="6855320" cy="50698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18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902403" y="3886867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智能体发布页面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54" y="1299296"/>
            <a:ext cx="7477231" cy="54829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知识库增强回答示例（RAG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935" y="934579"/>
            <a:ext cx="6583680" cy="557953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示例问题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我已申请退款三天了，为什么还没到账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？"</a:t>
            </a:r>
            <a:endParaRPr sz="22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处理逻辑（先检索，后回答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判断类型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退款售后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检索：退款到账规则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审核流程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各支付方式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基于召回内容生成结构化回答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无法查具体订单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提示订单号或转人工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结构化输出（节选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66CC"/>
                </a:solidFill>
                <a:latin typeface="Consolas" panose="020B0609020204030204"/>
                <a:ea typeface="Consolas" panose="020B0609020204030204"/>
              </a:rPr>
              <a:t>证据充分性：一般</a:t>
            </a:r>
            <a:r>
              <a:rPr sz="2000" b="1" dirty="0">
                <a:solidFill>
                  <a:srgbClr val="0066CC"/>
                </a:solidFill>
                <a:latin typeface="Consolas" panose="020B0609020204030204"/>
                <a:ea typeface="Consolas" panose="020B0609020204030204"/>
              </a:rPr>
              <a:t> | 置信度：70%</a:t>
            </a:r>
            <a:endParaRPr sz="2000" b="1" dirty="0">
              <a:solidFill>
                <a:srgbClr val="0066CC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1" dirty="0">
              <a:solidFill>
                <a:srgbClr val="0066CC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✦ 置信度不是"</a:t>
            </a: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真实正确率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而是依据召回结果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endParaRPr lang="en-US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证据充分性与用户信息完整度给出的可靠性提示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79615" y="5962889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7-2</a:t>
            </a:r>
            <a:r>
              <a:rPr lang="en-US"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sz="16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知识库增强客服回答效果示例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843148"/>
            <a:ext cx="5973775" cy="50547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搭建全流程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依托知识库减少幻觉，提高学术问答的准确性与可信度</a:t>
            </a:r>
            <a:endParaRPr sz="2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上传论文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综述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笔记配置分段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(500-800字)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47773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75789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75789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75789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0653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撰写提示词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67229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科研助手角色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检索+溯源+拒绝编造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057802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185818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85818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185818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0682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77258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填写名称与功能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编辑人设与回复逻辑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6783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095847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5847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095847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0711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挂载知识库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187287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绑定文献库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召回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5-8 条, 匹配度≥0.5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77860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005876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5876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005876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0740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优化体验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097316" y="3291840"/>
            <a:ext cx="1617421" cy="612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与引导问题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787889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000" b="1" i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915905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15905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  <a:endParaRPr sz="24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915905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70769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007345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测库内问题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库外问题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确认拒绝编造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双测试法：库内问题→检查是否基于召回片段作答并标注来源；库外问题→检查是否拒绝编造、提示补充文献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17285" y="3010151"/>
            <a:ext cx="2477259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7-2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选择本地文档导入知识库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09" y="6167735"/>
            <a:ext cx="1139982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分段策略：格式规范论文用自动分段；结构复杂用自定义（500-800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字符，重叠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50-100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字符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）。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679" y="1397972"/>
            <a:ext cx="6644321" cy="471087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82521" y="6486108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23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上传科研文献资料页面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/>
          <a:srcRect l="35771" t="5074" r="34631" b="70341"/>
          <a:stretch>
            <a:fillRect/>
          </a:stretch>
        </p:blipFill>
        <p:spPr>
          <a:xfrm>
            <a:off x="2062534" y="1946866"/>
            <a:ext cx="8837881" cy="3920236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416216" y="3649227"/>
            <a:ext cx="2285463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知识库文档分段设置页面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2"/>
          <a:srcRect t="38831" r="78118" b="26809"/>
          <a:stretch>
            <a:fillRect/>
          </a:stretch>
        </p:blipFill>
        <p:spPr>
          <a:xfrm>
            <a:off x="3180511" y="1512331"/>
            <a:ext cx="6235705" cy="5168087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37850" y="3444717"/>
            <a:ext cx="297096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25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知识库数据处理完成页面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93139"/>
            <a:ext cx="7827798" cy="536486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创建"科研文献助手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填写提示词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添加并绑定知识库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设置召回参数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86261" y="3243108"/>
            <a:ext cx="40699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26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创建科研文献问答智能体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379" y="6146327"/>
            <a:ext cx="116430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只有将知识库挂载到智能体，提示词中的"检索知识库"才真正生效（召回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5-8 条，匹配度≥0.5）。</a:t>
            </a:r>
            <a:endParaRPr sz="20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317" y="1430030"/>
            <a:ext cx="3504468" cy="44005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08042"/>
            <a:ext cx="1124712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设定科研助手角色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设定知识库检索技能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设定回答限制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886927" y="2938617"/>
            <a:ext cx="281475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27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智能体提示词编辑页面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5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105" y="1277374"/>
            <a:ext cx="5220512" cy="56012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63088" y="2917357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28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智能体添加知识库入口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763087" y="6461908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29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选择并绑定科研文献知识库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/>
          <a:srcRect r="1125" b="78359"/>
          <a:stretch>
            <a:fillRect/>
          </a:stretch>
        </p:blipFill>
        <p:spPr>
          <a:xfrm>
            <a:off x="360581" y="3728228"/>
            <a:ext cx="11389459" cy="2439289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rcRect l="32127" t="27718" r="34989" b="64815"/>
          <a:stretch>
            <a:fillRect/>
          </a:stretch>
        </p:blipFill>
        <p:spPr>
          <a:xfrm>
            <a:off x="548535" y="1542905"/>
            <a:ext cx="11094623" cy="1265563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56503"/>
            <a:ext cx="86868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③：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5577" y="1283302"/>
            <a:ext cx="341154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同时测试库内问题</a:t>
            </a:r>
            <a:endParaRPr lang="en-US"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与库外问题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30589" y="3101807"/>
            <a:ext cx="251202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7-3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调试对话（库内问题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2920" y="2962153"/>
            <a:ext cx="2843605" cy="1384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库内问题</a:t>
            </a:r>
            <a:r>
              <a:rPr lang="zh-CN" altLang="en-US" sz="2400" b="1" i="0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应基于召回片段作答并标注来源</a:t>
            </a:r>
            <a:endParaRPr lang="en-US" sz="2400" b="1" i="0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endParaRPr lang="en-US" b="1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761" y="880483"/>
            <a:ext cx="5274828" cy="58880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56503"/>
            <a:ext cx="86868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③：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44452" y="3583158"/>
            <a:ext cx="207452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图 7-3</a:t>
            </a:r>
            <a:r>
              <a:rPr lang="en-US"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调试对话（库外问题</a:t>
            </a:r>
            <a:r>
              <a:rPr sz="2000" b="0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000" b="0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0060" y="2218880"/>
            <a:ext cx="2920702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库外问题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应拒绝编造，提示"暂无相关信息，建议补充文献</a:t>
            </a:r>
            <a:r>
              <a:rPr sz="2400" b="1" i="0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  <a:endParaRPr sz="2400" b="1" i="0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886" y="887407"/>
            <a:ext cx="5807902" cy="59705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7.7</a:t>
            </a:r>
            <a:endParaRPr sz="15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65176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本章实训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从"理解原理"到"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动手实践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两个实训题目，亲手构建知识库助手与数据洞察助手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两个动手案例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围绕真实科研场景，完整走通智能体搭建与测试流程</a:t>
            </a:r>
            <a:endParaRPr sz="2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8463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实训一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科研文献知识库助手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38886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目标：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掌握从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PDF/Word/TXT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创建专业知识库，理解解析→清洗→切片→向量化流程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收集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3-5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篇核心文献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建库并优化分段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编写"先检索后回答"提示词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挂载测试库内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库外问题，评价对减少幻觉、提升可追溯性的效果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思考：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多篇观点不一致如何处理？跨文献归纳对比如何优化工作流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8463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实训二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数据洞察与可视化助手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38886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目标：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理解通过插件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/MCP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调用外部计算与绘图工具的原理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准备结构化科研数据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(CSV/Excel)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创建"数据洞察助手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配置图表插件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设计"数据读取→分析计算→图表生成→结果解读"工作流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收益：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体验从自然语言需求到数据报告输出的自动化过程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本章小结</a:t>
            </a:r>
            <a:endParaRPr sz="5200" b="1" i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智能体基础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1975104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LLM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为脑、工具为手，以"感知-规划-行动-记忆"闭环推进；从对话能力演进到任务能力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2008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1975104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RAG"先检索后回答"抑制幻觉；解析→清洗→切片→向量化→检索→增强→生成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插件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MCP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工具调用打破知识边界；MCP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统一规范把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N×M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适配降为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N+M；资源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提示模板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思维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工作流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节点+连接定义思考路径；条件分支与循环让智能体按可控逻辑判断、返回与修正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投票三种拓扑；冲突用投票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仲裁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元认知化解；JSON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与黑板模式统一通信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</a:t>
            </a:r>
            <a:endParaRPr sz="2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739128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22008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构建与实训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搭建智能客服与科研文献问答；知识库+提示词+置信度，先检索后回答、拒绝编造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06440"/>
            <a:ext cx="114757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978390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从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语言生成系统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任务执行系统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—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让大模型真正学会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动手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THANKS</a:t>
            </a:r>
            <a:endParaRPr sz="11000" b="1" i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感 谢 聆 听 ， 欢 迎 提 问</a:t>
            </a:r>
            <a:endParaRPr sz="2800" b="0" i="0">
              <a:solidFill>
                <a:srgbClr val="E6F2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 err="1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扬州大学</a:t>
            </a:r>
            <a:r>
              <a:rPr sz="1800" b="0" i="0" dirty="0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  ·  第 7 章  ·  </a:t>
            </a:r>
            <a:r>
              <a:rPr sz="1800" b="0" i="0" dirty="0" err="1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大模型智能体的原理与实践</a:t>
            </a:r>
            <a:endParaRPr sz="1800" b="0" i="0" dirty="0">
              <a:solidFill>
                <a:srgbClr val="E6F2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8313</Words>
  <Application>WPS 演示</Application>
  <PresentationFormat>宽屏</PresentationFormat>
  <Paragraphs>983</Paragraphs>
  <Slides>56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56</vt:i4>
      </vt:variant>
    </vt:vector>
  </HeadingPairs>
  <TitlesOfParts>
    <vt:vector size="6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等线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z8d11</cp:lastModifiedBy>
  <cp:revision>12</cp:revision>
  <dcterms:created xsi:type="dcterms:W3CDTF">2013-01-27T09:14:00Z</dcterms:created>
  <dcterms:modified xsi:type="dcterms:W3CDTF">2026-06-11T01:34:58Z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19BD663B9B024109B1C090AE5BC67E4E_12</vt:lpwstr>
  </property>
</Properties>
</file>