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5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171460" y="28687"/>
            <a:ext cx="5020235" cy="3818965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777316" y="3137646"/>
            <a:ext cx="5414684" cy="3720353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生成式人工智能与科研素养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第 1 章   </a:t>
            </a:r>
            <a:r>
              <a:rPr sz="4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生成式人工智能概述</a:t>
            </a:r>
            <a:endParaRPr sz="4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337907" y="966540"/>
            <a:ext cx="4511040" cy="5711303"/>
          </a:xfrm>
          <a:prstGeom prst="rightArrow">
            <a:avLst>
              <a:gd name="adj1" fmla="val 50000"/>
              <a:gd name="adj2" fmla="val 4960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  <a:endParaRPr sz="5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468880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468880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468880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66CC"/>
                </a:solidFill>
                <a:latin typeface="Microsoft YaHei"/>
                <a:ea typeface="Microsoft YaHei"/>
              </a:rPr>
              <a:t>AI </a:t>
            </a:r>
            <a:r>
              <a:rPr sz="22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技术的发展</a:t>
            </a:r>
            <a:endParaRPr sz="22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145536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145536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145536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生成式 AI 的爆发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22192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2219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822192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3822192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大模型是如何"思考"的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98848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498848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49884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大模型的发展格局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75504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17550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5175504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5175504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AI 智能体与具身智能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5852160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5852160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在 AI 时代重新定义人类角色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08442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技术的发展</a:t>
            </a:r>
            <a:endParaRPr sz="4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从图灵的灵魂之问，到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寒冬中的复兴；这是一部跨越七十余载、人类不断在机器中重现智慧的哲学探索史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技术的发展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章节导言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93158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人工智能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0066CC"/>
                </a:solidFill>
                <a:latin typeface="Arial"/>
                <a:ea typeface="Arial"/>
              </a:rPr>
              <a:t>(Artificial Intelligence, AI)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的历史，与其说是一部冷冰冰的代码进化史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不如说是一部人类试图在机器中重现自身智慧的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哲学探索史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真正让这一愿景跨越理论边界、进入科学殿堂的转折点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并不始于复杂的电路板，而是始于二十世纪中叶那个直击灵魂的追问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如果智能可以被数学精确拆解，那么血肉之躯与钢铁架构之间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是否真的存在一道不可逾越的鸿沟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？"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机器能思考吗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877" y="888858"/>
            <a:ext cx="7274411" cy="588596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1.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图灵测试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：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一场关于"模仿"的游戏</a:t>
            </a:r>
            <a:endParaRPr sz="26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1950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年，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艾伦·图灵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(Alan Turing)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在论文《计算机器与智能》开篇抛出了震耳欲聋的问题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      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机器能思考吗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？"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由于"思考"过于抽象，他天才般地将其转化为可操作的实验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——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模仿游戏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即后世闻名的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图灵测试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房间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A（裁判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人类询问者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房间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B（人类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尽力证明自己是人类的普通人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房间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C（机器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试图伪装成人的计算机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如果误判率超过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30%，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机器即"通过测试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"——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拥有智能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5" y="1739153"/>
            <a:ext cx="4564178" cy="3884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66928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图灵测试原理示意图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达特茅斯会议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学科的诞生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8264562" cy="580901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2. 1956 年 ·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达特茅斯之夏</a:t>
            </a:r>
            <a:endParaRPr sz="26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图灵播下了火种，6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年后的美国新罕布什尔州汉诺威小镇，一群开创者第一次为这门学科正式命名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——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Artificial Intelligence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核心人物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约翰·麦卡锡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提出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人工智能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马文·闵斯基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神经网络早期先驱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克劳德·香农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信息论之父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学习的每一个方面或智能的任何特征，原则上都可以被精确描述，以至于可以制造一台机器来模拟它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乐观的预言虽引来了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"AI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寒冬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却确立了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符号主义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30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年的主导地位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608" y="2465430"/>
            <a:ext cx="4682839" cy="249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32333" y="5002021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1-2  1956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年达特茅斯会议的核心人物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符号主义的兴衰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巅峰：深蓝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6583680" cy="56720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1.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巅峰时刻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深蓝的"暴力美学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符号主义的核心信仰：智慧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=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一套精密复杂的逻辑运算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自上而下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"——人类抽象规则，机器永远不会出错。1997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年，IBM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深蓝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(Deep Blue)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正面挑战世界冠军卡斯帕罗夫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数百万个开局库规则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每秒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2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亿步棋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的恐怖算力</a:t>
            </a:r>
            <a:endParaRPr lang="en-US"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21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本质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=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穷举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规则确定、边界清晰的领域，机器即可凭借严密逻辑与计算速度，在人类引以为傲的智力领域实现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超车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3624"/>
            <a:ext cx="4750115" cy="3436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39496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1-3  1997 年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深蓝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对战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卡斯帕罗夫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符号主义的死穴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波兰尼悖论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281" y="980255"/>
            <a:ext cx="7143974" cy="580901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2.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致命缺陷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波兰尼悖论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(Polanyi's Paradox)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我们所知道的，远比我们能说出来的要多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人类的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直觉视界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认出一只猫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≈ 0.1 秒，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完全无需推理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这就是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隐性知识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机器的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逻辑陷阱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穷尽所有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if-then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仍无能为力。折耳猫、无须流浪猫、回头的猫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……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规则瞬间瘫痪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1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现实是流动的、模糊的；规则是僵硬的、孤立的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这是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发展史上第一次重大瓶颈，迫使科学家转向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——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与其教机器背规则，不如教机器像生物一样去学规律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。"</a:t>
            </a:r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5" y="2194560"/>
            <a:ext cx="429768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4" y="5597975"/>
            <a:ext cx="440376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1-4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波兰尼悖论：为何规则无法定义一只猫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连接主义的复兴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模仿生物神经元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185" y="771323"/>
            <a:ext cx="7442192" cy="617219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自下而上"智能不再被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"写"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进去，而被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"学"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出来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生物神经元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人工神经元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，三大核心组件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①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输入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对应树突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100" b="0" dirty="0">
                <a:solidFill>
                  <a:srgbClr val="333333"/>
                </a:solidFill>
                <a:latin typeface="Microsoft YaHei"/>
                <a:ea typeface="Microsoft YaHei"/>
              </a:rPr>
              <a:t>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吞噬原始数据，含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"+1"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偏置项调节底噪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②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权重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对应突触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100" b="0" dirty="0">
                <a:solidFill>
                  <a:srgbClr val="333333"/>
                </a:solidFill>
                <a:latin typeface="Microsoft YaHei"/>
                <a:ea typeface="Microsoft YaHei"/>
              </a:rPr>
              <a:t>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连接主义的灵魂，海量数据不断微调连接的粗细</a:t>
            </a:r>
            <a:endParaRPr sz="21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③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激活函数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对应放电阈值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决定信号是否足以点亮下一神经元</a:t>
            </a:r>
            <a:endParaRPr sz="21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现代大模型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004CA0"/>
                </a:solidFill>
                <a:latin typeface="Arial"/>
                <a:ea typeface="Arial"/>
              </a:rPr>
              <a:t>(</a:t>
            </a:r>
            <a:r>
              <a:rPr sz="2400" b="1" dirty="0">
                <a:solidFill>
                  <a:srgbClr val="004CA0"/>
                </a:solidFill>
                <a:latin typeface="Arial"/>
                <a:ea typeface="Arial"/>
              </a:rPr>
              <a:t>ChatGPT, DeepSeek </a:t>
            </a:r>
            <a:r>
              <a:rPr sz="2000" b="1" dirty="0">
                <a:solidFill>
                  <a:srgbClr val="004CA0"/>
                </a:solidFill>
                <a:latin typeface="Arial"/>
                <a:ea typeface="Arial"/>
              </a:rPr>
              <a:t>…)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的核心不再是百科全书，而是数千亿个数学公式编织的庞大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神经网络"存储的不是规则，而是在数学空间中亿万次训练形成的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连接权重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865" y="1989268"/>
            <a:ext cx="4381949" cy="35428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18811" y="5619988"/>
            <a:ext cx="36328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1-5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生物神经元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vs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人工神经元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AlphaGo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神之一手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724" y="657041"/>
            <a:ext cx="7436510" cy="628299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2.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历史转折点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· 2016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年的"神之一手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围棋的复杂度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&gt;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已知宇宙的原子总数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写规则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或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暴力穷举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注定无法取胜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背景：人类的经验高墙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布局阶段下在第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5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线，被视为"毫无章法的劣着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第 37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手：机器的直觉突围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AlphaGo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毫无征兆地将黑子落在第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5 线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解说员一片惊呼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是不是电脑出故障了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？" 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几十步后，它奠定了胜局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意义：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AlphaGo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没有被灌输这步棋的规则。它从数千万盘自我对弈中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"悟"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出了这一招。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机器第一次展示出超越人类经验的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直觉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 与 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创造力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728" y="1576013"/>
            <a:ext cx="4047547" cy="40475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68335" y="5669280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1-6  AlphaGo 的 "第 37 手"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6447" y="2403612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生成式</a:t>
            </a:r>
            <a:r>
              <a:rPr sz="4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的爆发</a:t>
            </a:r>
            <a:endParaRPr sz="4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黄仁勋称之为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的 "iPhone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时刻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从判别到生成，机器跨越了从理解到创造的临界点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判别式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vs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概念跨越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从“找不同”到“找规律并搞创作</a:t>
            </a:r>
            <a:r>
              <a:rPr sz="2500" b="1" i="0" dirty="0">
                <a:solidFill>
                  <a:srgbClr val="333333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72767"/>
            <a:ext cx="5010912" cy="4406691"/>
          </a:xfrm>
          <a:prstGeom prst="rect">
            <a:avLst/>
          </a:prstGeom>
          <a:solidFill>
            <a:srgbClr val="FFFFFF"/>
          </a:solidFill>
          <a:ln w="1524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5010912" cy="53035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625846"/>
            <a:ext cx="23774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判别式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682496"/>
            <a:ext cx="1600200" cy="31089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04488" y="1674912"/>
            <a:ext cx="147218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找不同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" y="2304288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任务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0072" y="2313206"/>
            <a:ext cx="3794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寻找事物边界并进行分类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2" y="2798064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比喻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70978" y="2808822"/>
            <a:ext cx="3794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擅长选择题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判断题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2" y="3370798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操作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70978" y="3372782"/>
            <a:ext cx="3794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高维信息压缩成标签或概率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9952" y="3970282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应用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70978" y="3855413"/>
            <a:ext cx="37947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人脸解锁、垃圾邮件、推荐系统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68096" y="4820675"/>
            <a:ext cx="1353312" cy="530352"/>
          </a:xfrm>
          <a:prstGeom prst="rect">
            <a:avLst/>
          </a:prstGeom>
          <a:solidFill>
            <a:srgbClr val="E6F2FC"/>
          </a:solidFill>
          <a:ln w="889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01186"/>
            <a:ext cx="12435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输入数据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2194560" y="4957835"/>
            <a:ext cx="210312" cy="237744"/>
          </a:xfrm>
          <a:prstGeom prst="rightArrow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95728" y="4820675"/>
            <a:ext cx="1353312" cy="530352"/>
          </a:xfrm>
          <a:prstGeom prst="rect">
            <a:avLst/>
          </a:prstGeom>
          <a:solidFill>
            <a:srgbClr val="E6F2FC"/>
          </a:solidFill>
          <a:ln w="889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50592" y="4901186"/>
            <a:ext cx="12435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识别边界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822192" y="4957835"/>
            <a:ext cx="210312" cy="237744"/>
          </a:xfrm>
          <a:prstGeom prst="rightArrow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23360" y="4820675"/>
            <a:ext cx="1353312" cy="530352"/>
          </a:xfrm>
          <a:prstGeom prst="rect">
            <a:avLst/>
          </a:prstGeom>
          <a:solidFill>
            <a:srgbClr val="E6F2FC"/>
          </a:solidFill>
          <a:ln w="889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78224" y="4901186"/>
            <a:ext cx="12435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输出标签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46520" y="1572768"/>
            <a:ext cx="5120640" cy="4406690"/>
          </a:xfrm>
          <a:prstGeom prst="rect">
            <a:avLst/>
          </a:prstGeom>
          <a:solidFill>
            <a:srgbClr val="FFFFFF"/>
          </a:solidFill>
          <a:ln w="1524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20" y="1572768"/>
            <a:ext cx="5120640" cy="53035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7688" y="1625846"/>
            <a:ext cx="23774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1682496"/>
            <a:ext cx="1600200" cy="31089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56648" y="1674912"/>
            <a:ext cx="147218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找规律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02552" y="2304288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任务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46848" y="2331494"/>
            <a:ext cx="3794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学习数据分布并从无到有生成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02552" y="2798064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比喻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98080" y="2798064"/>
            <a:ext cx="3794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能完成简答题和开放创作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02552" y="3347070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操作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98080" y="3291840"/>
            <a:ext cx="37947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提示词扩展为文本、图像或视频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02552" y="4035604"/>
            <a:ext cx="960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应用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98080" y="3958634"/>
            <a:ext cx="3985708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ChatGPT、Sora、Midjourney、DeepSeek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702552" y="4837176"/>
            <a:ext cx="1353312" cy="530352"/>
          </a:xfrm>
          <a:prstGeom prst="rect">
            <a:avLst/>
          </a:prstGeom>
          <a:solidFill>
            <a:srgbClr val="E6F2FC"/>
          </a:solidFill>
          <a:ln w="889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57416" y="4917687"/>
            <a:ext cx="12435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提示词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8129016" y="4974336"/>
            <a:ext cx="210312" cy="237744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330184" y="4837176"/>
            <a:ext cx="1353312" cy="530352"/>
          </a:xfrm>
          <a:prstGeom prst="rect">
            <a:avLst/>
          </a:prstGeom>
          <a:solidFill>
            <a:srgbClr val="E6F2FC"/>
          </a:solidFill>
          <a:ln w="889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85048" y="4917687"/>
            <a:ext cx="12435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分布学习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48" name="Right Arrow 47"/>
          <p:cNvSpPr/>
          <p:nvPr/>
        </p:nvSpPr>
        <p:spPr>
          <a:xfrm>
            <a:off x="9756648" y="4974336"/>
            <a:ext cx="210312" cy="237744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957816" y="4837176"/>
            <a:ext cx="1353312" cy="530352"/>
          </a:xfrm>
          <a:prstGeom prst="rect">
            <a:avLst/>
          </a:prstGeom>
          <a:solidFill>
            <a:srgbClr val="E6F2FC"/>
          </a:solidFill>
          <a:ln w="8890">
            <a:solidFill>
              <a:srgbClr val="B5D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12680" y="4917687"/>
            <a:ext cx="12435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生成内容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724144" y="3595744"/>
            <a:ext cx="676656" cy="457200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53278" y="2919088"/>
            <a:ext cx="70408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范式跃迁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判别式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与生成式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核心逻辑对比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9530" y="5269006"/>
            <a:ext cx="10532633" cy="141550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生成式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不再满足于寻找事物之间的边界，而是学习事物内部深层的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数据分布规律</a:t>
            </a:r>
            <a:r>
              <a:rPr lang="zh-CN" altLang="en-US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。当它看了几千万张猫的照片后，它学习到的不再是 </a:t>
            </a:r>
            <a:r>
              <a:rPr lang="en-US" altLang="zh-CN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如何区分猫和狗</a:t>
            </a:r>
            <a:r>
              <a:rPr lang="en-US" altLang="zh-CN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而是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猫这种生物在底层的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数字配方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（视觉基因图谱）上是如何构成的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</a:p>
        </p:txBody>
      </p:sp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774" y="764404"/>
            <a:ext cx="6935250" cy="40024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609448" y="4851923"/>
            <a:ext cx="121916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1-7  (a)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判别式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AI：寻找边界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 </a:t>
            </a:r>
            <a:r>
              <a:rPr lang="en-US" dirty="0">
                <a:solidFill>
                  <a:srgbClr val="333333"/>
                </a:solidFill>
                <a:latin typeface="Microsoft YaHei"/>
                <a:ea typeface="Microsoft YaHei"/>
              </a:rPr>
              <a:t>      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(b)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AI：学习分布并创造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14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ChatGPT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的诞生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人机交互的代际更迭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065" y="960120"/>
            <a:ext cx="7484633" cy="528887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2022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年底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600" b="1" dirty="0">
                <a:solidFill>
                  <a:srgbClr val="0066CC"/>
                </a:solidFill>
                <a:latin typeface="Arial"/>
                <a:ea typeface="Arial"/>
              </a:rPr>
              <a:t>OpenAI · ChatGPT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——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引发全球震动的火山口打破"手工作坊式"困境：一个基础模型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跨任务的惊人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泛化能力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。写情书、改代码、做攻略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……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同一窗口，举一反三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更深远的革命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—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人机交互范式的彻底翻转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打孔纸带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命令行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图形界面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自然语言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过去：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人类不断妥协，去学习机器语言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现在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人类的日常母语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直接成为最高级的编程语言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技术门槛极大降低，数十亿普通人瞬间拥有指挥超级算力的能力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882" y="1524000"/>
            <a:ext cx="4417449" cy="33835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203115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1-8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人机交互范式的代际更迭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15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Transformer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架构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注意力机制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156939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2017 · Google · "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Attention Is All You Need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早期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AI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单向阅读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记忆力极差，前言不搭后语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Transformer：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全局扫视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划重点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— 让 "it"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瞬间锁定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"animal" 与 "tired"。</a:t>
            </a:r>
            <a:endParaRPr sz="21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27" y="2518108"/>
            <a:ext cx="7491061" cy="37455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355080"/>
            <a:ext cx="121916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1-9  Transformer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自注意力机制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每一个词都与其他所有词互相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看一眼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16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97685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大模型是如何</a:t>
            </a:r>
            <a:r>
              <a:rPr sz="4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思考</a:t>
            </a:r>
            <a:r>
              <a:rPr sz="4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" 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祛魅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没有灵魂，没有思考；所有惊艳表现，都建立在一场宏大而精密的概率游戏之上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17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下一个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Token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预测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概率的魔术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185" y="930567"/>
            <a:ext cx="7481640" cy="580901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>
                <a:solidFill>
                  <a:srgbClr val="0066CC"/>
                </a:solidFill>
                <a:latin typeface="Arial"/>
                <a:ea typeface="Arial"/>
              </a:rPr>
              <a:t>Token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=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大模型处理信息的最小单位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字 / 词 /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词根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Hamburger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 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→ 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Ham + bur + ger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我们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是一个整体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Token；生僻词则可能逐字拆分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大模型在写作时极其单纯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根据上文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已生成内容，猜测下一个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Token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的概率分布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人工智能是未来的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 ___"  →  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发展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 (85%) / 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趋势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 (10%) / …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同问同模型，答案为何每次不同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？ 答：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温度参数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偶尔选第二第三概率的词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像掷骰子般产生灵光一闪，打破复读机模式，赋予机器类人的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创造力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与新鲜感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4" y="2079812"/>
            <a:ext cx="4519503" cy="32694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39496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1-10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基于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Token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预测的概率生成路径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18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智能的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涌现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" · Scaling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065" y="863315"/>
            <a:ext cx="6979310" cy="544667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涌现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(Emergence)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当系统基本单元数量越过临界点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系统突然展现原本不具备的、全新的高级能力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一滴水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≠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漩涡，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但亿万滴水汇成海洋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海啸涌现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单个神经元简单，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但千亿神经元相连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意识涌现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参数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=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大模型内部数以百亿计的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记忆齿轮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当齿轮被推到千亿级，并喂入整个互联网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内部齿轮被迫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自我重组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，去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压缩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 并 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理解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语言背后的逻辑、常识、因果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这便是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最迷人、也最难解释的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涌现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奇迹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874" y="1600867"/>
            <a:ext cx="5091126" cy="37272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39496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1-11  Scaling Law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下的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涌现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临界点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19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为什么大模型会一本正经地胡说八道？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566436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致命缺陷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6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6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幻觉</a:t>
            </a:r>
            <a:r>
              <a:rPr sz="2600" b="1" dirty="0">
                <a:solidFill>
                  <a:srgbClr val="F58020"/>
                </a:solidFill>
                <a:latin typeface="Microsoft YaHei"/>
                <a:ea typeface="Microsoft YaHei"/>
              </a:rPr>
              <a:t>" (Hallucination)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的第一大陷</a:t>
            </a:r>
            <a:r>
              <a:rPr lang="zh-CN" altLang="en-US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阱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传统搜索：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在现有数据库中精准检索，找不到就诚实说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无结果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大模型：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即便知识库中无相关信息，文字接龙本能仍会驱使它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根据概率拼凑出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读起来完美、内容却凭空捏造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的废话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为什么？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它本质上是一个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语言学家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而非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实体数据库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它记住的是行文韵律与搭配习惯，并非真实史料的硬盘拷贝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文献综述场景下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它能为你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接龙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出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伪造论文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连作者、期刊都"对仗工整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双刃剑：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不受现实约束的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发散性胡言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恰是构思小说情节与寻找研究灵感时的破壁器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驾驭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的关键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— 在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事实核查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 与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灵感激发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场景下抱持不同预期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20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训练三部曲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培养一名顶尖研究生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033" y="777240"/>
            <a:ext cx="7345222" cy="596989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①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预训练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ea typeface="Arial"/>
              </a:rPr>
              <a:t>(</a:t>
            </a:r>
            <a:r>
              <a:rPr sz="2400" b="1" dirty="0" err="1">
                <a:solidFill>
                  <a:srgbClr val="333333"/>
                </a:solidFill>
                <a:latin typeface="Arial"/>
                <a:ea typeface="Arial"/>
              </a:rPr>
              <a:t>通识积累</a:t>
            </a:r>
            <a:r>
              <a:rPr sz="2400" b="1" dirty="0">
                <a:solidFill>
                  <a:srgbClr val="333333"/>
                </a:solidFill>
                <a:latin typeface="Arial"/>
                <a:ea typeface="Arial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将婴儿关进国家图书馆苦读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10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年。整个互联网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模型阅读语料。此时它学富五车，却是个性格古怪的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书呆子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只会接龙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②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指令微调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ea typeface="Arial"/>
              </a:rPr>
              <a:t>(</a:t>
            </a:r>
            <a:r>
              <a:rPr sz="2400" b="1" dirty="0" err="1">
                <a:solidFill>
                  <a:srgbClr val="333333"/>
                </a:solidFill>
                <a:latin typeface="Arial"/>
                <a:ea typeface="Arial"/>
              </a:rPr>
              <a:t>专业指导</a:t>
            </a:r>
            <a:r>
              <a:rPr sz="2400" b="1" dirty="0">
                <a:solidFill>
                  <a:srgbClr val="333333"/>
                </a:solidFill>
                <a:latin typeface="Arial"/>
                <a:ea typeface="Arial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书呆子进入研究生阶段，导师手把手教问答示范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数万个高质量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问答对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" 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学会人类对话的礼仪与格式。不再漫无目的接龙，而是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精准解答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用户的问题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③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人类反馈强化学习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0066CC"/>
                </a:solidFill>
                <a:latin typeface="Arial"/>
                <a:ea typeface="Arial"/>
              </a:rPr>
              <a:t>RLHF</a:t>
            </a:r>
            <a:r>
              <a:rPr sz="2000" b="1" dirty="0">
                <a:solidFill>
                  <a:srgbClr val="333333"/>
                </a:solidFill>
                <a:latin typeface="Arial"/>
                <a:ea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ea typeface="Arial"/>
              </a:rPr>
              <a:t>(</a:t>
            </a:r>
            <a:r>
              <a:rPr sz="2400" b="1" dirty="0" err="1">
                <a:solidFill>
                  <a:srgbClr val="333333"/>
                </a:solidFill>
                <a:latin typeface="Arial"/>
                <a:ea typeface="Arial"/>
              </a:rPr>
              <a:t>价值观对齐</a:t>
            </a:r>
            <a:r>
              <a:rPr sz="2400" b="1" dirty="0">
                <a:solidFill>
                  <a:srgbClr val="333333"/>
                </a:solidFill>
                <a:latin typeface="Arial"/>
                <a:ea typeface="Arial"/>
              </a:rPr>
              <a:t>)</a:t>
            </a:r>
            <a:endParaRPr lang="zh-CN" altLang="en-US" sz="2400" b="1" dirty="0">
              <a:solidFill>
                <a:srgbClr val="333333"/>
              </a:solidFill>
              <a:latin typeface="Arial"/>
              <a:ea typeface="Arial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毕业前的学术道德 </a:t>
            </a:r>
            <a:r>
              <a:rPr lang="en-US" altLang="zh-CN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价值观终极考核。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人类考官对多回答打分 → 模型在奖惩中与主流价值观 </a:t>
            </a:r>
            <a:r>
              <a:rPr lang="en-US" altLang="zh-CN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对齐</a:t>
            </a:r>
            <a:r>
              <a:rPr lang="en-US" altLang="zh-CN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699580"/>
            <a:ext cx="4846320" cy="39183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36815" y="5684675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1-12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大模型训练的三个步骤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21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9553" y="2412576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大模型的发展格局</a:t>
            </a:r>
            <a:endParaRPr sz="4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群星闪耀的战国时代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数字骑士需要一张清晰的全球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生态航海图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22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全球第一梯队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三大旗手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238" y="879973"/>
            <a:ext cx="6906918" cy="576900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OpenAI · ChatGPT (GPT </a:t>
            </a:r>
            <a:r>
              <a:rPr sz="2400" b="1" dirty="0" err="1">
                <a:solidFill>
                  <a:srgbClr val="0066CC"/>
                </a:solidFill>
                <a:latin typeface="Arial"/>
                <a:ea typeface="Arial"/>
              </a:rPr>
              <a:t>系列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行业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六边形战士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毫无争议的基准与稳定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天马行空的创意构思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日常逻辑推理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Anthropic · Claude </a:t>
            </a:r>
            <a:r>
              <a:rPr sz="2400" b="1" dirty="0" err="1">
                <a:solidFill>
                  <a:srgbClr val="0066CC"/>
                </a:solidFill>
                <a:latin typeface="Arial"/>
                <a:ea typeface="Arial"/>
              </a:rPr>
              <a:t>系列</a:t>
            </a:r>
            <a:endParaRPr sz="2400" b="1" dirty="0">
              <a:solidFill>
                <a:srgbClr val="0066CC"/>
              </a:solidFill>
              <a:latin typeface="Arial"/>
              <a:ea typeface="Arial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由前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OpenAI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核心成员创立，注入极强的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安全与对齐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理念。学术导师气质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温润、严谨、细腻；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长文本润色首选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zh-CN" altLang="en-US"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Google · Gemini </a:t>
            </a:r>
            <a:r>
              <a:rPr sz="2400" b="1" dirty="0" err="1">
                <a:solidFill>
                  <a:srgbClr val="0066CC"/>
                </a:solidFill>
                <a:latin typeface="Arial"/>
                <a:ea typeface="Arial"/>
              </a:rPr>
              <a:t>系列</a:t>
            </a:r>
            <a:endParaRPr sz="2400" b="1" dirty="0">
              <a:solidFill>
                <a:srgbClr val="0066CC"/>
              </a:solidFill>
              <a:latin typeface="Arial"/>
              <a:ea typeface="Arial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原生多模态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从一出生就有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眼睛、耳朵、嘴巴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看视频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听讲解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读文献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同一大脑融会贯通。农学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医学复杂图文实验报告的综合分析利器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56" y="1317707"/>
            <a:ext cx="4778659" cy="4066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66928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u="sng" dirty="0">
                <a:solidFill>
                  <a:srgbClr val="333333"/>
                </a:solidFill>
                <a:latin typeface="Microsoft YaHei"/>
                <a:ea typeface="Microsoft YaHei"/>
              </a:rPr>
              <a:t>图 1-13  </a:t>
            </a:r>
            <a:r>
              <a:rPr sz="1600" b="0" i="1" u="sng" dirty="0" err="1">
                <a:solidFill>
                  <a:srgbClr val="333333"/>
                </a:solidFill>
                <a:latin typeface="Microsoft YaHei"/>
                <a:ea typeface="Microsoft YaHei"/>
              </a:rPr>
              <a:t>全球大模型第一梯队</a:t>
            </a:r>
            <a:endParaRPr sz="1600" b="0" i="1" u="sng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23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vs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闭源之争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数据隐私的分水岭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064" y="862860"/>
            <a:ext cx="7253935" cy="576900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学术生命线：</a:t>
            </a:r>
            <a:r>
              <a:rPr sz="26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数据隐私</a:t>
            </a:r>
            <a:endParaRPr sz="26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罕见病临床数据、专利配方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上传到海外服务器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=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永久泄密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3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闭源</a:t>
            </a:r>
            <a:r>
              <a:rPr sz="2300" b="1" dirty="0">
                <a:solidFill>
                  <a:srgbClr val="0066CC"/>
                </a:solidFill>
                <a:latin typeface="Microsoft YaHei"/>
                <a:ea typeface="Microsoft YaHei"/>
              </a:rPr>
              <a:t> (OpenAI / Anthropic)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模型锁在自家机房，只能通过付费接口调用，结构绝对保密。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决定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智力的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天花板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3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开源</a:t>
            </a:r>
            <a:r>
              <a:rPr sz="2300" b="1" dirty="0">
                <a:solidFill>
                  <a:srgbClr val="0066CC"/>
                </a:solidFill>
                <a:latin typeface="Microsoft YaHei"/>
                <a:ea typeface="Microsoft YaHei"/>
              </a:rPr>
              <a:t> (Meta · Llama </a:t>
            </a:r>
            <a:r>
              <a:rPr sz="23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系列</a:t>
            </a:r>
            <a:r>
              <a:rPr sz="2300" b="1" dirty="0">
                <a:solidFill>
                  <a:srgbClr val="0066CC"/>
                </a:solidFill>
                <a:latin typeface="Microsoft YaHei"/>
                <a:ea typeface="Microsoft YaHei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普罗米修斯式的开源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大学实验室可下载、运行属于自己的大模型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私有化部署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：切断网络，离线阅读绝密实验数据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—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绝对安全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闭源决定上限，开源夯实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普及的地基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4" y="1810871"/>
            <a:ext cx="4602597" cy="37212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57784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1-14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闭源与开源生态对比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24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1.4.3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中国大模型的突围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3046" y="837534"/>
            <a:ext cx="7482535" cy="576900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从 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跟随模仿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 到 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局部超越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的惊人曲线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聪明绕开通用泥潭，主攻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长文本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极限推理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深度落地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三大赛道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Kimi ·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月之暗面</a:t>
            </a: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超长上下文突围战的引领者；上百篇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PDF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照相机记忆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DeepSeek ·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硬核推理</a:t>
            </a:r>
            <a:r>
              <a:rPr lang="zh-CN" altLang="en-US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世界瞩目的极限逻辑能力；文科论证、SPSS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步骤同样犀利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文心一言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 (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百度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) ·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通义千问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 (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阿里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)</a:t>
            </a:r>
            <a:r>
              <a:rPr lang="zh-CN" altLang="en-US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国内最早的基座大模型；中文母语优势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办公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云盘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搜索国民生态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→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中国大模型早已摆脱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智能玩具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标签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正以前所未有的深度，重塑研究生的知识生产流水线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273" y="1864659"/>
            <a:ext cx="4412077" cy="3567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57784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1-15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中国大模型生态的高铁突围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25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科研场景与大模型功能匹配矩阵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1-2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研究生日常科研场景与生成式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功能匹配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10312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463040"/>
            <a:ext cx="457200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463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典型科研场景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463040"/>
            <a:ext cx="475488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4630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推荐大模型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10312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知识摄取</a:t>
            </a:r>
            <a:endParaRPr sz="1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68880" y="192024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192024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文献检索 / 阅读 / 综述撰写（长文本、海量 PDF）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20240"/>
            <a:ext cx="475488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92024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Kimi · 豆包 · Claude（超长上下文）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1460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YaHei"/>
                <a:ea typeface="Microsoft YaHei"/>
              </a:rPr>
              <a:t>逻辑重构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51460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6040" y="251460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研究设计 / 论证推理 / 漏洞甄别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51460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251460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DeepSeek · ChatGPT（硬核推理）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08960"/>
            <a:ext cx="210312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1089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YaHei"/>
                <a:ea typeface="Microsoft YaHei"/>
              </a:rPr>
              <a:t>数据攻坚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310896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06040" y="310896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统计分析 / 编程辅助 / SPSS · Python · 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3108960"/>
            <a:ext cx="475488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78040" y="310896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ChatGPT · DeepSeek · Claude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7033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YaHei"/>
                <a:ea typeface="Microsoft YaHei"/>
              </a:rPr>
              <a:t>多模态解析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370332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06040" y="370332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机制图 / 实验图 / 遥感图像理解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370332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78040" y="37033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Claude Sonnet · 通义千问（视觉）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297680"/>
            <a:ext cx="210312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2976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YaHei"/>
                <a:ea typeface="Microsoft YaHei"/>
              </a:rPr>
              <a:t>音视频处理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29768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06040" y="429768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学术讲座转写</a:t>
            </a:r>
            <a:r>
              <a:rPr sz="14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14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演示视频分析</a:t>
            </a:r>
            <a:endParaRPr sz="14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040880" y="4297680"/>
            <a:ext cx="475488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78040" y="429768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飞书妙记 · Gemini · Seedance · 可灵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89204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8920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YaHei"/>
                <a:ea typeface="Microsoft YaHei"/>
              </a:rPr>
              <a:t>写作打磨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489204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06040" y="489204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学术语言润色 / 中文写作 / 格式规范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89204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78040" y="489204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Microsoft YaHei"/>
                <a:ea typeface="Microsoft YaHei"/>
              </a:rPr>
              <a:t>Claude · </a:t>
            </a:r>
            <a:r>
              <a:rPr sz="14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文心一言</a:t>
            </a:r>
            <a:r>
              <a:rPr sz="14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4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智谱清言</a:t>
            </a:r>
            <a:endParaRPr sz="14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65760" y="5486400"/>
            <a:ext cx="210312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4864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Microsoft YaHei"/>
                <a:ea typeface="Microsoft YaHei"/>
              </a:rPr>
              <a:t>协作办公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548640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06040" y="548640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纪要整理 / 知识管理 / 阶段性汇报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0880" y="5486400"/>
            <a:ext cx="475488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78040" y="548640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豆包 · 通义千问 · 飞书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26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04173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智能体与具身智能</a:t>
            </a:r>
            <a:endParaRPr sz="4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从 "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思考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跨越到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行动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 —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缸中之脑走出对话框，长出双手，最终降临物理世界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27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数字智能体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(AI Agent)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超级数字打工人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871" y="822278"/>
            <a:ext cx="7835153" cy="513049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Agent = 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大模型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 (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大脑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) + 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规划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 + 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记忆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 + 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工具调用</a:t>
            </a:r>
            <a:endParaRPr sz="24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传统大模型：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只能输出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订票攻略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仍需人类自己操作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智能体：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自己打开网页、比价格、填信息、把订单递到你面前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被动回答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 → 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主动执行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	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四大模块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	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大模型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中央处理器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	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规划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将宏大目标拆解为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思考-行动-观察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循环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	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记忆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避免陷入死循环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	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工具调用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自主调用计算器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搜索引擎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解释器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9" name="Picture 8" descr="image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24" y="2395680"/>
            <a:ext cx="4191591" cy="33889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5899" y="598589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1-16  AI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智能体的执行过程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28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ReAct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机制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一次实战拆解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49774"/>
            <a:ext cx="11155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场景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："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请帮我查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Nature 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杂志最新影响因子，并计算它比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2020 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年高了多少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？"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794760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80651"/>
            <a:ext cx="3794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第 1 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3794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🧠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思考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3520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需要先查最新影响因子，不能靠猜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⚙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行动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3749040"/>
            <a:ext cx="35204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004CA0"/>
                </a:solidFill>
                <a:latin typeface="Consolas"/>
                <a:ea typeface="Consolas"/>
              </a:rPr>
              <a:t>Google Search ["Nature impact factor latest"]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👁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观察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480060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F58020"/>
                </a:solidFill>
                <a:latin typeface="Microsoft YaHei"/>
                <a:ea typeface="Microsoft YaHei"/>
              </a:rPr>
              <a:t>2025 年 = 48.5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828800"/>
            <a:ext cx="3794760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1880651"/>
            <a:ext cx="3794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第 2 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240280"/>
            <a:ext cx="3794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237744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🧠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思考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43400" y="2697480"/>
            <a:ext cx="3520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已记住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48.5，现在查 2020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年的数值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42900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⚙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行动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43400" y="3749040"/>
            <a:ext cx="35204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004CA0"/>
                </a:solidFill>
                <a:latin typeface="Consolas"/>
                <a:ea typeface="Consolas"/>
              </a:rPr>
              <a:t>Google Search ["Nature impact factor 2020"]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48056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👁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观察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43400" y="480060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F58020"/>
                </a:solidFill>
                <a:latin typeface="Microsoft YaHei"/>
                <a:ea typeface="Microsoft YaHei"/>
              </a:rPr>
              <a:t>2020 年 = 42.7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828800"/>
            <a:ext cx="3794760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880651"/>
            <a:ext cx="3794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第 3 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240280"/>
            <a:ext cx="3794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237744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🧠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思考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83880" y="2697480"/>
            <a:ext cx="3520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必须调用计算器确保精度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42900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⚙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行动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83880" y="374904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004CA0"/>
                </a:solidFill>
                <a:latin typeface="Consolas"/>
                <a:ea typeface="Consolas"/>
              </a:rPr>
              <a:t>Python( 48.5 - 42.7 )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48056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👁 </a:t>
            </a:r>
            <a:r>
              <a:rPr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观察</a:t>
            </a:r>
            <a:endParaRPr sz="1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3880" y="4800600"/>
            <a:ext cx="3520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F58020"/>
                </a:solidFill>
                <a:latin typeface="Microsoft YaHei"/>
                <a:ea typeface="Microsoft YaHei"/>
              </a:rPr>
              <a:t>精确结果</a:t>
            </a:r>
            <a:r>
              <a:rPr b="1" i="0" dirty="0">
                <a:solidFill>
                  <a:srgbClr val="F58020"/>
                </a:solidFill>
                <a:latin typeface="Microsoft YaHei"/>
                <a:ea typeface="Microsoft YaHei"/>
              </a:rPr>
              <a:t> = 5.8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49240"/>
            <a:ext cx="11430000" cy="9601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0060" y="562177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✓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最终输出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94965" y="5644634"/>
            <a:ext cx="94093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"Nature 2025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年影响因子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48.5，较 2020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年的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42.7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提高了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5.8。"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29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桌面级智能体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接管你的电脑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569975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进化脉络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程序员辅助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0066CC"/>
                </a:solidFill>
                <a:latin typeface="Arial"/>
                <a:ea typeface="Arial"/>
              </a:rPr>
              <a:t>(Cursor)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帮你自动写代码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超级智能体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0066CC"/>
                </a:solidFill>
                <a:latin typeface="Arial"/>
                <a:ea typeface="Arial"/>
              </a:rPr>
              <a:t>(Claude Code)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像人类工程师跑程序、修漏洞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平民化开源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>
                <a:solidFill>
                  <a:srgbClr val="0066CC"/>
                </a:solidFill>
                <a:latin typeface="Arial"/>
                <a:ea typeface="Arial"/>
              </a:rPr>
              <a:t>(</a:t>
            </a:r>
            <a:r>
              <a:rPr sz="2000" b="0" dirty="0" err="1">
                <a:solidFill>
                  <a:srgbClr val="0066CC"/>
                </a:solidFill>
                <a:latin typeface="Arial"/>
                <a:ea typeface="Arial"/>
              </a:rPr>
              <a:t>OpenClaw</a:t>
            </a:r>
            <a:r>
              <a:rPr sz="2000" b="0" dirty="0">
                <a:solidFill>
                  <a:srgbClr val="0066CC"/>
                </a:solidFill>
                <a:latin typeface="Arial"/>
                <a:ea typeface="Arial"/>
              </a:rPr>
              <a:t>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微信发一句语音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=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远程指挥电脑干活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一句指令的能量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帮我把昨天下载的几篇文献做交叉数据对比，并画出折线图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自主翻找本地文件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运行代码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把图表贴在你面前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⚠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安全警告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·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提示词注入攻击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文献里被恶意藏入隐蔽指令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AI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中招后可能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窃取或修改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你的核心实验数据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必须配置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沙盒隔离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，强制划定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的活动安全区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17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未来的科研能力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— 从 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会用工具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回归到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提出有价值的科学问题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30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具身智能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跨越莫拉维克悖论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185" y="852547"/>
            <a:ext cx="7268583" cy="569680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Moravec's </a:t>
            </a:r>
            <a:r>
              <a:rPr sz="2400" b="1" dirty="0" err="1">
                <a:solidFill>
                  <a:srgbClr val="0066CC"/>
                </a:solidFill>
                <a:latin typeface="Arial"/>
                <a:ea typeface="Arial"/>
              </a:rPr>
              <a:t>Paradox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极其反直觉的定律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对计算机而言：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最高级的逻辑推理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240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下围棋、解微积分</a:t>
            </a:r>
            <a:r>
              <a:rPr sz="2000" b="1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相对容易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但是：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一个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1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岁婴儿的物理本能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240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感知重力、平稳走路、轻拿生鸡蛋</a:t>
            </a:r>
            <a:r>
              <a:rPr sz="2000" b="1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极其困难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数百万年进化已将运动控制刻进小脑和脊髓基因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伸手拿杯子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背后是对摩擦力、几何、视觉的瞬间复杂计算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LLM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如何指挥机械臂拿苹果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我渴了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 → LLM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翻译与拆解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→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视觉模块找水杯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 ②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计算空间坐标差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③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底盘前进信号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   ④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机械手以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5N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力度收缩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9" name="Picture 8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68" y="1712259"/>
            <a:ext cx="4502807" cy="36405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57784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1-17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比特大脑到实体机械的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具身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隐喻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31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具身智能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跨学科应用形态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210800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具身智能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≠ 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长得像人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"。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它在每个专业领域演化出独特形态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农学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视觉大模型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柔性机械臂，实时识别病虫害、判断成熟度、自动采摘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医学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手术机械臂读懂核磁影像，在血管间规划颤抖率为零的最佳进刀线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交通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自动驾驶汽车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=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长着四个轮子在混沌街道高速狂奔的超级具身智能体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057" y="3107987"/>
            <a:ext cx="6128425" cy="30642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13764" y="6355080"/>
            <a:ext cx="121916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1-18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具身智能在跨学科真实场景中的多形态应用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32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物理智能体进化的三重境界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186" y="844034"/>
            <a:ext cx="7345070" cy="561678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①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对话助手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0066CC"/>
                </a:solidFill>
                <a:latin typeface="Arial"/>
                <a:ea typeface="Arial"/>
              </a:rPr>
              <a:t>(Chat Assistant)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博学但只会动嘴皮子的旁观者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我明天要去巴黎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列出天气与行李清单，但找箱子、叠衣服仍需亲力亲为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②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副驾驶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0066CC"/>
                </a:solidFill>
                <a:latin typeface="Arial"/>
                <a:ea typeface="Arial"/>
              </a:rPr>
              <a:t>(Copilot)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半人马</a:t>
            </a:r>
            <a:r>
              <a:rPr lang="en-US" altLang="zh-CN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lang="zh-CN" alt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协作 </a:t>
            </a:r>
            <a:r>
              <a:rPr lang="en-US" altLang="zh-CN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— </a:t>
            </a:r>
            <a:r>
              <a:rPr lang="zh-CN" alt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工业与医疗领域全面普及。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精密微创手术中，智能机械臂自动过滤医生手部颤抖，触碰血管边缘时自动施加反向阻力。能 </a:t>
            </a:r>
            <a:r>
              <a:rPr lang="en-US" altLang="zh-CN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做</a:t>
            </a:r>
            <a:r>
              <a:rPr lang="en-US" altLang="zh-CN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，但每一步依然紧依附人类实时指令。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③ 自主智能体 </a:t>
            </a:r>
            <a:r>
              <a:rPr lang="en-US" altLang="zh-CN" sz="2200" b="1" dirty="0">
                <a:solidFill>
                  <a:srgbClr val="0066CC"/>
                </a:solidFill>
                <a:latin typeface="Arial"/>
                <a:ea typeface="Arial"/>
              </a:rPr>
              <a:t>(Autonomous Agent)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具身智能终极形态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我明天要去巴黎，帮我准备一下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。" —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一句宏观指令，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智能体自查天气、订机票，并走到衣柜前自主选择叠装外套。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人类晋升为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超级指挥官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制定宏观目标即可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4" y="1658471"/>
            <a:ext cx="4539449" cy="4056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76072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1-19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物理智能体自主性进化的三重境界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33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55607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在 AI </a:t>
            </a:r>
            <a:r>
              <a:rPr sz="4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时代重新定义人类角色</a:t>
            </a:r>
            <a:endParaRPr sz="4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机器的强大不是人类的没落，而是一面镜子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逼迫我们重新发现真正属于人类的核心竞争力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34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1.6.1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替代与共生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价值天平的倾斜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064" y="960120"/>
            <a:ext cx="7047747" cy="550361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过去的教育：把人培养成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合格的机器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"——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1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死记知识点</a:t>
            </a:r>
            <a:r>
              <a:rPr sz="21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1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套路化写作</a:t>
            </a:r>
            <a:r>
              <a:rPr sz="21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1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在文献堆中寻找线索</a:t>
            </a:r>
            <a:r>
              <a:rPr sz="21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→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这些正是大模型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最擅长且成本最低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的领域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机器的本质：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高效组合已知世界的最优解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人类的价值：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为未知世界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定义全新的问题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两大不可替代的护城河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提问能力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从社会现象与实验反常中洞察未被定义的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好问题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共情与道德判断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面对绝收农户的绝望、握住重症患者的手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这是任何千亿参数模型都无法涌现的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灵魂火花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626" y="1837765"/>
            <a:ext cx="4448309" cy="37857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66928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1-20 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智能时代的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价值天平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35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Human-in-the-loop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半人马模式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011" y="934122"/>
            <a:ext cx="7094363" cy="249734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1997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年深蓝击败卡斯帕罗夫，但他没有放弃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他在此后岁月中提出了极其前卫的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半人马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协作理念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普通人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 +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普通电脑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的组合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不仅击败顶尖纯人类大师，甚至击败当时极其死板的超级计算机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Human-in-the-loop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的新型科研范式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</p:txBody>
      </p:sp>
      <p:pic>
        <p:nvPicPr>
          <p:cNvPr id="9" name="Picture 8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4" y="1658471"/>
            <a:ext cx="4539449" cy="4056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8255" y="576072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图 1-21  AI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辅助下的科研者角色重塑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36 / 39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C5BEDF-5144-F0CC-A799-A1B9DA303D45}"/>
              </a:ext>
            </a:extLst>
          </p:cNvPr>
          <p:cNvSpPr txBox="1"/>
          <p:nvPr/>
        </p:nvSpPr>
        <p:spPr>
          <a:xfrm>
            <a:off x="4151871" y="3647981"/>
            <a:ext cx="3299301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你 </a:t>
            </a:r>
            <a:r>
              <a:rPr lang="en-US" altLang="zh-CN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(</a:t>
            </a: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骑士</a:t>
            </a:r>
            <a:r>
              <a:rPr lang="en-US" altLang="zh-CN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) </a:t>
            </a: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完成 </a:t>
            </a:r>
            <a:r>
              <a:rPr lang="en-US" altLang="zh-CN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20% </a:t>
            </a: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灵魂：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用专业底蕴甄别 </a:t>
            </a: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幻觉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用学术品味评判观点深度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赋予研究以人类的价值观</a:t>
            </a: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DAAA63-4C9B-3CF6-CAEB-089FDE054DF2}"/>
              </a:ext>
            </a:extLst>
          </p:cNvPr>
          <p:cNvSpPr txBox="1"/>
          <p:nvPr/>
        </p:nvSpPr>
        <p:spPr>
          <a:xfrm>
            <a:off x="127400" y="3645906"/>
            <a:ext cx="4219425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大模型 </a:t>
            </a:r>
            <a:r>
              <a:rPr lang="en-US" altLang="zh-CN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(</a:t>
            </a: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机械马</a:t>
            </a:r>
            <a:r>
              <a:rPr lang="en-US" altLang="zh-CN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) </a:t>
            </a: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完成 </a:t>
            </a:r>
            <a:r>
              <a:rPr lang="en-US" altLang="zh-CN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80% </a:t>
            </a:r>
            <a:r>
              <a:rPr lang="zh-CN" altLang="en-US"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粗活：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瞬间通读数百篇外文文献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整理繁杂的数据表格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根据提纲生成逻辑严密的初稿骨架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21981E-5FB7-1F27-A28E-976B70D3473B}"/>
              </a:ext>
            </a:extLst>
          </p:cNvPr>
          <p:cNvSpPr txBox="1"/>
          <p:nvPr/>
        </p:nvSpPr>
        <p:spPr>
          <a:xfrm>
            <a:off x="960120" y="5875227"/>
            <a:ext cx="63674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机器是锋利的剑，你是不可或缺的 </a:t>
            </a:r>
            <a:r>
              <a:rPr lang="en-US" altLang="zh-CN"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持剑人</a:t>
            </a:r>
            <a:r>
              <a:rPr lang="en-US" altLang="zh-CN"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lang="zh-CN" altLang="en-US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1.6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时代研究生的三大必备技能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1-3  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时代研究生三大必备技能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2127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技能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17520" y="1554480"/>
            <a:ext cx="411480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621274"/>
            <a:ext cx="4114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核心要义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0" y="1554480"/>
            <a:ext cx="42976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621274"/>
            <a:ext cx="4297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实践方法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057400"/>
            <a:ext cx="2560320" cy="13716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466202"/>
            <a:ext cx="223113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提示词工程</a:t>
            </a:r>
            <a:r>
              <a:rPr b="1" i="0" dirty="0">
                <a:solidFill>
                  <a:srgbClr val="333333"/>
                </a:solidFill>
                <a:latin typeface="Microsoft YaHei"/>
                <a:ea typeface="Microsoft YaHei"/>
              </a:rPr>
              <a:t>
(</a:t>
            </a:r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第一外语</a:t>
            </a:r>
            <a:r>
              <a:rPr b="1" i="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057400"/>
            <a:ext cx="4114800" cy="13716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82112" y="2327702"/>
            <a:ext cx="3785616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刻意拆解任务意图，将复杂科研需求精准传达给大模型，调用全球最强算力</a:t>
            </a:r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057400"/>
            <a:ext cx="4297680" cy="13716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6912" y="2327702"/>
            <a:ext cx="3968496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交代背景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；②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赋予身份（如"顶尖期刊编辑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"）；③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限定格式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；④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给出参考示例</a:t>
            </a:r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837802"/>
            <a:ext cx="223113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专业壁垒</a:t>
            </a:r>
            <a:r>
              <a:rPr b="1" i="0" dirty="0">
                <a:solidFill>
                  <a:srgbClr val="333333"/>
                </a:solidFill>
                <a:latin typeface="Microsoft YaHei"/>
                <a:ea typeface="Microsoft YaHei"/>
              </a:rPr>
              <a:t>
(</a:t>
            </a:r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学科底蕴</a:t>
            </a:r>
            <a:r>
              <a:rPr b="1" i="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42900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82112" y="3837802"/>
            <a:ext cx="378561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上限取决于使用者下限。深厚专业底蕴是审视和纠正机器的底气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429000"/>
            <a:ext cx="4297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96912" y="3837802"/>
            <a:ext cx="396849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钻研经典理论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；②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不放松核心知识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；③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用学科判断识别隐蔽的胡编乱造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2560320" cy="13716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5209402"/>
            <a:ext cx="223113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项目经理思维</a:t>
            </a:r>
            <a:r>
              <a:rPr b="1" i="0" dirty="0">
                <a:solidFill>
                  <a:srgbClr val="333333"/>
                </a:solidFill>
                <a:latin typeface="Microsoft YaHei"/>
                <a:ea typeface="Microsoft YaHei"/>
              </a:rPr>
              <a:t>
(</a:t>
            </a:r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全局编排</a:t>
            </a:r>
            <a:r>
              <a:rPr b="1" i="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4800600"/>
            <a:ext cx="4114800" cy="13716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82112" y="5209402"/>
            <a:ext cx="378561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你不再是孤军奋战的搬砖工，而是统筹多个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数字员工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的总指挥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4800600"/>
            <a:ext cx="4297680" cy="13716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96912" y="5070902"/>
            <a:ext cx="3968496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① Kimi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提取摘要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；② DeepSeek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推导公式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；③ Claude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润色文风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；④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拼装独特视角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37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572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0" b="1" i="0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554480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777240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777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920240"/>
            <a:ext cx="4709160" cy="14630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99339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AI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技术的发展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2423160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从图灵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1950 年的"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模仿游戏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到达特茅斯命名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AI，再到符号主义（深蓝）的兴衰与连接主义（AlphaGo）的复兴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920240"/>
            <a:ext cx="777240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920240"/>
            <a:ext cx="777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920240"/>
            <a:ext cx="4709160" cy="14630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99339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生成式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的爆发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0" y="2423160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判别式→生成式的范式跨越；ChatGPT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引爆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"iPhone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时刻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"；Transformer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自注意力机制成为底层引擎</a:t>
            </a:r>
            <a:r>
              <a:rPr sz="13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777240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777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520440"/>
            <a:ext cx="4709160" cy="14630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359359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大模型的"思考"原理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023360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下一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Token 概率预测；规模定律下的能力"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涌现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"；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幻觉的成因；预训练→指令微调→RLHF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三部曲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20440"/>
            <a:ext cx="777240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3520440"/>
            <a:ext cx="777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520440"/>
            <a:ext cx="4709160" cy="14630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359359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全球与中国大模型格局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OpenAI / Anthropic / Google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第一梯队；开源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vs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闭源之争；Kimi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DeepSeek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文心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通义的中国突围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777240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777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5120640"/>
            <a:ext cx="4709160" cy="14630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519379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智能体与具身智能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5623560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ReAct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循环让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学会自主行动；从数字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Agent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到具身机器人，跨越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Moravec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悖论的物理鸿沟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5120640"/>
            <a:ext cx="777240" cy="14630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5120640"/>
            <a:ext cx="777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1.6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5120640"/>
            <a:ext cx="4709160" cy="14630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0" y="519379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重新定义人类角色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49440" y="5623560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&gt;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答题，共情与道德判断成为护城河；Human-in-the-loop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的半人马模式；提示词、专业、统筹三大技能</a:t>
            </a:r>
            <a:r>
              <a:rPr sz="13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38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114800"/>
            <a:ext cx="6858000" cy="27432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1 章  ·  生成式人工智能概述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2446</Words>
  <Application>Microsoft Office PowerPoint</Application>
  <PresentationFormat>宽屏</PresentationFormat>
  <Paragraphs>431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朋 王</cp:lastModifiedBy>
  <cp:revision>4</cp:revision>
  <dcterms:created xsi:type="dcterms:W3CDTF">2013-01-27T09:14:16Z</dcterms:created>
  <dcterms:modified xsi:type="dcterms:W3CDTF">2026-05-28T13:43:36Z</dcterms:modified>
  <cp:category/>
</cp:coreProperties>
</file>